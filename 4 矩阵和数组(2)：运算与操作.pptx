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335" r:id="rId4"/>
    <p:sldId id="336" r:id="rId5"/>
    <p:sldId id="337" r:id="rId6"/>
    <p:sldId id="338" r:id="rId7"/>
    <p:sldId id="334" r:id="rId8"/>
    <p:sldId id="342" r:id="rId9"/>
    <p:sldId id="339" r:id="rId10"/>
    <p:sldId id="344" r:id="rId11"/>
    <p:sldId id="346" r:id="rId12"/>
    <p:sldId id="345" r:id="rId13"/>
    <p:sldId id="348" r:id="rId14"/>
    <p:sldId id="349" r:id="rId15"/>
    <p:sldId id="351" r:id="rId16"/>
    <p:sldId id="343" r:id="rId17"/>
    <p:sldId id="347" r:id="rId18"/>
    <p:sldId id="352" r:id="rId19"/>
    <p:sldId id="353" r:id="rId20"/>
    <p:sldId id="309" r:id="rId21"/>
    <p:sldId id="362" r:id="rId22"/>
    <p:sldId id="310" r:id="rId23"/>
    <p:sldId id="311" r:id="rId24"/>
    <p:sldId id="312" r:id="rId25"/>
    <p:sldId id="361" r:id="rId26"/>
    <p:sldId id="313" r:id="rId27"/>
    <p:sldId id="315" r:id="rId28"/>
    <p:sldId id="363" r:id="rId29"/>
    <p:sldId id="358" r:id="rId30"/>
    <p:sldId id="364" r:id="rId31"/>
    <p:sldId id="394" r:id="rId32"/>
    <p:sldId id="395" r:id="rId33"/>
    <p:sldId id="367" r:id="rId34"/>
    <p:sldId id="369" r:id="rId35"/>
    <p:sldId id="370" r:id="rId36"/>
    <p:sldId id="371" r:id="rId37"/>
    <p:sldId id="368" r:id="rId38"/>
    <p:sldId id="325" r:id="rId39"/>
    <p:sldId id="326" r:id="rId40"/>
    <p:sldId id="327" r:id="rId41"/>
    <p:sldId id="372" r:id="rId42"/>
    <p:sldId id="375" r:id="rId43"/>
    <p:sldId id="373" r:id="rId44"/>
    <p:sldId id="396" r:id="rId45"/>
    <p:sldId id="374" r:id="rId46"/>
    <p:sldId id="376" r:id="rId47"/>
    <p:sldId id="385" r:id="rId48"/>
    <p:sldId id="386" r:id="rId49"/>
    <p:sldId id="387" r:id="rId50"/>
    <p:sldId id="388" r:id="rId51"/>
    <p:sldId id="377" r:id="rId52"/>
    <p:sldId id="378" r:id="rId53"/>
    <p:sldId id="331" r:id="rId54"/>
    <p:sldId id="332" r:id="rId55"/>
    <p:sldId id="333" r:id="rId56"/>
    <p:sldId id="379" r:id="rId57"/>
    <p:sldId id="380" r:id="rId58"/>
    <p:sldId id="381" r:id="rId59"/>
    <p:sldId id="382" r:id="rId60"/>
    <p:sldId id="389" r:id="rId61"/>
    <p:sldId id="390" r:id="rId62"/>
    <p:sldId id="391" r:id="rId63"/>
    <p:sldId id="393" r:id="rId64"/>
    <p:sldId id="383" r:id="rId65"/>
    <p:sldId id="384" r:id="rId6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88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64729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3275572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1935619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3403595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1211463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1742636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4003479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415587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3781882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1061873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78E826B-2291-4BE7-A135-C2FBC33E218C}" type="datetimeFigureOut">
              <a:rPr lang="zh-CN" altLang="en-US" smtClean="0"/>
              <a:t>2021/1/24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3388175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8E826B-2291-4BE7-A135-C2FBC33E218C}" type="datetimeFigureOut">
              <a:rPr lang="zh-CN" altLang="en-US" smtClean="0"/>
              <a:t>2021/1/24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CE868-5F85-4E9F-8B2E-83C206B58C61}" type="slidenum">
              <a:rPr lang="zh-CN" altLang="en-US" smtClean="0"/>
              <a:t>‹#›</a:t>
            </a:fld>
            <a:endParaRPr lang="zh-CN" altLang="en-US"/>
          </a:p>
        </p:txBody>
      </p:sp>
    </p:spTree>
    <p:extLst>
      <p:ext uri="{BB962C8B-B14F-4D97-AF65-F5344CB8AC3E}">
        <p14:creationId xmlns:p14="http://schemas.microsoft.com/office/powerpoint/2010/main" val="41044099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file:///D:\Program%20Files\MATLAB\R2015b\help\matlab\ref\sort.html" TargetMode="External"/><Relationship Id="rId2" Type="http://schemas.openxmlformats.org/officeDocument/2006/relationships/hyperlink" Target="file:///D:\Program%20Files\MATLAB\R2015b\help\matlab\ref\circshift.html" TargetMode="External"/><Relationship Id="rId1" Type="http://schemas.openxmlformats.org/officeDocument/2006/relationships/slideLayout" Target="../slideLayouts/slideLayout2.xml"/><Relationship Id="rId5" Type="http://schemas.openxmlformats.org/officeDocument/2006/relationships/hyperlink" Target="file:///D:\Program%20Files\MATLAB\R2015b\help\matlab\ref\issorted.html" TargetMode="External"/><Relationship Id="rId4" Type="http://schemas.openxmlformats.org/officeDocument/2006/relationships/hyperlink" Target="file:///D:\Program%20Files\MATLAB\R2015b\help\matlab\ref\sortrows.html"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5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235200"/>
            <a:ext cx="9144000" cy="2387600"/>
          </a:xfrm>
        </p:spPr>
        <p:txBody>
          <a:bodyPr/>
          <a:lstStyle/>
          <a:p>
            <a:r>
              <a:rPr lang="zh-CN" altLang="en-US" b="1" dirty="0"/>
              <a:t>矩阵和数组</a:t>
            </a:r>
            <a:br>
              <a:rPr lang="en-US" altLang="zh-CN" b="1" dirty="0"/>
            </a:br>
            <a:r>
              <a:rPr lang="zh-CN" altLang="en-US" b="1" dirty="0"/>
              <a:t>运算与操作</a:t>
            </a:r>
            <a:endParaRPr lang="zh-CN" altLang="en-US" dirty="0"/>
          </a:p>
        </p:txBody>
      </p:sp>
    </p:spTree>
    <p:extLst>
      <p:ext uri="{BB962C8B-B14F-4D97-AF65-F5344CB8AC3E}">
        <p14:creationId xmlns:p14="http://schemas.microsoft.com/office/powerpoint/2010/main" val="823521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3068" y="182246"/>
            <a:ext cx="1661161" cy="557984"/>
          </a:xfrm>
        </p:spPr>
        <p:txBody>
          <a:bodyPr>
            <a:noAutofit/>
          </a:bodyPr>
          <a:lstStyle/>
          <a:p>
            <a:r>
              <a:rPr lang="zh-CN" altLang="en-US" sz="3600" dirty="0"/>
              <a:t>大纲</a:t>
            </a:r>
          </a:p>
        </p:txBody>
      </p:sp>
      <p:sp>
        <p:nvSpPr>
          <p:cNvPr id="3" name="内容占位符 2"/>
          <p:cNvSpPr>
            <a:spLocks noGrp="1"/>
          </p:cNvSpPr>
          <p:nvPr>
            <p:ph idx="1"/>
          </p:nvPr>
        </p:nvSpPr>
        <p:spPr>
          <a:xfrm>
            <a:off x="603067" y="998310"/>
            <a:ext cx="6860179" cy="5254443"/>
          </a:xfrm>
        </p:spPr>
        <p:txBody>
          <a:bodyPr>
            <a:normAutofit/>
          </a:bodyPr>
          <a:lstStyle/>
          <a:p>
            <a:pPr marL="514350" indent="-514350">
              <a:buFont typeface="+mj-lt"/>
              <a:buAutoNum type="arabicPeriod"/>
            </a:pPr>
            <a:r>
              <a:rPr lang="zh-CN" altLang="en-US" dirty="0"/>
              <a:t>变形（</a:t>
            </a:r>
            <a:r>
              <a:rPr lang="en-US" altLang="zh-CN" dirty="0"/>
              <a:t>reshape</a:t>
            </a:r>
            <a:r>
              <a:rPr lang="zh-CN" altLang="en-US" dirty="0"/>
              <a:t>）</a:t>
            </a:r>
            <a:endParaRPr lang="en-US" altLang="zh-CN" dirty="0"/>
          </a:p>
          <a:p>
            <a:pPr marL="514350" indent="-514350">
              <a:buFont typeface="+mj-lt"/>
              <a:buAutoNum type="arabicPeriod"/>
            </a:pPr>
            <a:r>
              <a:rPr lang="zh-CN" altLang="en-US" dirty="0"/>
              <a:t>移位与排序（</a:t>
            </a:r>
            <a:r>
              <a:rPr lang="en-US" altLang="zh-CN" dirty="0"/>
              <a:t>shift and sort</a:t>
            </a:r>
            <a:r>
              <a:rPr lang="zh-CN" altLang="en-US" dirty="0"/>
              <a:t>）</a:t>
            </a:r>
            <a:endParaRPr lang="en-US" altLang="zh-CN" dirty="0"/>
          </a:p>
          <a:p>
            <a:pPr marL="514350" indent="-514350">
              <a:buFont typeface="+mj-lt"/>
              <a:buAutoNum type="arabicPeriod"/>
            </a:pPr>
            <a:r>
              <a:rPr lang="zh-CN" altLang="en-US" dirty="0">
                <a:solidFill>
                  <a:srgbClr val="FF0000"/>
                </a:solidFill>
              </a:rPr>
              <a:t>基本运算：</a:t>
            </a:r>
            <a:endParaRPr lang="en-US" altLang="zh-CN" dirty="0">
              <a:solidFill>
                <a:srgbClr val="FF0000"/>
              </a:solidFill>
            </a:endParaRPr>
          </a:p>
          <a:p>
            <a:pPr marL="971550" lvl="1" indent="-514350">
              <a:buFont typeface="+mj-lt"/>
              <a:buAutoNum type="arabicPeriod"/>
            </a:pPr>
            <a:r>
              <a:rPr lang="zh-CN" altLang="en-US" dirty="0"/>
              <a:t>算术运算</a:t>
            </a:r>
            <a:endParaRPr lang="en-US" altLang="zh-CN" dirty="0"/>
          </a:p>
          <a:p>
            <a:pPr marL="971550" lvl="1" indent="-514350">
              <a:buFont typeface="+mj-lt"/>
              <a:buAutoNum type="arabicPeriod"/>
            </a:pPr>
            <a:r>
              <a:rPr lang="zh-CN" altLang="en-US" dirty="0"/>
              <a:t>点运算</a:t>
            </a:r>
            <a:endParaRPr lang="en-US" altLang="zh-CN" dirty="0"/>
          </a:p>
          <a:p>
            <a:pPr marL="971550" lvl="1" indent="-514350">
              <a:buFont typeface="+mj-lt"/>
              <a:buAutoNum type="arabicPeriod"/>
            </a:pPr>
            <a:r>
              <a:rPr lang="zh-CN" altLang="en-US" dirty="0"/>
              <a:t>关系运算</a:t>
            </a:r>
            <a:endParaRPr lang="en-US" altLang="zh-CN" dirty="0"/>
          </a:p>
          <a:p>
            <a:pPr marL="971550" lvl="1" indent="-514350">
              <a:buFont typeface="+mj-lt"/>
              <a:buAutoNum type="arabicPeriod"/>
            </a:pPr>
            <a:r>
              <a:rPr lang="zh-CN" altLang="en-US" dirty="0"/>
              <a:t>逻辑运算</a:t>
            </a:r>
            <a:endParaRPr lang="en-US" altLang="zh-CN" dirty="0"/>
          </a:p>
          <a:p>
            <a:pPr marL="514350" indent="-514350">
              <a:buFont typeface="+mj-lt"/>
              <a:buAutoNum type="arabicPeriod"/>
            </a:pPr>
            <a:r>
              <a:rPr lang="zh-CN" altLang="en-US" dirty="0">
                <a:solidFill>
                  <a:srgbClr val="FF0000"/>
                </a:solidFill>
              </a:rPr>
              <a:t>基于列操作的函数行为</a:t>
            </a:r>
            <a:endParaRPr lang="en-US" altLang="zh-CN" dirty="0">
              <a:solidFill>
                <a:srgbClr val="FF0000"/>
              </a:solidFill>
            </a:endParaRPr>
          </a:p>
          <a:p>
            <a:pPr marL="514350" indent="-514350">
              <a:buFont typeface="+mj-lt"/>
              <a:buAutoNum type="arabicPeriod"/>
            </a:pPr>
            <a:r>
              <a:rPr lang="zh-CN" altLang="en-US" dirty="0"/>
              <a:t>矩阵分析（</a:t>
            </a:r>
            <a:r>
              <a:rPr lang="en-US" altLang="zh-CN" dirty="0"/>
              <a:t>Matrix Analysis</a:t>
            </a:r>
            <a:r>
              <a:rPr lang="zh-CN" altLang="en-US" dirty="0"/>
              <a:t>）</a:t>
            </a:r>
            <a:endParaRPr lang="en-US" altLang="zh-CN" dirty="0"/>
          </a:p>
          <a:p>
            <a:pPr marL="514350" indent="-514350">
              <a:buFont typeface="+mj-lt"/>
              <a:buAutoNum type="arabicPeriod"/>
            </a:pPr>
            <a:r>
              <a:rPr lang="zh-CN" altLang="en-US" dirty="0"/>
              <a:t>矩阵分解（</a:t>
            </a:r>
            <a:r>
              <a:rPr lang="en-US" altLang="zh-CN" dirty="0"/>
              <a:t>Matrix Decomposition</a:t>
            </a:r>
            <a:r>
              <a:rPr lang="zh-CN" altLang="en-US" dirty="0"/>
              <a:t>）</a:t>
            </a:r>
          </a:p>
        </p:txBody>
      </p:sp>
    </p:spTree>
    <p:extLst>
      <p:ext uri="{BB962C8B-B14F-4D97-AF65-F5344CB8AC3E}">
        <p14:creationId xmlns:p14="http://schemas.microsoft.com/office/powerpoint/2010/main" val="3307674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61801" y="209006"/>
            <a:ext cx="2339102" cy="523220"/>
          </a:xfrm>
          <a:prstGeom prst="rect">
            <a:avLst/>
          </a:prstGeom>
          <a:noFill/>
        </p:spPr>
        <p:txBody>
          <a:bodyPr wrap="none" rtlCol="0">
            <a:spAutoFit/>
          </a:bodyPr>
          <a:lstStyle/>
          <a:p>
            <a:r>
              <a:rPr lang="zh-CN" altLang="en-US" sz="2800" dirty="0"/>
              <a:t>一、矩阵变形</a:t>
            </a:r>
          </a:p>
        </p:txBody>
      </p:sp>
      <p:pic>
        <p:nvPicPr>
          <p:cNvPr id="7" name="图片 6"/>
          <p:cNvPicPr>
            <a:picLocks noChangeAspect="1"/>
          </p:cNvPicPr>
          <p:nvPr/>
        </p:nvPicPr>
        <p:blipFill>
          <a:blip r:embed="rId2"/>
          <a:stretch>
            <a:fillRect/>
          </a:stretch>
        </p:blipFill>
        <p:spPr>
          <a:xfrm>
            <a:off x="1442084" y="985770"/>
            <a:ext cx="7954463" cy="5505269"/>
          </a:xfrm>
          <a:prstGeom prst="rect">
            <a:avLst/>
          </a:prstGeom>
        </p:spPr>
      </p:pic>
    </p:spTree>
    <p:extLst>
      <p:ext uri="{BB962C8B-B14F-4D97-AF65-F5344CB8AC3E}">
        <p14:creationId xmlns:p14="http://schemas.microsoft.com/office/powerpoint/2010/main" val="1963743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354602" y="2075361"/>
            <a:ext cx="5543550" cy="1790700"/>
          </a:xfrm>
          <a:prstGeom prst="rect">
            <a:avLst/>
          </a:prstGeom>
        </p:spPr>
      </p:pic>
      <p:pic>
        <p:nvPicPr>
          <p:cNvPr id="8" name="图片 7"/>
          <p:cNvPicPr>
            <a:picLocks noChangeAspect="1"/>
          </p:cNvPicPr>
          <p:nvPr/>
        </p:nvPicPr>
        <p:blipFill>
          <a:blip r:embed="rId3"/>
          <a:stretch>
            <a:fillRect/>
          </a:stretch>
        </p:blipFill>
        <p:spPr>
          <a:xfrm>
            <a:off x="6372496" y="1338261"/>
            <a:ext cx="4724400" cy="4257675"/>
          </a:xfrm>
          <a:prstGeom prst="rect">
            <a:avLst/>
          </a:prstGeom>
        </p:spPr>
      </p:pic>
      <p:grpSp>
        <p:nvGrpSpPr>
          <p:cNvPr id="11" name="组合 10"/>
          <p:cNvGrpSpPr/>
          <p:nvPr/>
        </p:nvGrpSpPr>
        <p:grpSpPr>
          <a:xfrm>
            <a:off x="6653349" y="618309"/>
            <a:ext cx="4650953" cy="858218"/>
            <a:chOff x="6653349" y="618309"/>
            <a:chExt cx="4650953" cy="858218"/>
          </a:xfrm>
        </p:grpSpPr>
        <p:sp>
          <p:nvSpPr>
            <p:cNvPr id="9" name="燕尾形箭头 8"/>
            <p:cNvSpPr/>
            <p:nvPr/>
          </p:nvSpPr>
          <p:spPr>
            <a:xfrm rot="1569471">
              <a:off x="8851445" y="1189144"/>
              <a:ext cx="793727" cy="287383"/>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0" name="文本框 9"/>
            <p:cNvSpPr txBox="1"/>
            <p:nvPr/>
          </p:nvSpPr>
          <p:spPr>
            <a:xfrm>
              <a:off x="6653349" y="618309"/>
              <a:ext cx="4650953" cy="400110"/>
            </a:xfrm>
            <a:prstGeom prst="rect">
              <a:avLst/>
            </a:prstGeom>
            <a:noFill/>
          </p:spPr>
          <p:txBody>
            <a:bodyPr wrap="none" rtlCol="0">
              <a:spAutoFit/>
            </a:bodyPr>
            <a:lstStyle/>
            <a:p>
              <a:r>
                <a:rPr lang="zh-CN" altLang="en-US" sz="2000" b="1" dirty="0">
                  <a:solidFill>
                    <a:srgbClr val="FF0000"/>
                  </a:solidFill>
                </a:rPr>
                <a:t>让</a:t>
              </a:r>
              <a:r>
                <a:rPr lang="en-US" altLang="zh-CN" sz="2000" b="1" dirty="0">
                  <a:solidFill>
                    <a:srgbClr val="FF0000"/>
                  </a:solidFill>
                </a:rPr>
                <a:t>reshape</a:t>
              </a:r>
              <a:r>
                <a:rPr lang="zh-CN" altLang="en-US" sz="2000" b="1" dirty="0">
                  <a:solidFill>
                    <a:srgbClr val="FF0000"/>
                  </a:solidFill>
                </a:rPr>
                <a:t>函数内部自动计算所需的行数</a:t>
              </a:r>
            </a:p>
          </p:txBody>
        </p:sp>
      </p:grpSp>
      <p:sp>
        <p:nvSpPr>
          <p:cNvPr id="12" name="文本框 11"/>
          <p:cNvSpPr txBox="1"/>
          <p:nvPr/>
        </p:nvSpPr>
        <p:spPr>
          <a:xfrm>
            <a:off x="1436915" y="4162698"/>
            <a:ext cx="3057247" cy="954107"/>
          </a:xfrm>
          <a:prstGeom prst="rect">
            <a:avLst/>
          </a:prstGeom>
          <a:noFill/>
        </p:spPr>
        <p:txBody>
          <a:bodyPr wrap="none" rtlCol="0">
            <a:spAutoFit/>
          </a:bodyPr>
          <a:lstStyle/>
          <a:p>
            <a:r>
              <a:rPr lang="zh-CN" altLang="en-US" sz="2800" dirty="0"/>
              <a:t>将向量转换成矩阵</a:t>
            </a:r>
            <a:endParaRPr lang="en-US" altLang="zh-CN" sz="2800" dirty="0"/>
          </a:p>
          <a:p>
            <a:r>
              <a:rPr lang="zh-CN" altLang="en-US" sz="2800" dirty="0"/>
              <a:t>（按</a:t>
            </a:r>
            <a:r>
              <a:rPr lang="zh-CN" altLang="en-US" sz="2800" dirty="0">
                <a:solidFill>
                  <a:srgbClr val="FF0000"/>
                </a:solidFill>
              </a:rPr>
              <a:t>列</a:t>
            </a:r>
            <a:r>
              <a:rPr lang="zh-CN" altLang="en-US" sz="2800" dirty="0"/>
              <a:t>排放）</a:t>
            </a:r>
          </a:p>
        </p:txBody>
      </p:sp>
    </p:spTree>
    <p:extLst>
      <p:ext uri="{BB962C8B-B14F-4D97-AF65-F5344CB8AC3E}">
        <p14:creationId xmlns:p14="http://schemas.microsoft.com/office/powerpoint/2010/main" val="426595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97454" y="1094150"/>
            <a:ext cx="9048750" cy="3171825"/>
          </a:xfrm>
          <a:prstGeom prst="rect">
            <a:avLst/>
          </a:prstGeom>
        </p:spPr>
      </p:pic>
      <p:sp>
        <p:nvSpPr>
          <p:cNvPr id="5" name="文本框 4"/>
          <p:cNvSpPr txBox="1"/>
          <p:nvPr/>
        </p:nvSpPr>
        <p:spPr>
          <a:xfrm>
            <a:off x="1845679" y="4519749"/>
            <a:ext cx="7165872" cy="523220"/>
          </a:xfrm>
          <a:prstGeom prst="rect">
            <a:avLst/>
          </a:prstGeom>
          <a:noFill/>
        </p:spPr>
        <p:txBody>
          <a:bodyPr wrap="none" rtlCol="0">
            <a:spAutoFit/>
          </a:bodyPr>
          <a:lstStyle/>
          <a:p>
            <a:r>
              <a:rPr lang="en-US" altLang="zh-CN" sz="2800" dirty="0"/>
              <a:t>Reshape</a:t>
            </a:r>
            <a:r>
              <a:rPr lang="zh-CN" altLang="en-US" sz="2800" dirty="0"/>
              <a:t>要求变形前后的元素总数目保持不变</a:t>
            </a:r>
          </a:p>
        </p:txBody>
      </p:sp>
    </p:spTree>
    <p:extLst>
      <p:ext uri="{BB962C8B-B14F-4D97-AF65-F5344CB8AC3E}">
        <p14:creationId xmlns:p14="http://schemas.microsoft.com/office/powerpoint/2010/main" val="1567592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24252" y="575103"/>
            <a:ext cx="2629988" cy="1938992"/>
          </a:xfrm>
          <a:prstGeom prst="rect">
            <a:avLst/>
          </a:prstGeom>
        </p:spPr>
        <p:txBody>
          <a:bodyPr wrap="square">
            <a:spAutoFit/>
          </a:bodyPr>
          <a:lstStyle/>
          <a:p>
            <a:r>
              <a:rPr lang="zh-CN" altLang="en-US" sz="2400" dirty="0"/>
              <a:t>&gt;&gt; A=[1:3;4:6;7:9]</a:t>
            </a:r>
          </a:p>
          <a:p>
            <a:r>
              <a:rPr lang="zh-CN" altLang="en-US" sz="2400" dirty="0"/>
              <a:t>A =</a:t>
            </a:r>
          </a:p>
          <a:p>
            <a:r>
              <a:rPr lang="zh-CN" altLang="en-US" sz="2400" dirty="0"/>
              <a:t>     1     2     3</a:t>
            </a:r>
          </a:p>
          <a:p>
            <a:r>
              <a:rPr lang="zh-CN" altLang="en-US" sz="2400" dirty="0"/>
              <a:t>     4     5     6</a:t>
            </a:r>
          </a:p>
          <a:p>
            <a:r>
              <a:rPr lang="zh-CN" altLang="en-US" sz="2400" dirty="0"/>
              <a:t>     7     8     9</a:t>
            </a:r>
          </a:p>
        </p:txBody>
      </p:sp>
      <p:sp>
        <p:nvSpPr>
          <p:cNvPr id="5" name="矩形 4"/>
          <p:cNvSpPr/>
          <p:nvPr/>
        </p:nvSpPr>
        <p:spPr>
          <a:xfrm>
            <a:off x="1580605" y="3282518"/>
            <a:ext cx="2455817" cy="1938992"/>
          </a:xfrm>
          <a:prstGeom prst="rect">
            <a:avLst/>
          </a:prstGeom>
        </p:spPr>
        <p:txBody>
          <a:bodyPr wrap="square">
            <a:spAutoFit/>
          </a:bodyPr>
          <a:lstStyle/>
          <a:p>
            <a:r>
              <a:rPr lang="zh-CN" altLang="en-US" sz="2400" dirty="0"/>
              <a:t>&gt;&gt; rot90(A)</a:t>
            </a:r>
          </a:p>
          <a:p>
            <a:r>
              <a:rPr lang="zh-CN" altLang="en-US" sz="2400" dirty="0"/>
              <a:t>ans =</a:t>
            </a:r>
          </a:p>
          <a:p>
            <a:r>
              <a:rPr lang="zh-CN" altLang="en-US" sz="2400" dirty="0"/>
              <a:t>     3     6     9</a:t>
            </a:r>
          </a:p>
          <a:p>
            <a:r>
              <a:rPr lang="zh-CN" altLang="en-US" sz="2400" dirty="0"/>
              <a:t>     2     5     8</a:t>
            </a:r>
          </a:p>
          <a:p>
            <a:r>
              <a:rPr lang="zh-CN" altLang="en-US" sz="2400" dirty="0"/>
              <a:t>     1     4     7</a:t>
            </a:r>
          </a:p>
        </p:txBody>
      </p:sp>
      <p:sp>
        <p:nvSpPr>
          <p:cNvPr id="6" name="矩形 5"/>
          <p:cNvSpPr/>
          <p:nvPr/>
        </p:nvSpPr>
        <p:spPr>
          <a:xfrm>
            <a:off x="6485707" y="3282518"/>
            <a:ext cx="2551612" cy="1938992"/>
          </a:xfrm>
          <a:prstGeom prst="rect">
            <a:avLst/>
          </a:prstGeom>
        </p:spPr>
        <p:txBody>
          <a:bodyPr wrap="square">
            <a:spAutoFit/>
          </a:bodyPr>
          <a:lstStyle/>
          <a:p>
            <a:r>
              <a:rPr lang="zh-CN" altLang="en-US" sz="2400" dirty="0"/>
              <a:t>&gt;&gt; flipud(A)</a:t>
            </a:r>
          </a:p>
          <a:p>
            <a:r>
              <a:rPr lang="zh-CN" altLang="en-US" sz="2400" dirty="0"/>
              <a:t>ans =</a:t>
            </a:r>
          </a:p>
          <a:p>
            <a:r>
              <a:rPr lang="zh-CN" altLang="en-US" sz="2400" dirty="0"/>
              <a:t>     7     8     9</a:t>
            </a:r>
          </a:p>
          <a:p>
            <a:r>
              <a:rPr lang="zh-CN" altLang="en-US" sz="2400" dirty="0"/>
              <a:t>     4     5     6</a:t>
            </a:r>
          </a:p>
          <a:p>
            <a:r>
              <a:rPr lang="zh-CN" altLang="en-US" sz="2400" dirty="0"/>
              <a:t>     1     2     3</a:t>
            </a:r>
          </a:p>
        </p:txBody>
      </p:sp>
      <p:sp>
        <p:nvSpPr>
          <p:cNvPr id="7" name="矩形 6"/>
          <p:cNvSpPr/>
          <p:nvPr/>
        </p:nvSpPr>
        <p:spPr>
          <a:xfrm>
            <a:off x="4036422" y="3282518"/>
            <a:ext cx="2133600" cy="1938992"/>
          </a:xfrm>
          <a:prstGeom prst="rect">
            <a:avLst/>
          </a:prstGeom>
        </p:spPr>
        <p:txBody>
          <a:bodyPr wrap="square">
            <a:spAutoFit/>
          </a:bodyPr>
          <a:lstStyle/>
          <a:p>
            <a:r>
              <a:rPr lang="zh-CN" altLang="en-US" sz="2400" dirty="0"/>
              <a:t>&gt;&gt; fliplr(A)</a:t>
            </a:r>
          </a:p>
          <a:p>
            <a:r>
              <a:rPr lang="zh-CN" altLang="en-US" sz="2400" dirty="0"/>
              <a:t>ans =</a:t>
            </a:r>
          </a:p>
          <a:p>
            <a:r>
              <a:rPr lang="zh-CN" altLang="en-US" sz="2400" dirty="0"/>
              <a:t>     3     2     1</a:t>
            </a:r>
          </a:p>
          <a:p>
            <a:r>
              <a:rPr lang="zh-CN" altLang="en-US" sz="2400" dirty="0"/>
              <a:t>     6     5     4</a:t>
            </a:r>
          </a:p>
          <a:p>
            <a:r>
              <a:rPr lang="zh-CN" altLang="en-US" sz="2400" dirty="0"/>
              <a:t>     9     8     7</a:t>
            </a:r>
          </a:p>
        </p:txBody>
      </p:sp>
      <p:sp>
        <p:nvSpPr>
          <p:cNvPr id="8" name="矩形 7"/>
          <p:cNvSpPr/>
          <p:nvPr/>
        </p:nvSpPr>
        <p:spPr>
          <a:xfrm>
            <a:off x="8821782" y="3282518"/>
            <a:ext cx="2386149" cy="1938992"/>
          </a:xfrm>
          <a:prstGeom prst="rect">
            <a:avLst/>
          </a:prstGeom>
        </p:spPr>
        <p:txBody>
          <a:bodyPr wrap="square">
            <a:spAutoFit/>
          </a:bodyPr>
          <a:lstStyle/>
          <a:p>
            <a:r>
              <a:rPr lang="zh-CN" altLang="en-US" sz="2400" dirty="0"/>
              <a:t>&gt;&gt; transpose(A)</a:t>
            </a:r>
          </a:p>
          <a:p>
            <a:r>
              <a:rPr lang="zh-CN" altLang="en-US" sz="2400" dirty="0"/>
              <a:t>ans =</a:t>
            </a:r>
          </a:p>
          <a:p>
            <a:r>
              <a:rPr lang="zh-CN" altLang="en-US" sz="2400" dirty="0"/>
              <a:t>     1     4     7</a:t>
            </a:r>
          </a:p>
          <a:p>
            <a:r>
              <a:rPr lang="zh-CN" altLang="en-US" sz="2400" dirty="0"/>
              <a:t>     2     5     8</a:t>
            </a:r>
          </a:p>
          <a:p>
            <a:r>
              <a:rPr lang="zh-CN" altLang="en-US" sz="2400" dirty="0"/>
              <a:t>     3     6     9</a:t>
            </a:r>
          </a:p>
        </p:txBody>
      </p:sp>
      <p:sp>
        <p:nvSpPr>
          <p:cNvPr id="9" name="文本框 8"/>
          <p:cNvSpPr txBox="1"/>
          <p:nvPr/>
        </p:nvSpPr>
        <p:spPr>
          <a:xfrm>
            <a:off x="1488716" y="5221510"/>
            <a:ext cx="1803699" cy="369332"/>
          </a:xfrm>
          <a:prstGeom prst="rect">
            <a:avLst/>
          </a:prstGeom>
          <a:noFill/>
        </p:spPr>
        <p:txBody>
          <a:bodyPr wrap="none" rtlCol="0">
            <a:spAutoFit/>
          </a:bodyPr>
          <a:lstStyle/>
          <a:p>
            <a:r>
              <a:rPr lang="zh-CN" altLang="en-US" dirty="0"/>
              <a:t>逆时针旋转</a:t>
            </a:r>
            <a:r>
              <a:rPr lang="en-US" altLang="zh-CN" dirty="0"/>
              <a:t>90</a:t>
            </a:r>
            <a:r>
              <a:rPr lang="zh-CN" altLang="en-US" dirty="0"/>
              <a:t>度</a:t>
            </a:r>
          </a:p>
        </p:txBody>
      </p:sp>
      <p:sp>
        <p:nvSpPr>
          <p:cNvPr id="10" name="文本框 9"/>
          <p:cNvSpPr txBox="1"/>
          <p:nvPr/>
        </p:nvSpPr>
        <p:spPr>
          <a:xfrm>
            <a:off x="4315095" y="5200461"/>
            <a:ext cx="1107996" cy="369332"/>
          </a:xfrm>
          <a:prstGeom prst="rect">
            <a:avLst/>
          </a:prstGeom>
          <a:noFill/>
        </p:spPr>
        <p:txBody>
          <a:bodyPr wrap="none" rtlCol="0">
            <a:spAutoFit/>
          </a:bodyPr>
          <a:lstStyle/>
          <a:p>
            <a:r>
              <a:rPr lang="zh-CN" altLang="en-US" dirty="0"/>
              <a:t>左右镜像</a:t>
            </a:r>
          </a:p>
        </p:txBody>
      </p:sp>
      <p:sp>
        <p:nvSpPr>
          <p:cNvPr id="11" name="文本框 10"/>
          <p:cNvSpPr txBox="1"/>
          <p:nvPr/>
        </p:nvSpPr>
        <p:spPr>
          <a:xfrm>
            <a:off x="6990888" y="5212400"/>
            <a:ext cx="1107996" cy="369332"/>
          </a:xfrm>
          <a:prstGeom prst="rect">
            <a:avLst/>
          </a:prstGeom>
          <a:noFill/>
        </p:spPr>
        <p:txBody>
          <a:bodyPr wrap="none" rtlCol="0">
            <a:spAutoFit/>
          </a:bodyPr>
          <a:lstStyle/>
          <a:p>
            <a:r>
              <a:rPr lang="zh-CN" altLang="en-US" dirty="0"/>
              <a:t>上下镜像</a:t>
            </a:r>
          </a:p>
        </p:txBody>
      </p:sp>
      <p:sp>
        <p:nvSpPr>
          <p:cNvPr id="12" name="矩形 11"/>
          <p:cNvSpPr/>
          <p:nvPr/>
        </p:nvSpPr>
        <p:spPr>
          <a:xfrm>
            <a:off x="9485893" y="5212400"/>
            <a:ext cx="646331" cy="369332"/>
          </a:xfrm>
          <a:prstGeom prst="rect">
            <a:avLst/>
          </a:prstGeom>
        </p:spPr>
        <p:txBody>
          <a:bodyPr wrap="none">
            <a:spAutoFit/>
          </a:bodyPr>
          <a:lstStyle/>
          <a:p>
            <a:r>
              <a:rPr lang="zh-CN" altLang="en-US" dirty="0"/>
              <a:t>转置</a:t>
            </a:r>
          </a:p>
        </p:txBody>
      </p:sp>
    </p:spTree>
    <p:extLst>
      <p:ext uri="{BB962C8B-B14F-4D97-AF65-F5344CB8AC3E}">
        <p14:creationId xmlns:p14="http://schemas.microsoft.com/office/powerpoint/2010/main" val="2193722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539512203"/>
              </p:ext>
            </p:extLst>
          </p:nvPr>
        </p:nvGraphicFramePr>
        <p:xfrm>
          <a:off x="844732" y="1798570"/>
          <a:ext cx="10615748" cy="2476500"/>
        </p:xfrm>
        <a:graphic>
          <a:graphicData uri="http://schemas.openxmlformats.org/drawingml/2006/table">
            <a:tbl>
              <a:tblPr/>
              <a:tblGrid>
                <a:gridCol w="2517275">
                  <a:extLst>
                    <a:ext uri="{9D8B030D-6E8A-4147-A177-3AD203B41FA5}">
                      <a16:colId xmlns:a16="http://schemas.microsoft.com/office/drawing/2014/main" val="20000"/>
                    </a:ext>
                  </a:extLst>
                </a:gridCol>
                <a:gridCol w="8098473">
                  <a:extLst>
                    <a:ext uri="{9D8B030D-6E8A-4147-A177-3AD203B41FA5}">
                      <a16:colId xmlns:a16="http://schemas.microsoft.com/office/drawing/2014/main" val="20001"/>
                    </a:ext>
                  </a:extLst>
                </a:gridCol>
              </a:tblGrid>
              <a:tr h="0">
                <a:tc>
                  <a:txBody>
                    <a:bodyPr/>
                    <a:lstStyle/>
                    <a:p>
                      <a:pPr algn="l" fontAlgn="ctr"/>
                      <a:r>
                        <a:rPr lang="en-US" sz="2800" b="1">
                          <a:solidFill>
                            <a:srgbClr val="000000"/>
                          </a:solidFill>
                          <a:effectLst/>
                        </a:rPr>
                        <a:t>Function</a:t>
                      </a:r>
                    </a:p>
                  </a:txBody>
                  <a:tcPr marL="47625" marR="47625" marT="57150" marB="571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EAEA"/>
                    </a:solidFill>
                  </a:tcPr>
                </a:tc>
                <a:tc>
                  <a:txBody>
                    <a:bodyPr/>
                    <a:lstStyle/>
                    <a:p>
                      <a:pPr algn="l" fontAlgn="ctr"/>
                      <a:r>
                        <a:rPr lang="en-US" sz="2800" b="1">
                          <a:solidFill>
                            <a:srgbClr val="000000"/>
                          </a:solidFill>
                          <a:effectLst/>
                        </a:rPr>
                        <a:t>Description</a:t>
                      </a:r>
                    </a:p>
                  </a:txBody>
                  <a:tcPr marL="47625" marR="47625" marT="57150" marB="5715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EAEA"/>
                    </a:solidFill>
                  </a:tcPr>
                </a:tc>
                <a:extLst>
                  <a:ext uri="{0D108BD9-81ED-4DB2-BD59-A6C34878D82A}">
                    <a16:rowId xmlns:a16="http://schemas.microsoft.com/office/drawing/2014/main" val="10000"/>
                  </a:ext>
                </a:extLst>
              </a:tr>
              <a:tr h="0">
                <a:tc>
                  <a:txBody>
                    <a:bodyPr/>
                    <a:lstStyle/>
                    <a:p>
                      <a:pPr algn="l" fontAlgn="t"/>
                      <a:r>
                        <a:rPr lang="en-US" sz="2800" u="none" strike="noStrike">
                          <a:solidFill>
                            <a:srgbClr val="005695"/>
                          </a:solidFill>
                          <a:effectLst/>
                          <a:hlinkClick r:id="rId2" action="ppaction://hlinkfile"/>
                        </a:rPr>
                        <a:t>circshift</a:t>
                      </a:r>
                      <a:endParaRPr lang="en-US" sz="2800">
                        <a:effectLst/>
                      </a:endParaRP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800">
                          <a:effectLst/>
                        </a:rPr>
                        <a:t>Circularly shift matrix contents.</a:t>
                      </a: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algn="l" fontAlgn="t"/>
                      <a:r>
                        <a:rPr lang="en-US" sz="2800" u="none" strike="noStrike">
                          <a:solidFill>
                            <a:srgbClr val="005695"/>
                          </a:solidFill>
                          <a:effectLst/>
                          <a:hlinkClick r:id="rId3" action="ppaction://hlinkfile"/>
                        </a:rPr>
                        <a:t>sort</a:t>
                      </a:r>
                      <a:endParaRPr lang="en-US" sz="2800">
                        <a:effectLst/>
                      </a:endParaRP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800" dirty="0">
                          <a:effectLst/>
                        </a:rPr>
                        <a:t>Sort array elements in ascending or descending order.</a:t>
                      </a: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algn="l" fontAlgn="t"/>
                      <a:r>
                        <a:rPr lang="en-US" sz="2800" u="none" strike="noStrike">
                          <a:solidFill>
                            <a:srgbClr val="005695"/>
                          </a:solidFill>
                          <a:effectLst/>
                          <a:hlinkClick r:id="rId4" action="ppaction://hlinkfile"/>
                        </a:rPr>
                        <a:t>sortrows</a:t>
                      </a:r>
                      <a:endParaRPr lang="en-US" sz="2800">
                        <a:effectLst/>
                      </a:endParaRP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800">
                          <a:effectLst/>
                        </a:rPr>
                        <a:t>Sort rows in ascending order.</a:t>
                      </a: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algn="l" fontAlgn="t"/>
                      <a:r>
                        <a:rPr lang="en-US" sz="2800" u="none" strike="noStrike">
                          <a:solidFill>
                            <a:srgbClr val="005695"/>
                          </a:solidFill>
                          <a:effectLst/>
                          <a:hlinkClick r:id="rId5" action="ppaction://hlinkfile"/>
                        </a:rPr>
                        <a:t>issorted</a:t>
                      </a:r>
                      <a:endParaRPr lang="en-US" sz="2800">
                        <a:effectLst/>
                      </a:endParaRP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2800" dirty="0">
                          <a:effectLst/>
                        </a:rPr>
                        <a:t>Determine if matrix elements are in sorted order.</a:t>
                      </a:r>
                    </a:p>
                  </a:txBody>
                  <a:tcPr marL="47625" marR="47625" marT="28575" marB="28575">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文本框 4"/>
          <p:cNvSpPr txBox="1"/>
          <p:nvPr/>
        </p:nvSpPr>
        <p:spPr>
          <a:xfrm>
            <a:off x="661801" y="209006"/>
            <a:ext cx="5346335" cy="523220"/>
          </a:xfrm>
          <a:prstGeom prst="rect">
            <a:avLst/>
          </a:prstGeom>
          <a:noFill/>
        </p:spPr>
        <p:txBody>
          <a:bodyPr wrap="none" rtlCol="0">
            <a:spAutoFit/>
          </a:bodyPr>
          <a:lstStyle/>
          <a:p>
            <a:r>
              <a:rPr lang="zh-CN" altLang="en-US" sz="2800" dirty="0"/>
              <a:t>二、移位与排序（</a:t>
            </a:r>
            <a:r>
              <a:rPr lang="en-US" altLang="zh-CN" sz="2800" dirty="0"/>
              <a:t>shift and sort</a:t>
            </a:r>
            <a:r>
              <a:rPr lang="zh-CN" altLang="en-US" sz="2800" dirty="0"/>
              <a:t>）</a:t>
            </a:r>
            <a:endParaRPr lang="en-US" altLang="zh-CN" sz="2800" dirty="0"/>
          </a:p>
        </p:txBody>
      </p:sp>
    </p:spTree>
    <p:extLst>
      <p:ext uri="{BB962C8B-B14F-4D97-AF65-F5344CB8AC3E}">
        <p14:creationId xmlns:p14="http://schemas.microsoft.com/office/powerpoint/2010/main" val="552408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3219994" cy="697321"/>
          </a:xfrm>
        </p:spPr>
        <p:txBody>
          <a:bodyPr/>
          <a:lstStyle/>
          <a:p>
            <a:r>
              <a:rPr lang="en-US" altLang="zh-CN" dirty="0"/>
              <a:t>2.1</a:t>
            </a:r>
            <a:r>
              <a:rPr lang="zh-CN" altLang="en-US" dirty="0"/>
              <a:t>循环移位</a:t>
            </a:r>
          </a:p>
        </p:txBody>
      </p:sp>
      <p:sp>
        <p:nvSpPr>
          <p:cNvPr id="3" name="内容占位符 2"/>
          <p:cNvSpPr>
            <a:spLocks noGrp="1"/>
          </p:cNvSpPr>
          <p:nvPr>
            <p:ph idx="1"/>
          </p:nvPr>
        </p:nvSpPr>
        <p:spPr>
          <a:xfrm>
            <a:off x="838200" y="1233442"/>
            <a:ext cx="3751217" cy="1701346"/>
          </a:xfrm>
        </p:spPr>
        <p:txBody>
          <a:bodyPr/>
          <a:lstStyle/>
          <a:p>
            <a:r>
              <a:rPr lang="en-US" altLang="zh-CN" dirty="0"/>
              <a:t>Y = </a:t>
            </a:r>
            <a:r>
              <a:rPr lang="en-US" altLang="zh-CN" dirty="0" err="1"/>
              <a:t>circshift</a:t>
            </a:r>
            <a:r>
              <a:rPr lang="en-US" altLang="zh-CN" dirty="0"/>
              <a:t>(X,K)</a:t>
            </a:r>
          </a:p>
          <a:p>
            <a:r>
              <a:rPr lang="en-US" altLang="zh-CN" dirty="0"/>
              <a:t>Y = </a:t>
            </a:r>
            <a:r>
              <a:rPr lang="en-US" altLang="zh-CN" dirty="0" err="1"/>
              <a:t>circshift</a:t>
            </a:r>
            <a:r>
              <a:rPr lang="en-US" altLang="zh-CN" dirty="0"/>
              <a:t>(X,K,DIM)</a:t>
            </a:r>
          </a:p>
          <a:p>
            <a:r>
              <a:rPr lang="en-US" altLang="zh-CN" dirty="0"/>
              <a:t>Y = </a:t>
            </a:r>
            <a:r>
              <a:rPr lang="en-US" altLang="zh-CN" dirty="0" err="1"/>
              <a:t>circshift</a:t>
            </a:r>
            <a:r>
              <a:rPr lang="en-US" altLang="zh-CN" dirty="0"/>
              <a:t>(X,V)</a:t>
            </a:r>
            <a:endParaRPr lang="zh-CN" altLang="en-US" dirty="0"/>
          </a:p>
        </p:txBody>
      </p:sp>
      <p:pic>
        <p:nvPicPr>
          <p:cNvPr id="4" name="图片 3"/>
          <p:cNvPicPr>
            <a:picLocks noChangeAspect="1"/>
          </p:cNvPicPr>
          <p:nvPr/>
        </p:nvPicPr>
        <p:blipFill>
          <a:blip r:embed="rId2"/>
          <a:stretch>
            <a:fillRect/>
          </a:stretch>
        </p:blipFill>
        <p:spPr>
          <a:xfrm>
            <a:off x="5194799" y="1062446"/>
            <a:ext cx="5076825" cy="1771650"/>
          </a:xfrm>
          <a:prstGeom prst="rect">
            <a:avLst/>
          </a:prstGeom>
        </p:spPr>
      </p:pic>
      <p:pic>
        <p:nvPicPr>
          <p:cNvPr id="5" name="图片 4"/>
          <p:cNvPicPr>
            <a:picLocks noChangeAspect="1"/>
          </p:cNvPicPr>
          <p:nvPr/>
        </p:nvPicPr>
        <p:blipFill>
          <a:blip r:embed="rId3"/>
          <a:stretch>
            <a:fillRect/>
          </a:stretch>
        </p:blipFill>
        <p:spPr>
          <a:xfrm>
            <a:off x="5194799" y="3492320"/>
            <a:ext cx="3819525" cy="1762125"/>
          </a:xfrm>
          <a:prstGeom prst="rect">
            <a:avLst/>
          </a:prstGeom>
        </p:spPr>
      </p:pic>
    </p:spTree>
    <p:extLst>
      <p:ext uri="{BB962C8B-B14F-4D97-AF65-F5344CB8AC3E}">
        <p14:creationId xmlns:p14="http://schemas.microsoft.com/office/powerpoint/2010/main" val="1039886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a:spLocks noGrp="1"/>
          </p:cNvSpPr>
          <p:nvPr>
            <p:ph type="title"/>
          </p:nvPr>
        </p:nvSpPr>
        <p:spPr>
          <a:xfrm>
            <a:off x="829491" y="190954"/>
            <a:ext cx="9333412" cy="697321"/>
          </a:xfrm>
        </p:spPr>
        <p:txBody>
          <a:bodyPr>
            <a:normAutofit/>
          </a:bodyPr>
          <a:lstStyle/>
          <a:p>
            <a:r>
              <a:rPr lang="en-US" altLang="zh-CN" dirty="0"/>
              <a:t>2.2 </a:t>
            </a:r>
            <a:r>
              <a:rPr lang="zh-CN" altLang="en-US" dirty="0"/>
              <a:t>排序： </a:t>
            </a:r>
            <a:r>
              <a:rPr lang="en-US" altLang="zh-CN" dirty="0">
                <a:solidFill>
                  <a:srgbClr val="FF0000"/>
                </a:solidFill>
              </a:rPr>
              <a:t>sort</a:t>
            </a:r>
            <a:r>
              <a:rPr lang="zh-CN" altLang="en-US" dirty="0"/>
              <a:t>函数和</a:t>
            </a:r>
            <a:r>
              <a:rPr lang="en-US" altLang="zh-CN" dirty="0" err="1">
                <a:solidFill>
                  <a:srgbClr val="FF0000"/>
                </a:solidFill>
              </a:rPr>
              <a:t>sortrows</a:t>
            </a:r>
            <a:r>
              <a:rPr lang="zh-CN" altLang="en-US" dirty="0"/>
              <a:t>函数</a:t>
            </a:r>
          </a:p>
        </p:txBody>
      </p:sp>
      <p:sp>
        <p:nvSpPr>
          <p:cNvPr id="2" name="矩形 1"/>
          <p:cNvSpPr/>
          <p:nvPr/>
        </p:nvSpPr>
        <p:spPr>
          <a:xfrm>
            <a:off x="1454880" y="1125762"/>
            <a:ext cx="4196983" cy="523220"/>
          </a:xfrm>
          <a:prstGeom prst="rect">
            <a:avLst/>
          </a:prstGeom>
        </p:spPr>
        <p:txBody>
          <a:bodyPr wrap="none">
            <a:spAutoFit/>
          </a:bodyPr>
          <a:lstStyle/>
          <a:p>
            <a:r>
              <a:rPr lang="zh-CN" altLang="en-US" sz="2800" dirty="0"/>
              <a:t>&gt;&gt; A = [9 0 -7 5 3 8 -10 4 2];</a:t>
            </a:r>
          </a:p>
        </p:txBody>
      </p:sp>
      <p:sp>
        <p:nvSpPr>
          <p:cNvPr id="3" name="矩形 2"/>
          <p:cNvSpPr/>
          <p:nvPr/>
        </p:nvSpPr>
        <p:spPr>
          <a:xfrm>
            <a:off x="1454880" y="1696741"/>
            <a:ext cx="6096000" cy="1384995"/>
          </a:xfrm>
          <a:prstGeom prst="rect">
            <a:avLst/>
          </a:prstGeom>
        </p:spPr>
        <p:txBody>
          <a:bodyPr>
            <a:spAutoFit/>
          </a:bodyPr>
          <a:lstStyle/>
          <a:p>
            <a:r>
              <a:rPr lang="zh-CN" altLang="en-US" sz="2800" dirty="0"/>
              <a:t>&gt;&gt; B = sort(A)</a:t>
            </a:r>
          </a:p>
          <a:p>
            <a:r>
              <a:rPr lang="zh-CN" altLang="en-US" sz="2800" dirty="0"/>
              <a:t>B =</a:t>
            </a:r>
          </a:p>
          <a:p>
            <a:r>
              <a:rPr lang="zh-CN" altLang="en-US" sz="2800" dirty="0"/>
              <a:t>   -10    -7     0     2     3     4     5     8     9</a:t>
            </a:r>
          </a:p>
        </p:txBody>
      </p:sp>
      <p:sp>
        <p:nvSpPr>
          <p:cNvPr id="7" name="矩形 6"/>
          <p:cNvSpPr/>
          <p:nvPr/>
        </p:nvSpPr>
        <p:spPr>
          <a:xfrm>
            <a:off x="1454880" y="3281913"/>
            <a:ext cx="6096000" cy="1384995"/>
          </a:xfrm>
          <a:prstGeom prst="rect">
            <a:avLst/>
          </a:prstGeom>
        </p:spPr>
        <p:txBody>
          <a:bodyPr>
            <a:spAutoFit/>
          </a:bodyPr>
          <a:lstStyle/>
          <a:p>
            <a:r>
              <a:rPr lang="zh-CN" altLang="en-US" sz="2800" dirty="0"/>
              <a:t>&gt;&gt; B = sort(A,</a:t>
            </a:r>
            <a:r>
              <a:rPr lang="zh-CN" altLang="en-US" sz="2800" dirty="0">
                <a:solidFill>
                  <a:srgbClr val="FF0000"/>
                </a:solidFill>
              </a:rPr>
              <a:t>'descend'</a:t>
            </a:r>
            <a:r>
              <a:rPr lang="zh-CN" altLang="en-US" sz="2800" dirty="0"/>
              <a:t>)</a:t>
            </a:r>
            <a:r>
              <a:rPr lang="en-US" altLang="zh-CN" sz="2800" dirty="0"/>
              <a:t> %</a:t>
            </a:r>
            <a:r>
              <a:rPr lang="zh-CN" altLang="en-US" sz="2800" dirty="0"/>
              <a:t>降序</a:t>
            </a:r>
          </a:p>
          <a:p>
            <a:r>
              <a:rPr lang="zh-CN" altLang="en-US" sz="2800" dirty="0"/>
              <a:t>B =</a:t>
            </a:r>
          </a:p>
          <a:p>
            <a:r>
              <a:rPr lang="zh-CN" altLang="en-US" sz="2800" dirty="0"/>
              <a:t>     9     8     5     4     3     2     0    -7   -10</a:t>
            </a:r>
          </a:p>
        </p:txBody>
      </p:sp>
      <p:sp>
        <p:nvSpPr>
          <p:cNvPr id="8" name="矩形 7"/>
          <p:cNvSpPr/>
          <p:nvPr/>
        </p:nvSpPr>
        <p:spPr>
          <a:xfrm>
            <a:off x="1454880" y="4874788"/>
            <a:ext cx="6096000" cy="1384995"/>
          </a:xfrm>
          <a:prstGeom prst="rect">
            <a:avLst/>
          </a:prstGeom>
        </p:spPr>
        <p:txBody>
          <a:bodyPr>
            <a:spAutoFit/>
          </a:bodyPr>
          <a:lstStyle/>
          <a:p>
            <a:r>
              <a:rPr lang="zh-CN" altLang="en-US" sz="2800" dirty="0"/>
              <a:t>&gt;&gt; B = sort(A, </a:t>
            </a:r>
            <a:r>
              <a:rPr lang="zh-CN" altLang="en-US" sz="2800" dirty="0">
                <a:solidFill>
                  <a:srgbClr val="FF0000"/>
                </a:solidFill>
              </a:rPr>
              <a:t>'ascend' </a:t>
            </a:r>
            <a:r>
              <a:rPr lang="zh-CN" altLang="en-US" sz="2800" dirty="0"/>
              <a:t>)  </a:t>
            </a:r>
            <a:r>
              <a:rPr lang="en-US" altLang="zh-CN" sz="2800" dirty="0"/>
              <a:t>%</a:t>
            </a:r>
            <a:r>
              <a:rPr lang="zh-CN" altLang="en-US" sz="2800" dirty="0"/>
              <a:t>升序</a:t>
            </a:r>
          </a:p>
          <a:p>
            <a:r>
              <a:rPr lang="zh-CN" altLang="en-US" sz="2800" dirty="0"/>
              <a:t>B =  </a:t>
            </a:r>
          </a:p>
          <a:p>
            <a:r>
              <a:rPr lang="zh-CN" altLang="en-US" sz="2800" dirty="0"/>
              <a:t>   -10    -7     0     2     3     4     5     8     9</a:t>
            </a:r>
          </a:p>
        </p:txBody>
      </p:sp>
    </p:spTree>
    <p:extLst>
      <p:ext uri="{BB962C8B-B14F-4D97-AF65-F5344CB8AC3E}">
        <p14:creationId xmlns:p14="http://schemas.microsoft.com/office/powerpoint/2010/main" val="3076785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11493" y="2388505"/>
            <a:ext cx="5921829" cy="2246769"/>
          </a:xfrm>
          <a:prstGeom prst="rect">
            <a:avLst/>
          </a:prstGeom>
        </p:spPr>
        <p:txBody>
          <a:bodyPr wrap="square">
            <a:spAutoFit/>
          </a:bodyPr>
          <a:lstStyle/>
          <a:p>
            <a:r>
              <a:rPr lang="zh-CN" altLang="en-US" sz="2800" dirty="0"/>
              <a:t>&gt;&gt; </a:t>
            </a:r>
            <a:r>
              <a:rPr lang="zh-CN" altLang="en-US" sz="2800" b="1" dirty="0">
                <a:effectLst>
                  <a:outerShdw blurRad="38100" dist="38100" dir="2700000" algn="tl">
                    <a:srgbClr val="000000">
                      <a:alpha val="43137"/>
                    </a:srgbClr>
                  </a:outerShdw>
                </a:effectLst>
              </a:rPr>
              <a:t>[B,I]</a:t>
            </a:r>
            <a:r>
              <a:rPr lang="zh-CN" altLang="en-US" sz="2800" dirty="0"/>
              <a:t> = sort(A)</a:t>
            </a:r>
          </a:p>
          <a:p>
            <a:r>
              <a:rPr lang="zh-CN" altLang="en-US" sz="2800" dirty="0"/>
              <a:t>B =</a:t>
            </a:r>
          </a:p>
          <a:p>
            <a:r>
              <a:rPr lang="zh-CN" altLang="en-US" sz="2800" dirty="0"/>
              <a:t>   -10    -7     0     2     3     4     5     8     9</a:t>
            </a:r>
          </a:p>
          <a:p>
            <a:r>
              <a:rPr lang="zh-CN" altLang="en-US" sz="2800" dirty="0"/>
              <a:t>I =</a:t>
            </a:r>
          </a:p>
          <a:p>
            <a:r>
              <a:rPr lang="zh-CN" altLang="en-US" sz="2800" dirty="0"/>
              <a:t>     </a:t>
            </a:r>
            <a:r>
              <a:rPr lang="zh-CN" altLang="en-US" sz="2800" dirty="0">
                <a:solidFill>
                  <a:srgbClr val="FF0000"/>
                </a:solidFill>
              </a:rPr>
              <a:t>7     3     2     9     5     8     4     6     1</a:t>
            </a:r>
          </a:p>
        </p:txBody>
      </p:sp>
      <p:sp>
        <p:nvSpPr>
          <p:cNvPr id="6" name="矩形 5"/>
          <p:cNvSpPr/>
          <p:nvPr/>
        </p:nvSpPr>
        <p:spPr>
          <a:xfrm>
            <a:off x="1824408" y="363472"/>
            <a:ext cx="6096000" cy="1384995"/>
          </a:xfrm>
          <a:prstGeom prst="rect">
            <a:avLst/>
          </a:prstGeom>
        </p:spPr>
        <p:txBody>
          <a:bodyPr wrap="square">
            <a:spAutoFit/>
          </a:bodyPr>
          <a:lstStyle/>
          <a:p>
            <a:r>
              <a:rPr lang="zh-CN" altLang="en-US" sz="2800" dirty="0"/>
              <a:t>&gt;&gt; A = [9 0 -7 5 3 8 -10 4 2]</a:t>
            </a:r>
          </a:p>
          <a:p>
            <a:r>
              <a:rPr lang="zh-CN" altLang="en-US" sz="2800" dirty="0"/>
              <a:t>A =</a:t>
            </a:r>
          </a:p>
          <a:p>
            <a:r>
              <a:rPr lang="zh-CN" altLang="en-US" sz="2800" dirty="0"/>
              <a:t>     9     0    -7     5     3     8   -10     4     2</a:t>
            </a:r>
          </a:p>
        </p:txBody>
      </p:sp>
      <p:sp>
        <p:nvSpPr>
          <p:cNvPr id="7" name="矩形 6"/>
          <p:cNvSpPr/>
          <p:nvPr/>
        </p:nvSpPr>
        <p:spPr>
          <a:xfrm>
            <a:off x="2137129" y="1748467"/>
            <a:ext cx="5630917" cy="523220"/>
          </a:xfrm>
          <a:prstGeom prst="rect">
            <a:avLst/>
          </a:prstGeom>
        </p:spPr>
        <p:txBody>
          <a:bodyPr wrap="square">
            <a:spAutoFit/>
          </a:bodyPr>
          <a:lstStyle/>
          <a:p>
            <a:r>
              <a:rPr lang="zh-CN" altLang="en-US" sz="2800" dirty="0">
                <a:solidFill>
                  <a:srgbClr val="FF0000"/>
                </a:solidFill>
              </a:rPr>
              <a:t> 1     2     3      4     5     6     7      8     9</a:t>
            </a:r>
          </a:p>
        </p:txBody>
      </p:sp>
    </p:spTree>
    <p:extLst>
      <p:ext uri="{BB962C8B-B14F-4D97-AF65-F5344CB8AC3E}">
        <p14:creationId xmlns:p14="http://schemas.microsoft.com/office/powerpoint/2010/main" val="2281668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059883" y="1463579"/>
            <a:ext cx="2930128" cy="2296587"/>
          </a:xfrm>
          <a:prstGeom prst="rect">
            <a:avLst/>
          </a:prstGeom>
        </p:spPr>
      </p:pic>
      <p:pic>
        <p:nvPicPr>
          <p:cNvPr id="5" name="图片 4"/>
          <p:cNvPicPr>
            <a:picLocks noChangeAspect="1"/>
          </p:cNvPicPr>
          <p:nvPr/>
        </p:nvPicPr>
        <p:blipFill>
          <a:blip r:embed="rId3"/>
          <a:stretch>
            <a:fillRect/>
          </a:stretch>
        </p:blipFill>
        <p:spPr>
          <a:xfrm>
            <a:off x="5562632" y="1463579"/>
            <a:ext cx="2893212" cy="2419777"/>
          </a:xfrm>
          <a:prstGeom prst="rect">
            <a:avLst/>
          </a:prstGeom>
        </p:spPr>
      </p:pic>
      <p:sp>
        <p:nvSpPr>
          <p:cNvPr id="6" name="文本框 5"/>
          <p:cNvSpPr txBox="1"/>
          <p:nvPr/>
        </p:nvSpPr>
        <p:spPr>
          <a:xfrm>
            <a:off x="2557653" y="4123903"/>
            <a:ext cx="3118739" cy="830997"/>
          </a:xfrm>
          <a:prstGeom prst="rect">
            <a:avLst/>
          </a:prstGeom>
          <a:noFill/>
        </p:spPr>
        <p:txBody>
          <a:bodyPr wrap="none" rtlCol="0">
            <a:spAutoFit/>
          </a:bodyPr>
          <a:lstStyle>
            <a:defPPr>
              <a:defRPr lang="zh-CN"/>
            </a:defPPr>
            <a:lvl1pPr>
              <a:defRPr sz="2400" b="1"/>
            </a:lvl1pPr>
          </a:lstStyle>
          <a:p>
            <a:pPr algn="ctr"/>
            <a:r>
              <a:rPr lang="zh-CN" altLang="en-US" dirty="0"/>
              <a:t>按列排序</a:t>
            </a:r>
            <a:endParaRPr lang="en-US" altLang="zh-CN" dirty="0"/>
          </a:p>
          <a:p>
            <a:pPr algn="ctr"/>
            <a:r>
              <a:rPr lang="en-US" altLang="zh-CN" dirty="0"/>
              <a:t>sort(A,1)</a:t>
            </a:r>
            <a:r>
              <a:rPr lang="zh-CN" altLang="en-US" dirty="0"/>
              <a:t>等价于</a:t>
            </a:r>
            <a:r>
              <a:rPr lang="en-US" altLang="zh-CN" dirty="0"/>
              <a:t>sort(A)</a:t>
            </a:r>
            <a:endParaRPr lang="zh-CN" altLang="en-US" dirty="0"/>
          </a:p>
        </p:txBody>
      </p:sp>
      <p:sp>
        <p:nvSpPr>
          <p:cNvPr id="7" name="文本框 6"/>
          <p:cNvSpPr txBox="1"/>
          <p:nvPr/>
        </p:nvSpPr>
        <p:spPr>
          <a:xfrm>
            <a:off x="6527074" y="4194520"/>
            <a:ext cx="1422184" cy="461665"/>
          </a:xfrm>
          <a:prstGeom prst="rect">
            <a:avLst/>
          </a:prstGeom>
          <a:noFill/>
        </p:spPr>
        <p:txBody>
          <a:bodyPr wrap="none" rtlCol="0">
            <a:spAutoFit/>
          </a:bodyPr>
          <a:lstStyle/>
          <a:p>
            <a:r>
              <a:rPr lang="zh-CN" altLang="en-US" sz="2400" b="1" dirty="0"/>
              <a:t>按行排序</a:t>
            </a:r>
          </a:p>
        </p:txBody>
      </p:sp>
      <p:sp>
        <p:nvSpPr>
          <p:cNvPr id="2" name="文本框 1"/>
          <p:cNvSpPr txBox="1"/>
          <p:nvPr/>
        </p:nvSpPr>
        <p:spPr>
          <a:xfrm>
            <a:off x="2303723" y="557348"/>
            <a:ext cx="3043340" cy="461665"/>
          </a:xfrm>
          <a:prstGeom prst="rect">
            <a:avLst/>
          </a:prstGeom>
          <a:noFill/>
        </p:spPr>
        <p:txBody>
          <a:bodyPr wrap="square" rtlCol="0">
            <a:spAutoFit/>
          </a:bodyPr>
          <a:lstStyle/>
          <a:p>
            <a:r>
              <a:rPr lang="zh-CN" altLang="en-US" sz="2400" b="1" dirty="0">
                <a:effectLst>
                  <a:outerShdw blurRad="38100" dist="38100" dir="2700000" algn="tl">
                    <a:srgbClr val="000000">
                      <a:alpha val="43137"/>
                    </a:srgbClr>
                  </a:outerShdw>
                </a:effectLst>
              </a:rPr>
              <a:t>对矩阵进行排序</a:t>
            </a:r>
          </a:p>
        </p:txBody>
      </p:sp>
    </p:spTree>
    <p:extLst>
      <p:ext uri="{BB962C8B-B14F-4D97-AF65-F5344CB8AC3E}">
        <p14:creationId xmlns:p14="http://schemas.microsoft.com/office/powerpoint/2010/main" val="1053234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65463" y="922413"/>
            <a:ext cx="3344091" cy="2677656"/>
          </a:xfrm>
          <a:prstGeom prst="rect">
            <a:avLst/>
          </a:prstGeom>
        </p:spPr>
        <p:txBody>
          <a:bodyPr wrap="square">
            <a:spAutoFit/>
          </a:bodyPr>
          <a:lstStyle/>
          <a:p>
            <a:r>
              <a:rPr lang="zh-CN" altLang="en-US" sz="2400" dirty="0"/>
              <a:t>&gt;&gt; A=</a:t>
            </a:r>
            <a:r>
              <a:rPr lang="zh-CN" altLang="en-US" sz="2400" dirty="0">
                <a:solidFill>
                  <a:srgbClr val="FF0000"/>
                </a:solidFill>
              </a:rPr>
              <a:t>randi</a:t>
            </a:r>
            <a:r>
              <a:rPr lang="zh-CN" altLang="en-US" sz="2400" dirty="0"/>
              <a:t>(100,5,5)</a:t>
            </a:r>
          </a:p>
          <a:p>
            <a:r>
              <a:rPr lang="zh-CN" altLang="en-US" sz="2400" dirty="0"/>
              <a:t>A =</a:t>
            </a:r>
          </a:p>
          <a:p>
            <a:r>
              <a:rPr lang="zh-CN" altLang="en-US" sz="2400" dirty="0"/>
              <a:t>    66    76    71    83    44</a:t>
            </a:r>
          </a:p>
          <a:p>
            <a:r>
              <a:rPr lang="zh-CN" altLang="en-US" sz="2400" dirty="0"/>
              <a:t>      4    75      4    70     39</a:t>
            </a:r>
          </a:p>
          <a:p>
            <a:r>
              <a:rPr lang="zh-CN" altLang="en-US" sz="2400" dirty="0"/>
              <a:t>    85    40    28    32    77</a:t>
            </a:r>
          </a:p>
          <a:p>
            <a:r>
              <a:rPr lang="zh-CN" altLang="en-US" sz="2400" dirty="0"/>
              <a:t>    94    66      5    96    80</a:t>
            </a:r>
          </a:p>
          <a:p>
            <a:r>
              <a:rPr lang="zh-CN" altLang="en-US" sz="2400" dirty="0"/>
              <a:t>    68    18    10      4    19</a:t>
            </a:r>
          </a:p>
        </p:txBody>
      </p:sp>
      <p:sp>
        <p:nvSpPr>
          <p:cNvPr id="5" name="矩形 4"/>
          <p:cNvSpPr/>
          <p:nvPr/>
        </p:nvSpPr>
        <p:spPr>
          <a:xfrm>
            <a:off x="4062549" y="75377"/>
            <a:ext cx="3344091" cy="2677656"/>
          </a:xfrm>
          <a:prstGeom prst="rect">
            <a:avLst/>
          </a:prstGeom>
        </p:spPr>
        <p:txBody>
          <a:bodyPr wrap="square">
            <a:spAutoFit/>
          </a:bodyPr>
          <a:lstStyle/>
          <a:p>
            <a:r>
              <a:rPr lang="zh-CN" altLang="en-US" sz="2400" dirty="0"/>
              <a:t>&gt;&gt; B=sort(A)</a:t>
            </a:r>
          </a:p>
          <a:p>
            <a:r>
              <a:rPr lang="zh-CN" altLang="en-US" sz="2400" dirty="0"/>
              <a:t>B =</a:t>
            </a:r>
          </a:p>
          <a:p>
            <a:r>
              <a:rPr lang="zh-CN" altLang="en-US" sz="2400" dirty="0"/>
              <a:t>      4    18      4      4    19</a:t>
            </a:r>
          </a:p>
          <a:p>
            <a:r>
              <a:rPr lang="zh-CN" altLang="en-US" sz="2400" dirty="0"/>
              <a:t>    66    40      5    32    39</a:t>
            </a:r>
          </a:p>
          <a:p>
            <a:r>
              <a:rPr lang="zh-CN" altLang="en-US" sz="2400" dirty="0"/>
              <a:t>    68    66    10    70    44</a:t>
            </a:r>
          </a:p>
          <a:p>
            <a:r>
              <a:rPr lang="zh-CN" altLang="en-US" sz="2400" dirty="0"/>
              <a:t>    85    75    28    83    77</a:t>
            </a:r>
          </a:p>
          <a:p>
            <a:r>
              <a:rPr lang="zh-CN" altLang="en-US" sz="2400" dirty="0"/>
              <a:t>    94    76    71    96    80</a:t>
            </a:r>
          </a:p>
        </p:txBody>
      </p:sp>
      <p:sp>
        <p:nvSpPr>
          <p:cNvPr id="7" name="矩形 6"/>
          <p:cNvSpPr/>
          <p:nvPr/>
        </p:nvSpPr>
        <p:spPr>
          <a:xfrm>
            <a:off x="4066903" y="3353864"/>
            <a:ext cx="3187337" cy="2677656"/>
          </a:xfrm>
          <a:prstGeom prst="rect">
            <a:avLst/>
          </a:prstGeom>
        </p:spPr>
        <p:txBody>
          <a:bodyPr wrap="square">
            <a:spAutoFit/>
          </a:bodyPr>
          <a:lstStyle/>
          <a:p>
            <a:r>
              <a:rPr lang="zh-CN" altLang="en-US" sz="2400" dirty="0"/>
              <a:t>&gt;&gt; B = sort(A,</a:t>
            </a:r>
            <a:r>
              <a:rPr lang="zh-CN" altLang="en-US" sz="2400" b="1" dirty="0">
                <a:solidFill>
                  <a:srgbClr val="FF0000"/>
                </a:solidFill>
                <a:effectLst>
                  <a:outerShdw blurRad="38100" dist="38100" dir="2700000" algn="tl">
                    <a:srgbClr val="000000">
                      <a:alpha val="43137"/>
                    </a:srgbClr>
                  </a:outerShdw>
                </a:effectLst>
              </a:rPr>
              <a:t>2</a:t>
            </a:r>
            <a:r>
              <a:rPr lang="zh-CN" altLang="en-US" sz="2400" dirty="0"/>
              <a:t>)</a:t>
            </a:r>
          </a:p>
          <a:p>
            <a:r>
              <a:rPr lang="zh-CN" altLang="en-US" sz="2400" dirty="0"/>
              <a:t>B =</a:t>
            </a:r>
          </a:p>
          <a:p>
            <a:r>
              <a:rPr lang="zh-CN" altLang="en-US" sz="2400" dirty="0"/>
              <a:t>    44    66    71    76    83</a:t>
            </a:r>
          </a:p>
          <a:p>
            <a:r>
              <a:rPr lang="zh-CN" altLang="en-US" sz="2400" dirty="0"/>
              <a:t>      4      4    39    70    75</a:t>
            </a:r>
          </a:p>
          <a:p>
            <a:r>
              <a:rPr lang="zh-CN" altLang="en-US" sz="2400" dirty="0"/>
              <a:t>    28    32    40    77    85</a:t>
            </a:r>
          </a:p>
          <a:p>
            <a:r>
              <a:rPr lang="zh-CN" altLang="en-US" sz="2400" dirty="0"/>
              <a:t>      5    66    80    94    96</a:t>
            </a:r>
          </a:p>
          <a:p>
            <a:r>
              <a:rPr lang="zh-CN" altLang="en-US" sz="2400" dirty="0"/>
              <a:t>      4    10    18    19    68</a:t>
            </a:r>
          </a:p>
        </p:txBody>
      </p:sp>
      <p:sp>
        <p:nvSpPr>
          <p:cNvPr id="8" name="矩形 7"/>
          <p:cNvSpPr/>
          <p:nvPr/>
        </p:nvSpPr>
        <p:spPr>
          <a:xfrm>
            <a:off x="7896557" y="3346219"/>
            <a:ext cx="3648891" cy="2677656"/>
          </a:xfrm>
          <a:prstGeom prst="rect">
            <a:avLst/>
          </a:prstGeom>
        </p:spPr>
        <p:txBody>
          <a:bodyPr wrap="square">
            <a:spAutoFit/>
          </a:bodyPr>
          <a:lstStyle/>
          <a:p>
            <a:r>
              <a:rPr lang="zh-CN" altLang="en-US" sz="2400" dirty="0"/>
              <a:t>&gt;&gt; B = sort(A,</a:t>
            </a:r>
            <a:r>
              <a:rPr lang="zh-CN" altLang="en-US" sz="2400" dirty="0">
                <a:solidFill>
                  <a:srgbClr val="FF0000"/>
                </a:solidFill>
              </a:rPr>
              <a:t>2,'descend'</a:t>
            </a:r>
            <a:r>
              <a:rPr lang="zh-CN" altLang="en-US" sz="2400" dirty="0"/>
              <a:t>)</a:t>
            </a:r>
          </a:p>
          <a:p>
            <a:r>
              <a:rPr lang="zh-CN" altLang="en-US" sz="2400" dirty="0"/>
              <a:t>B =</a:t>
            </a:r>
          </a:p>
          <a:p>
            <a:r>
              <a:rPr lang="zh-CN" altLang="en-US" sz="2400" dirty="0"/>
              <a:t>    83    76    71    66    44</a:t>
            </a:r>
          </a:p>
          <a:p>
            <a:r>
              <a:rPr lang="zh-CN" altLang="en-US" sz="2400" dirty="0"/>
              <a:t>    75    70    39     4     4</a:t>
            </a:r>
          </a:p>
          <a:p>
            <a:r>
              <a:rPr lang="zh-CN" altLang="en-US" sz="2400" dirty="0"/>
              <a:t>    85    77    40    32    28</a:t>
            </a:r>
          </a:p>
          <a:p>
            <a:r>
              <a:rPr lang="zh-CN" altLang="en-US" sz="2400" dirty="0"/>
              <a:t>    96    94    80    66     5</a:t>
            </a:r>
          </a:p>
          <a:p>
            <a:r>
              <a:rPr lang="zh-CN" altLang="en-US" sz="2400" dirty="0"/>
              <a:t>    68    19    18    10     4</a:t>
            </a:r>
          </a:p>
        </p:txBody>
      </p:sp>
      <p:sp>
        <p:nvSpPr>
          <p:cNvPr id="6" name="矩形 5"/>
          <p:cNvSpPr/>
          <p:nvPr/>
        </p:nvSpPr>
        <p:spPr>
          <a:xfrm>
            <a:off x="7814766" y="75377"/>
            <a:ext cx="3344092" cy="2677656"/>
          </a:xfrm>
          <a:prstGeom prst="rect">
            <a:avLst/>
          </a:prstGeom>
        </p:spPr>
        <p:txBody>
          <a:bodyPr wrap="square">
            <a:spAutoFit/>
          </a:bodyPr>
          <a:lstStyle/>
          <a:p>
            <a:r>
              <a:rPr lang="zh-CN" altLang="en-US" sz="2400" dirty="0"/>
              <a:t>&gt;&gt; B = sort(A,</a:t>
            </a:r>
            <a:r>
              <a:rPr lang="zh-CN" altLang="en-US" sz="2400" dirty="0">
                <a:solidFill>
                  <a:srgbClr val="FF0000"/>
                </a:solidFill>
              </a:rPr>
              <a:t>'descend'</a:t>
            </a:r>
            <a:r>
              <a:rPr lang="zh-CN" altLang="en-US" sz="2400" dirty="0"/>
              <a:t>)</a:t>
            </a:r>
          </a:p>
          <a:p>
            <a:r>
              <a:rPr lang="zh-CN" altLang="en-US" sz="2400" dirty="0"/>
              <a:t>B =</a:t>
            </a:r>
          </a:p>
          <a:p>
            <a:r>
              <a:rPr lang="zh-CN" altLang="en-US" sz="2400" dirty="0"/>
              <a:t>    94    76    71    96    80</a:t>
            </a:r>
          </a:p>
          <a:p>
            <a:r>
              <a:rPr lang="zh-CN" altLang="en-US" sz="2400" dirty="0"/>
              <a:t>    85    75    28    83    77</a:t>
            </a:r>
          </a:p>
          <a:p>
            <a:r>
              <a:rPr lang="zh-CN" altLang="en-US" sz="2400" dirty="0"/>
              <a:t>    68    66    10    70    44</a:t>
            </a:r>
          </a:p>
          <a:p>
            <a:r>
              <a:rPr lang="zh-CN" altLang="en-US" sz="2400" dirty="0"/>
              <a:t>    66    40     5    32    39</a:t>
            </a:r>
          </a:p>
          <a:p>
            <a:r>
              <a:rPr lang="zh-CN" altLang="en-US" sz="2400" dirty="0"/>
              <a:t>     4    18     4     4    19</a:t>
            </a:r>
          </a:p>
        </p:txBody>
      </p:sp>
      <p:sp>
        <p:nvSpPr>
          <p:cNvPr id="17" name="文本框 16"/>
          <p:cNvSpPr txBox="1"/>
          <p:nvPr/>
        </p:nvSpPr>
        <p:spPr>
          <a:xfrm>
            <a:off x="314449" y="553081"/>
            <a:ext cx="3195105" cy="369332"/>
          </a:xfrm>
          <a:prstGeom prst="rect">
            <a:avLst/>
          </a:prstGeom>
          <a:noFill/>
        </p:spPr>
        <p:txBody>
          <a:bodyPr wrap="none" rtlCol="0">
            <a:spAutoFit/>
          </a:bodyPr>
          <a:lstStyle/>
          <a:p>
            <a:r>
              <a:rPr lang="en-US" altLang="zh-CN" dirty="0"/>
              <a:t>1</a:t>
            </a:r>
            <a:r>
              <a:rPr lang="zh-CN" altLang="en-US" dirty="0"/>
              <a:t>到</a:t>
            </a:r>
            <a:r>
              <a:rPr lang="en-US" altLang="zh-CN" dirty="0"/>
              <a:t>100</a:t>
            </a:r>
            <a:r>
              <a:rPr lang="zh-CN" altLang="en-US" dirty="0"/>
              <a:t>之间的</a:t>
            </a:r>
            <a:r>
              <a:rPr lang="en-US" altLang="zh-CN" dirty="0"/>
              <a:t>5</a:t>
            </a:r>
            <a:r>
              <a:rPr lang="zh-CN" altLang="en-US" dirty="0"/>
              <a:t>行</a:t>
            </a:r>
            <a:r>
              <a:rPr lang="en-US" altLang="zh-CN" dirty="0"/>
              <a:t>5</a:t>
            </a:r>
            <a:r>
              <a:rPr lang="zh-CN" altLang="en-US" dirty="0"/>
              <a:t>列随机整数</a:t>
            </a:r>
          </a:p>
        </p:txBody>
      </p:sp>
      <p:grpSp>
        <p:nvGrpSpPr>
          <p:cNvPr id="35" name="组合 34"/>
          <p:cNvGrpSpPr/>
          <p:nvPr/>
        </p:nvGrpSpPr>
        <p:grpSpPr>
          <a:xfrm>
            <a:off x="4498183" y="4073236"/>
            <a:ext cx="2342962" cy="2319971"/>
            <a:chOff x="4498183" y="4073236"/>
            <a:chExt cx="2342962" cy="2319971"/>
          </a:xfrm>
        </p:grpSpPr>
        <p:sp>
          <p:nvSpPr>
            <p:cNvPr id="10" name="文本框 9"/>
            <p:cNvSpPr txBox="1"/>
            <p:nvPr/>
          </p:nvSpPr>
          <p:spPr>
            <a:xfrm>
              <a:off x="4709220" y="6023875"/>
              <a:ext cx="1569660" cy="369332"/>
            </a:xfrm>
            <a:prstGeom prst="rect">
              <a:avLst/>
            </a:prstGeom>
            <a:noFill/>
          </p:spPr>
          <p:txBody>
            <a:bodyPr wrap="none" rtlCol="0">
              <a:spAutoFit/>
            </a:bodyPr>
            <a:lstStyle/>
            <a:p>
              <a:r>
                <a:rPr lang="zh-CN" altLang="en-US" b="1" dirty="0"/>
                <a:t>按行升序排序</a:t>
              </a:r>
            </a:p>
          </p:txBody>
        </p:sp>
        <p:cxnSp>
          <p:nvCxnSpPr>
            <p:cNvPr id="3" name="直接箭头连接符 2"/>
            <p:cNvCxnSpPr/>
            <p:nvPr/>
          </p:nvCxnSpPr>
          <p:spPr>
            <a:xfrm flipV="1">
              <a:off x="4498183" y="4073236"/>
              <a:ext cx="2342962" cy="7876"/>
            </a:xfrm>
            <a:prstGeom prst="straightConnector1">
              <a:avLst/>
            </a:prstGeom>
            <a:ln w="38100">
              <a:solidFill>
                <a:srgbClr val="FF0000"/>
              </a:solidFill>
              <a:headEnd type="none" w="lg" len="lg"/>
              <a:tailEnd type="stealth"/>
            </a:ln>
          </p:spPr>
          <p:style>
            <a:lnRef idx="1">
              <a:schemeClr val="accent1"/>
            </a:lnRef>
            <a:fillRef idx="0">
              <a:schemeClr val="accent1"/>
            </a:fillRef>
            <a:effectRef idx="0">
              <a:schemeClr val="accent1"/>
            </a:effectRef>
            <a:fontRef idx="minor">
              <a:schemeClr val="tx1"/>
            </a:fontRef>
          </p:style>
        </p:cxnSp>
      </p:grpSp>
      <p:grpSp>
        <p:nvGrpSpPr>
          <p:cNvPr id="32" name="组合 31"/>
          <p:cNvGrpSpPr/>
          <p:nvPr/>
        </p:nvGrpSpPr>
        <p:grpSpPr>
          <a:xfrm>
            <a:off x="4249387" y="1010022"/>
            <a:ext cx="2127405" cy="2112343"/>
            <a:chOff x="4249387" y="1010022"/>
            <a:chExt cx="2127405" cy="2112343"/>
          </a:xfrm>
        </p:grpSpPr>
        <p:sp>
          <p:nvSpPr>
            <p:cNvPr id="9" name="文本框 8"/>
            <p:cNvSpPr txBox="1"/>
            <p:nvPr/>
          </p:nvSpPr>
          <p:spPr>
            <a:xfrm>
              <a:off x="4807132" y="2753033"/>
              <a:ext cx="1569660" cy="369332"/>
            </a:xfrm>
            <a:prstGeom prst="rect">
              <a:avLst/>
            </a:prstGeom>
            <a:noFill/>
          </p:spPr>
          <p:txBody>
            <a:bodyPr wrap="none" rtlCol="0">
              <a:spAutoFit/>
            </a:bodyPr>
            <a:lstStyle/>
            <a:p>
              <a:r>
                <a:rPr lang="zh-CN" altLang="en-US" b="1" dirty="0"/>
                <a:t>按列升序排序</a:t>
              </a:r>
            </a:p>
          </p:txBody>
        </p:sp>
        <p:cxnSp>
          <p:nvCxnSpPr>
            <p:cNvPr id="21" name="直接箭头连接符 20"/>
            <p:cNvCxnSpPr/>
            <p:nvPr/>
          </p:nvCxnSpPr>
          <p:spPr>
            <a:xfrm>
              <a:off x="4249387" y="1010022"/>
              <a:ext cx="0" cy="1599251"/>
            </a:xfrm>
            <a:prstGeom prst="straightConnector1">
              <a:avLst/>
            </a:prstGeom>
            <a:ln w="38100">
              <a:solidFill>
                <a:srgbClr val="FF0000"/>
              </a:solidFill>
              <a:headEnd type="none" w="lg" len="lg"/>
              <a:tailEnd type="stealth"/>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7959635" y="1010022"/>
            <a:ext cx="2204327" cy="2112343"/>
            <a:chOff x="7959635" y="1010022"/>
            <a:chExt cx="2204327" cy="2112343"/>
          </a:xfrm>
        </p:grpSpPr>
        <p:sp>
          <p:nvSpPr>
            <p:cNvPr id="12" name="文本框 11"/>
            <p:cNvSpPr txBox="1"/>
            <p:nvPr/>
          </p:nvSpPr>
          <p:spPr>
            <a:xfrm>
              <a:off x="8594302" y="2753033"/>
              <a:ext cx="1569660" cy="369332"/>
            </a:xfrm>
            <a:prstGeom prst="rect">
              <a:avLst/>
            </a:prstGeom>
            <a:noFill/>
          </p:spPr>
          <p:txBody>
            <a:bodyPr wrap="none" rtlCol="0">
              <a:spAutoFit/>
            </a:bodyPr>
            <a:lstStyle/>
            <a:p>
              <a:r>
                <a:rPr lang="zh-CN" altLang="en-US" b="1" dirty="0"/>
                <a:t>按列降序排序</a:t>
              </a:r>
            </a:p>
          </p:txBody>
        </p:sp>
        <p:cxnSp>
          <p:nvCxnSpPr>
            <p:cNvPr id="22" name="直接箭头连接符 21"/>
            <p:cNvCxnSpPr/>
            <p:nvPr/>
          </p:nvCxnSpPr>
          <p:spPr>
            <a:xfrm flipH="1" flipV="1">
              <a:off x="7959635" y="1010022"/>
              <a:ext cx="1" cy="1599252"/>
            </a:xfrm>
            <a:prstGeom prst="straightConnector1">
              <a:avLst/>
            </a:prstGeom>
            <a:ln w="38100">
              <a:solidFill>
                <a:srgbClr val="FF0000"/>
              </a:solidFill>
              <a:headEnd type="none" w="lg" len="lg"/>
              <a:tailEnd type="stealth"/>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8285019" y="4073236"/>
            <a:ext cx="2503054" cy="2319971"/>
            <a:chOff x="8285019" y="4073236"/>
            <a:chExt cx="2503054" cy="2319971"/>
          </a:xfrm>
        </p:grpSpPr>
        <p:sp>
          <p:nvSpPr>
            <p:cNvPr id="11" name="文本框 10"/>
            <p:cNvSpPr txBox="1"/>
            <p:nvPr/>
          </p:nvSpPr>
          <p:spPr>
            <a:xfrm>
              <a:off x="8701982" y="6023875"/>
              <a:ext cx="1569660" cy="369332"/>
            </a:xfrm>
            <a:prstGeom prst="rect">
              <a:avLst/>
            </a:prstGeom>
            <a:noFill/>
          </p:spPr>
          <p:txBody>
            <a:bodyPr wrap="none" rtlCol="0">
              <a:spAutoFit/>
            </a:bodyPr>
            <a:lstStyle/>
            <a:p>
              <a:r>
                <a:rPr lang="zh-CN" altLang="en-US" b="1" dirty="0"/>
                <a:t>按行降序排序</a:t>
              </a:r>
            </a:p>
          </p:txBody>
        </p:sp>
        <p:cxnSp>
          <p:nvCxnSpPr>
            <p:cNvPr id="29" name="直接箭头连接符 28"/>
            <p:cNvCxnSpPr/>
            <p:nvPr/>
          </p:nvCxnSpPr>
          <p:spPr>
            <a:xfrm flipH="1">
              <a:off x="8285019" y="4073236"/>
              <a:ext cx="2503054" cy="7876"/>
            </a:xfrm>
            <a:prstGeom prst="straightConnector1">
              <a:avLst/>
            </a:prstGeom>
            <a:ln w="38100">
              <a:solidFill>
                <a:srgbClr val="FF0000"/>
              </a:solidFill>
              <a:headEnd type="none" w="lg" len="lg"/>
              <a:tailEnd type="stealt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33577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1115" y="269332"/>
            <a:ext cx="2488474" cy="810532"/>
          </a:xfrm>
        </p:spPr>
        <p:txBody>
          <a:bodyPr/>
          <a:lstStyle/>
          <a:p>
            <a:r>
              <a:rPr lang="en-US" altLang="zh-CN" dirty="0" err="1"/>
              <a:t>sortrows</a:t>
            </a:r>
            <a:endParaRPr lang="zh-CN" altLang="en-US" dirty="0"/>
          </a:p>
        </p:txBody>
      </p:sp>
      <p:sp>
        <p:nvSpPr>
          <p:cNvPr id="3" name="内容占位符 2"/>
          <p:cNvSpPr>
            <a:spLocks noGrp="1"/>
          </p:cNvSpPr>
          <p:nvPr>
            <p:ph idx="1"/>
          </p:nvPr>
        </p:nvSpPr>
        <p:spPr>
          <a:xfrm>
            <a:off x="751115" y="1079864"/>
            <a:ext cx="10515600" cy="2598329"/>
          </a:xfrm>
        </p:spPr>
        <p:txBody>
          <a:bodyPr/>
          <a:lstStyle/>
          <a:p>
            <a:r>
              <a:rPr lang="en-US" altLang="zh-CN" dirty="0"/>
              <a:t>sort</a:t>
            </a:r>
            <a:r>
              <a:rPr lang="zh-CN" altLang="en-US" dirty="0"/>
              <a:t>的功能是把矩阵的所有列或行进行</a:t>
            </a:r>
            <a:r>
              <a:rPr lang="zh-CN" altLang="en-US" dirty="0">
                <a:solidFill>
                  <a:srgbClr val="FF0000"/>
                </a:solidFill>
              </a:rPr>
              <a:t>独立排列</a:t>
            </a:r>
            <a:r>
              <a:rPr lang="zh-CN" altLang="en-US" dirty="0"/>
              <a:t>，排列过后，若是把每一行进行排列，这样每一列都很有可能改变。如果只是想把它按照某一列的数值排列，而原来的行向量保持不变，则需要用</a:t>
            </a:r>
            <a:r>
              <a:rPr lang="en-US" altLang="zh-CN" dirty="0" err="1"/>
              <a:t>sortrows</a:t>
            </a:r>
            <a:r>
              <a:rPr lang="zh-CN" altLang="en-US" dirty="0"/>
              <a:t>这个函数。</a:t>
            </a:r>
          </a:p>
          <a:p>
            <a:r>
              <a:rPr lang="en-US" altLang="zh-CN" dirty="0" err="1"/>
              <a:t>sortrows</a:t>
            </a:r>
            <a:r>
              <a:rPr lang="zh-CN" altLang="en-US" dirty="0"/>
              <a:t>可以把一个矩阵按照某一列中数值的大小顺序把每一行进行排序，各行中的元素顺序不变。</a:t>
            </a:r>
          </a:p>
          <a:p>
            <a:endParaRPr lang="zh-CN" altLang="en-US" dirty="0"/>
          </a:p>
        </p:txBody>
      </p:sp>
      <p:sp>
        <p:nvSpPr>
          <p:cNvPr id="5" name="矩形 4"/>
          <p:cNvSpPr/>
          <p:nvPr/>
        </p:nvSpPr>
        <p:spPr>
          <a:xfrm>
            <a:off x="1037397" y="4119393"/>
            <a:ext cx="3687291" cy="1384995"/>
          </a:xfrm>
          <a:prstGeom prst="rect">
            <a:avLst/>
          </a:prstGeom>
        </p:spPr>
        <p:txBody>
          <a:bodyPr wrap="none">
            <a:spAutoFit/>
          </a:bodyPr>
          <a:lstStyle/>
          <a:p>
            <a:r>
              <a:rPr lang="zh-CN" altLang="en-US" sz="2800" b="1" dirty="0"/>
              <a:t>函数调用语法：</a:t>
            </a:r>
            <a:endParaRPr lang="en-US" altLang="zh-CN" sz="2800" b="1" dirty="0"/>
          </a:p>
          <a:p>
            <a:r>
              <a:rPr lang="en-US" altLang="zh-CN" sz="2800" b="1" dirty="0"/>
              <a:t>B = </a:t>
            </a:r>
            <a:r>
              <a:rPr lang="en-US" altLang="zh-CN" sz="2800" b="1" dirty="0" err="1"/>
              <a:t>sortrows</a:t>
            </a:r>
            <a:r>
              <a:rPr lang="en-US" altLang="zh-CN" sz="2800" b="1" dirty="0"/>
              <a:t>(A)</a:t>
            </a:r>
          </a:p>
          <a:p>
            <a:r>
              <a:rPr lang="en-US" altLang="zh-CN" sz="2800" b="1" dirty="0"/>
              <a:t>B = </a:t>
            </a:r>
            <a:r>
              <a:rPr lang="en-US" altLang="zh-CN" sz="2800" b="1" dirty="0" err="1"/>
              <a:t>sortrows</a:t>
            </a:r>
            <a:r>
              <a:rPr lang="en-US" altLang="zh-CN" sz="2800" b="1" dirty="0"/>
              <a:t>(</a:t>
            </a:r>
            <a:r>
              <a:rPr lang="en-US" altLang="zh-CN" sz="2800" b="1" dirty="0" err="1"/>
              <a:t>A,column</a:t>
            </a:r>
            <a:r>
              <a:rPr lang="en-US" altLang="zh-CN" sz="2800" b="1" dirty="0"/>
              <a:t>)</a:t>
            </a:r>
            <a:endParaRPr lang="zh-CN" altLang="en-US" sz="2800" b="1" dirty="0"/>
          </a:p>
        </p:txBody>
      </p:sp>
    </p:spTree>
    <p:extLst>
      <p:ext uri="{BB962C8B-B14F-4D97-AF65-F5344CB8AC3E}">
        <p14:creationId xmlns:p14="http://schemas.microsoft.com/office/powerpoint/2010/main" val="3877815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矩形 3"/>
          <p:cNvSpPr/>
          <p:nvPr/>
        </p:nvSpPr>
        <p:spPr>
          <a:xfrm>
            <a:off x="1811382" y="338985"/>
            <a:ext cx="4223658" cy="2677656"/>
          </a:xfrm>
          <a:prstGeom prst="rect">
            <a:avLst/>
          </a:prstGeom>
        </p:spPr>
        <p:txBody>
          <a:bodyPr wrap="square">
            <a:spAutoFit/>
          </a:bodyPr>
          <a:lstStyle/>
          <a:p>
            <a:r>
              <a:rPr lang="zh-CN" altLang="en-US" sz="2800" dirty="0"/>
              <a:t>&gt;&gt; A=randi(100,4)</a:t>
            </a:r>
          </a:p>
          <a:p>
            <a:r>
              <a:rPr lang="zh-CN" altLang="en-US" sz="2800" dirty="0"/>
              <a:t>A =</a:t>
            </a:r>
          </a:p>
          <a:p>
            <a:r>
              <a:rPr lang="zh-CN" altLang="en-US" sz="2800" dirty="0"/>
              <a:t>    </a:t>
            </a:r>
            <a:r>
              <a:rPr lang="zh-CN" altLang="en-US" sz="2800" dirty="0">
                <a:solidFill>
                  <a:srgbClr val="FF0000"/>
                </a:solidFill>
              </a:rPr>
              <a:t>55    36    24    42</a:t>
            </a:r>
          </a:p>
          <a:p>
            <a:r>
              <a:rPr lang="zh-CN" altLang="en-US" sz="2800" dirty="0"/>
              <a:t>    </a:t>
            </a:r>
            <a:r>
              <a:rPr lang="zh-CN" altLang="en-US" sz="2800" dirty="0">
                <a:solidFill>
                  <a:srgbClr val="00B050"/>
                </a:solidFill>
              </a:rPr>
              <a:t>15    52    13     5</a:t>
            </a:r>
          </a:p>
          <a:p>
            <a:r>
              <a:rPr lang="zh-CN" altLang="en-US" sz="2800" dirty="0"/>
              <a:t>    </a:t>
            </a:r>
            <a:r>
              <a:rPr lang="zh-CN" altLang="en-US" sz="2800" dirty="0">
                <a:solidFill>
                  <a:srgbClr val="0070C0"/>
                </a:solidFill>
              </a:rPr>
              <a:t>86    41    19    91</a:t>
            </a:r>
          </a:p>
          <a:p>
            <a:r>
              <a:rPr lang="zh-CN" altLang="en-US" sz="2800" dirty="0"/>
              <a:t>    </a:t>
            </a:r>
            <a:r>
              <a:rPr lang="zh-CN" altLang="en-US" sz="2800" dirty="0">
                <a:solidFill>
                  <a:srgbClr val="7030A0"/>
                </a:solidFill>
              </a:rPr>
              <a:t>63     8    24    95</a:t>
            </a:r>
          </a:p>
        </p:txBody>
      </p:sp>
      <p:sp>
        <p:nvSpPr>
          <p:cNvPr id="5" name="矩形 4"/>
          <p:cNvSpPr/>
          <p:nvPr/>
        </p:nvSpPr>
        <p:spPr>
          <a:xfrm>
            <a:off x="6226629" y="338985"/>
            <a:ext cx="3614057" cy="2677656"/>
          </a:xfrm>
          <a:prstGeom prst="rect">
            <a:avLst/>
          </a:prstGeom>
        </p:spPr>
        <p:txBody>
          <a:bodyPr wrap="square">
            <a:spAutoFit/>
          </a:bodyPr>
          <a:lstStyle/>
          <a:p>
            <a:r>
              <a:rPr lang="zh-CN" altLang="en-US" sz="2800" dirty="0"/>
              <a:t>&gt;&gt; B=sort(A)</a:t>
            </a:r>
          </a:p>
          <a:p>
            <a:r>
              <a:rPr lang="zh-CN" altLang="en-US" sz="2800" dirty="0"/>
              <a:t>B =</a:t>
            </a:r>
          </a:p>
          <a:p>
            <a:r>
              <a:rPr lang="zh-CN" altLang="en-US" sz="2800" dirty="0"/>
              <a:t>    </a:t>
            </a:r>
            <a:r>
              <a:rPr lang="zh-CN" altLang="en-US" sz="2800" dirty="0">
                <a:solidFill>
                  <a:srgbClr val="FF0000"/>
                </a:solidFill>
              </a:rPr>
              <a:t>15</a:t>
            </a:r>
            <a:r>
              <a:rPr lang="zh-CN" altLang="en-US" sz="2800" dirty="0"/>
              <a:t>      8    </a:t>
            </a:r>
            <a:r>
              <a:rPr lang="zh-CN" altLang="en-US" sz="2800" dirty="0">
                <a:solidFill>
                  <a:srgbClr val="FF0000"/>
                </a:solidFill>
              </a:rPr>
              <a:t>13</a:t>
            </a:r>
            <a:r>
              <a:rPr lang="zh-CN" altLang="en-US" sz="2800" dirty="0"/>
              <a:t>      </a:t>
            </a:r>
            <a:r>
              <a:rPr lang="zh-CN" altLang="en-US" sz="2800" dirty="0">
                <a:solidFill>
                  <a:srgbClr val="FF0000"/>
                </a:solidFill>
              </a:rPr>
              <a:t>5</a:t>
            </a:r>
          </a:p>
          <a:p>
            <a:r>
              <a:rPr lang="zh-CN" altLang="en-US" sz="2800" dirty="0"/>
              <a:t>    55    36    19    42</a:t>
            </a:r>
          </a:p>
          <a:p>
            <a:r>
              <a:rPr lang="zh-CN" altLang="en-US" sz="2800" dirty="0"/>
              <a:t>    63    41    24    91</a:t>
            </a:r>
          </a:p>
          <a:p>
            <a:r>
              <a:rPr lang="zh-CN" altLang="en-US" sz="2800" dirty="0"/>
              <a:t>    86    </a:t>
            </a:r>
            <a:r>
              <a:rPr lang="zh-CN" altLang="en-US" sz="2800" dirty="0">
                <a:solidFill>
                  <a:srgbClr val="FF0000"/>
                </a:solidFill>
              </a:rPr>
              <a:t>52</a:t>
            </a:r>
            <a:r>
              <a:rPr lang="zh-CN" altLang="en-US" sz="2800" dirty="0"/>
              <a:t>    24    95</a:t>
            </a:r>
          </a:p>
        </p:txBody>
      </p:sp>
      <p:sp>
        <p:nvSpPr>
          <p:cNvPr id="6" name="矩形 5"/>
          <p:cNvSpPr/>
          <p:nvPr/>
        </p:nvSpPr>
        <p:spPr>
          <a:xfrm>
            <a:off x="435425" y="3446369"/>
            <a:ext cx="3653247" cy="2677656"/>
          </a:xfrm>
          <a:prstGeom prst="rect">
            <a:avLst/>
          </a:prstGeom>
        </p:spPr>
        <p:txBody>
          <a:bodyPr wrap="square">
            <a:spAutoFit/>
          </a:bodyPr>
          <a:lstStyle/>
          <a:p>
            <a:r>
              <a:rPr lang="zh-CN" altLang="en-US" sz="2800" dirty="0"/>
              <a:t>&gt;&gt; C=sortrows(A)</a:t>
            </a:r>
          </a:p>
          <a:p>
            <a:r>
              <a:rPr lang="zh-CN" altLang="en-US" sz="2800" dirty="0"/>
              <a:t>C =</a:t>
            </a:r>
          </a:p>
          <a:p>
            <a:r>
              <a:rPr lang="zh-CN" altLang="en-US" sz="2800" dirty="0"/>
              <a:t>    </a:t>
            </a:r>
            <a:r>
              <a:rPr lang="zh-CN" altLang="en-US" sz="2800" dirty="0">
                <a:solidFill>
                  <a:srgbClr val="00B050"/>
                </a:solidFill>
              </a:rPr>
              <a:t>15    52    13     5</a:t>
            </a:r>
          </a:p>
          <a:p>
            <a:r>
              <a:rPr lang="zh-CN" altLang="en-US" sz="2800" dirty="0"/>
              <a:t>    </a:t>
            </a:r>
            <a:r>
              <a:rPr lang="zh-CN" altLang="en-US" sz="2800" dirty="0">
                <a:solidFill>
                  <a:srgbClr val="FF0000"/>
                </a:solidFill>
              </a:rPr>
              <a:t>55    36    24    42</a:t>
            </a:r>
          </a:p>
          <a:p>
            <a:r>
              <a:rPr lang="zh-CN" altLang="en-US" sz="2800" dirty="0">
                <a:solidFill>
                  <a:srgbClr val="7030A0"/>
                </a:solidFill>
              </a:rPr>
              <a:t>    63     8    24    95</a:t>
            </a:r>
          </a:p>
          <a:p>
            <a:r>
              <a:rPr lang="zh-CN" altLang="en-US" sz="2800" dirty="0"/>
              <a:t>    </a:t>
            </a:r>
            <a:r>
              <a:rPr lang="zh-CN" altLang="en-US" sz="2800" dirty="0">
                <a:solidFill>
                  <a:srgbClr val="0070C0"/>
                </a:solidFill>
              </a:rPr>
              <a:t>86    41    19    91</a:t>
            </a:r>
          </a:p>
        </p:txBody>
      </p:sp>
      <p:sp>
        <p:nvSpPr>
          <p:cNvPr id="7" name="矩形 6"/>
          <p:cNvSpPr/>
          <p:nvPr/>
        </p:nvSpPr>
        <p:spPr>
          <a:xfrm>
            <a:off x="4005941" y="3446369"/>
            <a:ext cx="3344094" cy="2677656"/>
          </a:xfrm>
          <a:prstGeom prst="rect">
            <a:avLst/>
          </a:prstGeom>
        </p:spPr>
        <p:txBody>
          <a:bodyPr wrap="square">
            <a:spAutoFit/>
          </a:bodyPr>
          <a:lstStyle/>
          <a:p>
            <a:r>
              <a:rPr lang="zh-CN" altLang="en-US" sz="2800" dirty="0"/>
              <a:t>&gt;&gt; D=sortrows(A,2)</a:t>
            </a:r>
          </a:p>
          <a:p>
            <a:r>
              <a:rPr lang="zh-CN" altLang="en-US" sz="2800" dirty="0"/>
              <a:t>D =</a:t>
            </a:r>
          </a:p>
          <a:p>
            <a:r>
              <a:rPr lang="zh-CN" altLang="en-US" sz="2800" dirty="0"/>
              <a:t>    </a:t>
            </a:r>
            <a:r>
              <a:rPr lang="zh-CN" altLang="en-US" sz="2800" dirty="0">
                <a:solidFill>
                  <a:srgbClr val="7030A0"/>
                </a:solidFill>
              </a:rPr>
              <a:t>63      8    24    95</a:t>
            </a:r>
          </a:p>
          <a:p>
            <a:r>
              <a:rPr lang="zh-CN" altLang="en-US" sz="2800" dirty="0">
                <a:solidFill>
                  <a:srgbClr val="FF0000"/>
                </a:solidFill>
              </a:rPr>
              <a:t>    55    36    24    42</a:t>
            </a:r>
          </a:p>
          <a:p>
            <a:r>
              <a:rPr lang="zh-CN" altLang="en-US" sz="2800" dirty="0"/>
              <a:t>    </a:t>
            </a:r>
            <a:r>
              <a:rPr lang="zh-CN" altLang="en-US" sz="2800" dirty="0">
                <a:solidFill>
                  <a:srgbClr val="0070C0"/>
                </a:solidFill>
              </a:rPr>
              <a:t>86    41    19    91</a:t>
            </a:r>
          </a:p>
          <a:p>
            <a:r>
              <a:rPr lang="zh-CN" altLang="en-US" sz="2800" dirty="0"/>
              <a:t>    </a:t>
            </a:r>
            <a:r>
              <a:rPr lang="zh-CN" altLang="en-US" sz="2800" dirty="0">
                <a:solidFill>
                  <a:srgbClr val="00B050"/>
                </a:solidFill>
              </a:rPr>
              <a:t>15    52    13     5</a:t>
            </a:r>
          </a:p>
        </p:txBody>
      </p:sp>
      <p:grpSp>
        <p:nvGrpSpPr>
          <p:cNvPr id="12" name="组合 11"/>
          <p:cNvGrpSpPr/>
          <p:nvPr/>
        </p:nvGrpSpPr>
        <p:grpSpPr>
          <a:xfrm>
            <a:off x="735871" y="4371703"/>
            <a:ext cx="666206" cy="1672046"/>
            <a:chOff x="735871" y="4371703"/>
            <a:chExt cx="666206" cy="1672046"/>
          </a:xfrm>
        </p:grpSpPr>
        <p:sp>
          <p:nvSpPr>
            <p:cNvPr id="8" name="圆角矩形 7"/>
            <p:cNvSpPr/>
            <p:nvPr/>
          </p:nvSpPr>
          <p:spPr>
            <a:xfrm>
              <a:off x="735871" y="4371703"/>
              <a:ext cx="666206" cy="16720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箭头连接符 2"/>
            <p:cNvCxnSpPr/>
            <p:nvPr/>
          </p:nvCxnSpPr>
          <p:spPr>
            <a:xfrm>
              <a:off x="1271449" y="4467497"/>
              <a:ext cx="0" cy="14891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5066209" y="4371703"/>
            <a:ext cx="627017" cy="1672046"/>
            <a:chOff x="5913120" y="4362995"/>
            <a:chExt cx="627017" cy="1672046"/>
          </a:xfrm>
        </p:grpSpPr>
        <p:sp>
          <p:nvSpPr>
            <p:cNvPr id="9" name="圆角矩形 8"/>
            <p:cNvSpPr/>
            <p:nvPr/>
          </p:nvSpPr>
          <p:spPr>
            <a:xfrm>
              <a:off x="5913120" y="4362995"/>
              <a:ext cx="627017" cy="16720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a:off x="6405152" y="4467497"/>
              <a:ext cx="0" cy="14891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3" name="矩形 12"/>
          <p:cNvSpPr/>
          <p:nvPr/>
        </p:nvSpPr>
        <p:spPr>
          <a:xfrm>
            <a:off x="7454538" y="3506709"/>
            <a:ext cx="3065417" cy="2677656"/>
          </a:xfrm>
          <a:prstGeom prst="rect">
            <a:avLst/>
          </a:prstGeom>
        </p:spPr>
        <p:txBody>
          <a:bodyPr wrap="square">
            <a:spAutoFit/>
          </a:bodyPr>
          <a:lstStyle/>
          <a:p>
            <a:r>
              <a:rPr lang="zh-CN" altLang="en-US" sz="2800" dirty="0"/>
              <a:t>&gt;&gt; E=sortrows(A,</a:t>
            </a:r>
            <a:r>
              <a:rPr lang="zh-CN" altLang="en-US" sz="2800" dirty="0">
                <a:solidFill>
                  <a:srgbClr val="FF0000"/>
                </a:solidFill>
              </a:rPr>
              <a:t>-2</a:t>
            </a:r>
            <a:r>
              <a:rPr lang="zh-CN" altLang="en-US" sz="2800" dirty="0"/>
              <a:t>)</a:t>
            </a:r>
          </a:p>
          <a:p>
            <a:r>
              <a:rPr lang="zh-CN" altLang="en-US" sz="2800" dirty="0"/>
              <a:t>E =</a:t>
            </a:r>
          </a:p>
          <a:p>
            <a:r>
              <a:rPr lang="zh-CN" altLang="en-US" sz="2800" dirty="0"/>
              <a:t>    </a:t>
            </a:r>
            <a:r>
              <a:rPr lang="zh-CN" altLang="en-US" sz="2800" dirty="0">
                <a:solidFill>
                  <a:srgbClr val="00B050"/>
                </a:solidFill>
              </a:rPr>
              <a:t>15    52    13     5</a:t>
            </a:r>
          </a:p>
          <a:p>
            <a:r>
              <a:rPr lang="zh-CN" altLang="en-US" sz="2800" dirty="0"/>
              <a:t>    </a:t>
            </a:r>
            <a:r>
              <a:rPr lang="zh-CN" altLang="en-US" sz="2800" dirty="0">
                <a:solidFill>
                  <a:srgbClr val="0070C0"/>
                </a:solidFill>
              </a:rPr>
              <a:t>86    41    19    91</a:t>
            </a:r>
          </a:p>
          <a:p>
            <a:r>
              <a:rPr lang="zh-CN" altLang="en-US" sz="2800" dirty="0"/>
              <a:t>    </a:t>
            </a:r>
            <a:r>
              <a:rPr lang="zh-CN" altLang="en-US" sz="2800" dirty="0">
                <a:solidFill>
                  <a:srgbClr val="FF0000"/>
                </a:solidFill>
              </a:rPr>
              <a:t>55    36    24    42</a:t>
            </a:r>
          </a:p>
          <a:p>
            <a:r>
              <a:rPr lang="zh-CN" altLang="en-US" sz="2800" dirty="0"/>
              <a:t>    </a:t>
            </a:r>
            <a:r>
              <a:rPr lang="zh-CN" altLang="en-US" sz="2800" dirty="0">
                <a:solidFill>
                  <a:srgbClr val="7030A0"/>
                </a:solidFill>
              </a:rPr>
              <a:t>63      8    24    95</a:t>
            </a:r>
          </a:p>
        </p:txBody>
      </p:sp>
      <p:grpSp>
        <p:nvGrpSpPr>
          <p:cNvPr id="14" name="组合 13"/>
          <p:cNvGrpSpPr/>
          <p:nvPr/>
        </p:nvGrpSpPr>
        <p:grpSpPr>
          <a:xfrm>
            <a:off x="8482147" y="4384765"/>
            <a:ext cx="627017" cy="1672046"/>
            <a:chOff x="5913120" y="4362995"/>
            <a:chExt cx="627017" cy="1672046"/>
          </a:xfrm>
        </p:grpSpPr>
        <p:sp>
          <p:nvSpPr>
            <p:cNvPr id="15" name="圆角矩形 14"/>
            <p:cNvSpPr/>
            <p:nvPr/>
          </p:nvSpPr>
          <p:spPr>
            <a:xfrm>
              <a:off x="5913120" y="4362995"/>
              <a:ext cx="627017" cy="16720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p:nvPr/>
          </p:nvCxnSpPr>
          <p:spPr>
            <a:xfrm flipV="1">
              <a:off x="6418219" y="4454435"/>
              <a:ext cx="1" cy="14891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文本框 19"/>
          <p:cNvSpPr txBox="1"/>
          <p:nvPr/>
        </p:nvSpPr>
        <p:spPr>
          <a:xfrm>
            <a:off x="4488399" y="6184421"/>
            <a:ext cx="2379177" cy="369332"/>
          </a:xfrm>
          <a:prstGeom prst="rect">
            <a:avLst/>
          </a:prstGeom>
          <a:noFill/>
        </p:spPr>
        <p:txBody>
          <a:bodyPr wrap="none" rtlCol="0">
            <a:spAutoFit/>
          </a:bodyPr>
          <a:lstStyle/>
          <a:p>
            <a:r>
              <a:rPr lang="zh-CN" altLang="en-US" dirty="0"/>
              <a:t>按第</a:t>
            </a:r>
            <a:r>
              <a:rPr lang="en-US" altLang="zh-CN" dirty="0"/>
              <a:t>2</a:t>
            </a:r>
            <a:r>
              <a:rPr lang="zh-CN" altLang="en-US" dirty="0"/>
              <a:t>列升序整体排序</a:t>
            </a:r>
          </a:p>
        </p:txBody>
      </p:sp>
      <p:sp>
        <p:nvSpPr>
          <p:cNvPr id="21" name="文本框 20"/>
          <p:cNvSpPr txBox="1"/>
          <p:nvPr/>
        </p:nvSpPr>
        <p:spPr>
          <a:xfrm>
            <a:off x="6608069" y="2918821"/>
            <a:ext cx="2492990" cy="369332"/>
          </a:xfrm>
          <a:prstGeom prst="rect">
            <a:avLst/>
          </a:prstGeom>
          <a:noFill/>
        </p:spPr>
        <p:txBody>
          <a:bodyPr wrap="none" rtlCol="0">
            <a:spAutoFit/>
          </a:bodyPr>
          <a:lstStyle/>
          <a:p>
            <a:r>
              <a:rPr lang="zh-CN" altLang="en-US" dirty="0"/>
              <a:t>按每一列升序独立排序</a:t>
            </a:r>
          </a:p>
        </p:txBody>
      </p:sp>
      <p:sp>
        <p:nvSpPr>
          <p:cNvPr id="22" name="文本框 21"/>
          <p:cNvSpPr txBox="1"/>
          <p:nvPr/>
        </p:nvSpPr>
        <p:spPr>
          <a:xfrm>
            <a:off x="867382" y="6160081"/>
            <a:ext cx="2379177" cy="369332"/>
          </a:xfrm>
          <a:prstGeom prst="rect">
            <a:avLst/>
          </a:prstGeom>
          <a:noFill/>
        </p:spPr>
        <p:txBody>
          <a:bodyPr wrap="none" rtlCol="0">
            <a:spAutoFit/>
          </a:bodyPr>
          <a:lstStyle/>
          <a:p>
            <a:r>
              <a:rPr lang="zh-CN" altLang="en-US" dirty="0"/>
              <a:t>按第</a:t>
            </a:r>
            <a:r>
              <a:rPr lang="en-US" altLang="zh-CN" dirty="0"/>
              <a:t>1</a:t>
            </a:r>
            <a:r>
              <a:rPr lang="zh-CN" altLang="en-US" dirty="0"/>
              <a:t>列升序整体排序</a:t>
            </a:r>
          </a:p>
        </p:txBody>
      </p:sp>
      <p:sp>
        <p:nvSpPr>
          <p:cNvPr id="23" name="文本框 22"/>
          <p:cNvSpPr txBox="1"/>
          <p:nvPr/>
        </p:nvSpPr>
        <p:spPr>
          <a:xfrm>
            <a:off x="7854265" y="6180563"/>
            <a:ext cx="2379177" cy="369332"/>
          </a:xfrm>
          <a:prstGeom prst="rect">
            <a:avLst/>
          </a:prstGeom>
          <a:noFill/>
        </p:spPr>
        <p:txBody>
          <a:bodyPr wrap="none" rtlCol="0">
            <a:spAutoFit/>
          </a:bodyPr>
          <a:lstStyle/>
          <a:p>
            <a:r>
              <a:rPr lang="zh-CN" altLang="en-US" dirty="0"/>
              <a:t>按第</a:t>
            </a:r>
            <a:r>
              <a:rPr lang="en-US" altLang="zh-CN" dirty="0"/>
              <a:t>2</a:t>
            </a:r>
            <a:r>
              <a:rPr lang="zh-CN" altLang="en-US" dirty="0"/>
              <a:t>列</a:t>
            </a:r>
            <a:r>
              <a:rPr lang="zh-CN" altLang="en-US" dirty="0">
                <a:solidFill>
                  <a:srgbClr val="FF0000"/>
                </a:solidFill>
              </a:rPr>
              <a:t>降序</a:t>
            </a:r>
            <a:r>
              <a:rPr lang="zh-CN" altLang="en-US" dirty="0"/>
              <a:t>整体排序</a:t>
            </a:r>
          </a:p>
        </p:txBody>
      </p:sp>
    </p:spTree>
    <p:extLst>
      <p:ext uri="{BB962C8B-B14F-4D97-AF65-F5344CB8AC3E}">
        <p14:creationId xmlns:p14="http://schemas.microsoft.com/office/powerpoint/2010/main" val="1010164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2660" y="1337157"/>
            <a:ext cx="5261120" cy="3416320"/>
          </a:xfrm>
          <a:prstGeom prst="rect">
            <a:avLst/>
          </a:prstGeom>
        </p:spPr>
        <p:txBody>
          <a:bodyPr wrap="none">
            <a:spAutoFit/>
          </a:bodyPr>
          <a:lstStyle/>
          <a:p>
            <a:r>
              <a:rPr lang="zh-CN" altLang="en-US" sz="2400" dirty="0"/>
              <a:t>&gt;&gt; A = </a:t>
            </a:r>
            <a:r>
              <a:rPr lang="zh-CN" altLang="en-US" sz="2000" dirty="0"/>
              <a:t>floor(gallery('uniformdata',[6 7],0)*100);</a:t>
            </a:r>
            <a:endParaRPr lang="en-US" altLang="zh-CN" sz="2000" dirty="0"/>
          </a:p>
          <a:p>
            <a:r>
              <a:rPr lang="pt-BR" altLang="zh-CN" sz="2400" dirty="0"/>
              <a:t>&gt;&gt; A(1:3,1) = 95;  A(4:6,1) = 76</a:t>
            </a:r>
          </a:p>
          <a:p>
            <a:r>
              <a:rPr lang="pt-BR" altLang="zh-CN" sz="2400" dirty="0"/>
              <a:t>A =</a:t>
            </a:r>
          </a:p>
          <a:p>
            <a:r>
              <a:rPr lang="pt-BR" altLang="zh-CN" sz="2400" dirty="0"/>
              <a:t>    </a:t>
            </a:r>
            <a:r>
              <a:rPr lang="pt-BR" altLang="zh-CN" sz="2400" dirty="0">
                <a:solidFill>
                  <a:srgbClr val="FF0000"/>
                </a:solidFill>
              </a:rPr>
              <a:t>95</a:t>
            </a:r>
            <a:r>
              <a:rPr lang="pt-BR" altLang="zh-CN" sz="2400" dirty="0"/>
              <a:t>    45    92    41    13      1    84</a:t>
            </a:r>
          </a:p>
          <a:p>
            <a:r>
              <a:rPr lang="pt-BR" altLang="zh-CN" sz="2400" dirty="0"/>
              <a:t>    </a:t>
            </a:r>
            <a:r>
              <a:rPr lang="pt-BR" altLang="zh-CN" sz="2400" dirty="0">
                <a:solidFill>
                  <a:srgbClr val="FF0000"/>
                </a:solidFill>
              </a:rPr>
              <a:t>95</a:t>
            </a:r>
            <a:r>
              <a:rPr lang="pt-BR" altLang="zh-CN" sz="2400" dirty="0"/>
              <a:t>      1    73    89    20    74    52</a:t>
            </a:r>
          </a:p>
          <a:p>
            <a:r>
              <a:rPr lang="pt-BR" altLang="zh-CN" sz="2400" dirty="0"/>
              <a:t>    </a:t>
            </a:r>
            <a:r>
              <a:rPr lang="pt-BR" altLang="zh-CN" sz="2400" dirty="0">
                <a:solidFill>
                  <a:srgbClr val="FF0000"/>
                </a:solidFill>
              </a:rPr>
              <a:t>95</a:t>
            </a:r>
            <a:r>
              <a:rPr lang="pt-BR" altLang="zh-CN" sz="2400" dirty="0"/>
              <a:t>    82    17      5    19    44    20</a:t>
            </a:r>
          </a:p>
          <a:p>
            <a:r>
              <a:rPr lang="pt-BR" altLang="zh-CN" sz="2400" dirty="0"/>
              <a:t>    </a:t>
            </a:r>
            <a:r>
              <a:rPr lang="pt-BR" altLang="zh-CN" sz="2400" dirty="0">
                <a:solidFill>
                  <a:srgbClr val="00B050"/>
                </a:solidFill>
              </a:rPr>
              <a:t>76</a:t>
            </a:r>
            <a:r>
              <a:rPr lang="pt-BR" altLang="zh-CN" sz="2400" dirty="0"/>
              <a:t>    44    40    35    60    93    67</a:t>
            </a:r>
          </a:p>
          <a:p>
            <a:r>
              <a:rPr lang="pt-BR" altLang="zh-CN" sz="2400" dirty="0"/>
              <a:t>    </a:t>
            </a:r>
            <a:r>
              <a:rPr lang="pt-BR" altLang="zh-CN" sz="2400" dirty="0">
                <a:solidFill>
                  <a:srgbClr val="00B050"/>
                </a:solidFill>
              </a:rPr>
              <a:t>76</a:t>
            </a:r>
            <a:r>
              <a:rPr lang="pt-BR" altLang="zh-CN" sz="2400" dirty="0"/>
              <a:t>    61    93    81    27    46    83</a:t>
            </a:r>
          </a:p>
          <a:p>
            <a:r>
              <a:rPr lang="pt-BR" altLang="zh-CN" sz="2400" dirty="0"/>
              <a:t>    </a:t>
            </a:r>
            <a:r>
              <a:rPr lang="pt-BR" altLang="zh-CN" sz="2400" dirty="0">
                <a:solidFill>
                  <a:srgbClr val="00B050"/>
                </a:solidFill>
              </a:rPr>
              <a:t>76</a:t>
            </a:r>
            <a:r>
              <a:rPr lang="pt-BR" altLang="zh-CN" sz="2400" dirty="0"/>
              <a:t>    79    91      0    19    41      1</a:t>
            </a:r>
            <a:endParaRPr lang="en-US" altLang="zh-CN" sz="2400" dirty="0"/>
          </a:p>
        </p:txBody>
      </p:sp>
      <p:sp>
        <p:nvSpPr>
          <p:cNvPr id="6" name="矩形 5"/>
          <p:cNvSpPr/>
          <p:nvPr/>
        </p:nvSpPr>
        <p:spPr>
          <a:xfrm>
            <a:off x="6026328" y="267789"/>
            <a:ext cx="5016139" cy="3046988"/>
          </a:xfrm>
          <a:prstGeom prst="rect">
            <a:avLst/>
          </a:prstGeom>
        </p:spPr>
        <p:txBody>
          <a:bodyPr wrap="square">
            <a:spAutoFit/>
          </a:bodyPr>
          <a:lstStyle/>
          <a:p>
            <a:r>
              <a:rPr lang="en-US" altLang="zh-CN" sz="2400" dirty="0"/>
              <a:t>&gt;&gt; B = </a:t>
            </a:r>
            <a:r>
              <a:rPr lang="en-US" altLang="zh-CN" sz="2400" dirty="0" err="1"/>
              <a:t>sortrows</a:t>
            </a:r>
            <a:r>
              <a:rPr lang="en-US" altLang="zh-CN" sz="2400" dirty="0"/>
              <a:t>(A,[1 7])</a:t>
            </a:r>
          </a:p>
          <a:p>
            <a:r>
              <a:rPr lang="en-US" altLang="zh-CN" sz="2400" dirty="0"/>
              <a:t>B =</a:t>
            </a:r>
          </a:p>
          <a:p>
            <a:r>
              <a:rPr lang="en-US" altLang="zh-CN" sz="2400" dirty="0"/>
              <a:t>    </a:t>
            </a:r>
            <a:r>
              <a:rPr lang="en-US" altLang="zh-CN" sz="2400" dirty="0">
                <a:solidFill>
                  <a:srgbClr val="00B050"/>
                </a:solidFill>
              </a:rPr>
              <a:t>76</a:t>
            </a:r>
            <a:r>
              <a:rPr lang="en-US" altLang="zh-CN" sz="2400" dirty="0"/>
              <a:t>    79    91      0    19    41      </a:t>
            </a:r>
            <a:r>
              <a:rPr lang="en-US" altLang="zh-CN" sz="2400" dirty="0">
                <a:solidFill>
                  <a:srgbClr val="00B050"/>
                </a:solidFill>
              </a:rPr>
              <a:t>1</a:t>
            </a:r>
          </a:p>
          <a:p>
            <a:r>
              <a:rPr lang="en-US" altLang="zh-CN" sz="2400" dirty="0"/>
              <a:t>    </a:t>
            </a:r>
            <a:r>
              <a:rPr lang="en-US" altLang="zh-CN" sz="2400" dirty="0">
                <a:solidFill>
                  <a:srgbClr val="00B050"/>
                </a:solidFill>
              </a:rPr>
              <a:t>76</a:t>
            </a:r>
            <a:r>
              <a:rPr lang="en-US" altLang="zh-CN" sz="2400" dirty="0"/>
              <a:t>    44    40    35    60    93    </a:t>
            </a:r>
            <a:r>
              <a:rPr lang="en-US" altLang="zh-CN" sz="2400" dirty="0">
                <a:solidFill>
                  <a:srgbClr val="00B050"/>
                </a:solidFill>
              </a:rPr>
              <a:t>67</a:t>
            </a:r>
          </a:p>
          <a:p>
            <a:r>
              <a:rPr lang="en-US" altLang="zh-CN" sz="2400" dirty="0"/>
              <a:t>    </a:t>
            </a:r>
            <a:r>
              <a:rPr lang="en-US" altLang="zh-CN" sz="2400" dirty="0">
                <a:solidFill>
                  <a:srgbClr val="00B050"/>
                </a:solidFill>
              </a:rPr>
              <a:t>76</a:t>
            </a:r>
            <a:r>
              <a:rPr lang="en-US" altLang="zh-CN" sz="2400" dirty="0"/>
              <a:t>    61    93    81    27    46    </a:t>
            </a:r>
            <a:r>
              <a:rPr lang="en-US" altLang="zh-CN" sz="2400" dirty="0">
                <a:solidFill>
                  <a:srgbClr val="00B050"/>
                </a:solidFill>
              </a:rPr>
              <a:t>83</a:t>
            </a:r>
          </a:p>
          <a:p>
            <a:r>
              <a:rPr lang="en-US" altLang="zh-CN" sz="2400" dirty="0"/>
              <a:t>    </a:t>
            </a:r>
            <a:r>
              <a:rPr lang="en-US" altLang="zh-CN" sz="2400" dirty="0">
                <a:solidFill>
                  <a:srgbClr val="FF0000"/>
                </a:solidFill>
              </a:rPr>
              <a:t>95</a:t>
            </a:r>
            <a:r>
              <a:rPr lang="en-US" altLang="zh-CN" sz="2400" dirty="0"/>
              <a:t>    82    17      5    19    44    </a:t>
            </a:r>
            <a:r>
              <a:rPr lang="en-US" altLang="zh-CN" sz="2400" dirty="0">
                <a:solidFill>
                  <a:srgbClr val="FF0000"/>
                </a:solidFill>
              </a:rPr>
              <a:t>20</a:t>
            </a:r>
          </a:p>
          <a:p>
            <a:r>
              <a:rPr lang="en-US" altLang="zh-CN" sz="2400" dirty="0"/>
              <a:t>    </a:t>
            </a:r>
            <a:r>
              <a:rPr lang="en-US" altLang="zh-CN" sz="2400" dirty="0">
                <a:solidFill>
                  <a:srgbClr val="FF0000"/>
                </a:solidFill>
              </a:rPr>
              <a:t>95</a:t>
            </a:r>
            <a:r>
              <a:rPr lang="en-US" altLang="zh-CN" sz="2400" dirty="0"/>
              <a:t>      1    73    89    20    74    </a:t>
            </a:r>
            <a:r>
              <a:rPr lang="en-US" altLang="zh-CN" sz="2400" dirty="0">
                <a:solidFill>
                  <a:srgbClr val="FF0000"/>
                </a:solidFill>
              </a:rPr>
              <a:t>52</a:t>
            </a:r>
          </a:p>
          <a:p>
            <a:r>
              <a:rPr lang="en-US" altLang="zh-CN" sz="2400" dirty="0"/>
              <a:t>    </a:t>
            </a:r>
            <a:r>
              <a:rPr lang="en-US" altLang="zh-CN" sz="2400" dirty="0">
                <a:solidFill>
                  <a:srgbClr val="FF0000"/>
                </a:solidFill>
              </a:rPr>
              <a:t>95</a:t>
            </a:r>
            <a:r>
              <a:rPr lang="en-US" altLang="zh-CN" sz="2400" dirty="0"/>
              <a:t>    45    92    41    13      1    </a:t>
            </a:r>
            <a:r>
              <a:rPr lang="en-US" altLang="zh-CN" sz="2400" dirty="0">
                <a:solidFill>
                  <a:srgbClr val="FF0000"/>
                </a:solidFill>
              </a:rPr>
              <a:t>84</a:t>
            </a:r>
            <a:endParaRPr lang="zh-CN" altLang="en-US" sz="2400" dirty="0">
              <a:solidFill>
                <a:srgbClr val="FF0000"/>
              </a:solidFill>
            </a:endParaRPr>
          </a:p>
        </p:txBody>
      </p:sp>
      <p:sp>
        <p:nvSpPr>
          <p:cNvPr id="7" name="矩形 6"/>
          <p:cNvSpPr/>
          <p:nvPr/>
        </p:nvSpPr>
        <p:spPr>
          <a:xfrm>
            <a:off x="6026328" y="3423357"/>
            <a:ext cx="4746175" cy="3046988"/>
          </a:xfrm>
          <a:prstGeom prst="rect">
            <a:avLst/>
          </a:prstGeom>
        </p:spPr>
        <p:txBody>
          <a:bodyPr wrap="square">
            <a:spAutoFit/>
          </a:bodyPr>
          <a:lstStyle/>
          <a:p>
            <a:r>
              <a:rPr lang="en-US" altLang="zh-CN" sz="2400" dirty="0"/>
              <a:t>&gt;&gt; C = </a:t>
            </a:r>
            <a:r>
              <a:rPr lang="en-US" altLang="zh-CN" sz="2400" dirty="0" err="1"/>
              <a:t>sortrows</a:t>
            </a:r>
            <a:r>
              <a:rPr lang="en-US" altLang="zh-CN" sz="2400" dirty="0"/>
              <a:t>(A,[1 -7])</a:t>
            </a:r>
          </a:p>
          <a:p>
            <a:r>
              <a:rPr lang="en-US" altLang="zh-CN" sz="2400" dirty="0"/>
              <a:t>C =</a:t>
            </a:r>
          </a:p>
          <a:p>
            <a:r>
              <a:rPr lang="en-US" altLang="zh-CN" sz="2400" dirty="0"/>
              <a:t>    </a:t>
            </a:r>
            <a:r>
              <a:rPr lang="en-US" altLang="zh-CN" sz="2400" dirty="0">
                <a:solidFill>
                  <a:srgbClr val="00B050"/>
                </a:solidFill>
              </a:rPr>
              <a:t>76</a:t>
            </a:r>
            <a:r>
              <a:rPr lang="en-US" altLang="zh-CN" sz="2400" dirty="0"/>
              <a:t>    61    93    81    27    46    </a:t>
            </a:r>
            <a:r>
              <a:rPr lang="en-US" altLang="zh-CN" sz="2400" dirty="0">
                <a:solidFill>
                  <a:srgbClr val="00B050"/>
                </a:solidFill>
              </a:rPr>
              <a:t>83</a:t>
            </a:r>
          </a:p>
          <a:p>
            <a:r>
              <a:rPr lang="en-US" altLang="zh-CN" sz="2400" dirty="0"/>
              <a:t>    </a:t>
            </a:r>
            <a:r>
              <a:rPr lang="en-US" altLang="zh-CN" sz="2400" dirty="0">
                <a:solidFill>
                  <a:srgbClr val="00B050"/>
                </a:solidFill>
              </a:rPr>
              <a:t>76</a:t>
            </a:r>
            <a:r>
              <a:rPr lang="en-US" altLang="zh-CN" sz="2400" dirty="0"/>
              <a:t>    44    40    35    60    93    </a:t>
            </a:r>
            <a:r>
              <a:rPr lang="en-US" altLang="zh-CN" sz="2400" dirty="0">
                <a:solidFill>
                  <a:srgbClr val="00B050"/>
                </a:solidFill>
              </a:rPr>
              <a:t>67</a:t>
            </a:r>
          </a:p>
          <a:p>
            <a:r>
              <a:rPr lang="en-US" altLang="zh-CN" sz="2400" dirty="0"/>
              <a:t>    </a:t>
            </a:r>
            <a:r>
              <a:rPr lang="en-US" altLang="zh-CN" sz="2400" dirty="0">
                <a:solidFill>
                  <a:srgbClr val="00B050"/>
                </a:solidFill>
              </a:rPr>
              <a:t>76</a:t>
            </a:r>
            <a:r>
              <a:rPr lang="en-US" altLang="zh-CN" sz="2400" dirty="0"/>
              <a:t>    79    91      0    19    41      </a:t>
            </a:r>
            <a:r>
              <a:rPr lang="en-US" altLang="zh-CN" sz="2400" dirty="0">
                <a:solidFill>
                  <a:srgbClr val="00B050"/>
                </a:solidFill>
              </a:rPr>
              <a:t>1</a:t>
            </a:r>
          </a:p>
          <a:p>
            <a:r>
              <a:rPr lang="en-US" altLang="zh-CN" sz="2400" dirty="0"/>
              <a:t>    </a:t>
            </a:r>
            <a:r>
              <a:rPr lang="en-US" altLang="zh-CN" sz="2400" dirty="0">
                <a:solidFill>
                  <a:srgbClr val="FF0000"/>
                </a:solidFill>
              </a:rPr>
              <a:t>95</a:t>
            </a:r>
            <a:r>
              <a:rPr lang="en-US" altLang="zh-CN" sz="2400" dirty="0"/>
              <a:t>    45    92    41    13      1    </a:t>
            </a:r>
            <a:r>
              <a:rPr lang="en-US" altLang="zh-CN" sz="2400" dirty="0">
                <a:solidFill>
                  <a:srgbClr val="FF0000"/>
                </a:solidFill>
              </a:rPr>
              <a:t>84</a:t>
            </a:r>
          </a:p>
          <a:p>
            <a:r>
              <a:rPr lang="en-US" altLang="zh-CN" sz="2400" dirty="0"/>
              <a:t>    </a:t>
            </a:r>
            <a:r>
              <a:rPr lang="en-US" altLang="zh-CN" sz="2400" dirty="0">
                <a:solidFill>
                  <a:srgbClr val="FF0000"/>
                </a:solidFill>
              </a:rPr>
              <a:t>95</a:t>
            </a:r>
            <a:r>
              <a:rPr lang="en-US" altLang="zh-CN" sz="2400" dirty="0"/>
              <a:t>      1    73    89    20    74    </a:t>
            </a:r>
            <a:r>
              <a:rPr lang="en-US" altLang="zh-CN" sz="2400" dirty="0">
                <a:solidFill>
                  <a:srgbClr val="FF0000"/>
                </a:solidFill>
              </a:rPr>
              <a:t>52</a:t>
            </a:r>
          </a:p>
          <a:p>
            <a:r>
              <a:rPr lang="en-US" altLang="zh-CN" sz="2400" dirty="0"/>
              <a:t>    </a:t>
            </a:r>
            <a:r>
              <a:rPr lang="en-US" altLang="zh-CN" sz="2400" dirty="0">
                <a:solidFill>
                  <a:srgbClr val="FF0000"/>
                </a:solidFill>
              </a:rPr>
              <a:t>95</a:t>
            </a:r>
            <a:r>
              <a:rPr lang="en-US" altLang="zh-CN" sz="2400" dirty="0"/>
              <a:t>    82    17      5    19    44    </a:t>
            </a:r>
            <a:r>
              <a:rPr lang="en-US" altLang="zh-CN" sz="2400" dirty="0">
                <a:solidFill>
                  <a:srgbClr val="FF0000"/>
                </a:solidFill>
              </a:rPr>
              <a:t>20</a:t>
            </a:r>
            <a:endParaRPr lang="zh-CN" altLang="en-US" sz="2400" dirty="0">
              <a:solidFill>
                <a:srgbClr val="FF0000"/>
              </a:solidFill>
            </a:endParaRPr>
          </a:p>
        </p:txBody>
      </p:sp>
      <p:grpSp>
        <p:nvGrpSpPr>
          <p:cNvPr id="8" name="组合 7"/>
          <p:cNvGrpSpPr/>
          <p:nvPr/>
        </p:nvGrpSpPr>
        <p:grpSpPr>
          <a:xfrm>
            <a:off x="9725294" y="1123405"/>
            <a:ext cx="627017" cy="992777"/>
            <a:chOff x="5913120" y="4362995"/>
            <a:chExt cx="627017" cy="1672046"/>
          </a:xfrm>
        </p:grpSpPr>
        <p:sp>
          <p:nvSpPr>
            <p:cNvPr id="9" name="圆角矩形 8"/>
            <p:cNvSpPr/>
            <p:nvPr/>
          </p:nvSpPr>
          <p:spPr>
            <a:xfrm>
              <a:off x="5913120" y="4362995"/>
              <a:ext cx="627017" cy="1672046"/>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箭头连接符 9"/>
            <p:cNvCxnSpPr/>
            <p:nvPr/>
          </p:nvCxnSpPr>
          <p:spPr>
            <a:xfrm>
              <a:off x="6405152" y="4467497"/>
              <a:ext cx="0" cy="148916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9725294" y="2185344"/>
            <a:ext cx="627017" cy="1062953"/>
            <a:chOff x="5913120" y="4362995"/>
            <a:chExt cx="627017" cy="1672046"/>
          </a:xfrm>
        </p:grpSpPr>
        <p:sp>
          <p:nvSpPr>
            <p:cNvPr id="12" name="圆角矩形 11"/>
            <p:cNvSpPr/>
            <p:nvPr/>
          </p:nvSpPr>
          <p:spPr>
            <a:xfrm>
              <a:off x="5913120" y="4362995"/>
              <a:ext cx="627017" cy="16720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p:nvPr/>
          </p:nvCxnSpPr>
          <p:spPr>
            <a:xfrm>
              <a:off x="6405152" y="4467497"/>
              <a:ext cx="0" cy="14891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p:cNvGrpSpPr/>
          <p:nvPr/>
        </p:nvGrpSpPr>
        <p:grpSpPr>
          <a:xfrm>
            <a:off x="9725294" y="4262845"/>
            <a:ext cx="627017" cy="1023258"/>
            <a:chOff x="5913120" y="4362995"/>
            <a:chExt cx="627017" cy="1672046"/>
          </a:xfrm>
        </p:grpSpPr>
        <p:sp>
          <p:nvSpPr>
            <p:cNvPr id="15" name="圆角矩形 14"/>
            <p:cNvSpPr/>
            <p:nvPr/>
          </p:nvSpPr>
          <p:spPr>
            <a:xfrm>
              <a:off x="5913120" y="4362995"/>
              <a:ext cx="627017" cy="1672046"/>
            </a:xfrm>
            <a:prstGeom prst="round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p:cNvCxnSpPr/>
            <p:nvPr/>
          </p:nvCxnSpPr>
          <p:spPr>
            <a:xfrm flipV="1">
              <a:off x="6418219" y="4454435"/>
              <a:ext cx="1" cy="148916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9725293" y="5348530"/>
            <a:ext cx="627017" cy="1023258"/>
            <a:chOff x="5913120" y="4362995"/>
            <a:chExt cx="627017" cy="1672046"/>
          </a:xfrm>
        </p:grpSpPr>
        <p:sp>
          <p:nvSpPr>
            <p:cNvPr id="18" name="圆角矩形 17"/>
            <p:cNvSpPr/>
            <p:nvPr/>
          </p:nvSpPr>
          <p:spPr>
            <a:xfrm>
              <a:off x="5913120" y="4362995"/>
              <a:ext cx="627017" cy="167204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 name="直接箭头连接符 18"/>
            <p:cNvCxnSpPr/>
            <p:nvPr/>
          </p:nvCxnSpPr>
          <p:spPr>
            <a:xfrm flipV="1">
              <a:off x="6418219" y="4454435"/>
              <a:ext cx="1" cy="148916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文本框 19"/>
          <p:cNvSpPr txBox="1"/>
          <p:nvPr/>
        </p:nvSpPr>
        <p:spPr>
          <a:xfrm>
            <a:off x="1039121" y="5230143"/>
            <a:ext cx="3775393" cy="1015663"/>
          </a:xfrm>
          <a:prstGeom prst="rect">
            <a:avLst/>
          </a:prstGeom>
          <a:noFill/>
        </p:spPr>
        <p:txBody>
          <a:bodyPr wrap="none" rtlCol="0">
            <a:spAutoFit/>
          </a:bodyPr>
          <a:lstStyle/>
          <a:p>
            <a:r>
              <a:rPr lang="zh-CN" altLang="en-US" sz="2000" dirty="0"/>
              <a:t>基于多列排序：</a:t>
            </a:r>
            <a:endParaRPr lang="en-US" altLang="zh-CN" sz="2000" dirty="0"/>
          </a:p>
          <a:p>
            <a:r>
              <a:rPr lang="zh-CN" altLang="en-US" sz="2000" dirty="0"/>
              <a:t>前面一列若</a:t>
            </a:r>
            <a:r>
              <a:rPr lang="zh-CN" altLang="en-US" sz="2000" dirty="0">
                <a:solidFill>
                  <a:srgbClr val="FF0000"/>
                </a:solidFill>
              </a:rPr>
              <a:t>有相等的数值</a:t>
            </a:r>
            <a:r>
              <a:rPr lang="zh-CN" altLang="en-US" sz="2000" dirty="0"/>
              <a:t>，</a:t>
            </a:r>
            <a:endParaRPr lang="en-US" altLang="zh-CN" sz="2000" dirty="0"/>
          </a:p>
          <a:p>
            <a:r>
              <a:rPr lang="zh-CN" altLang="en-US" sz="2000" dirty="0"/>
              <a:t>后面一列继续按照数值大小排序</a:t>
            </a:r>
          </a:p>
        </p:txBody>
      </p:sp>
    </p:spTree>
    <p:extLst>
      <p:ext uri="{BB962C8B-B14F-4D97-AF65-F5344CB8AC3E}">
        <p14:creationId xmlns:p14="http://schemas.microsoft.com/office/powerpoint/2010/main" val="286782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78576" y="1475695"/>
            <a:ext cx="3086100" cy="5095875"/>
          </a:xfrm>
          <a:prstGeom prst="rect">
            <a:avLst/>
          </a:prstGeom>
        </p:spPr>
      </p:pic>
      <p:sp>
        <p:nvSpPr>
          <p:cNvPr id="5" name="文本框 4"/>
          <p:cNvSpPr txBox="1"/>
          <p:nvPr/>
        </p:nvSpPr>
        <p:spPr>
          <a:xfrm>
            <a:off x="1166949" y="278945"/>
            <a:ext cx="8991051" cy="923330"/>
          </a:xfrm>
          <a:prstGeom prst="rect">
            <a:avLst/>
          </a:prstGeom>
          <a:noFill/>
        </p:spPr>
        <p:txBody>
          <a:bodyPr wrap="none" rtlCol="0">
            <a:spAutoFit/>
          </a:bodyPr>
          <a:lstStyle/>
          <a:p>
            <a:r>
              <a:rPr lang="zh-CN" altLang="en-US" dirty="0"/>
              <a:t>问题：</a:t>
            </a:r>
            <a:endParaRPr lang="en-US" altLang="zh-CN" dirty="0"/>
          </a:p>
          <a:p>
            <a:r>
              <a:rPr lang="zh-CN" altLang="en-US" dirty="0"/>
              <a:t>两列个数相同的数据（列向量）：</a:t>
            </a:r>
            <a:r>
              <a:rPr lang="en-US" altLang="zh-CN" dirty="0"/>
              <a:t>Germany</a:t>
            </a:r>
            <a:r>
              <a:rPr lang="zh-CN" altLang="en-US" dirty="0"/>
              <a:t>、</a:t>
            </a:r>
            <a:r>
              <a:rPr lang="en-US" altLang="zh-CN" dirty="0"/>
              <a:t>France</a:t>
            </a:r>
            <a:r>
              <a:rPr lang="zh-CN" altLang="en-US" dirty="0"/>
              <a:t>，实现以</a:t>
            </a:r>
            <a:r>
              <a:rPr lang="en-US" altLang="zh-CN" dirty="0"/>
              <a:t>Germany</a:t>
            </a:r>
            <a:r>
              <a:rPr lang="zh-CN" altLang="en-US" dirty="0"/>
              <a:t>为主键排序，即：</a:t>
            </a:r>
            <a:endParaRPr lang="en-US" altLang="zh-CN" dirty="0"/>
          </a:p>
          <a:p>
            <a:r>
              <a:rPr lang="en-US" altLang="zh-CN" dirty="0"/>
              <a:t>France</a:t>
            </a:r>
            <a:r>
              <a:rPr lang="zh-CN" altLang="en-US" dirty="0"/>
              <a:t>数据跟随</a:t>
            </a:r>
            <a:r>
              <a:rPr lang="en-US" altLang="zh-CN" dirty="0"/>
              <a:t>Germany</a:t>
            </a:r>
            <a:r>
              <a:rPr lang="zh-CN" altLang="en-US" dirty="0"/>
              <a:t>的排序顺序进行排序。</a:t>
            </a:r>
            <a:endParaRPr lang="en-US" altLang="zh-CN" dirty="0"/>
          </a:p>
        </p:txBody>
      </p:sp>
      <p:pic>
        <p:nvPicPr>
          <p:cNvPr id="6" name="图片 5"/>
          <p:cNvPicPr>
            <a:picLocks noChangeAspect="1"/>
          </p:cNvPicPr>
          <p:nvPr/>
        </p:nvPicPr>
        <p:blipFill rotWithShape="1">
          <a:blip r:embed="rId3"/>
          <a:srcRect l="54692"/>
          <a:stretch/>
        </p:blipFill>
        <p:spPr>
          <a:xfrm>
            <a:off x="8151223" y="1301251"/>
            <a:ext cx="3111545" cy="5200650"/>
          </a:xfrm>
          <a:prstGeom prst="rect">
            <a:avLst/>
          </a:prstGeom>
        </p:spPr>
      </p:pic>
      <p:sp>
        <p:nvSpPr>
          <p:cNvPr id="7" name="燕尾形箭头 6"/>
          <p:cNvSpPr/>
          <p:nvPr/>
        </p:nvSpPr>
        <p:spPr>
          <a:xfrm>
            <a:off x="4445313" y="3784146"/>
            <a:ext cx="2791510" cy="478971"/>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8" name="矩形 7"/>
          <p:cNvSpPr/>
          <p:nvPr/>
        </p:nvSpPr>
        <p:spPr>
          <a:xfrm>
            <a:off x="4024709" y="2618659"/>
            <a:ext cx="4126514" cy="1015663"/>
          </a:xfrm>
          <a:prstGeom prst="rect">
            <a:avLst/>
          </a:prstGeom>
        </p:spPr>
        <p:txBody>
          <a:bodyPr wrap="none">
            <a:spAutoFit/>
          </a:bodyPr>
          <a:lstStyle/>
          <a:p>
            <a:r>
              <a:rPr lang="zh-CN" altLang="en-US" sz="2000" b="1" dirty="0">
                <a:effectLst>
                  <a:outerShdw blurRad="38100" dist="38100" dir="2700000" algn="tl">
                    <a:srgbClr val="000000">
                      <a:alpha val="43137"/>
                    </a:srgbClr>
                  </a:outerShdw>
                </a:effectLst>
              </a:rPr>
              <a:t>方法</a:t>
            </a:r>
            <a:r>
              <a:rPr lang="en-US" altLang="zh-CN" sz="2000" b="1" dirty="0">
                <a:effectLst>
                  <a:outerShdw blurRad="38100" dist="38100" dir="2700000" algn="tl">
                    <a:srgbClr val="000000">
                      <a:alpha val="43137"/>
                    </a:srgbClr>
                  </a:outerShdw>
                </a:effectLst>
              </a:rPr>
              <a:t>1</a:t>
            </a:r>
          </a:p>
          <a:p>
            <a:r>
              <a:rPr lang="zh-CN" altLang="en-US" sz="2000" b="1" dirty="0">
                <a:effectLst>
                  <a:outerShdw blurRad="38100" dist="38100" dir="2700000" algn="tl">
                    <a:srgbClr val="000000">
                      <a:alpha val="43137"/>
                    </a:srgbClr>
                  </a:outerShdw>
                </a:effectLst>
              </a:rPr>
              <a:t>&gt;&gt; [Germany,GIndex]=</a:t>
            </a:r>
            <a:r>
              <a:rPr lang="zh-CN" altLang="en-US" sz="2000" b="1" dirty="0">
                <a:solidFill>
                  <a:srgbClr val="FF0000"/>
                </a:solidFill>
                <a:effectLst>
                  <a:outerShdw blurRad="38100" dist="38100" dir="2700000" algn="tl">
                    <a:srgbClr val="000000">
                      <a:alpha val="43137"/>
                    </a:srgbClr>
                  </a:outerShdw>
                </a:effectLst>
              </a:rPr>
              <a:t>sort</a:t>
            </a:r>
            <a:r>
              <a:rPr lang="zh-CN" altLang="en-US" sz="2000" b="1" dirty="0">
                <a:effectLst>
                  <a:outerShdw blurRad="38100" dist="38100" dir="2700000" algn="tl">
                    <a:srgbClr val="000000">
                      <a:alpha val="43137"/>
                    </a:srgbClr>
                  </a:outerShdw>
                </a:effectLst>
              </a:rPr>
              <a:t>(Germany)</a:t>
            </a:r>
            <a:endParaRPr lang="en-US" altLang="zh-CN" sz="2000" b="1" dirty="0">
              <a:effectLst>
                <a:outerShdw blurRad="38100" dist="38100" dir="2700000" algn="tl">
                  <a:srgbClr val="000000">
                    <a:alpha val="43137"/>
                  </a:srgbClr>
                </a:outerShdw>
              </a:effectLst>
            </a:endParaRPr>
          </a:p>
          <a:p>
            <a:r>
              <a:rPr lang="en-US" altLang="zh-CN" sz="2000" b="1" dirty="0">
                <a:effectLst>
                  <a:outerShdw blurRad="38100" dist="38100" dir="2700000" algn="tl">
                    <a:srgbClr val="000000">
                      <a:alpha val="43137"/>
                    </a:srgbClr>
                  </a:outerShdw>
                </a:effectLst>
              </a:rPr>
              <a:t>&gt;&gt; France = France(</a:t>
            </a:r>
            <a:r>
              <a:rPr lang="en-US" altLang="zh-CN" sz="2000" b="1" dirty="0" err="1">
                <a:effectLst>
                  <a:outerShdw blurRad="38100" dist="38100" dir="2700000" algn="tl">
                    <a:srgbClr val="000000">
                      <a:alpha val="43137"/>
                    </a:srgbClr>
                  </a:outerShdw>
                </a:effectLst>
              </a:rPr>
              <a:t>GIndex</a:t>
            </a:r>
            <a:r>
              <a:rPr lang="en-US" altLang="zh-CN" sz="2000" b="1" dirty="0">
                <a:effectLst>
                  <a:outerShdw blurRad="38100" dist="38100" dir="2700000" algn="tl">
                    <a:srgbClr val="000000">
                      <a:alpha val="43137"/>
                    </a:srgbClr>
                  </a:outerShdw>
                </a:effectLst>
              </a:rPr>
              <a:t>)</a:t>
            </a:r>
            <a:endParaRPr lang="zh-CN" altLang="en-US" sz="2000" b="1" dirty="0">
              <a:effectLst>
                <a:outerShdw blurRad="38100" dist="38100" dir="2700000" algn="tl">
                  <a:srgbClr val="000000">
                    <a:alpha val="43137"/>
                  </a:srgbClr>
                </a:outerShdw>
              </a:effectLst>
            </a:endParaRPr>
          </a:p>
        </p:txBody>
      </p:sp>
      <p:sp>
        <p:nvSpPr>
          <p:cNvPr id="2" name="矩形 1"/>
          <p:cNvSpPr/>
          <p:nvPr/>
        </p:nvSpPr>
        <p:spPr>
          <a:xfrm>
            <a:off x="4097169" y="4412941"/>
            <a:ext cx="2851935" cy="1631216"/>
          </a:xfrm>
          <a:prstGeom prst="rect">
            <a:avLst/>
          </a:prstGeom>
        </p:spPr>
        <p:txBody>
          <a:bodyPr wrap="none">
            <a:spAutoFit/>
          </a:bodyPr>
          <a:lstStyle/>
          <a:p>
            <a:r>
              <a:rPr lang="zh-CN" altLang="en-US" sz="2000" b="1" dirty="0">
                <a:effectLst>
                  <a:outerShdw blurRad="38100" dist="38100" dir="2700000" algn="tl">
                    <a:srgbClr val="000000">
                      <a:alpha val="43137"/>
                    </a:srgbClr>
                  </a:outerShdw>
                </a:effectLst>
              </a:rPr>
              <a:t>方法</a:t>
            </a:r>
            <a:r>
              <a:rPr lang="en-US" altLang="zh-CN" sz="2000" b="1" dirty="0">
                <a:effectLst>
                  <a:outerShdw blurRad="38100" dist="38100" dir="2700000" algn="tl">
                    <a:srgbClr val="000000">
                      <a:alpha val="43137"/>
                    </a:srgbClr>
                  </a:outerShdw>
                </a:effectLst>
              </a:rPr>
              <a:t>2</a:t>
            </a:r>
          </a:p>
          <a:p>
            <a:r>
              <a:rPr lang="zh-CN" altLang="en-US" sz="2000" b="1" dirty="0">
                <a:effectLst>
                  <a:outerShdw blurRad="38100" dist="38100" dir="2700000" algn="tl">
                    <a:srgbClr val="000000">
                      <a:alpha val="43137"/>
                    </a:srgbClr>
                  </a:outerShdw>
                </a:effectLst>
              </a:rPr>
              <a:t>&gt;&gt; A = [Germany, France]</a:t>
            </a:r>
            <a:endParaRPr lang="en-US" altLang="zh-CN" sz="2000" b="1" dirty="0">
              <a:effectLst>
                <a:outerShdw blurRad="38100" dist="38100" dir="2700000" algn="tl">
                  <a:srgbClr val="000000">
                    <a:alpha val="43137"/>
                  </a:srgbClr>
                </a:outerShdw>
              </a:effectLst>
            </a:endParaRPr>
          </a:p>
          <a:p>
            <a:r>
              <a:rPr lang="en-US" altLang="zh-CN" sz="2000" b="1" dirty="0">
                <a:effectLst>
                  <a:outerShdw blurRad="38100" dist="38100" dir="2700000" algn="tl">
                    <a:srgbClr val="000000">
                      <a:alpha val="43137"/>
                    </a:srgbClr>
                  </a:outerShdw>
                </a:effectLst>
              </a:rPr>
              <a:t>&gt;&gt; A=</a:t>
            </a:r>
            <a:r>
              <a:rPr lang="en-US" altLang="zh-CN" sz="2000" b="1" dirty="0" err="1">
                <a:solidFill>
                  <a:srgbClr val="FF0000"/>
                </a:solidFill>
                <a:effectLst>
                  <a:outerShdw blurRad="38100" dist="38100" dir="2700000" algn="tl">
                    <a:srgbClr val="000000">
                      <a:alpha val="43137"/>
                    </a:srgbClr>
                  </a:outerShdw>
                </a:effectLst>
              </a:rPr>
              <a:t>sortrows</a:t>
            </a:r>
            <a:r>
              <a:rPr lang="en-US" altLang="zh-CN" sz="2000" b="1" dirty="0">
                <a:effectLst>
                  <a:outerShdw blurRad="38100" dist="38100" dir="2700000" algn="tl">
                    <a:srgbClr val="000000">
                      <a:alpha val="43137"/>
                    </a:srgbClr>
                  </a:outerShdw>
                </a:effectLst>
              </a:rPr>
              <a:t>(A)</a:t>
            </a:r>
          </a:p>
          <a:p>
            <a:r>
              <a:rPr lang="en-US" altLang="zh-CN" sz="2000" b="1" dirty="0">
                <a:effectLst>
                  <a:outerShdw blurRad="38100" dist="38100" dir="2700000" algn="tl">
                    <a:srgbClr val="000000">
                      <a:alpha val="43137"/>
                    </a:srgbClr>
                  </a:outerShdw>
                </a:effectLst>
              </a:rPr>
              <a:t>&gt;&gt; Germany = A(:,1)</a:t>
            </a:r>
          </a:p>
          <a:p>
            <a:r>
              <a:rPr lang="en-US" altLang="zh-CN" sz="2000" b="1" dirty="0">
                <a:effectLst>
                  <a:outerShdw blurRad="38100" dist="38100" dir="2700000" algn="tl">
                    <a:srgbClr val="000000">
                      <a:alpha val="43137"/>
                    </a:srgbClr>
                  </a:outerShdw>
                </a:effectLst>
              </a:rPr>
              <a:t>&gt;&gt; France = A(:,2)</a:t>
            </a:r>
            <a:endParaRPr lang="zh-CN" altLang="en-US" sz="20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34072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3582" y="307153"/>
            <a:ext cx="2929217" cy="706029"/>
          </a:xfrm>
        </p:spPr>
        <p:txBody>
          <a:bodyPr>
            <a:normAutofit fontScale="90000"/>
          </a:bodyPr>
          <a:lstStyle/>
          <a:p>
            <a:r>
              <a:rPr lang="en-US" altLang="zh-CN" dirty="0" err="1"/>
              <a:t>issorted</a:t>
            </a:r>
            <a:r>
              <a:rPr lang="zh-CN" altLang="en-US" dirty="0"/>
              <a:t>函数</a:t>
            </a:r>
          </a:p>
        </p:txBody>
      </p:sp>
      <p:grpSp>
        <p:nvGrpSpPr>
          <p:cNvPr id="10" name="组合 9"/>
          <p:cNvGrpSpPr/>
          <p:nvPr/>
        </p:nvGrpSpPr>
        <p:grpSpPr>
          <a:xfrm>
            <a:off x="4156388" y="129328"/>
            <a:ext cx="4671472" cy="2099301"/>
            <a:chOff x="963515" y="1451207"/>
            <a:chExt cx="4671472" cy="2099301"/>
          </a:xfrm>
        </p:grpSpPr>
        <p:sp>
          <p:nvSpPr>
            <p:cNvPr id="4" name="文本框 3"/>
            <p:cNvSpPr txBox="1"/>
            <p:nvPr/>
          </p:nvSpPr>
          <p:spPr>
            <a:xfrm>
              <a:off x="963515" y="2719511"/>
              <a:ext cx="4671472" cy="830997"/>
            </a:xfrm>
            <a:prstGeom prst="rect">
              <a:avLst/>
            </a:prstGeom>
            <a:noFill/>
          </p:spPr>
          <p:txBody>
            <a:bodyPr wrap="none" rtlCol="0">
              <a:spAutoFit/>
            </a:bodyPr>
            <a:lstStyle/>
            <a:p>
              <a:r>
                <a:rPr lang="zh-CN" altLang="en-US" sz="2400" dirty="0"/>
                <a:t>第</a:t>
              </a:r>
              <a:r>
                <a:rPr lang="en-US" altLang="zh-CN" sz="2400" dirty="0"/>
                <a:t>1</a:t>
              </a:r>
              <a:r>
                <a:rPr lang="zh-CN" altLang="en-US" sz="2400" dirty="0"/>
                <a:t>种方式中</a:t>
              </a:r>
              <a:r>
                <a:rPr lang="en-US" altLang="zh-CN" sz="2400" dirty="0"/>
                <a:t>A</a:t>
              </a:r>
              <a:r>
                <a:rPr lang="zh-CN" altLang="en-US" sz="2400" dirty="0"/>
                <a:t>只能是向量；</a:t>
              </a:r>
              <a:endParaRPr lang="en-US" altLang="zh-CN" sz="2400" dirty="0"/>
            </a:p>
            <a:p>
              <a:r>
                <a:rPr lang="zh-CN" altLang="en-US" sz="2400" dirty="0"/>
                <a:t>如果</a:t>
              </a:r>
              <a:r>
                <a:rPr lang="en-US" altLang="zh-CN" sz="2400" dirty="0"/>
                <a:t>A</a:t>
              </a:r>
              <a:r>
                <a:rPr lang="zh-CN" altLang="en-US" sz="2400" dirty="0"/>
                <a:t>是矩阵，必须用第二种方式</a:t>
              </a:r>
            </a:p>
          </p:txBody>
        </p:sp>
        <p:sp>
          <p:nvSpPr>
            <p:cNvPr id="6" name="矩形 5"/>
            <p:cNvSpPr/>
            <p:nvPr/>
          </p:nvSpPr>
          <p:spPr>
            <a:xfrm>
              <a:off x="963515" y="1451207"/>
              <a:ext cx="3486565" cy="1200329"/>
            </a:xfrm>
            <a:prstGeom prst="rect">
              <a:avLst/>
            </a:prstGeom>
          </p:spPr>
          <p:txBody>
            <a:bodyPr wrap="square">
              <a:spAutoFit/>
            </a:bodyPr>
            <a:lstStyle/>
            <a:p>
              <a:r>
                <a:rPr lang="en-US" altLang="zh-CN" sz="2400" dirty="0"/>
                <a:t>2</a:t>
              </a:r>
              <a:r>
                <a:rPr lang="zh-CN" altLang="en-US" sz="2400" dirty="0"/>
                <a:t>种方式：</a:t>
              </a:r>
              <a:endParaRPr lang="en-US" altLang="zh-CN" sz="2400" dirty="0"/>
            </a:p>
            <a:p>
              <a:pPr marL="342900" indent="-342900">
                <a:buFont typeface="+mj-lt"/>
                <a:buAutoNum type="arabicPeriod"/>
              </a:pPr>
              <a:r>
                <a:rPr lang="en-US" altLang="zh-CN" sz="2400" dirty="0"/>
                <a:t>TF = </a:t>
              </a:r>
              <a:r>
                <a:rPr lang="en-US" altLang="zh-CN" sz="2400" dirty="0" err="1"/>
                <a:t>issorted</a:t>
              </a:r>
              <a:r>
                <a:rPr lang="en-US" altLang="zh-CN" sz="2400" dirty="0"/>
                <a:t>(A)</a:t>
              </a:r>
            </a:p>
            <a:p>
              <a:pPr marL="342900" indent="-342900">
                <a:buFont typeface="+mj-lt"/>
                <a:buAutoNum type="arabicPeriod"/>
              </a:pPr>
              <a:r>
                <a:rPr lang="en-US" altLang="zh-CN" sz="2400" dirty="0"/>
                <a:t>TF = </a:t>
              </a:r>
              <a:r>
                <a:rPr lang="en-US" altLang="zh-CN" sz="2400" dirty="0" err="1"/>
                <a:t>issorted</a:t>
              </a:r>
              <a:r>
                <a:rPr lang="en-US" altLang="zh-CN" sz="2400" dirty="0"/>
                <a:t>(A, 'rows')</a:t>
              </a:r>
              <a:endParaRPr lang="zh-CN" altLang="en-US" sz="2400" dirty="0"/>
            </a:p>
          </p:txBody>
        </p:sp>
      </p:grpSp>
      <p:grpSp>
        <p:nvGrpSpPr>
          <p:cNvPr id="11" name="组合 10"/>
          <p:cNvGrpSpPr/>
          <p:nvPr/>
        </p:nvGrpSpPr>
        <p:grpSpPr>
          <a:xfrm>
            <a:off x="794444" y="2781082"/>
            <a:ext cx="2061967" cy="1596793"/>
            <a:chOff x="794444" y="2781082"/>
            <a:chExt cx="2061967" cy="1596793"/>
          </a:xfrm>
        </p:grpSpPr>
        <p:sp>
          <p:nvSpPr>
            <p:cNvPr id="7" name="矩形 6"/>
            <p:cNvSpPr/>
            <p:nvPr/>
          </p:nvSpPr>
          <p:spPr>
            <a:xfrm>
              <a:off x="794444" y="2781082"/>
              <a:ext cx="1367682" cy="461665"/>
            </a:xfrm>
            <a:prstGeom prst="rect">
              <a:avLst/>
            </a:prstGeom>
          </p:spPr>
          <p:txBody>
            <a:bodyPr wrap="none">
              <a:spAutoFit/>
            </a:bodyPr>
            <a:lstStyle/>
            <a:p>
              <a:r>
                <a:rPr lang="zh-CN" altLang="en-US" sz="2400" dirty="0"/>
                <a:t>&gt;&gt; A=1:5;</a:t>
              </a:r>
            </a:p>
          </p:txBody>
        </p:sp>
        <p:sp>
          <p:nvSpPr>
            <p:cNvPr id="8" name="矩形 7"/>
            <p:cNvSpPr/>
            <p:nvPr/>
          </p:nvSpPr>
          <p:spPr>
            <a:xfrm>
              <a:off x="794444" y="3177546"/>
              <a:ext cx="2061967" cy="1200329"/>
            </a:xfrm>
            <a:prstGeom prst="rect">
              <a:avLst/>
            </a:prstGeom>
          </p:spPr>
          <p:txBody>
            <a:bodyPr wrap="square">
              <a:spAutoFit/>
            </a:bodyPr>
            <a:lstStyle/>
            <a:p>
              <a:r>
                <a:rPr lang="zh-CN" altLang="en-US" sz="2400" dirty="0"/>
                <a:t>&gt;&gt; issorted(A)</a:t>
              </a:r>
            </a:p>
            <a:p>
              <a:r>
                <a:rPr lang="zh-CN" altLang="en-US" sz="2400" dirty="0"/>
                <a:t>ans =</a:t>
              </a:r>
            </a:p>
            <a:p>
              <a:r>
                <a:rPr lang="zh-CN" altLang="en-US" sz="2400" dirty="0"/>
                <a:t>     1</a:t>
              </a:r>
            </a:p>
          </p:txBody>
        </p:sp>
      </p:grpSp>
      <p:sp>
        <p:nvSpPr>
          <p:cNvPr id="9" name="矩形 8"/>
          <p:cNvSpPr/>
          <p:nvPr/>
        </p:nvSpPr>
        <p:spPr>
          <a:xfrm>
            <a:off x="794444" y="4377875"/>
            <a:ext cx="2052823" cy="1569660"/>
          </a:xfrm>
          <a:prstGeom prst="rect">
            <a:avLst/>
          </a:prstGeom>
        </p:spPr>
        <p:txBody>
          <a:bodyPr wrap="square">
            <a:spAutoFit/>
          </a:bodyPr>
          <a:lstStyle/>
          <a:p>
            <a:r>
              <a:rPr lang="zh-CN" altLang="en-US" sz="2400" dirty="0"/>
              <a:t>&gt;&gt; B=5:1;</a:t>
            </a:r>
          </a:p>
          <a:p>
            <a:r>
              <a:rPr lang="zh-CN" altLang="en-US" sz="2400" dirty="0"/>
              <a:t>&gt;&gt; issorted(B)</a:t>
            </a:r>
          </a:p>
          <a:p>
            <a:r>
              <a:rPr lang="zh-CN" altLang="en-US" sz="2400" dirty="0"/>
              <a:t>ans =</a:t>
            </a:r>
          </a:p>
          <a:p>
            <a:r>
              <a:rPr lang="zh-CN" altLang="en-US" sz="2400" dirty="0"/>
              <a:t>     1</a:t>
            </a:r>
          </a:p>
        </p:txBody>
      </p:sp>
      <p:sp>
        <p:nvSpPr>
          <p:cNvPr id="12" name="矩形 11"/>
          <p:cNvSpPr/>
          <p:nvPr/>
        </p:nvSpPr>
        <p:spPr>
          <a:xfrm>
            <a:off x="3561804" y="2566998"/>
            <a:ext cx="7167155" cy="4154984"/>
          </a:xfrm>
          <a:prstGeom prst="rect">
            <a:avLst/>
          </a:prstGeom>
        </p:spPr>
        <p:txBody>
          <a:bodyPr wrap="square">
            <a:spAutoFit/>
          </a:bodyPr>
          <a:lstStyle/>
          <a:p>
            <a:r>
              <a:rPr lang="en-US" altLang="zh-CN" sz="2400" dirty="0"/>
              <a:t>&gt;&gt; A = magic(5);</a:t>
            </a:r>
          </a:p>
          <a:p>
            <a:r>
              <a:rPr lang="en-US" altLang="zh-CN" sz="2400" dirty="0"/>
              <a:t>&gt;&gt; </a:t>
            </a:r>
            <a:r>
              <a:rPr lang="en-US" altLang="zh-CN" sz="2400" dirty="0" err="1"/>
              <a:t>issorted</a:t>
            </a:r>
            <a:r>
              <a:rPr lang="en-US" altLang="zh-CN" sz="2400" dirty="0"/>
              <a:t>(A, 'rows')</a:t>
            </a:r>
          </a:p>
          <a:p>
            <a:r>
              <a:rPr lang="en-US" altLang="zh-CN" sz="2400" dirty="0" err="1"/>
              <a:t>ans</a:t>
            </a:r>
            <a:r>
              <a:rPr lang="en-US" altLang="zh-CN" sz="2400" dirty="0"/>
              <a:t> =</a:t>
            </a:r>
          </a:p>
          <a:p>
            <a:r>
              <a:rPr lang="en-US" altLang="zh-CN" sz="2400" dirty="0"/>
              <a:t>     0</a:t>
            </a:r>
          </a:p>
          <a:p>
            <a:r>
              <a:rPr lang="en-US" altLang="zh-CN" sz="2400" dirty="0"/>
              <a:t>&gt;&gt; B = </a:t>
            </a:r>
            <a:r>
              <a:rPr lang="en-US" altLang="zh-CN" sz="2400" dirty="0" err="1">
                <a:solidFill>
                  <a:srgbClr val="FF0000"/>
                </a:solidFill>
              </a:rPr>
              <a:t>sortrows</a:t>
            </a:r>
            <a:r>
              <a:rPr lang="en-US" altLang="zh-CN" sz="2400" dirty="0"/>
              <a:t>(A);</a:t>
            </a:r>
          </a:p>
          <a:p>
            <a:r>
              <a:rPr lang="en-US" altLang="zh-CN" sz="2400" dirty="0"/>
              <a:t>&gt;&gt; </a:t>
            </a:r>
            <a:r>
              <a:rPr lang="en-US" altLang="zh-CN" sz="2400" dirty="0" err="1">
                <a:solidFill>
                  <a:srgbClr val="FF0000"/>
                </a:solidFill>
              </a:rPr>
              <a:t>issorted</a:t>
            </a:r>
            <a:r>
              <a:rPr lang="en-US" altLang="zh-CN" sz="2400" dirty="0">
                <a:solidFill>
                  <a:srgbClr val="FF0000"/>
                </a:solidFill>
              </a:rPr>
              <a:t>(B)</a:t>
            </a:r>
          </a:p>
          <a:p>
            <a:r>
              <a:rPr lang="en-US" altLang="zh-CN" sz="2400" dirty="0">
                <a:solidFill>
                  <a:srgbClr val="FF0000"/>
                </a:solidFill>
              </a:rPr>
              <a:t>Error using </a:t>
            </a:r>
            <a:r>
              <a:rPr lang="en-US" altLang="zh-CN" sz="2400" dirty="0" err="1">
                <a:solidFill>
                  <a:srgbClr val="FF0000"/>
                </a:solidFill>
              </a:rPr>
              <a:t>issorted</a:t>
            </a:r>
            <a:endParaRPr lang="en-US" altLang="zh-CN" sz="2400" dirty="0">
              <a:solidFill>
                <a:srgbClr val="FF0000"/>
              </a:solidFill>
            </a:endParaRPr>
          </a:p>
          <a:p>
            <a:r>
              <a:rPr lang="en-US" altLang="zh-CN" sz="2400" dirty="0">
                <a:solidFill>
                  <a:srgbClr val="FF0000"/>
                </a:solidFill>
              </a:rPr>
              <a:t>Input must be a vector or 'rows' must be specified. </a:t>
            </a:r>
          </a:p>
          <a:p>
            <a:r>
              <a:rPr lang="en-US" altLang="zh-CN" sz="2400" dirty="0"/>
              <a:t>&gt;&gt; </a:t>
            </a:r>
            <a:r>
              <a:rPr lang="en-US" altLang="zh-CN" sz="2400" dirty="0" err="1"/>
              <a:t>issorted</a:t>
            </a:r>
            <a:r>
              <a:rPr lang="en-US" altLang="zh-CN" sz="2400" dirty="0"/>
              <a:t>(</a:t>
            </a:r>
            <a:r>
              <a:rPr lang="en-US" altLang="zh-CN" sz="2400" dirty="0" err="1"/>
              <a:t>B,'rows</a:t>
            </a:r>
            <a:r>
              <a:rPr lang="en-US" altLang="zh-CN" sz="2400" dirty="0"/>
              <a:t>')</a:t>
            </a:r>
          </a:p>
          <a:p>
            <a:r>
              <a:rPr lang="en-US" altLang="zh-CN" sz="2400" dirty="0" err="1"/>
              <a:t>ans</a:t>
            </a:r>
            <a:r>
              <a:rPr lang="en-US" altLang="zh-CN" sz="2400" dirty="0"/>
              <a:t> =</a:t>
            </a:r>
          </a:p>
          <a:p>
            <a:r>
              <a:rPr lang="en-US" altLang="zh-CN" sz="2400" dirty="0"/>
              <a:t>     1</a:t>
            </a:r>
            <a:endParaRPr lang="zh-CN" altLang="en-US" sz="2400" dirty="0"/>
          </a:p>
        </p:txBody>
      </p:sp>
    </p:spTree>
    <p:extLst>
      <p:ext uri="{BB962C8B-B14F-4D97-AF65-F5344CB8AC3E}">
        <p14:creationId xmlns:p14="http://schemas.microsoft.com/office/powerpoint/2010/main" val="326242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三、基本运算</a:t>
            </a:r>
          </a:p>
        </p:txBody>
      </p:sp>
      <p:sp>
        <p:nvSpPr>
          <p:cNvPr id="3" name="内容占位符 2"/>
          <p:cNvSpPr>
            <a:spLocks noGrp="1"/>
          </p:cNvSpPr>
          <p:nvPr>
            <p:ph idx="1"/>
          </p:nvPr>
        </p:nvSpPr>
        <p:spPr>
          <a:xfrm>
            <a:off x="838200" y="1825625"/>
            <a:ext cx="6276703" cy="2189026"/>
          </a:xfrm>
        </p:spPr>
        <p:txBody>
          <a:bodyPr/>
          <a:lstStyle/>
          <a:p>
            <a:r>
              <a:rPr lang="en-US" altLang="zh-CN" dirty="0"/>
              <a:t>3.1 </a:t>
            </a:r>
            <a:r>
              <a:rPr lang="zh-CN" altLang="en-US" dirty="0"/>
              <a:t>算术运算</a:t>
            </a:r>
            <a:endParaRPr lang="en-US" altLang="zh-CN" dirty="0"/>
          </a:p>
          <a:p>
            <a:r>
              <a:rPr lang="en-US" altLang="zh-CN" dirty="0"/>
              <a:t>3.2 </a:t>
            </a:r>
            <a:r>
              <a:rPr lang="zh-CN" altLang="en-US" dirty="0"/>
              <a:t>点运算</a:t>
            </a:r>
          </a:p>
          <a:p>
            <a:r>
              <a:rPr lang="en-US" altLang="zh-CN" dirty="0"/>
              <a:t>3.3 </a:t>
            </a:r>
            <a:r>
              <a:rPr lang="zh-CN" altLang="en-US" dirty="0"/>
              <a:t>关系运算</a:t>
            </a:r>
          </a:p>
          <a:p>
            <a:r>
              <a:rPr lang="en-US" altLang="zh-CN" dirty="0"/>
              <a:t>3.4 </a:t>
            </a:r>
            <a:r>
              <a:rPr lang="zh-CN" altLang="en-US" dirty="0"/>
              <a:t>逻辑运算</a:t>
            </a:r>
          </a:p>
          <a:p>
            <a:endParaRPr lang="zh-CN" altLang="en-US" dirty="0"/>
          </a:p>
        </p:txBody>
      </p:sp>
    </p:spTree>
    <p:extLst>
      <p:ext uri="{BB962C8B-B14F-4D97-AF65-F5344CB8AC3E}">
        <p14:creationId xmlns:p14="http://schemas.microsoft.com/office/powerpoint/2010/main" val="39932300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4578531" cy="941161"/>
          </a:xfrm>
        </p:spPr>
        <p:txBody>
          <a:bodyPr/>
          <a:lstStyle/>
          <a:p>
            <a:r>
              <a:rPr lang="en-US" altLang="zh-CN" dirty="0"/>
              <a:t>3.1 </a:t>
            </a:r>
            <a:r>
              <a:rPr lang="zh-CN" altLang="en-US" dirty="0"/>
              <a:t>基本算术运算</a:t>
            </a:r>
          </a:p>
        </p:txBody>
      </p:sp>
      <p:sp>
        <p:nvSpPr>
          <p:cNvPr id="3" name="内容占位符 2"/>
          <p:cNvSpPr>
            <a:spLocks noGrp="1"/>
          </p:cNvSpPr>
          <p:nvPr>
            <p:ph idx="1"/>
          </p:nvPr>
        </p:nvSpPr>
        <p:spPr>
          <a:xfrm>
            <a:off x="1445622" y="2025922"/>
            <a:ext cx="6670766" cy="2755083"/>
          </a:xfrm>
        </p:spPr>
        <p:txBody>
          <a:bodyPr>
            <a:noAutofit/>
          </a:bodyPr>
          <a:lstStyle/>
          <a:p>
            <a:pPr lvl="4">
              <a:buNone/>
            </a:pPr>
            <a:r>
              <a:rPr lang="zh-CN" altLang="en-US" sz="2400" b="1" dirty="0">
                <a:solidFill>
                  <a:srgbClr val="0000FF"/>
                </a:solidFill>
                <a:latin typeface="华文中宋" panose="02010600040101010101" pitchFamily="2" charset="-122"/>
                <a:ea typeface="华文中宋" panose="02010600040101010101" pitchFamily="2" charset="-122"/>
              </a:rPr>
              <a:t>＋                 </a:t>
            </a:r>
            <a:r>
              <a:rPr lang="en-US" altLang="zh-CN" sz="2400" b="1" dirty="0">
                <a:solidFill>
                  <a:srgbClr val="0000FF"/>
                </a:solidFill>
                <a:latin typeface="华文中宋" panose="02010600040101010101" pitchFamily="2" charset="-122"/>
                <a:ea typeface="华文中宋" panose="02010600040101010101" pitchFamily="2" charset="-122"/>
              </a:rPr>
              <a:t>(</a:t>
            </a:r>
            <a:r>
              <a:rPr lang="zh-CN" altLang="en-US" sz="2400" b="1" dirty="0">
                <a:solidFill>
                  <a:srgbClr val="0000FF"/>
                </a:solidFill>
                <a:latin typeface="华文中宋" panose="02010600040101010101" pitchFamily="2" charset="-122"/>
                <a:ea typeface="华文中宋" panose="02010600040101010101" pitchFamily="2" charset="-122"/>
              </a:rPr>
              <a:t>加</a:t>
            </a:r>
            <a:r>
              <a:rPr lang="en-US" altLang="zh-CN" sz="2400" b="1" dirty="0">
                <a:solidFill>
                  <a:srgbClr val="0000FF"/>
                </a:solidFill>
                <a:latin typeface="华文中宋" panose="02010600040101010101" pitchFamily="2" charset="-122"/>
                <a:ea typeface="华文中宋" panose="02010600040101010101" pitchFamily="2" charset="-122"/>
              </a:rPr>
              <a:t>)</a:t>
            </a:r>
          </a:p>
          <a:p>
            <a:pPr lvl="4">
              <a:buNone/>
            </a:pPr>
            <a:r>
              <a:rPr lang="zh-CN" altLang="en-US" sz="2400" b="1" dirty="0">
                <a:solidFill>
                  <a:srgbClr val="0000FF"/>
                </a:solidFill>
                <a:latin typeface="华文中宋" panose="02010600040101010101" pitchFamily="2" charset="-122"/>
                <a:ea typeface="华文中宋" panose="02010600040101010101" pitchFamily="2" charset="-122"/>
              </a:rPr>
              <a:t>－                 </a:t>
            </a:r>
            <a:r>
              <a:rPr lang="en-US" altLang="zh-CN" sz="2400" b="1" dirty="0">
                <a:solidFill>
                  <a:srgbClr val="0000FF"/>
                </a:solidFill>
                <a:latin typeface="华文中宋" panose="02010600040101010101" pitchFamily="2" charset="-122"/>
                <a:ea typeface="华文中宋" panose="02010600040101010101" pitchFamily="2" charset="-122"/>
              </a:rPr>
              <a:t>(</a:t>
            </a:r>
            <a:r>
              <a:rPr lang="zh-CN" altLang="en-US" sz="2400" b="1" dirty="0">
                <a:solidFill>
                  <a:srgbClr val="0000FF"/>
                </a:solidFill>
                <a:latin typeface="华文中宋" panose="02010600040101010101" pitchFamily="2" charset="-122"/>
                <a:ea typeface="华文中宋" panose="02010600040101010101" pitchFamily="2" charset="-122"/>
              </a:rPr>
              <a:t>减</a:t>
            </a:r>
            <a:r>
              <a:rPr lang="en-US" altLang="zh-CN" sz="2400" b="1" dirty="0">
                <a:solidFill>
                  <a:srgbClr val="0000FF"/>
                </a:solidFill>
                <a:latin typeface="华文中宋" panose="02010600040101010101" pitchFamily="2" charset="-122"/>
                <a:ea typeface="华文中宋" panose="02010600040101010101" pitchFamily="2" charset="-122"/>
              </a:rPr>
              <a:t>)</a:t>
            </a:r>
          </a:p>
          <a:p>
            <a:pPr lvl="4">
              <a:buNone/>
            </a:pPr>
            <a:r>
              <a:rPr lang="en-US" altLang="zh-CN"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乘</a:t>
            </a:r>
            <a:r>
              <a:rPr lang="en-US" altLang="zh-CN" sz="2400" b="1" dirty="0">
                <a:solidFill>
                  <a:srgbClr val="0000FF"/>
                </a:solidFill>
                <a:latin typeface="华文中宋" panose="02010600040101010101" pitchFamily="2" charset="-122"/>
                <a:ea typeface="华文中宋" panose="02010600040101010101" pitchFamily="2" charset="-122"/>
              </a:rPr>
              <a:t>)</a:t>
            </a:r>
          </a:p>
          <a:p>
            <a:pPr lvl="4">
              <a:buNone/>
            </a:pPr>
            <a:r>
              <a:rPr lang="en-US" altLang="zh-CN"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右除</a:t>
            </a:r>
            <a:r>
              <a:rPr lang="en-US" altLang="zh-CN" sz="2400" b="1" dirty="0">
                <a:solidFill>
                  <a:srgbClr val="0000FF"/>
                </a:solidFill>
                <a:latin typeface="华文中宋" panose="02010600040101010101" pitchFamily="2" charset="-122"/>
                <a:ea typeface="华文中宋" panose="02010600040101010101" pitchFamily="2" charset="-122"/>
              </a:rPr>
              <a:t>)</a:t>
            </a:r>
          </a:p>
          <a:p>
            <a:pPr lvl="4">
              <a:buNone/>
            </a:pPr>
            <a:r>
              <a:rPr lang="en-US" altLang="zh-CN"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左除</a:t>
            </a:r>
            <a:r>
              <a:rPr lang="en-US" altLang="zh-CN" sz="2400" b="1" dirty="0">
                <a:solidFill>
                  <a:srgbClr val="0000FF"/>
                </a:solidFill>
                <a:latin typeface="华文中宋" panose="02010600040101010101" pitchFamily="2" charset="-122"/>
                <a:ea typeface="华文中宋" panose="02010600040101010101" pitchFamily="2" charset="-122"/>
              </a:rPr>
              <a:t>)</a:t>
            </a:r>
          </a:p>
          <a:p>
            <a:pPr lvl="4">
              <a:buNone/>
            </a:pPr>
            <a:r>
              <a:rPr lang="en-US" altLang="zh-CN"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乘方</a:t>
            </a:r>
            <a:r>
              <a:rPr lang="en-US" altLang="zh-CN" sz="2400" b="1" dirty="0">
                <a:solidFill>
                  <a:srgbClr val="0000FF"/>
                </a:solidFill>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3418166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888490" y="648652"/>
            <a:ext cx="5553075" cy="5095875"/>
            <a:chOff x="2910159" y="393381"/>
            <a:chExt cx="5553075" cy="5095875"/>
          </a:xfrm>
        </p:grpSpPr>
        <p:pic>
          <p:nvPicPr>
            <p:cNvPr id="5" name="图片 4"/>
            <p:cNvPicPr>
              <a:picLocks noChangeAspect="1"/>
            </p:cNvPicPr>
            <p:nvPr/>
          </p:nvPicPr>
          <p:blipFill>
            <a:blip r:embed="rId2"/>
            <a:stretch>
              <a:fillRect/>
            </a:stretch>
          </p:blipFill>
          <p:spPr>
            <a:xfrm>
              <a:off x="2910159" y="393381"/>
              <a:ext cx="5553075" cy="5095875"/>
            </a:xfrm>
            <a:prstGeom prst="rect">
              <a:avLst/>
            </a:prstGeom>
          </p:spPr>
        </p:pic>
        <p:sp>
          <p:nvSpPr>
            <p:cNvPr id="3" name="文本框 2"/>
            <p:cNvSpPr txBox="1"/>
            <p:nvPr/>
          </p:nvSpPr>
          <p:spPr>
            <a:xfrm>
              <a:off x="5024846" y="4014651"/>
              <a:ext cx="1723549" cy="461665"/>
            </a:xfrm>
            <a:prstGeom prst="rect">
              <a:avLst/>
            </a:prstGeom>
            <a:noFill/>
          </p:spPr>
          <p:txBody>
            <a:bodyPr wrap="none" rtlCol="0">
              <a:spAutoFit/>
            </a:bodyPr>
            <a:lstStyle/>
            <a:p>
              <a:r>
                <a:rPr lang="zh-CN" altLang="en-US" sz="2400" dirty="0">
                  <a:solidFill>
                    <a:srgbClr val="FF0000"/>
                  </a:solidFill>
                </a:rPr>
                <a:t>维数要相同</a:t>
              </a:r>
            </a:p>
          </p:txBody>
        </p:sp>
      </p:grpSp>
      <p:pic>
        <p:nvPicPr>
          <p:cNvPr id="8" name="图片 7"/>
          <p:cNvPicPr>
            <a:picLocks noChangeAspect="1"/>
          </p:cNvPicPr>
          <p:nvPr/>
        </p:nvPicPr>
        <p:blipFill>
          <a:blip r:embed="rId3"/>
          <a:stretch>
            <a:fillRect/>
          </a:stretch>
        </p:blipFill>
        <p:spPr>
          <a:xfrm>
            <a:off x="886710" y="648652"/>
            <a:ext cx="3600450" cy="5210175"/>
          </a:xfrm>
          <a:prstGeom prst="rect">
            <a:avLst/>
          </a:prstGeom>
        </p:spPr>
      </p:pic>
    </p:spTree>
    <p:extLst>
      <p:ext uri="{BB962C8B-B14F-4D97-AF65-F5344CB8AC3E}">
        <p14:creationId xmlns:p14="http://schemas.microsoft.com/office/powerpoint/2010/main" val="225158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53004" y="5691442"/>
            <a:ext cx="3052439" cy="369332"/>
          </a:xfrm>
          <a:prstGeom prst="rect">
            <a:avLst/>
          </a:prstGeom>
        </p:spPr>
        <p:txBody>
          <a:bodyPr wrap="none">
            <a:spAutoFit/>
          </a:bodyPr>
          <a:lstStyle/>
          <a:p>
            <a:r>
              <a:rPr lang="zh-CN" altLang="en-US" b="1" dirty="0">
                <a:solidFill>
                  <a:srgbClr val="FF0000"/>
                </a:solidFill>
                <a:latin typeface="华文中宋" panose="02010600040101010101" pitchFamily="2" charset="-122"/>
                <a:ea typeface="华文中宋" panose="02010600040101010101" pitchFamily="2" charset="-122"/>
              </a:rPr>
              <a:t>矩阵</a:t>
            </a:r>
            <a:r>
              <a:rPr lang="en-US" altLang="zh-CN" b="1" dirty="0">
                <a:solidFill>
                  <a:srgbClr val="FF0000"/>
                </a:solidFill>
                <a:latin typeface="华文中宋" panose="02010600040101010101" pitchFamily="2" charset="-122"/>
                <a:ea typeface="华文中宋" panose="02010600040101010101" pitchFamily="2" charset="-122"/>
              </a:rPr>
              <a:t>A</a:t>
            </a:r>
            <a:r>
              <a:rPr lang="zh-CN" altLang="en-US" b="1" dirty="0">
                <a:solidFill>
                  <a:srgbClr val="FF0000"/>
                </a:solidFill>
                <a:latin typeface="华文中宋" panose="02010600040101010101" pitchFamily="2" charset="-122"/>
                <a:ea typeface="华文中宋" panose="02010600040101010101" pitchFamily="2" charset="-122"/>
              </a:rPr>
              <a:t>和</a:t>
            </a:r>
            <a:r>
              <a:rPr lang="en-US" altLang="zh-CN" b="1" dirty="0">
                <a:solidFill>
                  <a:srgbClr val="FF0000"/>
                </a:solidFill>
                <a:latin typeface="华文中宋" panose="02010600040101010101" pitchFamily="2" charset="-122"/>
                <a:ea typeface="华文中宋" panose="02010600040101010101" pitchFamily="2" charset="-122"/>
              </a:rPr>
              <a:t>B</a:t>
            </a:r>
            <a:r>
              <a:rPr lang="zh-CN" altLang="en-US" b="1" dirty="0">
                <a:solidFill>
                  <a:srgbClr val="FF0000"/>
                </a:solidFill>
                <a:latin typeface="华文中宋" panose="02010600040101010101" pitchFamily="2" charset="-122"/>
                <a:ea typeface="华文中宋" panose="02010600040101010101" pitchFamily="2" charset="-122"/>
              </a:rPr>
              <a:t>矩阵的维数须相同</a:t>
            </a:r>
            <a:endParaRPr lang="zh-CN" altLang="en-US" dirty="0"/>
          </a:p>
        </p:txBody>
      </p:sp>
      <p:pic>
        <p:nvPicPr>
          <p:cNvPr id="6" name="图片 5"/>
          <p:cNvPicPr>
            <a:picLocks noChangeAspect="1"/>
          </p:cNvPicPr>
          <p:nvPr/>
        </p:nvPicPr>
        <p:blipFill>
          <a:blip r:embed="rId2"/>
          <a:stretch>
            <a:fillRect/>
          </a:stretch>
        </p:blipFill>
        <p:spPr>
          <a:xfrm>
            <a:off x="1461407" y="3762775"/>
            <a:ext cx="6404698" cy="1731942"/>
          </a:xfrm>
          <a:prstGeom prst="rect">
            <a:avLst/>
          </a:prstGeom>
        </p:spPr>
      </p:pic>
      <p:pic>
        <p:nvPicPr>
          <p:cNvPr id="7" name="图片 6"/>
          <p:cNvPicPr>
            <a:picLocks noChangeAspect="1"/>
          </p:cNvPicPr>
          <p:nvPr/>
        </p:nvPicPr>
        <p:blipFill>
          <a:blip r:embed="rId3"/>
          <a:stretch>
            <a:fillRect/>
          </a:stretch>
        </p:blipFill>
        <p:spPr>
          <a:xfrm>
            <a:off x="1461407" y="483857"/>
            <a:ext cx="5829116" cy="2572851"/>
          </a:xfrm>
          <a:prstGeom prst="rect">
            <a:avLst/>
          </a:prstGeom>
        </p:spPr>
      </p:pic>
    </p:spTree>
    <p:extLst>
      <p:ext uri="{BB962C8B-B14F-4D97-AF65-F5344CB8AC3E}">
        <p14:creationId xmlns:p14="http://schemas.microsoft.com/office/powerpoint/2010/main" val="697501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4447903" cy="636361"/>
          </a:xfrm>
        </p:spPr>
        <p:txBody>
          <a:bodyPr>
            <a:normAutofit/>
          </a:bodyPr>
          <a:lstStyle/>
          <a:p>
            <a:r>
              <a:rPr lang="zh-CN" altLang="en-US" sz="3200" dirty="0"/>
              <a:t>与标量直接进行运算</a:t>
            </a:r>
          </a:p>
        </p:txBody>
      </p:sp>
      <p:pic>
        <p:nvPicPr>
          <p:cNvPr id="5" name="图片 4"/>
          <p:cNvPicPr>
            <a:picLocks noChangeAspect="1"/>
          </p:cNvPicPr>
          <p:nvPr/>
        </p:nvPicPr>
        <p:blipFill>
          <a:blip r:embed="rId2"/>
          <a:stretch>
            <a:fillRect/>
          </a:stretch>
        </p:blipFill>
        <p:spPr>
          <a:xfrm>
            <a:off x="4019278" y="1342480"/>
            <a:ext cx="1266825" cy="5133975"/>
          </a:xfrm>
          <a:prstGeom prst="rect">
            <a:avLst/>
          </a:prstGeom>
        </p:spPr>
      </p:pic>
      <p:pic>
        <p:nvPicPr>
          <p:cNvPr id="6" name="图片 5"/>
          <p:cNvPicPr>
            <a:picLocks noChangeAspect="1"/>
          </p:cNvPicPr>
          <p:nvPr/>
        </p:nvPicPr>
        <p:blipFill>
          <a:blip r:embed="rId3"/>
          <a:stretch>
            <a:fillRect/>
          </a:stretch>
        </p:blipFill>
        <p:spPr>
          <a:xfrm>
            <a:off x="923108" y="1418681"/>
            <a:ext cx="1828800" cy="5105400"/>
          </a:xfrm>
          <a:prstGeom prst="rect">
            <a:avLst/>
          </a:prstGeom>
        </p:spPr>
      </p:pic>
      <p:pic>
        <p:nvPicPr>
          <p:cNvPr id="3" name="图片 2"/>
          <p:cNvPicPr>
            <a:picLocks noChangeAspect="1"/>
          </p:cNvPicPr>
          <p:nvPr/>
        </p:nvPicPr>
        <p:blipFill>
          <a:blip r:embed="rId4"/>
          <a:stretch>
            <a:fillRect/>
          </a:stretch>
        </p:blipFill>
        <p:spPr>
          <a:xfrm>
            <a:off x="6963591" y="1294856"/>
            <a:ext cx="3124200" cy="5229225"/>
          </a:xfrm>
          <a:prstGeom prst="rect">
            <a:avLst/>
          </a:prstGeom>
        </p:spPr>
      </p:pic>
      <p:sp>
        <p:nvSpPr>
          <p:cNvPr id="4" name="燕尾形箭头 3"/>
          <p:cNvSpPr/>
          <p:nvPr/>
        </p:nvSpPr>
        <p:spPr>
          <a:xfrm>
            <a:off x="3062151" y="3774484"/>
            <a:ext cx="705395" cy="269966"/>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10971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286283" y="801868"/>
            <a:ext cx="6867525" cy="5114925"/>
          </a:xfrm>
          <a:prstGeom prst="rect">
            <a:avLst/>
          </a:prstGeom>
        </p:spPr>
      </p:pic>
    </p:spTree>
    <p:extLst>
      <p:ext uri="{BB962C8B-B14F-4D97-AF65-F5344CB8AC3E}">
        <p14:creationId xmlns:p14="http://schemas.microsoft.com/office/powerpoint/2010/main" val="2668155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26460" y="1241243"/>
            <a:ext cx="1228725" cy="5124450"/>
          </a:xfrm>
          <a:prstGeom prst="rect">
            <a:avLst/>
          </a:prstGeom>
        </p:spPr>
      </p:pic>
      <p:grpSp>
        <p:nvGrpSpPr>
          <p:cNvPr id="10" name="组合 9"/>
          <p:cNvGrpSpPr/>
          <p:nvPr/>
        </p:nvGrpSpPr>
        <p:grpSpPr>
          <a:xfrm>
            <a:off x="2226265" y="1241241"/>
            <a:ext cx="2732995" cy="4829175"/>
            <a:chOff x="3044870" y="466180"/>
            <a:chExt cx="2732995" cy="4829175"/>
          </a:xfrm>
        </p:grpSpPr>
        <p:pic>
          <p:nvPicPr>
            <p:cNvPr id="6" name="图片 5"/>
            <p:cNvPicPr>
              <a:picLocks noChangeAspect="1"/>
            </p:cNvPicPr>
            <p:nvPr/>
          </p:nvPicPr>
          <p:blipFill>
            <a:blip r:embed="rId3"/>
            <a:stretch>
              <a:fillRect/>
            </a:stretch>
          </p:blipFill>
          <p:spPr>
            <a:xfrm>
              <a:off x="3044870" y="466180"/>
              <a:ext cx="1800225" cy="4829175"/>
            </a:xfrm>
            <a:prstGeom prst="rect">
              <a:avLst/>
            </a:prstGeom>
          </p:spPr>
        </p:pic>
        <p:pic>
          <p:nvPicPr>
            <p:cNvPr id="7" name="图片 6"/>
            <p:cNvPicPr>
              <a:picLocks noChangeAspect="1"/>
            </p:cNvPicPr>
            <p:nvPr/>
          </p:nvPicPr>
          <p:blipFill>
            <a:blip r:embed="rId4"/>
            <a:stretch>
              <a:fillRect/>
            </a:stretch>
          </p:blipFill>
          <p:spPr>
            <a:xfrm>
              <a:off x="4845095" y="2742654"/>
              <a:ext cx="381000" cy="276225"/>
            </a:xfrm>
            <a:prstGeom prst="rect">
              <a:avLst/>
            </a:prstGeom>
          </p:spPr>
        </p:pic>
        <p:pic>
          <p:nvPicPr>
            <p:cNvPr id="8" name="图片 7"/>
            <p:cNvPicPr>
              <a:picLocks noChangeAspect="1"/>
            </p:cNvPicPr>
            <p:nvPr/>
          </p:nvPicPr>
          <p:blipFill>
            <a:blip r:embed="rId5"/>
            <a:stretch>
              <a:fillRect/>
            </a:stretch>
          </p:blipFill>
          <p:spPr>
            <a:xfrm>
              <a:off x="5177790" y="2675979"/>
              <a:ext cx="600075" cy="342900"/>
            </a:xfrm>
            <a:prstGeom prst="rect">
              <a:avLst/>
            </a:prstGeom>
          </p:spPr>
        </p:pic>
      </p:grpSp>
      <p:sp>
        <p:nvSpPr>
          <p:cNvPr id="11" name="文本框 10"/>
          <p:cNvSpPr txBox="1"/>
          <p:nvPr/>
        </p:nvSpPr>
        <p:spPr>
          <a:xfrm>
            <a:off x="957943" y="383177"/>
            <a:ext cx="2954655" cy="461665"/>
          </a:xfrm>
          <a:prstGeom prst="rect">
            <a:avLst/>
          </a:prstGeom>
          <a:noFill/>
        </p:spPr>
        <p:txBody>
          <a:bodyPr wrap="none" rtlCol="0">
            <a:spAutoFit/>
          </a:bodyPr>
          <a:lstStyle/>
          <a:p>
            <a:r>
              <a:rPr lang="zh-CN" altLang="en-US" sz="2400" dirty="0"/>
              <a:t>例子：求数据的偏差</a:t>
            </a:r>
          </a:p>
        </p:txBody>
      </p:sp>
      <p:pic>
        <p:nvPicPr>
          <p:cNvPr id="2" name="图片 1"/>
          <p:cNvPicPr>
            <a:picLocks noChangeAspect="1"/>
          </p:cNvPicPr>
          <p:nvPr/>
        </p:nvPicPr>
        <p:blipFill>
          <a:blip r:embed="rId6"/>
          <a:stretch>
            <a:fillRect/>
          </a:stretch>
        </p:blipFill>
        <p:spPr>
          <a:xfrm>
            <a:off x="5826715" y="1136468"/>
            <a:ext cx="3810000" cy="5229225"/>
          </a:xfrm>
          <a:prstGeom prst="rect">
            <a:avLst/>
          </a:prstGeom>
        </p:spPr>
      </p:pic>
      <p:sp>
        <p:nvSpPr>
          <p:cNvPr id="3" name="矩形 2"/>
          <p:cNvSpPr/>
          <p:nvPr/>
        </p:nvSpPr>
        <p:spPr>
          <a:xfrm>
            <a:off x="6014185" y="614009"/>
            <a:ext cx="4067524" cy="400110"/>
          </a:xfrm>
          <a:prstGeom prst="rect">
            <a:avLst/>
          </a:prstGeom>
        </p:spPr>
        <p:txBody>
          <a:bodyPr wrap="none">
            <a:spAutoFit/>
          </a:bodyPr>
          <a:lstStyle/>
          <a:p>
            <a:r>
              <a:rPr lang="zh-CN" altLang="en-US" sz="2000" b="1" dirty="0"/>
              <a:t>&gt;&gt; delt = Germany - mean(Germany)</a:t>
            </a:r>
          </a:p>
        </p:txBody>
      </p:sp>
    </p:spTree>
    <p:extLst>
      <p:ext uri="{BB962C8B-B14F-4D97-AF65-F5344CB8AC3E}">
        <p14:creationId xmlns:p14="http://schemas.microsoft.com/office/powerpoint/2010/main" val="2214904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089921" y="1226683"/>
            <a:ext cx="5591175" cy="3533775"/>
          </a:xfrm>
          <a:prstGeom prst="rect">
            <a:avLst/>
          </a:prstGeom>
        </p:spPr>
      </p:pic>
      <p:sp>
        <p:nvSpPr>
          <p:cNvPr id="5" name="文本框 4"/>
          <p:cNvSpPr txBox="1"/>
          <p:nvPr/>
        </p:nvSpPr>
        <p:spPr>
          <a:xfrm>
            <a:off x="4963885" y="2993570"/>
            <a:ext cx="2262158" cy="369332"/>
          </a:xfrm>
          <a:prstGeom prst="rect">
            <a:avLst/>
          </a:prstGeom>
          <a:noFill/>
        </p:spPr>
        <p:txBody>
          <a:bodyPr wrap="none" rtlCol="0">
            <a:spAutoFit/>
          </a:bodyPr>
          <a:lstStyle/>
          <a:p>
            <a:r>
              <a:rPr lang="zh-CN" altLang="en-US" dirty="0">
                <a:solidFill>
                  <a:srgbClr val="FF0000"/>
                </a:solidFill>
              </a:rPr>
              <a:t>矩阵与标量进行运算</a:t>
            </a:r>
          </a:p>
        </p:txBody>
      </p:sp>
    </p:spTree>
    <p:extLst>
      <p:ext uri="{BB962C8B-B14F-4D97-AF65-F5344CB8AC3E}">
        <p14:creationId xmlns:p14="http://schemas.microsoft.com/office/powerpoint/2010/main" val="3878809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2"/>
          <a:stretch>
            <a:fillRect/>
          </a:stretch>
        </p:blipFill>
        <p:spPr>
          <a:xfrm>
            <a:off x="8662389" y="4260648"/>
            <a:ext cx="485775" cy="285750"/>
          </a:xfrm>
          <a:prstGeom prst="rect">
            <a:avLst/>
          </a:prstGeom>
        </p:spPr>
      </p:pic>
      <p:pic>
        <p:nvPicPr>
          <p:cNvPr id="14" name="图片 13"/>
          <p:cNvPicPr>
            <a:picLocks noChangeAspect="1"/>
          </p:cNvPicPr>
          <p:nvPr/>
        </p:nvPicPr>
        <p:blipFill>
          <a:blip r:embed="rId3"/>
          <a:stretch>
            <a:fillRect/>
          </a:stretch>
        </p:blipFill>
        <p:spPr>
          <a:xfrm>
            <a:off x="1782644" y="4301853"/>
            <a:ext cx="1484315" cy="424090"/>
          </a:xfrm>
          <a:prstGeom prst="rect">
            <a:avLst/>
          </a:prstGeom>
        </p:spPr>
      </p:pic>
      <p:sp>
        <p:nvSpPr>
          <p:cNvPr id="2" name="标题 1"/>
          <p:cNvSpPr>
            <a:spLocks noGrp="1"/>
          </p:cNvSpPr>
          <p:nvPr>
            <p:ph type="title"/>
          </p:nvPr>
        </p:nvSpPr>
        <p:spPr>
          <a:xfrm>
            <a:off x="533400" y="173537"/>
            <a:ext cx="8880566" cy="584110"/>
          </a:xfrm>
        </p:spPr>
        <p:txBody>
          <a:bodyPr>
            <a:normAutofit fontScale="90000"/>
          </a:bodyPr>
          <a:lstStyle/>
          <a:p>
            <a:r>
              <a:rPr lang="zh-CN" altLang="en-US" dirty="0"/>
              <a:t>函数的向量化运算特性（</a:t>
            </a:r>
            <a:r>
              <a:rPr lang="en-US" altLang="zh-CN" dirty="0" err="1"/>
              <a:t>vectorized</a:t>
            </a:r>
            <a:r>
              <a:rPr lang="zh-CN" altLang="en-US" dirty="0"/>
              <a:t>）</a:t>
            </a:r>
          </a:p>
        </p:txBody>
      </p:sp>
      <p:pic>
        <p:nvPicPr>
          <p:cNvPr id="4" name="图片 3"/>
          <p:cNvPicPr>
            <a:picLocks noChangeAspect="1"/>
          </p:cNvPicPr>
          <p:nvPr/>
        </p:nvPicPr>
        <p:blipFill>
          <a:blip r:embed="rId4"/>
          <a:stretch>
            <a:fillRect/>
          </a:stretch>
        </p:blipFill>
        <p:spPr>
          <a:xfrm>
            <a:off x="374713" y="1206439"/>
            <a:ext cx="1182189" cy="2075119"/>
          </a:xfrm>
          <a:prstGeom prst="rect">
            <a:avLst/>
          </a:prstGeom>
        </p:spPr>
      </p:pic>
      <p:pic>
        <p:nvPicPr>
          <p:cNvPr id="5" name="图片 4"/>
          <p:cNvPicPr>
            <a:picLocks noChangeAspect="1"/>
          </p:cNvPicPr>
          <p:nvPr/>
        </p:nvPicPr>
        <p:blipFill>
          <a:blip r:embed="rId3"/>
          <a:stretch>
            <a:fillRect/>
          </a:stretch>
        </p:blipFill>
        <p:spPr>
          <a:xfrm>
            <a:off x="1838134" y="1831434"/>
            <a:ext cx="1484315" cy="424090"/>
          </a:xfrm>
          <a:prstGeom prst="rect">
            <a:avLst/>
          </a:prstGeom>
        </p:spPr>
      </p:pic>
      <p:pic>
        <p:nvPicPr>
          <p:cNvPr id="6" name="图片 5"/>
          <p:cNvPicPr>
            <a:picLocks noChangeAspect="1"/>
          </p:cNvPicPr>
          <p:nvPr/>
        </p:nvPicPr>
        <p:blipFill>
          <a:blip r:embed="rId5"/>
          <a:stretch>
            <a:fillRect/>
          </a:stretch>
        </p:blipFill>
        <p:spPr>
          <a:xfrm>
            <a:off x="3970003" y="1291951"/>
            <a:ext cx="1848419" cy="1904094"/>
          </a:xfrm>
          <a:prstGeom prst="rect">
            <a:avLst/>
          </a:prstGeom>
        </p:spPr>
      </p:pic>
      <p:pic>
        <p:nvPicPr>
          <p:cNvPr id="7" name="图片 6"/>
          <p:cNvPicPr>
            <a:picLocks noChangeAspect="1"/>
          </p:cNvPicPr>
          <p:nvPr/>
        </p:nvPicPr>
        <p:blipFill rotWithShape="1">
          <a:blip r:embed="rId6"/>
          <a:srcRect b="20811"/>
          <a:stretch/>
        </p:blipFill>
        <p:spPr>
          <a:xfrm>
            <a:off x="6465976" y="1219985"/>
            <a:ext cx="4240264" cy="1653844"/>
          </a:xfrm>
          <a:prstGeom prst="rect">
            <a:avLst/>
          </a:prstGeom>
        </p:spPr>
      </p:pic>
      <p:sp>
        <p:nvSpPr>
          <p:cNvPr id="10" name="燕尾形箭头 9"/>
          <p:cNvSpPr/>
          <p:nvPr/>
        </p:nvSpPr>
        <p:spPr>
          <a:xfrm>
            <a:off x="3329914" y="1933104"/>
            <a:ext cx="547534" cy="220750"/>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1" name="燕尾形箭头 10"/>
          <p:cNvSpPr/>
          <p:nvPr/>
        </p:nvSpPr>
        <p:spPr>
          <a:xfrm>
            <a:off x="5868432" y="1933104"/>
            <a:ext cx="547534" cy="220750"/>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3" name="图片 12"/>
          <p:cNvPicPr>
            <a:picLocks noChangeAspect="1"/>
          </p:cNvPicPr>
          <p:nvPr/>
        </p:nvPicPr>
        <p:blipFill>
          <a:blip r:embed="rId7"/>
          <a:stretch>
            <a:fillRect/>
          </a:stretch>
        </p:blipFill>
        <p:spPr>
          <a:xfrm>
            <a:off x="282441" y="3753664"/>
            <a:ext cx="1609725" cy="1781175"/>
          </a:xfrm>
          <a:prstGeom prst="rect">
            <a:avLst/>
          </a:prstGeom>
        </p:spPr>
      </p:pic>
      <p:sp>
        <p:nvSpPr>
          <p:cNvPr id="15" name="燕尾形箭头 14"/>
          <p:cNvSpPr/>
          <p:nvPr/>
        </p:nvSpPr>
        <p:spPr>
          <a:xfrm>
            <a:off x="3274424" y="4403523"/>
            <a:ext cx="410745" cy="220750"/>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pic>
        <p:nvPicPr>
          <p:cNvPr id="16" name="图片 15"/>
          <p:cNvPicPr>
            <a:picLocks noChangeAspect="1"/>
          </p:cNvPicPr>
          <p:nvPr/>
        </p:nvPicPr>
        <p:blipFill>
          <a:blip r:embed="rId8"/>
          <a:stretch>
            <a:fillRect/>
          </a:stretch>
        </p:blipFill>
        <p:spPr>
          <a:xfrm>
            <a:off x="3692634" y="3703931"/>
            <a:ext cx="2165851" cy="1781175"/>
          </a:xfrm>
          <a:prstGeom prst="rect">
            <a:avLst/>
          </a:prstGeom>
        </p:spPr>
      </p:pic>
      <p:pic>
        <p:nvPicPr>
          <p:cNvPr id="17" name="图片 16"/>
          <p:cNvPicPr>
            <a:picLocks noChangeAspect="1"/>
          </p:cNvPicPr>
          <p:nvPr/>
        </p:nvPicPr>
        <p:blipFill>
          <a:blip r:embed="rId9"/>
          <a:stretch>
            <a:fillRect/>
          </a:stretch>
        </p:blipFill>
        <p:spPr>
          <a:xfrm>
            <a:off x="6429459" y="3720824"/>
            <a:ext cx="2276475" cy="1800225"/>
          </a:xfrm>
          <a:prstGeom prst="rect">
            <a:avLst/>
          </a:prstGeom>
        </p:spPr>
      </p:pic>
      <p:pic>
        <p:nvPicPr>
          <p:cNvPr id="18" name="图片 17"/>
          <p:cNvPicPr>
            <a:picLocks noChangeAspect="1"/>
          </p:cNvPicPr>
          <p:nvPr/>
        </p:nvPicPr>
        <p:blipFill>
          <a:blip r:embed="rId10"/>
          <a:stretch>
            <a:fillRect/>
          </a:stretch>
        </p:blipFill>
        <p:spPr>
          <a:xfrm>
            <a:off x="9029291" y="3712385"/>
            <a:ext cx="2981325" cy="1533525"/>
          </a:xfrm>
          <a:prstGeom prst="rect">
            <a:avLst/>
          </a:prstGeom>
        </p:spPr>
      </p:pic>
      <p:sp>
        <p:nvSpPr>
          <p:cNvPr id="20" name="燕尾形箭头 19"/>
          <p:cNvSpPr/>
          <p:nvPr/>
        </p:nvSpPr>
        <p:spPr>
          <a:xfrm>
            <a:off x="5900729" y="4400186"/>
            <a:ext cx="410745" cy="220750"/>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7069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763393" y="1753722"/>
            <a:ext cx="4976416" cy="2370840"/>
          </a:xfrm>
          <a:prstGeom prst="rect">
            <a:avLst/>
          </a:prstGeom>
        </p:spPr>
      </p:pic>
      <p:pic>
        <p:nvPicPr>
          <p:cNvPr id="5" name="图片 4"/>
          <p:cNvPicPr>
            <a:picLocks noChangeAspect="1"/>
          </p:cNvPicPr>
          <p:nvPr/>
        </p:nvPicPr>
        <p:blipFill>
          <a:blip r:embed="rId3"/>
          <a:stretch>
            <a:fillRect/>
          </a:stretch>
        </p:blipFill>
        <p:spPr>
          <a:xfrm>
            <a:off x="6001066" y="1878942"/>
            <a:ext cx="2838134" cy="3926084"/>
          </a:xfrm>
          <a:prstGeom prst="rect">
            <a:avLst/>
          </a:prstGeom>
        </p:spPr>
      </p:pic>
      <p:sp>
        <p:nvSpPr>
          <p:cNvPr id="7" name="文本框 6"/>
          <p:cNvSpPr txBox="1"/>
          <p:nvPr/>
        </p:nvSpPr>
        <p:spPr>
          <a:xfrm>
            <a:off x="4354830" y="1009862"/>
            <a:ext cx="4873450" cy="523220"/>
          </a:xfrm>
          <a:prstGeom prst="rect">
            <a:avLst/>
          </a:prstGeom>
          <a:noFill/>
        </p:spPr>
        <p:txBody>
          <a:bodyPr wrap="none" rtlCol="0">
            <a:spAutoFit/>
          </a:bodyPr>
          <a:lstStyle/>
          <a:p>
            <a:r>
              <a:rPr lang="zh-CN" altLang="en-US" sz="2800" b="1" dirty="0"/>
              <a:t>分别判断下面的操作的正确性</a:t>
            </a:r>
          </a:p>
        </p:txBody>
      </p:sp>
      <p:sp>
        <p:nvSpPr>
          <p:cNvPr id="14" name="文本框 13"/>
          <p:cNvSpPr txBox="1"/>
          <p:nvPr/>
        </p:nvSpPr>
        <p:spPr>
          <a:xfrm>
            <a:off x="7959311" y="2157336"/>
            <a:ext cx="595035" cy="584775"/>
          </a:xfrm>
          <a:prstGeom prst="rect">
            <a:avLst/>
          </a:prstGeom>
          <a:noFill/>
        </p:spPr>
        <p:txBody>
          <a:bodyPr wrap="none" rtlCol="0">
            <a:spAutoFit/>
          </a:bodyPr>
          <a:lstStyle/>
          <a:p>
            <a:r>
              <a:rPr lang="zh-CN" altLang="en-US" sz="3200" dirty="0">
                <a:solidFill>
                  <a:srgbClr val="FF0000"/>
                </a:solidFill>
              </a:rPr>
              <a:t>✔</a:t>
            </a:r>
          </a:p>
        </p:txBody>
      </p:sp>
      <p:sp>
        <p:nvSpPr>
          <p:cNvPr id="15" name="文本框 14"/>
          <p:cNvSpPr txBox="1"/>
          <p:nvPr/>
        </p:nvSpPr>
        <p:spPr>
          <a:xfrm>
            <a:off x="7959311" y="4124562"/>
            <a:ext cx="595035" cy="584775"/>
          </a:xfrm>
          <a:prstGeom prst="rect">
            <a:avLst/>
          </a:prstGeom>
          <a:noFill/>
        </p:spPr>
        <p:txBody>
          <a:bodyPr wrap="none" rtlCol="0">
            <a:spAutoFit/>
          </a:bodyPr>
          <a:lstStyle/>
          <a:p>
            <a:r>
              <a:rPr lang="zh-CN" altLang="en-US" sz="3200" dirty="0">
                <a:solidFill>
                  <a:srgbClr val="FF0000"/>
                </a:solidFill>
              </a:rPr>
              <a:t>✔</a:t>
            </a:r>
          </a:p>
        </p:txBody>
      </p:sp>
      <p:sp>
        <p:nvSpPr>
          <p:cNvPr id="16" name="文本框 15"/>
          <p:cNvSpPr txBox="1"/>
          <p:nvPr/>
        </p:nvSpPr>
        <p:spPr>
          <a:xfrm>
            <a:off x="7959311" y="5055197"/>
            <a:ext cx="595035" cy="584775"/>
          </a:xfrm>
          <a:prstGeom prst="rect">
            <a:avLst/>
          </a:prstGeom>
          <a:noFill/>
        </p:spPr>
        <p:txBody>
          <a:bodyPr wrap="none" rtlCol="0">
            <a:spAutoFit/>
          </a:bodyPr>
          <a:lstStyle/>
          <a:p>
            <a:r>
              <a:rPr lang="zh-CN" altLang="en-US" sz="3200" dirty="0">
                <a:solidFill>
                  <a:srgbClr val="FF0000"/>
                </a:solidFill>
              </a:rPr>
              <a:t>✔</a:t>
            </a:r>
          </a:p>
        </p:txBody>
      </p:sp>
      <p:sp>
        <p:nvSpPr>
          <p:cNvPr id="17" name="文本框 16"/>
          <p:cNvSpPr txBox="1"/>
          <p:nvPr/>
        </p:nvSpPr>
        <p:spPr>
          <a:xfrm>
            <a:off x="7959310" y="3074470"/>
            <a:ext cx="595035" cy="584775"/>
          </a:xfrm>
          <a:prstGeom prst="rect">
            <a:avLst/>
          </a:prstGeom>
          <a:noFill/>
        </p:spPr>
        <p:txBody>
          <a:bodyPr wrap="none" rtlCol="0">
            <a:spAutoFit/>
          </a:bodyPr>
          <a:lstStyle/>
          <a:p>
            <a:r>
              <a:rPr lang="zh-CN" altLang="en-US" sz="3200" dirty="0">
                <a:solidFill>
                  <a:srgbClr val="FF0000"/>
                </a:solidFill>
              </a:rPr>
              <a:t>✘</a:t>
            </a:r>
          </a:p>
        </p:txBody>
      </p:sp>
    </p:spTree>
    <p:extLst>
      <p:ext uri="{BB962C8B-B14F-4D97-AF65-F5344CB8AC3E}">
        <p14:creationId xmlns:p14="http://schemas.microsoft.com/office/powerpoint/2010/main" val="187716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225354" y="1644518"/>
            <a:ext cx="4005107" cy="1551528"/>
          </a:xfrm>
          <a:prstGeom prst="rect">
            <a:avLst/>
          </a:prstGeom>
        </p:spPr>
      </p:pic>
      <p:pic>
        <p:nvPicPr>
          <p:cNvPr id="5" name="图片 4"/>
          <p:cNvPicPr>
            <a:picLocks noChangeAspect="1"/>
          </p:cNvPicPr>
          <p:nvPr/>
        </p:nvPicPr>
        <p:blipFill>
          <a:blip r:embed="rId3"/>
          <a:stretch>
            <a:fillRect/>
          </a:stretch>
        </p:blipFill>
        <p:spPr>
          <a:xfrm>
            <a:off x="1478846" y="3355414"/>
            <a:ext cx="2196573" cy="519899"/>
          </a:xfrm>
          <a:prstGeom prst="rect">
            <a:avLst/>
          </a:prstGeom>
        </p:spPr>
      </p:pic>
      <p:pic>
        <p:nvPicPr>
          <p:cNvPr id="6" name="图片 5"/>
          <p:cNvPicPr>
            <a:picLocks noChangeAspect="1"/>
          </p:cNvPicPr>
          <p:nvPr/>
        </p:nvPicPr>
        <p:blipFill>
          <a:blip r:embed="rId4"/>
          <a:stretch>
            <a:fillRect/>
          </a:stretch>
        </p:blipFill>
        <p:spPr>
          <a:xfrm>
            <a:off x="5336136" y="1644517"/>
            <a:ext cx="2609515" cy="2762019"/>
          </a:xfrm>
          <a:prstGeom prst="rect">
            <a:avLst/>
          </a:prstGeom>
        </p:spPr>
      </p:pic>
      <p:sp>
        <p:nvSpPr>
          <p:cNvPr id="7" name="文本框 6"/>
          <p:cNvSpPr txBox="1"/>
          <p:nvPr/>
        </p:nvSpPr>
        <p:spPr>
          <a:xfrm>
            <a:off x="1953206" y="688967"/>
            <a:ext cx="6152646" cy="523220"/>
          </a:xfrm>
          <a:prstGeom prst="rect">
            <a:avLst/>
          </a:prstGeom>
          <a:noFill/>
        </p:spPr>
        <p:txBody>
          <a:bodyPr wrap="none" rtlCol="0">
            <a:spAutoFit/>
          </a:bodyPr>
          <a:lstStyle/>
          <a:p>
            <a:r>
              <a:rPr lang="zh-CN" altLang="en-US" sz="2800" b="1" dirty="0"/>
              <a:t>运行下面的命令后，</a:t>
            </a:r>
            <a:r>
              <a:rPr lang="en-US" altLang="zh-CN" sz="2800" b="1" dirty="0"/>
              <a:t>X</a:t>
            </a:r>
            <a:r>
              <a:rPr lang="zh-CN" altLang="en-US" sz="2800" b="1" dirty="0"/>
              <a:t>变量的大小是？</a:t>
            </a:r>
          </a:p>
        </p:txBody>
      </p:sp>
      <p:sp>
        <p:nvSpPr>
          <p:cNvPr id="8" name="文本框 7"/>
          <p:cNvSpPr txBox="1"/>
          <p:nvPr/>
        </p:nvSpPr>
        <p:spPr>
          <a:xfrm>
            <a:off x="6886652" y="3727274"/>
            <a:ext cx="595035" cy="584775"/>
          </a:xfrm>
          <a:prstGeom prst="rect">
            <a:avLst/>
          </a:prstGeom>
          <a:noFill/>
        </p:spPr>
        <p:txBody>
          <a:bodyPr wrap="none" rtlCol="0">
            <a:spAutoFit/>
          </a:bodyPr>
          <a:lstStyle/>
          <a:p>
            <a:r>
              <a:rPr lang="zh-CN" altLang="en-US" sz="3200" dirty="0">
                <a:solidFill>
                  <a:srgbClr val="FF0000"/>
                </a:solidFill>
              </a:rPr>
              <a:t>✔</a:t>
            </a:r>
          </a:p>
        </p:txBody>
      </p:sp>
    </p:spTree>
    <p:extLst>
      <p:ext uri="{BB962C8B-B14F-4D97-AF65-F5344CB8AC3E}">
        <p14:creationId xmlns:p14="http://schemas.microsoft.com/office/powerpoint/2010/main" val="44666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标题 3"/>
          <p:cNvSpPr txBox="1">
            <a:spLocks noGrp="1"/>
          </p:cNvSpPr>
          <p:nvPr>
            <p:ph type="title"/>
          </p:nvPr>
        </p:nvSpPr>
        <p:spPr>
          <a:xfrm>
            <a:off x="838200" y="254395"/>
            <a:ext cx="2914650" cy="424732"/>
          </a:xfrm>
          <a:prstGeom prst="rect">
            <a:avLst/>
          </a:prstGeom>
          <a:noFill/>
        </p:spPr>
        <p:txBody>
          <a:bodyPr wrap="square" rtlCol="0">
            <a:spAutoFit/>
          </a:bodyPr>
          <a:lstStyle/>
          <a:p>
            <a:r>
              <a:rPr lang="zh-CN" altLang="en-US" sz="2400" b="1" dirty="0"/>
              <a:t>矩阵乘法：</a:t>
            </a:r>
            <a:r>
              <a:rPr lang="en-US" altLang="zh-CN" sz="2400" b="1" dirty="0"/>
              <a:t>A</a:t>
            </a:r>
            <a:r>
              <a:rPr lang="zh-CN" altLang="en-US" sz="2400" b="1" dirty="0"/>
              <a:t>*</a:t>
            </a:r>
            <a:r>
              <a:rPr lang="en-US" altLang="zh-CN" sz="2400" b="1" dirty="0"/>
              <a:t>B</a:t>
            </a:r>
            <a:endParaRPr lang="zh-CN" altLang="en-US" sz="2400" b="1" dirty="0"/>
          </a:p>
        </p:txBody>
      </p:sp>
      <p:pic>
        <p:nvPicPr>
          <p:cNvPr id="12" name="图片 11"/>
          <p:cNvPicPr>
            <a:picLocks noChangeAspect="1"/>
          </p:cNvPicPr>
          <p:nvPr/>
        </p:nvPicPr>
        <p:blipFill>
          <a:blip r:embed="rId2"/>
          <a:stretch>
            <a:fillRect/>
          </a:stretch>
        </p:blipFill>
        <p:spPr>
          <a:xfrm>
            <a:off x="950051" y="834340"/>
            <a:ext cx="8579926" cy="1612768"/>
          </a:xfrm>
          <a:prstGeom prst="rect">
            <a:avLst/>
          </a:prstGeom>
        </p:spPr>
      </p:pic>
      <p:sp>
        <p:nvSpPr>
          <p:cNvPr id="2" name="文本框 1"/>
          <p:cNvSpPr txBox="1"/>
          <p:nvPr/>
        </p:nvSpPr>
        <p:spPr>
          <a:xfrm>
            <a:off x="7407727" y="3021321"/>
            <a:ext cx="4226923" cy="1938992"/>
          </a:xfrm>
          <a:prstGeom prst="rect">
            <a:avLst/>
          </a:prstGeom>
          <a:noFill/>
        </p:spPr>
        <p:txBody>
          <a:bodyPr wrap="square" rtlCol="0">
            <a:spAutoFit/>
          </a:bodyPr>
          <a:lstStyle/>
          <a:p>
            <a:r>
              <a:rPr lang="zh-CN" altLang="en-US" sz="2400" b="1" dirty="0"/>
              <a:t>注意：</a:t>
            </a:r>
            <a:r>
              <a:rPr lang="en-US" altLang="zh-CN" sz="2400" b="1" dirty="0"/>
              <a:t> </a:t>
            </a:r>
          </a:p>
          <a:p>
            <a:r>
              <a:rPr lang="zh-CN" altLang="en-US" sz="2400" b="1" dirty="0"/>
              <a:t>（</a:t>
            </a:r>
            <a:r>
              <a:rPr lang="en-US" altLang="zh-CN" sz="2400" b="1" dirty="0"/>
              <a:t>1</a:t>
            </a:r>
            <a:r>
              <a:rPr lang="zh-CN" altLang="en-US" sz="2400" b="1" dirty="0"/>
              <a:t>）</a:t>
            </a:r>
            <a:r>
              <a:rPr lang="en-US" altLang="zh-CN" sz="2400" b="1" dirty="0"/>
              <a:t>A*B ≠ B*A</a:t>
            </a:r>
          </a:p>
          <a:p>
            <a:r>
              <a:rPr lang="zh-CN" altLang="en-US" sz="2400" b="1" dirty="0"/>
              <a:t>（</a:t>
            </a:r>
            <a:r>
              <a:rPr lang="en-US" altLang="zh-CN" sz="2400" b="1" dirty="0"/>
              <a:t>2</a:t>
            </a:r>
            <a:r>
              <a:rPr lang="zh-CN" altLang="en-US" sz="2400" b="1" dirty="0"/>
              <a:t>）</a:t>
            </a:r>
            <a:r>
              <a:rPr lang="en-US" altLang="zh-CN" sz="2400" b="1" dirty="0"/>
              <a:t> A*B</a:t>
            </a:r>
            <a:r>
              <a:rPr lang="zh-CN" altLang="en-US" sz="2400" b="1" dirty="0">
                <a:solidFill>
                  <a:srgbClr val="FF0000"/>
                </a:solidFill>
              </a:rPr>
              <a:t>要求维数要符号矩阵相乘的法则：</a:t>
            </a:r>
            <a:r>
              <a:rPr lang="en-US" altLang="zh-CN" sz="2400" dirty="0">
                <a:latin typeface="宋体" panose="02010600030101010101" pitchFamily="2" charset="-122"/>
              </a:rPr>
              <a:t>A</a:t>
            </a:r>
            <a:r>
              <a:rPr lang="zh-CN" altLang="en-US" sz="2400" dirty="0">
                <a:latin typeface="宋体" panose="02010600030101010101" pitchFamily="2" charset="-122"/>
              </a:rPr>
              <a:t>矩阵的列数必须等于</a:t>
            </a:r>
            <a:r>
              <a:rPr lang="en-US" altLang="zh-CN" sz="2400" dirty="0">
                <a:latin typeface="宋体" panose="02010600030101010101" pitchFamily="2" charset="-122"/>
              </a:rPr>
              <a:t>B</a:t>
            </a:r>
            <a:r>
              <a:rPr lang="zh-CN" altLang="en-US" sz="2400" dirty="0">
                <a:latin typeface="宋体" panose="02010600030101010101" pitchFamily="2" charset="-122"/>
              </a:rPr>
              <a:t>矩阵的行数</a:t>
            </a:r>
          </a:p>
        </p:txBody>
      </p:sp>
      <p:pic>
        <p:nvPicPr>
          <p:cNvPr id="3" name="图片 2"/>
          <p:cNvPicPr>
            <a:picLocks noChangeAspect="1"/>
          </p:cNvPicPr>
          <p:nvPr/>
        </p:nvPicPr>
        <p:blipFill>
          <a:blip r:embed="rId3"/>
          <a:stretch>
            <a:fillRect/>
          </a:stretch>
        </p:blipFill>
        <p:spPr>
          <a:xfrm>
            <a:off x="1061901" y="2775533"/>
            <a:ext cx="5610225" cy="2171700"/>
          </a:xfrm>
          <a:prstGeom prst="rect">
            <a:avLst/>
          </a:prstGeom>
        </p:spPr>
      </p:pic>
      <p:pic>
        <p:nvPicPr>
          <p:cNvPr id="6" name="图片 5"/>
          <p:cNvPicPr>
            <a:picLocks noChangeAspect="1"/>
          </p:cNvPicPr>
          <p:nvPr/>
        </p:nvPicPr>
        <p:blipFill>
          <a:blip r:embed="rId4"/>
          <a:stretch>
            <a:fillRect/>
          </a:stretch>
        </p:blipFill>
        <p:spPr>
          <a:xfrm>
            <a:off x="950051" y="5179865"/>
            <a:ext cx="6353175" cy="1038225"/>
          </a:xfrm>
          <a:prstGeom prst="rect">
            <a:avLst/>
          </a:prstGeom>
        </p:spPr>
      </p:pic>
    </p:spTree>
    <p:extLst>
      <p:ext uri="{BB962C8B-B14F-4D97-AF65-F5344CB8AC3E}">
        <p14:creationId xmlns:p14="http://schemas.microsoft.com/office/powerpoint/2010/main" val="28160267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title"/>
          </p:nvPr>
        </p:nvSpPr>
        <p:spPr>
          <a:xfrm>
            <a:off x="1187133" y="441471"/>
            <a:ext cx="1634444" cy="480131"/>
          </a:xfrm>
          <a:noFill/>
        </p:spPr>
        <p:txBody>
          <a:bodyPr vert="horz" wrap="square" lIns="91440" tIns="45720" rIns="91440" bIns="45720" rtlCol="0" anchor="ctr">
            <a:spAutoFit/>
          </a:bodyPr>
          <a:lstStyle/>
          <a:p>
            <a:r>
              <a:rPr lang="zh-CN" altLang="en-US" sz="2800" b="1" dirty="0"/>
              <a:t>矩阵除法</a:t>
            </a:r>
          </a:p>
        </p:txBody>
      </p:sp>
      <p:sp>
        <p:nvSpPr>
          <p:cNvPr id="5" name="Rectangle 2"/>
          <p:cNvSpPr txBox="1">
            <a:spLocks noChangeArrowheads="1"/>
          </p:cNvSpPr>
          <p:nvPr/>
        </p:nvSpPr>
        <p:spPr>
          <a:xfrm>
            <a:off x="1187132" y="1066302"/>
            <a:ext cx="10334307" cy="464652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Clr>
                <a:srgbClr val="0000FF"/>
              </a:buClr>
            </a:pPr>
            <a:r>
              <a:rPr lang="zh-CN" altLang="en-US" sz="2500" b="1" dirty="0">
                <a:latin typeface="华文中宋" panose="02010600040101010101" pitchFamily="2" charset="-122"/>
                <a:ea typeface="华文中宋" panose="02010600040101010101" pitchFamily="2" charset="-122"/>
              </a:rPr>
              <a:t>在</a:t>
            </a:r>
            <a:r>
              <a:rPr lang="en-US" altLang="zh-CN" sz="2500" b="1" dirty="0">
                <a:latin typeface="华文中宋" panose="02010600040101010101" pitchFamily="2" charset="-122"/>
                <a:ea typeface="华文中宋" panose="02010600040101010101" pitchFamily="2" charset="-122"/>
              </a:rPr>
              <a:t>MATLAB</a:t>
            </a:r>
            <a:r>
              <a:rPr lang="zh-CN" altLang="en-US" sz="2500" b="1" dirty="0">
                <a:latin typeface="华文中宋" panose="02010600040101010101" pitchFamily="2" charset="-122"/>
                <a:ea typeface="华文中宋" panose="02010600040101010101" pitchFamily="2" charset="-122"/>
              </a:rPr>
              <a:t>中，有两种矩阵除法运算：</a:t>
            </a:r>
            <a:endParaRPr lang="en-US" altLang="zh-CN" sz="2500" b="1" dirty="0">
              <a:latin typeface="华文中宋" panose="02010600040101010101" pitchFamily="2" charset="-122"/>
              <a:ea typeface="华文中宋" panose="02010600040101010101" pitchFamily="2" charset="-122"/>
            </a:endParaRPr>
          </a:p>
          <a:p>
            <a:pPr lvl="1">
              <a:lnSpc>
                <a:spcPct val="110000"/>
              </a:lnSpc>
              <a:buClr>
                <a:srgbClr val="0000FF"/>
              </a:buClr>
            </a:pPr>
            <a:r>
              <a:rPr lang="en-US" altLang="zh-CN" sz="2100" b="1" dirty="0">
                <a:solidFill>
                  <a:srgbClr val="FF0000"/>
                </a:solidFill>
                <a:latin typeface="华文中宋" panose="02010600040101010101" pitchFamily="2" charset="-122"/>
                <a:ea typeface="华文中宋" panose="02010600040101010101" pitchFamily="2" charset="-122"/>
              </a:rPr>
              <a:t>\</a:t>
            </a:r>
            <a:r>
              <a:rPr lang="zh-CN" altLang="en-US" sz="2100" b="1" dirty="0">
                <a:solidFill>
                  <a:srgbClr val="FF0000"/>
                </a:solidFill>
                <a:latin typeface="华文中宋" panose="02010600040101010101" pitchFamily="2" charset="-122"/>
                <a:ea typeface="华文中宋" panose="02010600040101010101" pitchFamily="2" charset="-122"/>
              </a:rPr>
              <a:t>（左除）</a:t>
            </a:r>
            <a:r>
              <a:rPr lang="en-US" altLang="zh-CN" sz="21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rPr>
              <a:t> </a:t>
            </a:r>
            <a:r>
              <a:rPr lang="zh-CN" altLang="en-US" sz="21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rPr>
              <a:t>分母</a:t>
            </a:r>
            <a:r>
              <a:rPr lang="en-US" altLang="zh-CN" sz="2100" b="1" dirty="0">
                <a:solidFill>
                  <a:srgbClr val="FF0000"/>
                </a:solidFill>
                <a:latin typeface="华文中宋" panose="02010600040101010101" pitchFamily="2" charset="-122"/>
                <a:ea typeface="华文中宋" panose="02010600040101010101" pitchFamily="2" charset="-122"/>
              </a:rPr>
              <a:t>\</a:t>
            </a:r>
            <a:r>
              <a:rPr lang="zh-CN" altLang="en-US" sz="21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rPr>
              <a:t>分子（分母在左边）</a:t>
            </a:r>
            <a:endParaRPr lang="en-US" altLang="zh-CN" sz="2100" b="1" dirty="0">
              <a:solidFill>
                <a:srgbClr val="FF0000"/>
              </a:solidFill>
              <a:latin typeface="华文中宋" panose="02010600040101010101" pitchFamily="2" charset="-122"/>
              <a:ea typeface="华文中宋" panose="02010600040101010101" pitchFamily="2" charset="-122"/>
            </a:endParaRPr>
          </a:p>
          <a:p>
            <a:pPr lvl="1">
              <a:lnSpc>
                <a:spcPct val="110000"/>
              </a:lnSpc>
              <a:buClr>
                <a:srgbClr val="0000FF"/>
              </a:buClr>
            </a:pPr>
            <a:r>
              <a:rPr lang="en-US" altLang="zh-CN" sz="2100" b="1" dirty="0">
                <a:solidFill>
                  <a:srgbClr val="FF0000"/>
                </a:solidFill>
                <a:latin typeface="华文中宋" panose="02010600040101010101" pitchFamily="2" charset="-122"/>
                <a:ea typeface="华文中宋" panose="02010600040101010101" pitchFamily="2" charset="-122"/>
              </a:rPr>
              <a:t>/</a:t>
            </a:r>
            <a:r>
              <a:rPr lang="zh-CN" altLang="en-US" sz="2100" b="1" dirty="0">
                <a:solidFill>
                  <a:srgbClr val="FF0000"/>
                </a:solidFill>
                <a:latin typeface="华文中宋" panose="02010600040101010101" pitchFamily="2" charset="-122"/>
                <a:ea typeface="华文中宋" panose="02010600040101010101" pitchFamily="2" charset="-122"/>
              </a:rPr>
              <a:t>（右除）</a:t>
            </a:r>
            <a:r>
              <a:rPr lang="en-US" altLang="zh-CN" sz="21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rPr>
              <a:t> </a:t>
            </a:r>
            <a:r>
              <a:rPr lang="zh-CN" altLang="en-US" sz="21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rPr>
              <a:t>分子</a:t>
            </a:r>
            <a:r>
              <a:rPr lang="en-US" altLang="zh-CN" sz="21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rPr>
              <a:t>/</a:t>
            </a:r>
            <a:r>
              <a:rPr lang="zh-CN" altLang="en-US" sz="2100" b="1" dirty="0">
                <a:solidFill>
                  <a:srgbClr val="FF0000"/>
                </a:solidFill>
                <a:latin typeface="华文中宋" panose="02010600040101010101" pitchFamily="2" charset="-122"/>
                <a:ea typeface="华文中宋" panose="02010600040101010101" pitchFamily="2" charset="-122"/>
                <a:sym typeface="Wingdings" panose="05000000000000000000" pitchFamily="2" charset="2"/>
              </a:rPr>
              <a:t>分母（分母在右边）</a:t>
            </a:r>
            <a:endParaRPr lang="zh-CN" altLang="en-US" sz="2100" b="1" dirty="0">
              <a:solidFill>
                <a:srgbClr val="FF0000"/>
              </a:solidFill>
              <a:latin typeface="华文中宋" panose="02010600040101010101" pitchFamily="2" charset="-122"/>
              <a:ea typeface="华文中宋" panose="02010600040101010101" pitchFamily="2" charset="-122"/>
            </a:endParaRPr>
          </a:p>
          <a:p>
            <a:pPr>
              <a:lnSpc>
                <a:spcPct val="110000"/>
              </a:lnSpc>
              <a:buClr>
                <a:srgbClr val="0000FF"/>
              </a:buClr>
            </a:pPr>
            <a:r>
              <a:rPr lang="zh-CN" altLang="en-US" sz="2500" b="1" dirty="0">
                <a:latin typeface="华文中宋" panose="02010600040101010101" pitchFamily="2" charset="-122"/>
                <a:ea typeface="华文中宋" panose="02010600040101010101" pitchFamily="2" charset="-122"/>
              </a:rPr>
              <a:t>对于含有标量的运算，两种除法运算的结果相同，如</a:t>
            </a:r>
            <a:r>
              <a:rPr lang="en-US" altLang="zh-CN" sz="2500" b="1" dirty="0">
                <a:latin typeface="华文中宋" panose="02010600040101010101" pitchFamily="2" charset="-122"/>
                <a:ea typeface="华文中宋" panose="02010600040101010101" pitchFamily="2" charset="-122"/>
              </a:rPr>
              <a:t>3/4</a:t>
            </a:r>
            <a:r>
              <a:rPr lang="zh-CN" altLang="en-US" sz="2500" b="1" dirty="0">
                <a:latin typeface="华文中宋" panose="02010600040101010101" pitchFamily="2" charset="-122"/>
                <a:ea typeface="华文中宋" panose="02010600040101010101" pitchFamily="2" charset="-122"/>
              </a:rPr>
              <a:t>和</a:t>
            </a:r>
            <a:r>
              <a:rPr lang="en-US" altLang="zh-CN" sz="2500" b="1" dirty="0">
                <a:latin typeface="华文中宋" panose="02010600040101010101" pitchFamily="2" charset="-122"/>
                <a:ea typeface="华文中宋" panose="02010600040101010101" pitchFamily="2" charset="-122"/>
              </a:rPr>
              <a:t>4\3</a:t>
            </a:r>
            <a:r>
              <a:rPr lang="zh-CN" altLang="en-US" sz="2500" b="1" dirty="0">
                <a:latin typeface="华文中宋" panose="02010600040101010101" pitchFamily="2" charset="-122"/>
                <a:ea typeface="华文中宋" panose="02010600040101010101" pitchFamily="2" charset="-122"/>
              </a:rPr>
              <a:t>有相同的值，都等于</a:t>
            </a:r>
            <a:r>
              <a:rPr lang="en-US" altLang="zh-CN" sz="2500" b="1" dirty="0">
                <a:latin typeface="华文中宋" panose="02010600040101010101" pitchFamily="2" charset="-122"/>
                <a:ea typeface="华文中宋" panose="02010600040101010101" pitchFamily="2" charset="-122"/>
              </a:rPr>
              <a:t>0.75</a:t>
            </a:r>
            <a:r>
              <a:rPr lang="zh-CN" altLang="en-US" sz="2500" b="1" dirty="0">
                <a:latin typeface="华文中宋" panose="02010600040101010101" pitchFamily="2" charset="-122"/>
                <a:ea typeface="华文中宋" panose="02010600040101010101" pitchFamily="2" charset="-122"/>
              </a:rPr>
              <a:t>。又如：若</a:t>
            </a:r>
            <a:r>
              <a:rPr lang="en-US" altLang="zh-CN" sz="2500" b="1" dirty="0">
                <a:latin typeface="华文中宋" panose="02010600040101010101" pitchFamily="2" charset="-122"/>
                <a:ea typeface="华文中宋" panose="02010600040101010101" pitchFamily="2" charset="-122"/>
              </a:rPr>
              <a:t>a=[10.5,25]</a:t>
            </a:r>
            <a:r>
              <a:rPr lang="zh-CN" altLang="en-US" sz="2500" b="1" dirty="0">
                <a:latin typeface="华文中宋" panose="02010600040101010101" pitchFamily="2" charset="-122"/>
                <a:ea typeface="华文中宋" panose="02010600040101010101" pitchFamily="2" charset="-122"/>
              </a:rPr>
              <a:t>，则</a:t>
            </a:r>
            <a:r>
              <a:rPr lang="en-US" altLang="zh-CN" sz="2500" b="1" dirty="0">
                <a:latin typeface="华文中宋" panose="02010600040101010101" pitchFamily="2" charset="-122"/>
                <a:ea typeface="华文中宋" panose="02010600040101010101" pitchFamily="2" charset="-122"/>
              </a:rPr>
              <a:t>a/5=5\a=[2.1 5]</a:t>
            </a:r>
            <a:endParaRPr lang="zh-CN" altLang="en-US" sz="2500" b="1" dirty="0">
              <a:latin typeface="华文中宋" panose="02010600040101010101" pitchFamily="2" charset="-122"/>
              <a:ea typeface="华文中宋" panose="02010600040101010101" pitchFamily="2" charset="-122"/>
            </a:endParaRPr>
          </a:p>
          <a:p>
            <a:pPr>
              <a:lnSpc>
                <a:spcPct val="110000"/>
              </a:lnSpc>
              <a:buClr>
                <a:srgbClr val="0000FF"/>
              </a:buClr>
            </a:pPr>
            <a:r>
              <a:rPr lang="zh-CN" altLang="en-US" sz="2500" b="1" dirty="0">
                <a:latin typeface="华文中宋" panose="02010600040101010101" pitchFamily="2" charset="-122"/>
                <a:ea typeface="华文中宋" panose="02010600040101010101" pitchFamily="2" charset="-122"/>
              </a:rPr>
              <a:t>如果</a:t>
            </a:r>
            <a:r>
              <a:rPr lang="en-US" altLang="zh-CN" sz="2500" b="1" dirty="0">
                <a:latin typeface="华文中宋" panose="02010600040101010101" pitchFamily="2" charset="-122"/>
                <a:ea typeface="华文中宋" panose="02010600040101010101" pitchFamily="2" charset="-122"/>
              </a:rPr>
              <a:t>A</a:t>
            </a:r>
            <a:r>
              <a:rPr lang="zh-CN" altLang="en-US" sz="2500" b="1" dirty="0">
                <a:latin typeface="华文中宋" panose="02010600040101010101" pitchFamily="2" charset="-122"/>
                <a:ea typeface="华文中宋" panose="02010600040101010101" pitchFamily="2" charset="-122"/>
              </a:rPr>
              <a:t>矩阵</a:t>
            </a:r>
            <a:r>
              <a:rPr lang="zh-CN" altLang="en-US" sz="2500" b="1" dirty="0">
                <a:solidFill>
                  <a:srgbClr val="FF0000"/>
                </a:solidFill>
                <a:latin typeface="华文中宋" panose="02010600040101010101" pitchFamily="2" charset="-122"/>
                <a:ea typeface="华文中宋" panose="02010600040101010101" pitchFamily="2" charset="-122"/>
              </a:rPr>
              <a:t>是非奇异方阵</a:t>
            </a:r>
            <a:r>
              <a:rPr lang="zh-CN" altLang="en-US" sz="2500" b="1" dirty="0">
                <a:latin typeface="华文中宋" panose="02010600040101010101" pitchFamily="2" charset="-122"/>
                <a:ea typeface="华文中宋" panose="02010600040101010101" pitchFamily="2" charset="-122"/>
              </a:rPr>
              <a:t>（</a:t>
            </a:r>
            <a:r>
              <a:rPr lang="en-US" altLang="zh-CN" sz="2400" b="1" dirty="0"/>
              <a:t>nonsingular square matrix</a:t>
            </a:r>
            <a:r>
              <a:rPr lang="zh-CN" altLang="en-US" sz="2400" b="1" dirty="0"/>
              <a:t>，可就是说矩阵可逆</a:t>
            </a:r>
            <a:r>
              <a:rPr lang="en-US" altLang="zh-CN" sz="2400" b="1" dirty="0"/>
              <a:t>Invertible</a:t>
            </a:r>
            <a:r>
              <a:rPr lang="zh-CN" altLang="en-US" sz="2500" b="1" dirty="0">
                <a:latin typeface="华文中宋" panose="02010600040101010101" pitchFamily="2" charset="-122"/>
                <a:ea typeface="华文中宋" panose="02010600040101010101" pitchFamily="2" charset="-122"/>
              </a:rPr>
              <a:t>），则</a:t>
            </a:r>
            <a:r>
              <a:rPr lang="en-US" altLang="zh-CN" sz="2500" b="1" dirty="0">
                <a:latin typeface="华文中宋" panose="02010600040101010101" pitchFamily="2" charset="-122"/>
                <a:ea typeface="华文中宋" panose="02010600040101010101" pitchFamily="2" charset="-122"/>
              </a:rPr>
              <a:t>A\b</a:t>
            </a:r>
            <a:r>
              <a:rPr lang="zh-CN" altLang="en-US" sz="2500" b="1" dirty="0">
                <a:latin typeface="华文中宋" panose="02010600040101010101" pitchFamily="2" charset="-122"/>
                <a:ea typeface="华文中宋" panose="02010600040101010101" pitchFamily="2" charset="-122"/>
              </a:rPr>
              <a:t>和</a:t>
            </a:r>
            <a:r>
              <a:rPr lang="en-US" altLang="zh-CN" sz="2500" b="1" dirty="0">
                <a:latin typeface="华文中宋" panose="02010600040101010101" pitchFamily="2" charset="-122"/>
                <a:ea typeface="华文中宋" panose="02010600040101010101" pitchFamily="2" charset="-122"/>
              </a:rPr>
              <a:t>b/A</a:t>
            </a:r>
            <a:r>
              <a:rPr lang="zh-CN" altLang="en-US" sz="2500" b="1" dirty="0">
                <a:latin typeface="华文中宋" panose="02010600040101010101" pitchFamily="2" charset="-122"/>
                <a:ea typeface="华文中宋" panose="02010600040101010101" pitchFamily="2" charset="-122"/>
              </a:rPr>
              <a:t>可以进行运算</a:t>
            </a:r>
            <a:endParaRPr lang="en-US" altLang="zh-CN" sz="2500" b="1" dirty="0">
              <a:latin typeface="华文中宋" panose="02010600040101010101" pitchFamily="2" charset="-122"/>
              <a:ea typeface="华文中宋" panose="02010600040101010101" pitchFamily="2" charset="-122"/>
            </a:endParaRPr>
          </a:p>
          <a:p>
            <a:pPr>
              <a:lnSpc>
                <a:spcPct val="110000"/>
              </a:lnSpc>
              <a:buClr>
                <a:srgbClr val="0000FF"/>
              </a:buClr>
            </a:pPr>
            <a:r>
              <a:rPr lang="en-US" altLang="zh-CN" sz="2500" b="1" dirty="0">
                <a:latin typeface="华文中宋" panose="02010600040101010101" pitchFamily="2" charset="-122"/>
                <a:ea typeface="华文中宋" panose="02010600040101010101" pitchFamily="2" charset="-122"/>
              </a:rPr>
              <a:t>A\b</a:t>
            </a:r>
            <a:r>
              <a:rPr lang="zh-CN" altLang="en-US" sz="2500" b="1" dirty="0">
                <a:latin typeface="华文中宋" panose="02010600040101010101" pitchFamily="2" charset="-122"/>
                <a:ea typeface="华文中宋" panose="02010600040101010101" pitchFamily="2" charset="-122"/>
              </a:rPr>
              <a:t>等效于</a:t>
            </a:r>
            <a:r>
              <a:rPr lang="en-US" altLang="zh-CN" sz="2500" b="1" dirty="0">
                <a:latin typeface="华文中宋" panose="02010600040101010101" pitchFamily="2" charset="-122"/>
                <a:ea typeface="华文中宋" panose="02010600040101010101" pitchFamily="2" charset="-122"/>
              </a:rPr>
              <a:t>A</a:t>
            </a:r>
            <a:r>
              <a:rPr lang="en-US" altLang="zh-CN" sz="2500" b="1" baseline="30000" dirty="0">
                <a:latin typeface="华文中宋" panose="02010600040101010101" pitchFamily="2" charset="-122"/>
                <a:ea typeface="华文中宋" panose="02010600040101010101" pitchFamily="2" charset="-122"/>
              </a:rPr>
              <a:t>-1</a:t>
            </a:r>
            <a:r>
              <a:rPr lang="en-US" altLang="zh-CN" sz="2500" b="1" dirty="0">
                <a:latin typeface="华文中宋" panose="02010600040101010101" pitchFamily="2" charset="-122"/>
                <a:ea typeface="华文中宋" panose="02010600040101010101" pitchFamily="2" charset="-122"/>
              </a:rPr>
              <a:t>*b</a:t>
            </a:r>
            <a:r>
              <a:rPr lang="en-US" altLang="zh-CN" sz="2400" b="1" dirty="0">
                <a:ln w="0"/>
                <a:solidFill>
                  <a:schemeClr val="accent1"/>
                </a:solidFill>
                <a:effectLst>
                  <a:outerShdw blurRad="38100" dist="25400" dir="5400000" algn="ctr" rotWithShape="0">
                    <a:srgbClr val="6E747A">
                      <a:alpha val="43000"/>
                    </a:srgbClr>
                  </a:outerShdw>
                </a:effectLst>
              </a:rPr>
              <a:t>(</a:t>
            </a:r>
            <a:r>
              <a:rPr lang="zh-CN" altLang="en-US" sz="2400" b="1" dirty="0">
                <a:ln w="0"/>
                <a:solidFill>
                  <a:schemeClr val="accent1"/>
                </a:solidFill>
                <a:effectLst>
                  <a:outerShdw blurRad="38100" dist="25400" dir="5400000" algn="ctr" rotWithShape="0">
                    <a:srgbClr val="6E747A">
                      <a:alpha val="43000"/>
                    </a:srgbClr>
                  </a:outerShdw>
                </a:effectLst>
              </a:rPr>
              <a:t>计算结果相同，但是计算速度不同，前者比后者快</a:t>
            </a:r>
            <a:r>
              <a:rPr lang="en-US" altLang="zh-CN" sz="2400" b="1" dirty="0">
                <a:ln w="0"/>
                <a:solidFill>
                  <a:schemeClr val="accent1"/>
                </a:solidFill>
                <a:effectLst>
                  <a:outerShdw blurRad="38100" dist="25400" dir="5400000" algn="ctr" rotWithShape="0">
                    <a:srgbClr val="6E747A">
                      <a:alpha val="43000"/>
                    </a:srgbClr>
                  </a:outerShdw>
                </a:effectLst>
              </a:rPr>
              <a:t>)</a:t>
            </a:r>
          </a:p>
          <a:p>
            <a:pPr>
              <a:lnSpc>
                <a:spcPct val="110000"/>
              </a:lnSpc>
              <a:buClr>
                <a:srgbClr val="0000FF"/>
              </a:buClr>
            </a:pPr>
            <a:r>
              <a:rPr lang="en-US" altLang="zh-CN" sz="2500" b="1" dirty="0">
                <a:latin typeface="华文中宋" panose="02010600040101010101" pitchFamily="2" charset="-122"/>
                <a:ea typeface="华文中宋" panose="02010600040101010101" pitchFamily="2" charset="-122"/>
              </a:rPr>
              <a:t>b/A</a:t>
            </a:r>
            <a:r>
              <a:rPr lang="zh-CN" altLang="en-US" sz="2500" b="1" dirty="0">
                <a:latin typeface="华文中宋" panose="02010600040101010101" pitchFamily="2" charset="-122"/>
                <a:ea typeface="华文中宋" panose="02010600040101010101" pitchFamily="2" charset="-122"/>
              </a:rPr>
              <a:t>等效于</a:t>
            </a:r>
            <a:r>
              <a:rPr lang="en-US" altLang="zh-CN" sz="2500" b="1" dirty="0">
                <a:latin typeface="华文中宋" panose="02010600040101010101" pitchFamily="2" charset="-122"/>
                <a:ea typeface="华文中宋" panose="02010600040101010101" pitchFamily="2" charset="-122"/>
              </a:rPr>
              <a:t>b*A</a:t>
            </a:r>
            <a:r>
              <a:rPr lang="en-US" altLang="zh-CN" sz="2500" b="1" baseline="30000" dirty="0">
                <a:latin typeface="华文中宋" panose="02010600040101010101" pitchFamily="2" charset="-122"/>
                <a:ea typeface="华文中宋" panose="02010600040101010101" pitchFamily="2" charset="-122"/>
              </a:rPr>
              <a:t>-1</a:t>
            </a:r>
            <a:r>
              <a:rPr lang="en-US" altLang="zh-CN" sz="2400" b="1" dirty="0">
                <a:ln w="0"/>
                <a:solidFill>
                  <a:schemeClr val="accent1"/>
                </a:solidFill>
                <a:effectLst>
                  <a:outerShdw blurRad="38100" dist="25400" dir="5400000" algn="ctr" rotWithShape="0">
                    <a:srgbClr val="6E747A">
                      <a:alpha val="43000"/>
                    </a:srgbClr>
                  </a:outerShdw>
                </a:effectLst>
              </a:rPr>
              <a:t> (</a:t>
            </a:r>
            <a:r>
              <a:rPr lang="zh-CN" altLang="en-US" sz="2400" b="1" dirty="0">
                <a:ln w="0"/>
                <a:solidFill>
                  <a:schemeClr val="accent1"/>
                </a:solidFill>
                <a:effectLst>
                  <a:outerShdw blurRad="38100" dist="25400" dir="5400000" algn="ctr" rotWithShape="0">
                    <a:srgbClr val="6E747A">
                      <a:alpha val="43000"/>
                    </a:srgbClr>
                  </a:outerShdw>
                </a:effectLst>
              </a:rPr>
              <a:t>计算结果相同，但是计算速度不同，前者比后者快</a:t>
            </a:r>
            <a:r>
              <a:rPr lang="en-US" altLang="zh-CN" sz="2400" b="1" dirty="0">
                <a:ln w="0"/>
                <a:solidFill>
                  <a:schemeClr val="accent1"/>
                </a:solidFill>
                <a:effectLst>
                  <a:outerShdw blurRad="38100" dist="25400" dir="5400000" algn="ctr" rotWithShape="0">
                    <a:srgbClr val="6E747A">
                      <a:alpha val="43000"/>
                    </a:srgbClr>
                  </a:outerShdw>
                </a:effectLst>
              </a:rPr>
              <a:t>)</a:t>
            </a:r>
            <a:endParaRPr lang="zh-CN" altLang="en-US" sz="2500" b="1" dirty="0">
              <a:latin typeface="华文中宋" panose="02010600040101010101" pitchFamily="2" charset="-122"/>
              <a:ea typeface="华文中宋" panose="02010600040101010101" pitchFamily="2" charset="-122"/>
            </a:endParaRPr>
          </a:p>
          <a:p>
            <a:pPr>
              <a:lnSpc>
                <a:spcPct val="110000"/>
              </a:lnSpc>
              <a:buClr>
                <a:srgbClr val="0000FF"/>
              </a:buClr>
            </a:pPr>
            <a:r>
              <a:rPr lang="zh-CN" altLang="en-US" sz="2500" b="1" dirty="0">
                <a:latin typeface="华文中宋" panose="02010600040101010101" pitchFamily="2" charset="-122"/>
                <a:ea typeface="华文中宋" panose="02010600040101010101" pitchFamily="2" charset="-122"/>
              </a:rPr>
              <a:t>对于矩阵运算，一般</a:t>
            </a:r>
            <a:r>
              <a:rPr lang="en-US" altLang="zh-CN" sz="2500" b="1" dirty="0">
                <a:latin typeface="华文中宋" panose="02010600040101010101" pitchFamily="2" charset="-122"/>
                <a:ea typeface="华文中宋" panose="02010600040101010101" pitchFamily="2" charset="-122"/>
              </a:rPr>
              <a:t>A\</a:t>
            </a:r>
            <a:r>
              <a:rPr lang="en-US" altLang="zh-CN" sz="2500" b="1" dirty="0" err="1">
                <a:latin typeface="华文中宋" panose="02010600040101010101" pitchFamily="2" charset="-122"/>
                <a:ea typeface="华文中宋" panose="02010600040101010101" pitchFamily="2" charset="-122"/>
              </a:rPr>
              <a:t>b≠b</a:t>
            </a:r>
            <a:r>
              <a:rPr lang="en-US" altLang="zh-CN" sz="2500" b="1" dirty="0">
                <a:latin typeface="华文中宋" panose="02010600040101010101" pitchFamily="2" charset="-122"/>
                <a:ea typeface="华文中宋" panose="02010600040101010101" pitchFamily="2" charset="-122"/>
              </a:rPr>
              <a:t>/A</a:t>
            </a:r>
            <a:r>
              <a:rPr lang="zh-CN" altLang="en-US" sz="2500" b="1" dirty="0">
                <a:latin typeface="华文中宋" panose="02010600040101010101" pitchFamily="2" charset="-122"/>
                <a:ea typeface="华文中宋" panose="02010600040101010101" pitchFamily="2" charset="-122"/>
              </a:rPr>
              <a:t>。</a:t>
            </a:r>
          </a:p>
        </p:txBody>
      </p:sp>
    </p:spTree>
    <p:extLst>
      <p:ext uri="{BB962C8B-B14F-4D97-AF65-F5344CB8AC3E}">
        <p14:creationId xmlns:p14="http://schemas.microsoft.com/office/powerpoint/2010/main" val="93400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 calcmode="lin" valueType="num">
                                      <p:cBhvr additive="base">
                                        <p:cTn id="12"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anim calcmode="lin" valueType="num">
                                      <p:cBhvr additive="base">
                                        <p:cTn id="23"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 calcmode="lin" valueType="num">
                                      <p:cBhvr additive="base">
                                        <p:cTn id="35" dur="500" fill="hold"/>
                                        <p:tgtEl>
                                          <p:spTgt spid="5">
                                            <p:txEl>
                                              <p:pRg st="5" end="5"/>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5">
                                            <p:txEl>
                                              <p:pRg st="6" end="6"/>
                                            </p:txEl>
                                          </p:spTgt>
                                        </p:tgtEl>
                                        <p:attrNameLst>
                                          <p:attrName>style.visibility</p:attrName>
                                        </p:attrNameLst>
                                      </p:cBhvr>
                                      <p:to>
                                        <p:strVal val="visible"/>
                                      </p:to>
                                    </p:set>
                                    <p:anim calcmode="lin" valueType="num">
                                      <p:cBhvr additive="base">
                                        <p:cTn id="41" dur="500" fill="hold"/>
                                        <p:tgtEl>
                                          <p:spTgt spid="5">
                                            <p:txEl>
                                              <p:pRg st="6" end="6"/>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anim calcmode="lin" valueType="num">
                                      <p:cBhvr additive="base">
                                        <p:cTn id="47" dur="500" fill="hold"/>
                                        <p:tgtEl>
                                          <p:spTgt spid="5">
                                            <p:txEl>
                                              <p:pRg st="7" end="7"/>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1114" y="162855"/>
            <a:ext cx="2880360" cy="577374"/>
          </a:xfrm>
        </p:spPr>
        <p:txBody>
          <a:bodyPr>
            <a:normAutofit fontScale="90000"/>
          </a:bodyPr>
          <a:lstStyle/>
          <a:p>
            <a:r>
              <a:rPr lang="zh-CN" altLang="en-US" sz="3600" dirty="0"/>
              <a:t>解方程组</a:t>
            </a:r>
          </a:p>
        </p:txBody>
      </p:sp>
      <p:pic>
        <p:nvPicPr>
          <p:cNvPr id="4" name="图片 3"/>
          <p:cNvPicPr>
            <a:picLocks noChangeAspect="1"/>
          </p:cNvPicPr>
          <p:nvPr/>
        </p:nvPicPr>
        <p:blipFill>
          <a:blip r:embed="rId2"/>
          <a:stretch>
            <a:fillRect/>
          </a:stretch>
        </p:blipFill>
        <p:spPr>
          <a:xfrm>
            <a:off x="751114" y="740229"/>
            <a:ext cx="3105880" cy="1833427"/>
          </a:xfrm>
          <a:prstGeom prst="rect">
            <a:avLst/>
          </a:prstGeom>
        </p:spPr>
      </p:pic>
      <p:sp>
        <p:nvSpPr>
          <p:cNvPr id="5" name="文本框 4"/>
          <p:cNvSpPr txBox="1"/>
          <p:nvPr/>
        </p:nvSpPr>
        <p:spPr>
          <a:xfrm>
            <a:off x="4606834" y="1276079"/>
            <a:ext cx="1412566" cy="584775"/>
          </a:xfrm>
          <a:prstGeom prst="rect">
            <a:avLst/>
          </a:prstGeom>
          <a:noFill/>
        </p:spPr>
        <p:txBody>
          <a:bodyPr wrap="none" rtlCol="0">
            <a:spAutoFit/>
          </a:bodyPr>
          <a:lstStyle/>
          <a:p>
            <a:r>
              <a:rPr lang="en-US" altLang="zh-CN" sz="3200" dirty="0"/>
              <a:t>A*x = b</a:t>
            </a:r>
            <a:endParaRPr lang="zh-CN" altLang="en-US" sz="3200" dirty="0"/>
          </a:p>
        </p:txBody>
      </p:sp>
      <p:sp>
        <p:nvSpPr>
          <p:cNvPr id="6" name="燕尾形箭头 5"/>
          <p:cNvSpPr/>
          <p:nvPr/>
        </p:nvSpPr>
        <p:spPr>
          <a:xfrm>
            <a:off x="3856994" y="1437838"/>
            <a:ext cx="749840" cy="261258"/>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7" name="燕尾形箭头 6"/>
          <p:cNvSpPr/>
          <p:nvPr/>
        </p:nvSpPr>
        <p:spPr>
          <a:xfrm>
            <a:off x="6019400" y="1437838"/>
            <a:ext cx="749840" cy="261258"/>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nvGrpSpPr>
          <p:cNvPr id="23" name="组合 22"/>
          <p:cNvGrpSpPr/>
          <p:nvPr/>
        </p:nvGrpSpPr>
        <p:grpSpPr>
          <a:xfrm>
            <a:off x="6851892" y="912372"/>
            <a:ext cx="3771926" cy="1968234"/>
            <a:chOff x="6938978" y="1996315"/>
            <a:chExt cx="3771926" cy="1968234"/>
          </a:xfrm>
        </p:grpSpPr>
        <p:grpSp>
          <p:nvGrpSpPr>
            <p:cNvPr id="19" name="组合 18"/>
            <p:cNvGrpSpPr/>
            <p:nvPr/>
          </p:nvGrpSpPr>
          <p:grpSpPr>
            <a:xfrm>
              <a:off x="6938978" y="1996315"/>
              <a:ext cx="3771926" cy="1489139"/>
              <a:chOff x="6370424" y="3574877"/>
              <a:chExt cx="3771926" cy="1489139"/>
            </a:xfrm>
          </p:grpSpPr>
          <p:grpSp>
            <p:nvGrpSpPr>
              <p:cNvPr id="11" name="组合 10"/>
              <p:cNvGrpSpPr/>
              <p:nvPr/>
            </p:nvGrpSpPr>
            <p:grpSpPr>
              <a:xfrm>
                <a:off x="6370424" y="3579218"/>
                <a:ext cx="1560714" cy="1484798"/>
                <a:chOff x="6370424" y="3579218"/>
                <a:chExt cx="1560714" cy="1484798"/>
              </a:xfrm>
            </p:grpSpPr>
            <p:sp>
              <p:nvSpPr>
                <p:cNvPr id="8" name="双括号 7"/>
                <p:cNvSpPr/>
                <p:nvPr/>
              </p:nvSpPr>
              <p:spPr>
                <a:xfrm>
                  <a:off x="6370424" y="3579218"/>
                  <a:ext cx="1530479" cy="1484798"/>
                </a:xfrm>
                <a:prstGeom prst="bracketPair">
                  <a:avLst>
                    <a:gd name="adj" fmla="val 11145"/>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 name="文本框 8"/>
                    <p:cNvSpPr txBox="1"/>
                    <p:nvPr/>
                  </p:nvSpPr>
                  <p:spPr>
                    <a:xfrm>
                      <a:off x="6507671" y="3792596"/>
                      <a:ext cx="1423467" cy="975332"/>
                    </a:xfrm>
                    <a:prstGeom prst="rect">
                      <a:avLst/>
                    </a:prstGeom>
                    <a:ln w="28575">
                      <a:no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altLang="zh-CN" sz="2400" i="1">
                                    <a:latin typeface="Cambria Math" panose="02040503050406030204" pitchFamily="18" charset="0"/>
                                  </a:rPr>
                                </m:ctrlPr>
                              </m:mPr>
                              <m:mr>
                                <m:e>
                                  <m:r>
                                    <m:rPr>
                                      <m:brk m:alnAt="7"/>
                                    </m:rPr>
                                    <a:rPr lang="en-US" altLang="zh-CN" sz="2400">
                                      <a:latin typeface="Cambria Math" panose="02040503050406030204" pitchFamily="18" charset="0"/>
                                    </a:rPr>
                                    <m:t>2</m:t>
                                  </m:r>
                                </m:e>
                                <m:e>
                                  <m:r>
                                    <a:rPr lang="en-US" altLang="zh-CN" sz="2400">
                                      <a:latin typeface="Cambria Math" panose="02040503050406030204" pitchFamily="18" charset="0"/>
                                    </a:rPr>
                                    <m:t>3</m:t>
                                  </m:r>
                                </m:e>
                                <m:e>
                                  <m:r>
                                    <a:rPr lang="en-US" altLang="zh-CN" sz="2400">
                                      <a:latin typeface="Cambria Math" panose="02040503050406030204" pitchFamily="18" charset="0"/>
                                    </a:rPr>
                                    <m:t>1</m:t>
                                  </m:r>
                                </m:e>
                              </m:mr>
                              <m:mr>
                                <m:e>
                                  <m:r>
                                    <a:rPr lang="en-US" altLang="zh-CN" sz="2400">
                                      <a:latin typeface="Cambria Math" panose="02040503050406030204" pitchFamily="18" charset="0"/>
                                    </a:rPr>
                                    <m:t>4</m:t>
                                  </m:r>
                                </m:e>
                                <m:e>
                                  <m:r>
                                    <a:rPr lang="en-US" altLang="zh-CN" sz="2400">
                                      <a:latin typeface="Cambria Math" panose="02040503050406030204" pitchFamily="18" charset="0"/>
                                    </a:rPr>
                                    <m:t>2</m:t>
                                  </m:r>
                                </m:e>
                                <m:e>
                                  <m:r>
                                    <a:rPr lang="en-US" altLang="zh-CN" sz="2400">
                                      <a:latin typeface="Cambria Math" panose="02040503050406030204" pitchFamily="18" charset="0"/>
                                    </a:rPr>
                                    <m:t>3</m:t>
                                  </m:r>
                                </m:e>
                              </m:mr>
                              <m:mr>
                                <m:e>
                                  <m:r>
                                    <a:rPr lang="en-US" altLang="zh-CN" sz="2400">
                                      <a:latin typeface="Cambria Math" panose="02040503050406030204" pitchFamily="18" charset="0"/>
                                    </a:rPr>
                                    <m:t>7</m:t>
                                  </m:r>
                                </m:e>
                                <m:e>
                                  <m:r>
                                    <a:rPr lang="en-US" altLang="zh-CN" sz="2400">
                                      <a:latin typeface="Cambria Math" panose="02040503050406030204" pitchFamily="18" charset="0"/>
                                    </a:rPr>
                                    <m:t>1</m:t>
                                  </m:r>
                                </m:e>
                                <m:e>
                                  <m:r>
                                    <a:rPr lang="en-US" altLang="zh-CN" sz="2400">
                                      <a:latin typeface="Cambria Math" panose="02040503050406030204" pitchFamily="18" charset="0"/>
                                    </a:rPr>
                                    <m:t>−1</m:t>
                                  </m:r>
                                </m:e>
                              </m:mr>
                            </m:m>
                          </m:oMath>
                        </m:oMathPara>
                      </a14:m>
                      <a:endParaRPr lang="zh-CN" altLang="en-US" sz="2400" dirty="0"/>
                    </a:p>
                  </p:txBody>
                </p:sp>
              </mc:Choice>
              <mc:Fallback xmlns="">
                <p:sp>
                  <p:nvSpPr>
                    <p:cNvPr id="9" name="文本框 8"/>
                    <p:cNvSpPr txBox="1">
                      <a:spLocks noRot="1" noChangeAspect="1" noMove="1" noResize="1" noEditPoints="1" noAdjustHandles="1" noChangeArrowheads="1" noChangeShapeType="1" noTextEdit="1"/>
                    </p:cNvSpPr>
                    <p:nvPr/>
                  </p:nvSpPr>
                  <p:spPr>
                    <a:xfrm>
                      <a:off x="6507671" y="3792596"/>
                      <a:ext cx="1423467" cy="975332"/>
                    </a:xfrm>
                    <a:prstGeom prst="rect">
                      <a:avLst/>
                    </a:prstGeom>
                    <a:blipFill rotWithShape="0">
                      <a:blip r:embed="rId3"/>
                      <a:stretch>
                        <a:fillRect/>
                      </a:stretch>
                    </a:blipFill>
                    <a:ln w="28575">
                      <a:noFill/>
                    </a:ln>
                  </p:spPr>
                  <p:txBody>
                    <a:bodyPr/>
                    <a:lstStyle/>
                    <a:p>
                      <a:r>
                        <a:rPr lang="zh-CN" altLang="en-US">
                          <a:noFill/>
                        </a:rPr>
                        <a:t> </a:t>
                      </a:r>
                    </a:p>
                  </p:txBody>
                </p:sp>
              </mc:Fallback>
            </mc:AlternateContent>
          </p:grpSp>
          <p:sp>
            <p:nvSpPr>
              <p:cNvPr id="10" name="矩形 9"/>
              <p:cNvSpPr/>
              <p:nvPr/>
            </p:nvSpPr>
            <p:spPr>
              <a:xfrm>
                <a:off x="7993432" y="4130768"/>
                <a:ext cx="338554" cy="461665"/>
              </a:xfrm>
              <a:prstGeom prst="rect">
                <a:avLst/>
              </a:prstGeom>
            </p:spPr>
            <p:txBody>
              <a:bodyPr wrap="none">
                <a:spAutoFit/>
              </a:bodyPr>
              <a:lstStyle/>
              <a:p>
                <a:r>
                  <a:rPr lang="en-US" altLang="zh-CN" sz="2400" b="1" dirty="0"/>
                  <a:t>*</a:t>
                </a:r>
                <a:endParaRPr lang="zh-CN" altLang="en-US" sz="2400" b="1" dirty="0"/>
              </a:p>
            </p:txBody>
          </p:sp>
          <p:grpSp>
            <p:nvGrpSpPr>
              <p:cNvPr id="12" name="组合 11"/>
              <p:cNvGrpSpPr/>
              <p:nvPr/>
            </p:nvGrpSpPr>
            <p:grpSpPr>
              <a:xfrm>
                <a:off x="9606563" y="3574877"/>
                <a:ext cx="535787" cy="1484798"/>
                <a:chOff x="6481406" y="3579218"/>
                <a:chExt cx="535787" cy="1484798"/>
              </a:xfrm>
            </p:grpSpPr>
            <p:sp>
              <p:nvSpPr>
                <p:cNvPr id="13" name="双括号 12"/>
                <p:cNvSpPr/>
                <p:nvPr/>
              </p:nvSpPr>
              <p:spPr>
                <a:xfrm>
                  <a:off x="6481406" y="3579218"/>
                  <a:ext cx="535787" cy="1484798"/>
                </a:xfrm>
                <a:prstGeom prst="bracketPair">
                  <a:avLst>
                    <a:gd name="adj" fmla="val 11145"/>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p:cNvSpPr txBox="1"/>
                    <p:nvPr/>
                  </p:nvSpPr>
                  <p:spPr>
                    <a:xfrm>
                      <a:off x="6507671" y="3792596"/>
                      <a:ext cx="408766" cy="100610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zh-CN" sz="2400" i="1" smtClean="0">
                                    <a:latin typeface="Cambria Math" panose="02040503050406030204" pitchFamily="18" charset="0"/>
                                  </a:rPr>
                                </m:ctrlPr>
                              </m:mPr>
                              <m:mr>
                                <m:e>
                                  <m:r>
                                    <m:rPr>
                                      <m:brk m:alnAt="7"/>
                                    </m:rPr>
                                    <a:rPr lang="en-US" altLang="zh-CN" sz="2400" b="0" i="1" smtClean="0">
                                      <a:latin typeface="Cambria Math" panose="02040503050406030204" pitchFamily="18" charset="0"/>
                                    </a:rPr>
                                    <m:t>4</m:t>
                                  </m:r>
                                </m:e>
                              </m:mr>
                              <m:mr>
                                <m:e>
                                  <m:r>
                                    <a:rPr lang="en-US" altLang="zh-CN" sz="2400" b="0" i="1" smtClean="0">
                                      <a:latin typeface="Cambria Math" panose="02040503050406030204" pitchFamily="18" charset="0"/>
                                    </a:rPr>
                                    <m:t>17</m:t>
                                  </m:r>
                                </m:e>
                              </m:mr>
                              <m:mr>
                                <m:e>
                                  <m:r>
                                    <a:rPr lang="en-US" altLang="zh-CN" sz="2400" b="0" i="1" smtClean="0">
                                      <a:latin typeface="Cambria Math" panose="02040503050406030204" pitchFamily="18" charset="0"/>
                                    </a:rPr>
                                    <m:t>1</m:t>
                                  </m:r>
                                </m:e>
                              </m:mr>
                            </m:m>
                          </m:oMath>
                        </m:oMathPara>
                      </a14:m>
                      <a:endParaRPr lang="zh-CN" altLang="en-US" sz="2400" dirty="0"/>
                    </a:p>
                  </p:txBody>
                </p:sp>
              </mc:Choice>
              <mc:Fallback xmlns="">
                <p:sp>
                  <p:nvSpPr>
                    <p:cNvPr id="14" name="文本框 13"/>
                    <p:cNvSpPr txBox="1">
                      <a:spLocks noRot="1" noChangeAspect="1" noMove="1" noResize="1" noEditPoints="1" noAdjustHandles="1" noChangeArrowheads="1" noChangeShapeType="1" noTextEdit="1"/>
                    </p:cNvSpPr>
                    <p:nvPr/>
                  </p:nvSpPr>
                  <p:spPr>
                    <a:xfrm>
                      <a:off x="6507671" y="3792596"/>
                      <a:ext cx="408766" cy="1006109"/>
                    </a:xfrm>
                    <a:prstGeom prst="rect">
                      <a:avLst/>
                    </a:prstGeom>
                    <a:blipFill rotWithShape="0">
                      <a:blip r:embed="rId4"/>
                      <a:stretch>
                        <a:fillRect/>
                      </a:stretch>
                    </a:blipFill>
                  </p:spPr>
                  <p:txBody>
                    <a:bodyPr/>
                    <a:lstStyle/>
                    <a:p>
                      <a:r>
                        <a:rPr lang="zh-CN" altLang="en-US">
                          <a:noFill/>
                        </a:rPr>
                        <a:t> </a:t>
                      </a:r>
                    </a:p>
                  </p:txBody>
                </p:sp>
              </mc:Fallback>
            </mc:AlternateContent>
          </p:grpSp>
          <p:grpSp>
            <p:nvGrpSpPr>
              <p:cNvPr id="15" name="组合 14"/>
              <p:cNvGrpSpPr/>
              <p:nvPr/>
            </p:nvGrpSpPr>
            <p:grpSpPr>
              <a:xfrm>
                <a:off x="8500957" y="3579218"/>
                <a:ext cx="535787" cy="1484798"/>
                <a:chOff x="6481406" y="3579218"/>
                <a:chExt cx="535787" cy="1484798"/>
              </a:xfrm>
            </p:grpSpPr>
            <p:sp>
              <p:nvSpPr>
                <p:cNvPr id="16" name="双括号 15"/>
                <p:cNvSpPr/>
                <p:nvPr/>
              </p:nvSpPr>
              <p:spPr>
                <a:xfrm>
                  <a:off x="6481406" y="3579218"/>
                  <a:ext cx="535787" cy="1484798"/>
                </a:xfrm>
                <a:prstGeom prst="bracketPair">
                  <a:avLst>
                    <a:gd name="adj" fmla="val 11145"/>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p:cNvSpPr txBox="1"/>
                    <p:nvPr/>
                  </p:nvSpPr>
                  <p:spPr>
                    <a:xfrm>
                      <a:off x="6626445" y="3793682"/>
                      <a:ext cx="245708" cy="9128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zh-CN" sz="2400" i="1" smtClean="0">
                                    <a:latin typeface="Cambria Math" panose="02040503050406030204" pitchFamily="18" charset="0"/>
                                  </a:rPr>
                                </m:ctrlPr>
                              </m:mPr>
                              <m:mr>
                                <m:e>
                                  <m:r>
                                    <m:rPr>
                                      <m:brk m:alnAt="7"/>
                                    </m:rPr>
                                    <a:rPr lang="en-US" altLang="zh-CN" sz="2400" b="0" i="1" smtClean="0">
                                      <a:latin typeface="Cambria Math" panose="02040503050406030204" pitchFamily="18" charset="0"/>
                                    </a:rPr>
                                    <m:t>𝑥</m:t>
                                  </m:r>
                                </m:e>
                              </m:mr>
                              <m:mr>
                                <m:e>
                                  <m:r>
                                    <a:rPr lang="en-US" altLang="zh-CN" sz="2400" b="0" i="1" smtClean="0">
                                      <a:latin typeface="Cambria Math" panose="02040503050406030204" pitchFamily="18" charset="0"/>
                                    </a:rPr>
                                    <m:t>𝑦</m:t>
                                  </m:r>
                                </m:e>
                              </m:mr>
                              <m:mr>
                                <m:e>
                                  <m:r>
                                    <a:rPr lang="en-US" altLang="zh-CN" sz="2400" b="0" i="1" smtClean="0">
                                      <a:latin typeface="Cambria Math" panose="02040503050406030204" pitchFamily="18" charset="0"/>
                                    </a:rPr>
                                    <m:t>𝑧</m:t>
                                  </m:r>
                                </m:e>
                              </m:mr>
                            </m:m>
                          </m:oMath>
                        </m:oMathPara>
                      </a14:m>
                      <a:endParaRPr lang="zh-CN" altLang="en-US" sz="2400" dirty="0"/>
                    </a:p>
                  </p:txBody>
                </p:sp>
              </mc:Choice>
              <mc:Fallback xmlns="">
                <p:sp>
                  <p:nvSpPr>
                    <p:cNvPr id="17" name="文本框 16"/>
                    <p:cNvSpPr txBox="1">
                      <a:spLocks noRot="1" noChangeAspect="1" noMove="1" noResize="1" noEditPoints="1" noAdjustHandles="1" noChangeArrowheads="1" noChangeShapeType="1" noTextEdit="1"/>
                    </p:cNvSpPr>
                    <p:nvPr/>
                  </p:nvSpPr>
                  <p:spPr>
                    <a:xfrm>
                      <a:off x="6626445" y="3793682"/>
                      <a:ext cx="245708" cy="912879"/>
                    </a:xfrm>
                    <a:prstGeom prst="rect">
                      <a:avLst/>
                    </a:prstGeom>
                    <a:blipFill rotWithShape="0">
                      <a:blip r:embed="rId5"/>
                      <a:stretch>
                        <a:fillRect/>
                      </a:stretch>
                    </a:blipFill>
                  </p:spPr>
                  <p:txBody>
                    <a:bodyPr/>
                    <a:lstStyle/>
                    <a:p>
                      <a:r>
                        <a:rPr lang="zh-CN" altLang="en-US">
                          <a:noFill/>
                        </a:rPr>
                        <a:t> </a:t>
                      </a:r>
                    </a:p>
                  </p:txBody>
                </p:sp>
              </mc:Fallback>
            </mc:AlternateContent>
          </p:grpSp>
          <p:sp>
            <p:nvSpPr>
              <p:cNvPr id="18" name="矩形 17"/>
              <p:cNvSpPr/>
              <p:nvPr/>
            </p:nvSpPr>
            <p:spPr>
              <a:xfrm>
                <a:off x="9130762" y="4049429"/>
                <a:ext cx="338554" cy="461665"/>
              </a:xfrm>
              <a:prstGeom prst="rect">
                <a:avLst/>
              </a:prstGeom>
            </p:spPr>
            <p:txBody>
              <a:bodyPr wrap="none">
                <a:spAutoFit/>
              </a:bodyPr>
              <a:lstStyle/>
              <a:p>
                <a:r>
                  <a:rPr lang="en-US" altLang="zh-CN" sz="2400" b="1" dirty="0"/>
                  <a:t>=</a:t>
                </a:r>
                <a:endParaRPr lang="zh-CN" altLang="en-US" sz="2400" b="1" dirty="0"/>
              </a:p>
            </p:txBody>
          </p:sp>
        </p:grpSp>
        <p:sp>
          <p:nvSpPr>
            <p:cNvPr id="20" name="矩形 19"/>
            <p:cNvSpPr/>
            <p:nvPr/>
          </p:nvSpPr>
          <p:spPr>
            <a:xfrm>
              <a:off x="7629100" y="3502884"/>
              <a:ext cx="362600" cy="461665"/>
            </a:xfrm>
            <a:prstGeom prst="rect">
              <a:avLst/>
            </a:prstGeom>
          </p:spPr>
          <p:txBody>
            <a:bodyPr wrap="none">
              <a:spAutoFit/>
            </a:bodyPr>
            <a:lstStyle/>
            <a:p>
              <a:r>
                <a:rPr lang="en-US" altLang="zh-CN" sz="2400" dirty="0"/>
                <a:t>A</a:t>
              </a:r>
              <a:endParaRPr lang="zh-CN" altLang="en-US" sz="2400" dirty="0"/>
            </a:p>
          </p:txBody>
        </p:sp>
        <p:sp>
          <p:nvSpPr>
            <p:cNvPr id="21" name="矩形 20"/>
            <p:cNvSpPr/>
            <p:nvPr/>
          </p:nvSpPr>
          <p:spPr>
            <a:xfrm>
              <a:off x="9211781" y="3502884"/>
              <a:ext cx="317716" cy="461665"/>
            </a:xfrm>
            <a:prstGeom prst="rect">
              <a:avLst/>
            </a:prstGeom>
          </p:spPr>
          <p:txBody>
            <a:bodyPr wrap="none">
              <a:spAutoFit/>
            </a:bodyPr>
            <a:lstStyle/>
            <a:p>
              <a:r>
                <a:rPr lang="en-US" altLang="zh-CN" sz="2400" dirty="0"/>
                <a:t>x</a:t>
              </a:r>
              <a:endParaRPr lang="zh-CN" altLang="en-US" sz="2400" dirty="0"/>
            </a:p>
          </p:txBody>
        </p:sp>
        <p:sp>
          <p:nvSpPr>
            <p:cNvPr id="22" name="矩形 21"/>
            <p:cNvSpPr/>
            <p:nvPr/>
          </p:nvSpPr>
          <p:spPr>
            <a:xfrm>
              <a:off x="10276232" y="3502884"/>
              <a:ext cx="346570" cy="461665"/>
            </a:xfrm>
            <a:prstGeom prst="rect">
              <a:avLst/>
            </a:prstGeom>
          </p:spPr>
          <p:txBody>
            <a:bodyPr wrap="none">
              <a:spAutoFit/>
            </a:bodyPr>
            <a:lstStyle/>
            <a:p>
              <a:r>
                <a:rPr lang="en-US" altLang="zh-CN" sz="2400" dirty="0"/>
                <a:t>b</a:t>
              </a:r>
              <a:endParaRPr lang="zh-CN" altLang="en-US" sz="2400" dirty="0"/>
            </a:p>
          </p:txBody>
        </p:sp>
      </p:grpSp>
      <p:sp>
        <p:nvSpPr>
          <p:cNvPr id="24" name="文本框 23"/>
          <p:cNvSpPr txBox="1"/>
          <p:nvPr/>
        </p:nvSpPr>
        <p:spPr>
          <a:xfrm>
            <a:off x="6989139" y="5231948"/>
            <a:ext cx="2242922" cy="1077218"/>
          </a:xfrm>
          <a:prstGeom prst="rect">
            <a:avLst/>
          </a:prstGeom>
          <a:noFill/>
        </p:spPr>
        <p:txBody>
          <a:bodyPr wrap="none" rtlCol="0">
            <a:spAutoFit/>
          </a:bodyPr>
          <a:lstStyle/>
          <a:p>
            <a:r>
              <a:rPr lang="en-US" altLang="zh-CN" sz="3200" dirty="0"/>
              <a:t>(1) x = A</a:t>
            </a:r>
            <a:r>
              <a:rPr lang="en-US" altLang="zh-CN" sz="3200" b="1" baseline="30000" dirty="0">
                <a:latin typeface="华文中宋" panose="02010600040101010101" pitchFamily="2" charset="-122"/>
                <a:ea typeface="华文中宋" panose="02010600040101010101" pitchFamily="2" charset="-122"/>
              </a:rPr>
              <a:t>-1</a:t>
            </a:r>
            <a:r>
              <a:rPr lang="en-US" altLang="zh-CN" sz="3200" dirty="0"/>
              <a:t>*b</a:t>
            </a:r>
          </a:p>
          <a:p>
            <a:r>
              <a:rPr lang="en-US" altLang="zh-CN" sz="3200" dirty="0"/>
              <a:t>(2) x = A \ b</a:t>
            </a:r>
            <a:endParaRPr lang="zh-CN" altLang="en-US" sz="3200" dirty="0"/>
          </a:p>
        </p:txBody>
      </p:sp>
      <p:sp>
        <p:nvSpPr>
          <p:cNvPr id="25" name="矩形 24"/>
          <p:cNvSpPr/>
          <p:nvPr/>
        </p:nvSpPr>
        <p:spPr>
          <a:xfrm>
            <a:off x="528115" y="2775927"/>
            <a:ext cx="5698514" cy="1938992"/>
          </a:xfrm>
          <a:prstGeom prst="rect">
            <a:avLst/>
          </a:prstGeom>
        </p:spPr>
        <p:txBody>
          <a:bodyPr wrap="square">
            <a:spAutoFit/>
          </a:bodyPr>
          <a:lstStyle/>
          <a:p>
            <a:r>
              <a:rPr lang="zh-CN" altLang="en-US" sz="2400" dirty="0"/>
              <a:t>&gt;&gt; tic; </a:t>
            </a:r>
            <a:r>
              <a:rPr lang="zh-CN" altLang="en-US" sz="2400" dirty="0">
                <a:solidFill>
                  <a:srgbClr val="FF0000"/>
                </a:solidFill>
              </a:rPr>
              <a:t>x1=inv(A)*b; </a:t>
            </a:r>
            <a:r>
              <a:rPr lang="zh-CN" altLang="en-US" sz="2400" dirty="0"/>
              <a:t>toc</a:t>
            </a:r>
          </a:p>
          <a:p>
            <a:r>
              <a:rPr lang="zh-CN" altLang="en-US" sz="2400" dirty="0"/>
              <a:t>Elapsed time is 0.001141 seconds.</a:t>
            </a:r>
            <a:endParaRPr lang="en-US" altLang="zh-CN" sz="2400" dirty="0"/>
          </a:p>
          <a:p>
            <a:endParaRPr lang="zh-CN" altLang="en-US" sz="2400" dirty="0"/>
          </a:p>
          <a:p>
            <a:r>
              <a:rPr lang="zh-CN" altLang="en-US" sz="2400" dirty="0"/>
              <a:t>&gt;&gt; tic; </a:t>
            </a:r>
            <a:r>
              <a:rPr lang="zh-CN" altLang="en-US" sz="2400" dirty="0">
                <a:solidFill>
                  <a:srgbClr val="FF0000"/>
                </a:solidFill>
              </a:rPr>
              <a:t>x2=A\b; </a:t>
            </a:r>
            <a:r>
              <a:rPr lang="zh-CN" altLang="en-US" sz="2400" dirty="0"/>
              <a:t>toc</a:t>
            </a:r>
          </a:p>
          <a:p>
            <a:r>
              <a:rPr lang="zh-CN" altLang="en-US" sz="2400" dirty="0"/>
              <a:t>Elapsed time is 0.000854 seconds.</a:t>
            </a:r>
          </a:p>
        </p:txBody>
      </p:sp>
      <p:sp>
        <p:nvSpPr>
          <p:cNvPr id="26" name="矩形 25"/>
          <p:cNvSpPr/>
          <p:nvPr/>
        </p:nvSpPr>
        <p:spPr>
          <a:xfrm>
            <a:off x="5117835" y="2649773"/>
            <a:ext cx="1482162" cy="2862322"/>
          </a:xfrm>
          <a:prstGeom prst="rect">
            <a:avLst/>
          </a:prstGeom>
        </p:spPr>
        <p:txBody>
          <a:bodyPr wrap="square">
            <a:spAutoFit/>
          </a:bodyPr>
          <a:lstStyle/>
          <a:p>
            <a:r>
              <a:rPr lang="zh-CN" altLang="en-US" sz="2000" dirty="0"/>
              <a:t>&gt;&gt; x1,x2</a:t>
            </a:r>
          </a:p>
          <a:p>
            <a:r>
              <a:rPr lang="zh-CN" altLang="en-US" sz="2000" dirty="0"/>
              <a:t>x1 =</a:t>
            </a:r>
          </a:p>
          <a:p>
            <a:r>
              <a:rPr lang="zh-CN" altLang="en-US" sz="2000" dirty="0"/>
              <a:t>    1.0000</a:t>
            </a:r>
          </a:p>
          <a:p>
            <a:r>
              <a:rPr lang="zh-CN" altLang="en-US" sz="2000" dirty="0"/>
              <a:t>   -1.0000</a:t>
            </a:r>
          </a:p>
          <a:p>
            <a:r>
              <a:rPr lang="zh-CN" altLang="en-US" sz="2000" dirty="0"/>
              <a:t>    5.0000</a:t>
            </a:r>
          </a:p>
          <a:p>
            <a:r>
              <a:rPr lang="zh-CN" altLang="en-US" sz="2000" dirty="0"/>
              <a:t>x2 =</a:t>
            </a:r>
          </a:p>
          <a:p>
            <a:r>
              <a:rPr lang="zh-CN" altLang="en-US" sz="2000" dirty="0"/>
              <a:t>    1.0000</a:t>
            </a:r>
          </a:p>
          <a:p>
            <a:r>
              <a:rPr lang="zh-CN" altLang="en-US" sz="2000" dirty="0"/>
              <a:t>   -1.0000</a:t>
            </a:r>
          </a:p>
          <a:p>
            <a:r>
              <a:rPr lang="zh-CN" altLang="en-US" sz="2000" dirty="0"/>
              <a:t>    5.0000</a:t>
            </a:r>
          </a:p>
        </p:txBody>
      </p:sp>
      <p:sp>
        <p:nvSpPr>
          <p:cNvPr id="27" name="矩形 26"/>
          <p:cNvSpPr/>
          <p:nvPr/>
        </p:nvSpPr>
        <p:spPr>
          <a:xfrm>
            <a:off x="6538961" y="3126827"/>
            <a:ext cx="5386199" cy="954107"/>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pt-BR" altLang="zh-CN" sz="2800" dirty="0"/>
              <a:t>&gt;&gt; A = [2 3 1; 4 2 3; 7 1 -1];</a:t>
            </a:r>
          </a:p>
          <a:p>
            <a:r>
              <a:rPr lang="pt-BR" altLang="zh-CN" sz="2800" dirty="0"/>
              <a:t>&gt;&gt; b=[4 17 1]</a:t>
            </a:r>
            <a:r>
              <a:rPr lang="pt-BR" altLang="zh-CN" sz="2800" b="1" dirty="0">
                <a:solidFill>
                  <a:srgbClr val="FF0000"/>
                </a:solidFill>
              </a:rPr>
              <a:t>'</a:t>
            </a:r>
            <a:r>
              <a:rPr lang="pt-BR" altLang="zh-CN" sz="2800" dirty="0"/>
              <a:t>;</a:t>
            </a:r>
            <a:r>
              <a:rPr lang="en-US" altLang="zh-CN" sz="2800" dirty="0"/>
              <a:t>%</a:t>
            </a:r>
            <a:r>
              <a:rPr lang="zh-CN" altLang="en-US" sz="2800" dirty="0"/>
              <a:t>注意：</a:t>
            </a:r>
            <a:r>
              <a:rPr lang="en-US" altLang="zh-CN" sz="2800" dirty="0"/>
              <a:t>b</a:t>
            </a:r>
            <a:r>
              <a:rPr lang="zh-CN" altLang="en-US" sz="2800" dirty="0"/>
              <a:t>是列向量</a:t>
            </a:r>
            <a:endParaRPr lang="pt-BR" altLang="zh-CN" sz="2800" dirty="0"/>
          </a:p>
        </p:txBody>
      </p:sp>
    </p:spTree>
    <p:extLst>
      <p:ext uri="{BB962C8B-B14F-4D97-AF65-F5344CB8AC3E}">
        <p14:creationId xmlns:p14="http://schemas.microsoft.com/office/powerpoint/2010/main" val="26100662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937985"/>
          </a:xfrm>
        </p:spPr>
        <p:txBody>
          <a:bodyPr/>
          <a:lstStyle/>
          <a:p>
            <a:r>
              <a:rPr lang="zh-CN" altLang="en-US" dirty="0"/>
              <a:t>解方程组的</a:t>
            </a:r>
            <a:r>
              <a:rPr lang="en-US" altLang="zh-CN" dirty="0"/>
              <a:t>2</a:t>
            </a:r>
            <a:r>
              <a:rPr lang="zh-CN" altLang="en-US" dirty="0"/>
              <a:t>种方式：</a:t>
            </a:r>
          </a:p>
        </p:txBody>
      </p:sp>
      <p:sp>
        <p:nvSpPr>
          <p:cNvPr id="3" name="内容占位符 2"/>
          <p:cNvSpPr>
            <a:spLocks noGrp="1"/>
          </p:cNvSpPr>
          <p:nvPr>
            <p:ph idx="1"/>
          </p:nvPr>
        </p:nvSpPr>
        <p:spPr>
          <a:xfrm>
            <a:off x="380399" y="1393289"/>
            <a:ext cx="11107372" cy="817761"/>
          </a:xfrm>
        </p:spPr>
        <p:txBody>
          <a:bodyPr>
            <a:noAutofit/>
          </a:bodyPr>
          <a:lstStyle/>
          <a:p>
            <a:pPr marL="514350" indent="-514350">
              <a:buClr>
                <a:schemeClr val="tx1"/>
              </a:buClr>
              <a:buFont typeface="+mj-lt"/>
              <a:buAutoNum type="arabicPeriod"/>
            </a:pPr>
            <a:r>
              <a:rPr lang="en-US" altLang="zh-CN" sz="2400" i="1" dirty="0">
                <a:solidFill>
                  <a:srgbClr val="FF0000"/>
                </a:solidFill>
              </a:rPr>
              <a:t>A</a:t>
            </a:r>
            <a:r>
              <a:rPr lang="zh-CN" altLang="en-US" sz="2400" i="1" dirty="0"/>
              <a:t>*</a:t>
            </a:r>
            <a:r>
              <a:rPr lang="en-US" altLang="zh-CN" sz="2400" i="1" dirty="0"/>
              <a:t>x = b</a:t>
            </a:r>
            <a:r>
              <a:rPr lang="zh-CN" altLang="en-US" sz="2400" i="1" dirty="0"/>
              <a:t>（</a:t>
            </a:r>
            <a:r>
              <a:rPr lang="en-US" altLang="zh-CN" sz="2400" i="1" dirty="0"/>
              <a:t>b</a:t>
            </a:r>
            <a:r>
              <a:rPr lang="zh-CN" altLang="en-US" sz="2400" i="1" dirty="0"/>
              <a:t>是</a:t>
            </a:r>
            <a:r>
              <a:rPr lang="zh-CN" altLang="en-US" sz="2400" i="1" dirty="0">
                <a:solidFill>
                  <a:srgbClr val="FF0000"/>
                </a:solidFill>
              </a:rPr>
              <a:t>列</a:t>
            </a:r>
            <a:r>
              <a:rPr lang="zh-CN" altLang="en-US" sz="2400" i="1" dirty="0"/>
              <a:t>向量）</a:t>
            </a:r>
            <a:r>
              <a:rPr lang="en-US" altLang="zh-CN" sz="2400" i="1" dirty="0"/>
              <a:t>                                    </a:t>
            </a:r>
            <a:r>
              <a:rPr lang="en-US" altLang="zh-CN" sz="2400" dirty="0">
                <a:latin typeface="+mn-ea"/>
                <a:sym typeface="Wingdings" panose="05000000000000000000" pitchFamily="2" charset="2"/>
              </a:rPr>
              <a:t> </a:t>
            </a:r>
            <a:r>
              <a:rPr lang="en-US" altLang="zh-CN" sz="2400" dirty="0"/>
              <a:t>x = </a:t>
            </a:r>
            <a:r>
              <a:rPr lang="en-US" altLang="zh-CN" sz="2400" dirty="0">
                <a:solidFill>
                  <a:srgbClr val="FF0000"/>
                </a:solidFill>
              </a:rPr>
              <a:t>A </a:t>
            </a:r>
            <a:r>
              <a:rPr lang="en-US" altLang="zh-CN" sz="2400" dirty="0"/>
              <a:t>\ b</a:t>
            </a:r>
            <a:r>
              <a:rPr lang="zh-CN" altLang="en-US" sz="2400" dirty="0"/>
              <a:t>（左除），结果</a:t>
            </a:r>
            <a:r>
              <a:rPr lang="en-US" altLang="zh-CN" sz="2400" dirty="0"/>
              <a:t>x</a:t>
            </a:r>
            <a:r>
              <a:rPr lang="zh-CN" altLang="en-US" sz="2400" dirty="0"/>
              <a:t>是列向量</a:t>
            </a:r>
            <a:r>
              <a:rPr lang="en-US" altLang="zh-CN" sz="2400" dirty="0">
                <a:latin typeface="+mn-ea"/>
                <a:sym typeface="Wingdings" panose="05000000000000000000" pitchFamily="2" charset="2"/>
              </a:rPr>
              <a:t> </a:t>
            </a:r>
            <a:endParaRPr lang="en-US" altLang="zh-CN" sz="2400" dirty="0">
              <a:latin typeface="+mn-ea"/>
            </a:endParaRPr>
          </a:p>
          <a:p>
            <a:pPr marL="514350" indent="-514350">
              <a:buFont typeface="+mj-lt"/>
              <a:buAutoNum type="arabicPeriod"/>
            </a:pPr>
            <a:r>
              <a:rPr lang="en-US" altLang="zh-CN" sz="2400" i="1" dirty="0"/>
              <a:t>x</a:t>
            </a:r>
            <a:r>
              <a:rPr lang="zh-CN" altLang="en-US" sz="2400" i="1" dirty="0"/>
              <a:t>*</a:t>
            </a:r>
            <a:r>
              <a:rPr lang="en-US" altLang="zh-CN" sz="2400" i="1" dirty="0">
                <a:solidFill>
                  <a:srgbClr val="FF0000"/>
                </a:solidFill>
              </a:rPr>
              <a:t>A</a:t>
            </a:r>
            <a:r>
              <a:rPr lang="en-US" altLang="zh-CN" sz="2400" i="1" dirty="0"/>
              <a:t> = b</a:t>
            </a:r>
            <a:r>
              <a:rPr lang="zh-CN" altLang="en-US" sz="2400" i="1" dirty="0"/>
              <a:t>（</a:t>
            </a:r>
            <a:r>
              <a:rPr lang="en-US" altLang="zh-CN" sz="2400" i="1" dirty="0">
                <a:solidFill>
                  <a:srgbClr val="FF0000"/>
                </a:solidFill>
              </a:rPr>
              <a:t>A</a:t>
            </a:r>
            <a:r>
              <a:rPr lang="zh-CN" altLang="en-US" sz="2400" i="1" dirty="0">
                <a:solidFill>
                  <a:srgbClr val="FF0000"/>
                </a:solidFill>
              </a:rPr>
              <a:t>需要转置构建</a:t>
            </a:r>
            <a:r>
              <a:rPr lang="zh-CN" altLang="en-US" sz="2400" i="1" dirty="0"/>
              <a:t>，</a:t>
            </a:r>
            <a:r>
              <a:rPr lang="en-US" altLang="zh-CN" sz="2400" i="1" dirty="0"/>
              <a:t>b</a:t>
            </a:r>
            <a:r>
              <a:rPr lang="zh-CN" altLang="en-US" sz="2400" i="1" dirty="0"/>
              <a:t>是</a:t>
            </a:r>
            <a:r>
              <a:rPr lang="zh-CN" altLang="en-US" sz="2400" i="1" dirty="0">
                <a:solidFill>
                  <a:srgbClr val="FF0000"/>
                </a:solidFill>
              </a:rPr>
              <a:t>行</a:t>
            </a:r>
            <a:r>
              <a:rPr lang="zh-CN" altLang="en-US" sz="2400" i="1" dirty="0"/>
              <a:t>向量）</a:t>
            </a:r>
            <a:r>
              <a:rPr lang="en-US" altLang="zh-CN" sz="2400" dirty="0">
                <a:latin typeface="+mn-ea"/>
                <a:sym typeface="Wingdings" panose="05000000000000000000" pitchFamily="2" charset="2"/>
              </a:rPr>
              <a:t>  </a:t>
            </a:r>
            <a:r>
              <a:rPr lang="en-US" altLang="zh-CN" sz="2400" dirty="0"/>
              <a:t>x = b / </a:t>
            </a:r>
            <a:r>
              <a:rPr lang="en-US" altLang="zh-CN" sz="2400" dirty="0">
                <a:solidFill>
                  <a:srgbClr val="FF0000"/>
                </a:solidFill>
              </a:rPr>
              <a:t>A</a:t>
            </a:r>
            <a:r>
              <a:rPr lang="zh-CN" altLang="en-US" sz="2400" dirty="0"/>
              <a:t> （右除），结果</a:t>
            </a:r>
            <a:r>
              <a:rPr lang="en-US" altLang="zh-CN" sz="2400" dirty="0"/>
              <a:t>x</a:t>
            </a:r>
            <a:r>
              <a:rPr lang="zh-CN" altLang="en-US" sz="2400" dirty="0"/>
              <a:t>是行向量</a:t>
            </a:r>
            <a:endParaRPr lang="zh-CN" altLang="en-US" sz="2400" dirty="0">
              <a:solidFill>
                <a:srgbClr val="FF0000"/>
              </a:solidFill>
            </a:endParaRPr>
          </a:p>
        </p:txBody>
      </p:sp>
      <p:sp>
        <p:nvSpPr>
          <p:cNvPr id="4" name="文本框 3"/>
          <p:cNvSpPr txBox="1"/>
          <p:nvPr/>
        </p:nvSpPr>
        <p:spPr>
          <a:xfrm>
            <a:off x="7335672" y="2560425"/>
            <a:ext cx="4152099" cy="1569660"/>
          </a:xfrm>
          <a:prstGeom prst="rect">
            <a:avLst/>
          </a:prstGeom>
          <a:noFill/>
        </p:spPr>
        <p:txBody>
          <a:bodyPr wrap="none" rtlCol="0">
            <a:spAutoFit/>
          </a:bodyPr>
          <a:lstStyle/>
          <a:p>
            <a:r>
              <a:rPr lang="zh-CN" altLang="en-US" sz="2400" dirty="0"/>
              <a:t>可以如下记忆：</a:t>
            </a:r>
            <a:br>
              <a:rPr lang="en-US" altLang="zh-CN" sz="2400" dirty="0"/>
            </a:br>
            <a:r>
              <a:rPr lang="en-US" altLang="zh-CN" sz="2400" dirty="0"/>
              <a:t>1</a:t>
            </a:r>
            <a:r>
              <a:rPr lang="zh-CN" altLang="en-US" sz="2400" dirty="0"/>
              <a:t>、系数矩阵</a:t>
            </a:r>
            <a:r>
              <a:rPr lang="en-US" altLang="zh-CN" sz="2400" dirty="0"/>
              <a:t>A</a:t>
            </a:r>
            <a:r>
              <a:rPr lang="zh-CN" altLang="en-US" sz="2400" dirty="0"/>
              <a:t>做分母；</a:t>
            </a:r>
            <a:endParaRPr lang="en-US" altLang="zh-CN" sz="2400" dirty="0"/>
          </a:p>
          <a:p>
            <a:r>
              <a:rPr lang="en-US" altLang="zh-CN" sz="2400" dirty="0"/>
              <a:t>2</a:t>
            </a:r>
            <a:r>
              <a:rPr lang="zh-CN" altLang="en-US" sz="2400" dirty="0"/>
              <a:t>、左除“</a:t>
            </a:r>
            <a:r>
              <a:rPr lang="en-US" altLang="zh-CN" sz="2400" dirty="0"/>
              <a:t>\</a:t>
            </a:r>
            <a:r>
              <a:rPr lang="zh-CN" altLang="en-US" sz="2400" dirty="0"/>
              <a:t>”的分母在左边；</a:t>
            </a:r>
            <a:endParaRPr lang="en-US" altLang="zh-CN" sz="2400" dirty="0"/>
          </a:p>
          <a:p>
            <a:r>
              <a:rPr lang="en-US" altLang="zh-CN" sz="2400" dirty="0"/>
              <a:t>3</a:t>
            </a:r>
            <a:r>
              <a:rPr lang="zh-CN" altLang="en-US" sz="2400" dirty="0"/>
              <a:t>、右除“</a:t>
            </a:r>
            <a:r>
              <a:rPr lang="en-US" altLang="zh-CN" sz="2400" dirty="0"/>
              <a:t>/</a:t>
            </a:r>
            <a:r>
              <a:rPr lang="zh-CN" altLang="en-US" sz="2400" dirty="0"/>
              <a:t>”的分母在右边</a:t>
            </a:r>
          </a:p>
        </p:txBody>
      </p:sp>
      <p:pic>
        <p:nvPicPr>
          <p:cNvPr id="6" name="图片 5"/>
          <p:cNvPicPr>
            <a:picLocks noChangeAspect="1"/>
          </p:cNvPicPr>
          <p:nvPr/>
        </p:nvPicPr>
        <p:blipFill>
          <a:blip r:embed="rId2"/>
          <a:stretch>
            <a:fillRect/>
          </a:stretch>
        </p:blipFill>
        <p:spPr>
          <a:xfrm>
            <a:off x="2590306" y="2648870"/>
            <a:ext cx="2745571" cy="1620733"/>
          </a:xfrm>
          <a:prstGeom prst="rect">
            <a:avLst/>
          </a:prstGeom>
        </p:spPr>
      </p:pic>
      <p:sp>
        <p:nvSpPr>
          <p:cNvPr id="7" name="矩形 6"/>
          <p:cNvSpPr/>
          <p:nvPr/>
        </p:nvSpPr>
        <p:spPr>
          <a:xfrm>
            <a:off x="889275" y="4269603"/>
            <a:ext cx="4144279" cy="181588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dirty="0"/>
              <a:t>解法</a:t>
            </a:r>
            <a:r>
              <a:rPr lang="en-US" altLang="zh-CN" sz="2800" dirty="0"/>
              <a:t>1</a:t>
            </a:r>
            <a:endParaRPr lang="pt-BR" altLang="zh-CN" sz="2800" dirty="0"/>
          </a:p>
          <a:p>
            <a:r>
              <a:rPr lang="pt-BR" altLang="zh-CN" sz="2800" dirty="0"/>
              <a:t>&gt;&gt; A1 = [2 3 1; 4 2 3; 7 1 -1];</a:t>
            </a:r>
          </a:p>
          <a:p>
            <a:r>
              <a:rPr lang="pt-BR" altLang="zh-CN" sz="2800" dirty="0"/>
              <a:t>&gt;&gt; b1=[4 17 1]</a:t>
            </a:r>
            <a:r>
              <a:rPr lang="pt-BR" altLang="zh-CN" sz="2800" b="1" dirty="0">
                <a:solidFill>
                  <a:srgbClr val="FF0000"/>
                </a:solidFill>
              </a:rPr>
              <a:t>'</a:t>
            </a:r>
            <a:r>
              <a:rPr lang="pt-BR" altLang="zh-CN" sz="2800" dirty="0"/>
              <a:t>;</a:t>
            </a:r>
          </a:p>
          <a:p>
            <a:r>
              <a:rPr lang="pt-BR" altLang="zh-CN" sz="2800" dirty="0"/>
              <a:t>&gt;&gt; </a:t>
            </a:r>
            <a:r>
              <a:rPr lang="en-US" altLang="zh-CN" sz="2800" dirty="0"/>
              <a:t>x2 = A1 </a:t>
            </a:r>
            <a:r>
              <a:rPr lang="en-US" altLang="zh-CN" sz="2800" dirty="0">
                <a:solidFill>
                  <a:srgbClr val="FF0000"/>
                </a:solidFill>
              </a:rPr>
              <a:t>\</a:t>
            </a:r>
            <a:r>
              <a:rPr lang="en-US" altLang="zh-CN" sz="2800" dirty="0"/>
              <a:t> b1</a:t>
            </a:r>
            <a:endParaRPr lang="pt-BR" altLang="zh-CN" sz="2800" b="1" dirty="0"/>
          </a:p>
        </p:txBody>
      </p:sp>
      <p:sp>
        <p:nvSpPr>
          <p:cNvPr id="8" name="矩形 7"/>
          <p:cNvSpPr/>
          <p:nvPr/>
        </p:nvSpPr>
        <p:spPr>
          <a:xfrm>
            <a:off x="5638200" y="4269603"/>
            <a:ext cx="4567358" cy="1815882"/>
          </a:xfrm>
          <a:prstGeom prst="rect">
            <a:avLst/>
          </a:prstGeom>
        </p:spPr>
        <p:txBody>
          <a:bodyPr wrap="square">
            <a:spAutoFit/>
          </a:bodyPr>
          <a:lstStyle/>
          <a:p>
            <a:r>
              <a:rPr lang="zh-CN" altLang="en-US" sz="2800" dirty="0"/>
              <a:t>解法</a:t>
            </a:r>
            <a:r>
              <a:rPr lang="en-US" altLang="zh-CN" sz="2800" dirty="0"/>
              <a:t>2</a:t>
            </a:r>
            <a:endParaRPr lang="pt-BR" altLang="zh-CN" sz="2800" dirty="0"/>
          </a:p>
          <a:p>
            <a:r>
              <a:rPr lang="pt-BR" altLang="zh-CN" sz="2800" dirty="0"/>
              <a:t>&gt;&gt; A2=[</a:t>
            </a:r>
            <a:r>
              <a:rPr lang="pt-BR" altLang="zh-CN" sz="2800" dirty="0">
                <a:solidFill>
                  <a:srgbClr val="FF0000"/>
                </a:solidFill>
              </a:rPr>
              <a:t>2 4 7</a:t>
            </a:r>
            <a:r>
              <a:rPr lang="pt-BR" altLang="zh-CN" sz="2800" dirty="0"/>
              <a:t>; </a:t>
            </a:r>
            <a:r>
              <a:rPr lang="pt-BR" altLang="zh-CN" sz="2800" dirty="0">
                <a:solidFill>
                  <a:srgbClr val="FF0000"/>
                </a:solidFill>
              </a:rPr>
              <a:t>3 2 1</a:t>
            </a:r>
            <a:r>
              <a:rPr lang="pt-BR" altLang="zh-CN" sz="2800" dirty="0"/>
              <a:t>; </a:t>
            </a:r>
            <a:r>
              <a:rPr lang="pt-BR" altLang="zh-CN" sz="2800" dirty="0">
                <a:solidFill>
                  <a:srgbClr val="FF0000"/>
                </a:solidFill>
              </a:rPr>
              <a:t>1 3 -1</a:t>
            </a:r>
            <a:r>
              <a:rPr lang="pt-BR" altLang="zh-CN" sz="2800" dirty="0"/>
              <a:t>];</a:t>
            </a:r>
          </a:p>
          <a:p>
            <a:r>
              <a:rPr lang="pt-BR" altLang="zh-CN" sz="2800" dirty="0"/>
              <a:t>&gt;&gt; b2=[4 17 1];</a:t>
            </a:r>
          </a:p>
          <a:p>
            <a:r>
              <a:rPr lang="pt-BR" altLang="zh-CN" sz="2800" dirty="0"/>
              <a:t>&gt;&gt; x2 = b2 </a:t>
            </a:r>
            <a:r>
              <a:rPr lang="pt-BR" altLang="zh-CN" sz="2800" dirty="0">
                <a:solidFill>
                  <a:srgbClr val="FF0000"/>
                </a:solidFill>
              </a:rPr>
              <a:t>/</a:t>
            </a:r>
            <a:r>
              <a:rPr lang="pt-BR" altLang="zh-CN" sz="2800" dirty="0"/>
              <a:t> A2</a:t>
            </a:r>
            <a:endParaRPr lang="zh-CN" altLang="en-US" sz="2800" dirty="0"/>
          </a:p>
        </p:txBody>
      </p:sp>
    </p:spTree>
    <p:extLst>
      <p:ext uri="{BB962C8B-B14F-4D97-AF65-F5344CB8AC3E}">
        <p14:creationId xmlns:p14="http://schemas.microsoft.com/office/powerpoint/2010/main" val="353555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9342120" cy="897618"/>
          </a:xfrm>
        </p:spPr>
        <p:txBody>
          <a:bodyPr>
            <a:normAutofit/>
          </a:bodyPr>
          <a:lstStyle/>
          <a:p>
            <a:r>
              <a:rPr lang="zh-CN" altLang="en-US" dirty="0"/>
              <a:t>矩阵的乘方（</a:t>
            </a:r>
            <a:r>
              <a:rPr lang="en-US" altLang="zh-CN" dirty="0"/>
              <a:t>Matrix power</a:t>
            </a:r>
            <a:r>
              <a:rPr lang="zh-CN" altLang="en-US" dirty="0"/>
              <a:t>）：</a:t>
            </a:r>
            <a:r>
              <a:rPr lang="en-US" altLang="zh-CN" dirty="0"/>
              <a:t> </a:t>
            </a:r>
            <a:r>
              <a:rPr lang="en-US" altLang="zh-CN" dirty="0" err="1"/>
              <a:t>a^p</a:t>
            </a:r>
            <a:endParaRPr lang="zh-CN" altLang="en-US" dirty="0"/>
          </a:p>
        </p:txBody>
      </p:sp>
      <p:sp>
        <p:nvSpPr>
          <p:cNvPr id="3" name="内容占位符 2"/>
          <p:cNvSpPr>
            <a:spLocks noGrp="1"/>
          </p:cNvSpPr>
          <p:nvPr>
            <p:ph idx="1"/>
          </p:nvPr>
        </p:nvSpPr>
        <p:spPr>
          <a:xfrm>
            <a:off x="742405" y="1355362"/>
            <a:ext cx="10515600" cy="2215152"/>
          </a:xfrm>
        </p:spPr>
        <p:txBody>
          <a:bodyPr/>
          <a:lstStyle/>
          <a:p>
            <a:r>
              <a:rPr lang="en-US" altLang="zh-CN" dirty="0"/>
              <a:t>a</a:t>
            </a:r>
            <a:r>
              <a:rPr lang="zh-CN" altLang="en-US" dirty="0"/>
              <a:t>是基数（</a:t>
            </a:r>
            <a:r>
              <a:rPr lang="en-US" altLang="zh-CN" dirty="0"/>
              <a:t>Base</a:t>
            </a:r>
            <a:r>
              <a:rPr lang="zh-CN" altLang="en-US" dirty="0"/>
              <a:t>）</a:t>
            </a:r>
            <a:endParaRPr lang="en-US" altLang="zh-CN" dirty="0"/>
          </a:p>
          <a:p>
            <a:r>
              <a:rPr lang="en-US" altLang="zh-CN" dirty="0"/>
              <a:t>p</a:t>
            </a:r>
            <a:r>
              <a:rPr lang="zh-CN" altLang="en-US" dirty="0"/>
              <a:t>是幂指数（</a:t>
            </a:r>
            <a:r>
              <a:rPr lang="en-US" altLang="zh-CN" dirty="0"/>
              <a:t> Exponent </a:t>
            </a:r>
            <a:r>
              <a:rPr lang="zh-CN" altLang="en-US" dirty="0"/>
              <a:t>）</a:t>
            </a:r>
            <a:endParaRPr lang="en-US" altLang="zh-CN" dirty="0"/>
          </a:p>
          <a:p>
            <a:r>
              <a:rPr lang="zh-CN" altLang="en-US" dirty="0"/>
              <a:t>在</a:t>
            </a:r>
            <a:r>
              <a:rPr lang="en-US" altLang="zh-CN" dirty="0" err="1"/>
              <a:t>a^p</a:t>
            </a:r>
            <a:r>
              <a:rPr lang="en-US" altLang="zh-CN" dirty="0"/>
              <a:t> </a:t>
            </a:r>
            <a:r>
              <a:rPr lang="zh-CN" altLang="en-US" dirty="0"/>
              <a:t>中，</a:t>
            </a:r>
            <a:r>
              <a:rPr lang="en-US" altLang="zh-CN" dirty="0"/>
              <a:t>a, p</a:t>
            </a:r>
            <a:r>
              <a:rPr lang="zh-CN" altLang="en-US" dirty="0"/>
              <a:t>不可都是矩阵，必须</a:t>
            </a:r>
            <a:r>
              <a:rPr lang="zh-CN" altLang="en-US" dirty="0">
                <a:solidFill>
                  <a:srgbClr val="00B050"/>
                </a:solidFill>
              </a:rPr>
              <a:t>一个是标量，一个是方阵</a:t>
            </a:r>
            <a:r>
              <a:rPr lang="zh-CN" altLang="en-US" dirty="0"/>
              <a:t>（</a:t>
            </a:r>
            <a:r>
              <a:rPr lang="zh-CN" altLang="en-US" dirty="0">
                <a:solidFill>
                  <a:srgbClr val="FF0000"/>
                </a:solidFill>
              </a:rPr>
              <a:t>行数列数相等，</a:t>
            </a:r>
            <a:r>
              <a:rPr lang="en-US" altLang="zh-CN" dirty="0">
                <a:solidFill>
                  <a:srgbClr val="FF0000"/>
                </a:solidFill>
              </a:rPr>
              <a:t> square matrix </a:t>
            </a:r>
            <a:r>
              <a:rPr lang="zh-CN" altLang="en-US" dirty="0"/>
              <a:t>）</a:t>
            </a:r>
            <a:endParaRPr lang="en-US" altLang="zh-CN" dirty="0"/>
          </a:p>
          <a:p>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70807567"/>
              </p:ext>
            </p:extLst>
          </p:nvPr>
        </p:nvGraphicFramePr>
        <p:xfrm>
          <a:off x="3210740" y="3737612"/>
          <a:ext cx="4670928" cy="2107140"/>
        </p:xfrm>
        <a:graphic>
          <a:graphicData uri="http://schemas.openxmlformats.org/drawingml/2006/table">
            <a:tbl>
              <a:tblPr firstRow="1" bandRow="1">
                <a:tableStyleId>{F5AB1C69-6EDB-4FF4-983F-18BD219EF322}</a:tableStyleId>
              </a:tblPr>
              <a:tblGrid>
                <a:gridCol w="1350621">
                  <a:extLst>
                    <a:ext uri="{9D8B030D-6E8A-4147-A177-3AD203B41FA5}">
                      <a16:colId xmlns:a16="http://schemas.microsoft.com/office/drawing/2014/main" val="20000"/>
                    </a:ext>
                  </a:extLst>
                </a:gridCol>
                <a:gridCol w="1691832">
                  <a:extLst>
                    <a:ext uri="{9D8B030D-6E8A-4147-A177-3AD203B41FA5}">
                      <a16:colId xmlns:a16="http://schemas.microsoft.com/office/drawing/2014/main" val="20001"/>
                    </a:ext>
                  </a:extLst>
                </a:gridCol>
                <a:gridCol w="1628475">
                  <a:extLst>
                    <a:ext uri="{9D8B030D-6E8A-4147-A177-3AD203B41FA5}">
                      <a16:colId xmlns:a16="http://schemas.microsoft.com/office/drawing/2014/main" val="20002"/>
                    </a:ext>
                  </a:extLst>
                </a:gridCol>
              </a:tblGrid>
              <a:tr h="844529">
                <a:tc>
                  <a:txBody>
                    <a:bodyPr/>
                    <a:lstStyle/>
                    <a:p>
                      <a:endParaRPr lang="zh-CN" altLang="en-US" sz="3200" dirty="0"/>
                    </a:p>
                  </a:txBody>
                  <a:tcPr>
                    <a:lnTlToBr w="12700" cap="flat" cmpd="sng" algn="ctr">
                      <a:solidFill>
                        <a:schemeClr val="tx1"/>
                      </a:solidFill>
                      <a:prstDash val="solid"/>
                      <a:round/>
                      <a:headEnd type="none" w="med" len="med"/>
                      <a:tailEnd type="none" w="med" len="med"/>
                    </a:lnTlToB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3200" dirty="0">
                          <a:solidFill>
                            <a:sysClr val="windowText" lastClr="000000"/>
                          </a:solidFill>
                        </a:rPr>
                        <a:t>标量</a:t>
                      </a:r>
                    </a:p>
                  </a:txBody>
                  <a:tcPr anchor="ctr" anchorCtr="1"/>
                </a:tc>
                <a:tc>
                  <a:txBody>
                    <a:bodyPr/>
                    <a:lstStyle/>
                    <a:p>
                      <a:r>
                        <a:rPr lang="zh-CN" altLang="en-US" sz="3200" dirty="0">
                          <a:solidFill>
                            <a:sysClr val="windowText" lastClr="000000"/>
                          </a:solidFill>
                        </a:rPr>
                        <a:t>方阵</a:t>
                      </a:r>
                    </a:p>
                  </a:txBody>
                  <a:tcPr anchor="ctr" anchorCtr="1"/>
                </a:tc>
                <a:extLst>
                  <a:ext uri="{0D108BD9-81ED-4DB2-BD59-A6C34878D82A}">
                    <a16:rowId xmlns:a16="http://schemas.microsoft.com/office/drawing/2014/main" val="10000"/>
                  </a:ext>
                </a:extLst>
              </a:tr>
              <a:tr h="683491">
                <a:tc>
                  <a:txBody>
                    <a:bodyPr/>
                    <a:lstStyle/>
                    <a:p>
                      <a:r>
                        <a:rPr lang="zh-CN" altLang="en-US" sz="3200" dirty="0"/>
                        <a:t>标量</a:t>
                      </a:r>
                    </a:p>
                  </a:txBody>
                  <a:tcPr anchor="ctr">
                    <a:solidFill>
                      <a:schemeClr val="accent3"/>
                    </a:solidFill>
                  </a:tcPr>
                </a:tc>
                <a:tc>
                  <a:txBody>
                    <a:bodyPr/>
                    <a:lstStyle/>
                    <a:p>
                      <a:r>
                        <a:rPr lang="zh-CN" altLang="en-US" sz="2400" dirty="0"/>
                        <a:t>标量</a:t>
                      </a:r>
                      <a:r>
                        <a:rPr lang="en-US" altLang="zh-CN" sz="2400" dirty="0"/>
                        <a:t>^</a:t>
                      </a:r>
                      <a:r>
                        <a:rPr lang="zh-CN" altLang="en-US" sz="2400" dirty="0"/>
                        <a:t>标量</a:t>
                      </a:r>
                      <a:endParaRPr lang="zh-CN" altLang="en-US" sz="2400" baseline="30000" dirty="0"/>
                    </a:p>
                  </a:txBody>
                  <a:tcPr anchor="ctr" anchorCtr="1"/>
                </a:tc>
                <a:tc>
                  <a:txBody>
                    <a:bodyPr/>
                    <a:lstStyle/>
                    <a:p>
                      <a:r>
                        <a:rPr lang="zh-CN" altLang="en-US" sz="2400" dirty="0"/>
                        <a:t>标量</a:t>
                      </a:r>
                      <a:r>
                        <a:rPr lang="en-US" altLang="zh-CN" sz="2400" dirty="0"/>
                        <a:t>^</a:t>
                      </a:r>
                      <a:r>
                        <a:rPr lang="zh-CN" altLang="en-US" sz="2400" dirty="0"/>
                        <a:t>方阵</a:t>
                      </a:r>
                    </a:p>
                  </a:txBody>
                  <a:tcPr anchor="ctr" anchorCtr="1"/>
                </a:tc>
                <a:extLst>
                  <a:ext uri="{0D108BD9-81ED-4DB2-BD59-A6C34878D82A}">
                    <a16:rowId xmlns:a16="http://schemas.microsoft.com/office/drawing/2014/main" val="10001"/>
                  </a:ext>
                </a:extLst>
              </a:tr>
              <a:tr h="370840">
                <a:tc>
                  <a:txBody>
                    <a:bodyPr/>
                    <a:lstStyle/>
                    <a:p>
                      <a:r>
                        <a:rPr lang="zh-CN" altLang="en-US" sz="3200" dirty="0"/>
                        <a:t>方阵</a:t>
                      </a:r>
                    </a:p>
                  </a:txBody>
                  <a:tcPr anchor="ctr">
                    <a:solidFill>
                      <a:schemeClr val="accent3"/>
                    </a:solidFill>
                  </a:tcPr>
                </a:tc>
                <a:tc>
                  <a:txBody>
                    <a:bodyPr/>
                    <a:lstStyle/>
                    <a:p>
                      <a:r>
                        <a:rPr lang="zh-CN" altLang="en-US" sz="2400" dirty="0"/>
                        <a:t>方阵</a:t>
                      </a:r>
                      <a:r>
                        <a:rPr lang="en-US" altLang="zh-CN" sz="2400" dirty="0"/>
                        <a:t>^</a:t>
                      </a:r>
                      <a:r>
                        <a:rPr lang="zh-CN" altLang="en-US" sz="2400" dirty="0"/>
                        <a:t>标量</a:t>
                      </a:r>
                    </a:p>
                  </a:txBody>
                  <a:tcPr anchor="ctr" anchorCtr="1"/>
                </a:tc>
                <a:tc>
                  <a:txBody>
                    <a:bodyPr/>
                    <a:lstStyle/>
                    <a:p>
                      <a:r>
                        <a:rPr lang="zh-CN" altLang="en-US" sz="2400" dirty="0"/>
                        <a:t>方阵</a:t>
                      </a:r>
                      <a:r>
                        <a:rPr lang="en-US" altLang="zh-CN" sz="2400" dirty="0"/>
                        <a:t>^ </a:t>
                      </a:r>
                      <a:r>
                        <a:rPr lang="zh-CN" altLang="en-US" sz="2400" dirty="0"/>
                        <a:t>方阵</a:t>
                      </a:r>
                    </a:p>
                  </a:txBody>
                  <a:tcPr anchor="ctr" anchorCtr="1"/>
                </a:tc>
                <a:extLst>
                  <a:ext uri="{0D108BD9-81ED-4DB2-BD59-A6C34878D82A}">
                    <a16:rowId xmlns:a16="http://schemas.microsoft.com/office/drawing/2014/main" val="10002"/>
                  </a:ext>
                </a:extLst>
              </a:tr>
            </a:tbl>
          </a:graphicData>
        </a:graphic>
      </p:graphicFrame>
      <p:grpSp>
        <p:nvGrpSpPr>
          <p:cNvPr id="14" name="组合 13"/>
          <p:cNvGrpSpPr/>
          <p:nvPr/>
        </p:nvGrpSpPr>
        <p:grpSpPr>
          <a:xfrm>
            <a:off x="3326381" y="3757642"/>
            <a:ext cx="1321911" cy="738664"/>
            <a:chOff x="3326381" y="3757642"/>
            <a:chExt cx="1321911" cy="738664"/>
          </a:xfrm>
        </p:grpSpPr>
        <p:sp>
          <p:nvSpPr>
            <p:cNvPr id="5" name="矩形 4"/>
            <p:cNvSpPr/>
            <p:nvPr/>
          </p:nvSpPr>
          <p:spPr>
            <a:xfrm>
              <a:off x="3326381" y="4126974"/>
              <a:ext cx="625492" cy="369332"/>
            </a:xfrm>
            <a:prstGeom prst="rect">
              <a:avLst/>
            </a:prstGeom>
          </p:spPr>
          <p:txBody>
            <a:bodyPr wrap="none">
              <a:spAutoFit/>
            </a:bodyPr>
            <a:lstStyle/>
            <a:p>
              <a:r>
                <a:rPr lang="en-US" altLang="zh-CN" dirty="0"/>
                <a:t>Base</a:t>
              </a:r>
              <a:endParaRPr lang="zh-CN" altLang="en-US" dirty="0"/>
            </a:p>
          </p:txBody>
        </p:sp>
        <p:sp>
          <p:nvSpPr>
            <p:cNvPr id="6" name="矩形 5"/>
            <p:cNvSpPr/>
            <p:nvPr/>
          </p:nvSpPr>
          <p:spPr>
            <a:xfrm>
              <a:off x="3574472" y="3757642"/>
              <a:ext cx="1073820" cy="369332"/>
            </a:xfrm>
            <a:prstGeom prst="rect">
              <a:avLst/>
            </a:prstGeom>
          </p:spPr>
          <p:txBody>
            <a:bodyPr wrap="none">
              <a:spAutoFit/>
            </a:bodyPr>
            <a:lstStyle/>
            <a:p>
              <a:r>
                <a:rPr lang="en-US" altLang="zh-CN" dirty="0"/>
                <a:t>Exponent</a:t>
              </a:r>
              <a:endParaRPr lang="zh-CN" altLang="en-US" dirty="0"/>
            </a:p>
          </p:txBody>
        </p:sp>
      </p:grpSp>
      <p:grpSp>
        <p:nvGrpSpPr>
          <p:cNvPr id="13" name="组合 12"/>
          <p:cNvGrpSpPr/>
          <p:nvPr/>
        </p:nvGrpSpPr>
        <p:grpSpPr>
          <a:xfrm>
            <a:off x="7010398" y="5347854"/>
            <a:ext cx="350982" cy="434109"/>
            <a:chOff x="9254836" y="4599709"/>
            <a:chExt cx="350982" cy="434109"/>
          </a:xfrm>
        </p:grpSpPr>
        <p:cxnSp>
          <p:nvCxnSpPr>
            <p:cNvPr id="8" name="直接连接符 7"/>
            <p:cNvCxnSpPr/>
            <p:nvPr/>
          </p:nvCxnSpPr>
          <p:spPr>
            <a:xfrm>
              <a:off x="9254836" y="4599709"/>
              <a:ext cx="350982" cy="434109"/>
            </a:xfrm>
            <a:prstGeom prst="line">
              <a:avLst/>
            </a:prstGeom>
            <a:ln w="5715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0" name="直接连接符 9"/>
            <p:cNvCxnSpPr/>
            <p:nvPr/>
          </p:nvCxnSpPr>
          <p:spPr>
            <a:xfrm flipH="1">
              <a:off x="9254836" y="4599709"/>
              <a:ext cx="321525" cy="434109"/>
            </a:xfrm>
            <a:prstGeom prst="line">
              <a:avLst/>
            </a:prstGeom>
            <a:ln w="57150">
              <a:solidFill>
                <a:srgbClr val="FF0000"/>
              </a:solidFill>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7441864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48145" y="489528"/>
            <a:ext cx="2701381" cy="523220"/>
          </a:xfrm>
          <a:prstGeom prst="rect">
            <a:avLst/>
          </a:prstGeom>
          <a:noFill/>
        </p:spPr>
        <p:txBody>
          <a:bodyPr wrap="none" rtlCol="0">
            <a:spAutoFit/>
          </a:bodyPr>
          <a:lstStyle/>
          <a:p>
            <a:r>
              <a:rPr lang="zh-CN" altLang="en-US" sz="2800" dirty="0"/>
              <a:t>（</a:t>
            </a:r>
            <a:r>
              <a:rPr lang="en-US" altLang="zh-CN" sz="2800" dirty="0"/>
              <a:t>1</a:t>
            </a:r>
            <a:r>
              <a:rPr lang="zh-CN" altLang="en-US" sz="2800" dirty="0"/>
              <a:t>）标量</a:t>
            </a:r>
            <a:r>
              <a:rPr lang="en-US" altLang="zh-CN" sz="2800" dirty="0"/>
              <a:t>^</a:t>
            </a:r>
            <a:r>
              <a:rPr lang="zh-CN" altLang="en-US" sz="2800" dirty="0"/>
              <a:t>标量</a:t>
            </a:r>
          </a:p>
        </p:txBody>
      </p:sp>
      <p:sp>
        <p:nvSpPr>
          <p:cNvPr id="5" name="矩形 4"/>
          <p:cNvSpPr/>
          <p:nvPr/>
        </p:nvSpPr>
        <p:spPr>
          <a:xfrm>
            <a:off x="1025236" y="1249509"/>
            <a:ext cx="1727200" cy="1384995"/>
          </a:xfrm>
          <a:prstGeom prst="rect">
            <a:avLst/>
          </a:prstGeom>
        </p:spPr>
        <p:txBody>
          <a:bodyPr wrap="square">
            <a:spAutoFit/>
          </a:bodyPr>
          <a:lstStyle/>
          <a:p>
            <a:r>
              <a:rPr lang="zh-CN" altLang="en-US" sz="2800" b="1" dirty="0"/>
              <a:t>&gt;&gt; 2^0.5</a:t>
            </a:r>
          </a:p>
          <a:p>
            <a:r>
              <a:rPr lang="zh-CN" altLang="en-US" sz="2800" b="1" dirty="0"/>
              <a:t>ans =</a:t>
            </a:r>
          </a:p>
          <a:p>
            <a:r>
              <a:rPr lang="zh-CN" altLang="en-US" sz="2800" b="1" dirty="0"/>
              <a:t>    1.4142</a:t>
            </a:r>
          </a:p>
        </p:txBody>
      </p:sp>
      <p:sp>
        <p:nvSpPr>
          <p:cNvPr id="10" name="矩形 9"/>
          <p:cNvSpPr/>
          <p:nvPr/>
        </p:nvSpPr>
        <p:spPr>
          <a:xfrm>
            <a:off x="3556000" y="1249509"/>
            <a:ext cx="6096000" cy="1384995"/>
          </a:xfrm>
          <a:prstGeom prst="rect">
            <a:avLst/>
          </a:prstGeom>
        </p:spPr>
        <p:txBody>
          <a:bodyPr wrap="square">
            <a:spAutoFit/>
          </a:bodyPr>
          <a:lstStyle/>
          <a:p>
            <a:r>
              <a:rPr lang="zh-CN" altLang="en-US" sz="2800" b="1" dirty="0"/>
              <a:t>&gt;&gt; 0.5^2</a:t>
            </a:r>
          </a:p>
          <a:p>
            <a:r>
              <a:rPr lang="zh-CN" altLang="en-US" sz="2800" b="1" dirty="0"/>
              <a:t>ans =</a:t>
            </a:r>
          </a:p>
          <a:p>
            <a:r>
              <a:rPr lang="zh-CN" altLang="en-US" sz="2800" b="1" dirty="0"/>
              <a:t>    0.2500</a:t>
            </a:r>
          </a:p>
        </p:txBody>
      </p:sp>
    </p:spTree>
    <p:extLst>
      <p:ext uri="{BB962C8B-B14F-4D97-AF65-F5344CB8AC3E}">
        <p14:creationId xmlns:p14="http://schemas.microsoft.com/office/powerpoint/2010/main" val="33148985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8" name="文本框 7"/>
          <p:cNvSpPr txBox="1"/>
          <p:nvPr/>
        </p:nvSpPr>
        <p:spPr>
          <a:xfrm>
            <a:off x="634406" y="142022"/>
            <a:ext cx="10817366" cy="3046988"/>
          </a:xfrm>
          <a:prstGeom prst="rect">
            <a:avLst/>
          </a:prstGeom>
          <a:noFill/>
        </p:spPr>
        <p:txBody>
          <a:bodyPr wrap="square" rtlCol="0">
            <a:spAutoFit/>
          </a:bodyPr>
          <a:lstStyle/>
          <a:p>
            <a:r>
              <a:rPr lang="zh-CN" altLang="en-US" sz="2400" dirty="0"/>
              <a:t>（</a:t>
            </a:r>
            <a:r>
              <a:rPr lang="en-US" altLang="zh-CN" sz="2400" dirty="0"/>
              <a:t>2</a:t>
            </a:r>
            <a:r>
              <a:rPr lang="zh-CN" altLang="en-US" sz="2400" dirty="0"/>
              <a:t>）方阵</a:t>
            </a:r>
            <a:r>
              <a:rPr lang="en-US" altLang="zh-CN" sz="2400" dirty="0"/>
              <a:t>^</a:t>
            </a:r>
            <a:r>
              <a:rPr lang="zh-CN" altLang="en-US" sz="2400" dirty="0"/>
              <a:t>标量（</a:t>
            </a:r>
            <a:r>
              <a:rPr lang="en-US" altLang="zh-CN" sz="2400" dirty="0"/>
              <a:t>a^p</a:t>
            </a:r>
            <a:r>
              <a:rPr lang="zh-CN" altLang="en-US" sz="2400" dirty="0"/>
              <a:t>）</a:t>
            </a:r>
            <a:endParaRPr lang="en-US" altLang="zh-CN" sz="2400" dirty="0"/>
          </a:p>
          <a:p>
            <a:pPr marL="342900" indent="-342900">
              <a:buFont typeface="Arial" panose="020B0604020202020204" pitchFamily="34" charset="0"/>
              <a:buChar char="•"/>
            </a:pPr>
            <a:r>
              <a:rPr lang="zh-CN" altLang="en-US" sz="2400" dirty="0"/>
              <a:t>若</a:t>
            </a:r>
            <a:r>
              <a:rPr lang="en-US" altLang="zh-CN" sz="2400" dirty="0"/>
              <a:t>p</a:t>
            </a:r>
            <a:r>
              <a:rPr lang="zh-CN" altLang="en-US" sz="2400" dirty="0"/>
              <a:t>是大于</a:t>
            </a:r>
            <a:r>
              <a:rPr lang="en-US" altLang="zh-CN" sz="2400" dirty="0"/>
              <a:t>1 </a:t>
            </a:r>
            <a:r>
              <a:rPr lang="zh-CN" altLang="en-US" sz="2400" dirty="0"/>
              <a:t>的正整数，为</a:t>
            </a:r>
            <a:r>
              <a:rPr lang="en-US" altLang="zh-CN" sz="2400" dirty="0"/>
              <a:t>a</a:t>
            </a:r>
            <a:r>
              <a:rPr lang="zh-CN" altLang="en-US" sz="2400" dirty="0"/>
              <a:t>自乘</a:t>
            </a:r>
            <a:r>
              <a:rPr lang="en-US" altLang="zh-CN" sz="2400" dirty="0"/>
              <a:t>p</a:t>
            </a:r>
            <a:r>
              <a:rPr lang="zh-CN" altLang="en-US" sz="2400" dirty="0"/>
              <a:t>次；</a:t>
            </a:r>
            <a:endParaRPr lang="en-US" altLang="zh-CN" sz="2400" dirty="0"/>
          </a:p>
          <a:p>
            <a:pPr marL="342900" indent="-342900">
              <a:buFont typeface="Arial" panose="020B0604020202020204" pitchFamily="34" charset="0"/>
              <a:buChar char="•"/>
            </a:pPr>
            <a:r>
              <a:rPr lang="zh-CN" altLang="en-US" sz="2400" dirty="0"/>
              <a:t>若</a:t>
            </a:r>
            <a:r>
              <a:rPr lang="en-US" altLang="zh-CN" sz="2400" dirty="0"/>
              <a:t>p</a:t>
            </a:r>
            <a:r>
              <a:rPr lang="zh-CN" altLang="en-US" sz="2400" dirty="0"/>
              <a:t>为</a:t>
            </a:r>
            <a:r>
              <a:rPr lang="en-US" altLang="zh-CN" sz="2400" dirty="0"/>
              <a:t>0</a:t>
            </a:r>
            <a:r>
              <a:rPr lang="zh-CN" altLang="en-US" sz="2400" dirty="0"/>
              <a:t>，为单位方阵</a:t>
            </a:r>
            <a:endParaRPr lang="en-US" altLang="zh-CN" sz="2400" dirty="0"/>
          </a:p>
          <a:p>
            <a:pPr marL="342900" indent="-342900">
              <a:buFont typeface="Arial" panose="020B0604020202020204" pitchFamily="34" charset="0"/>
              <a:buChar char="•"/>
            </a:pPr>
            <a:r>
              <a:rPr lang="zh-CN" altLang="en-US" sz="2400" dirty="0"/>
              <a:t>若</a:t>
            </a:r>
            <a:r>
              <a:rPr lang="en-US" altLang="zh-CN" sz="2400" dirty="0"/>
              <a:t>p</a:t>
            </a:r>
            <a:r>
              <a:rPr lang="zh-CN" altLang="en-US" sz="2400" dirty="0"/>
              <a:t>是小于</a:t>
            </a:r>
            <a:r>
              <a:rPr lang="en-US" altLang="zh-CN" sz="2400" dirty="0"/>
              <a:t>-1</a:t>
            </a:r>
            <a:r>
              <a:rPr lang="zh-CN" altLang="en-US" sz="2400" dirty="0"/>
              <a:t>的负整数，为</a:t>
            </a:r>
            <a:r>
              <a:rPr lang="en-US" altLang="zh-CN" sz="2400" dirty="0"/>
              <a:t>a</a:t>
            </a:r>
            <a:r>
              <a:rPr lang="zh-CN" altLang="en-US" sz="2400" dirty="0"/>
              <a:t>的逆矩阵的</a:t>
            </a:r>
            <a:r>
              <a:rPr lang="en-US" altLang="zh-CN" sz="2400" dirty="0"/>
              <a:t>p</a:t>
            </a:r>
            <a:r>
              <a:rPr lang="zh-CN" altLang="en-US" sz="2400" dirty="0"/>
              <a:t>次幂</a:t>
            </a:r>
            <a:endParaRPr lang="en-US" altLang="zh-CN" sz="2400" dirty="0"/>
          </a:p>
          <a:p>
            <a:pPr marL="342900" indent="-342900">
              <a:buFont typeface="Arial" panose="020B0604020202020204" pitchFamily="34" charset="0"/>
              <a:buChar char="•"/>
            </a:pPr>
            <a:r>
              <a:rPr lang="zh-CN" altLang="en-US" sz="2400" dirty="0">
                <a:solidFill>
                  <a:srgbClr val="0070C0"/>
                </a:solidFill>
              </a:rPr>
              <a:t>如</a:t>
            </a:r>
            <a:r>
              <a:rPr lang="en-US" altLang="zh-CN" sz="2400" dirty="0">
                <a:solidFill>
                  <a:srgbClr val="0070C0"/>
                </a:solidFill>
              </a:rPr>
              <a:t>p</a:t>
            </a:r>
            <a:r>
              <a:rPr lang="zh-CN" altLang="en-US" sz="2400" dirty="0">
                <a:solidFill>
                  <a:srgbClr val="0070C0"/>
                </a:solidFill>
              </a:rPr>
              <a:t>是浮点数时，</a:t>
            </a:r>
            <a:r>
              <a:rPr lang="en-US" altLang="zh-CN" sz="2400" dirty="0">
                <a:solidFill>
                  <a:srgbClr val="0070C0"/>
                </a:solidFill>
              </a:rPr>
              <a:t>a^p=V*</a:t>
            </a:r>
            <a:r>
              <a:rPr lang="en-US" altLang="zh-CN" sz="2400" dirty="0" err="1">
                <a:solidFill>
                  <a:srgbClr val="0070C0"/>
                </a:solidFill>
              </a:rPr>
              <a:t>D^p</a:t>
            </a:r>
            <a:r>
              <a:rPr lang="en-US" altLang="zh-CN" sz="2400" dirty="0">
                <a:solidFill>
                  <a:srgbClr val="0070C0"/>
                </a:solidFill>
              </a:rPr>
              <a:t>/V</a:t>
            </a:r>
            <a:r>
              <a:rPr lang="zh-CN" altLang="en-US" sz="2400" dirty="0">
                <a:solidFill>
                  <a:srgbClr val="0070C0"/>
                </a:solidFill>
              </a:rPr>
              <a:t>；其中</a:t>
            </a:r>
            <a:r>
              <a:rPr lang="en-US" altLang="zh-CN" sz="2400" dirty="0">
                <a:solidFill>
                  <a:srgbClr val="0070C0"/>
                </a:solidFill>
              </a:rPr>
              <a:t>D</a:t>
            </a:r>
            <a:r>
              <a:rPr lang="zh-CN" altLang="en-US" sz="2400" dirty="0">
                <a:solidFill>
                  <a:srgbClr val="0070C0"/>
                </a:solidFill>
              </a:rPr>
              <a:t>为矩阵</a:t>
            </a:r>
            <a:r>
              <a:rPr lang="en-US" altLang="zh-CN" sz="2400" dirty="0">
                <a:solidFill>
                  <a:srgbClr val="0070C0"/>
                </a:solidFill>
              </a:rPr>
              <a:t>a</a:t>
            </a:r>
            <a:r>
              <a:rPr lang="zh-CN" altLang="en-US" sz="2400" dirty="0">
                <a:solidFill>
                  <a:srgbClr val="0070C0"/>
                </a:solidFill>
              </a:rPr>
              <a:t>的</a:t>
            </a:r>
            <a:r>
              <a:rPr lang="zh-CN" altLang="en-US" sz="2400" dirty="0">
                <a:solidFill>
                  <a:srgbClr val="FF0000"/>
                </a:solidFill>
              </a:rPr>
              <a:t>特征值矩阵</a:t>
            </a:r>
            <a:r>
              <a:rPr lang="zh-CN" altLang="en-US" sz="2400" dirty="0"/>
              <a:t>（</a:t>
            </a:r>
            <a:r>
              <a:rPr lang="en-US" altLang="zh-CN" sz="2400" dirty="0"/>
              <a:t> eigenvalues </a:t>
            </a:r>
            <a:r>
              <a:rPr lang="zh-CN" altLang="en-US" sz="2400" dirty="0"/>
              <a:t>），</a:t>
            </a:r>
            <a:r>
              <a:rPr lang="en-US" altLang="zh-CN" sz="2400" dirty="0">
                <a:solidFill>
                  <a:srgbClr val="0070C0"/>
                </a:solidFill>
              </a:rPr>
              <a:t>V</a:t>
            </a:r>
            <a:r>
              <a:rPr lang="zh-CN" altLang="en-US" sz="2400" dirty="0">
                <a:solidFill>
                  <a:srgbClr val="0070C0"/>
                </a:solidFill>
              </a:rPr>
              <a:t>为矩阵</a:t>
            </a:r>
            <a:r>
              <a:rPr lang="en-US" altLang="zh-CN" sz="2400" dirty="0">
                <a:solidFill>
                  <a:srgbClr val="0070C0"/>
                </a:solidFill>
              </a:rPr>
              <a:t>a</a:t>
            </a:r>
            <a:r>
              <a:rPr lang="zh-CN" altLang="en-US" sz="2400" dirty="0">
                <a:solidFill>
                  <a:srgbClr val="0070C0"/>
                </a:solidFill>
              </a:rPr>
              <a:t>的</a:t>
            </a:r>
            <a:r>
              <a:rPr lang="zh-CN" altLang="en-US" sz="2400" dirty="0">
                <a:solidFill>
                  <a:srgbClr val="FF0000"/>
                </a:solidFill>
              </a:rPr>
              <a:t>特征向量阵</a:t>
            </a:r>
            <a:r>
              <a:rPr lang="zh-CN" altLang="en-US" sz="2400" dirty="0"/>
              <a:t>（</a:t>
            </a:r>
            <a:r>
              <a:rPr lang="en-US" altLang="zh-CN" sz="2400" dirty="0"/>
              <a:t> eigenvectors</a:t>
            </a:r>
            <a:r>
              <a:rPr lang="zh-CN" altLang="en-US" sz="2400" dirty="0"/>
              <a:t> </a:t>
            </a:r>
            <a:r>
              <a:rPr lang="en-US" altLang="zh-CN" sz="2400" dirty="0"/>
              <a:t> </a:t>
            </a:r>
            <a:r>
              <a:rPr lang="zh-CN" altLang="en-US" sz="2400" dirty="0"/>
              <a:t>）；</a:t>
            </a:r>
            <a:r>
              <a:rPr lang="zh-CN" altLang="en-US" sz="2400" dirty="0">
                <a:solidFill>
                  <a:srgbClr val="0070C0"/>
                </a:solidFill>
              </a:rPr>
              <a:t>可用</a:t>
            </a:r>
            <a:r>
              <a:rPr lang="en-US" altLang="zh-CN" sz="2400" dirty="0" err="1">
                <a:solidFill>
                  <a:srgbClr val="0070C0"/>
                </a:solidFill>
              </a:rPr>
              <a:t>eig</a:t>
            </a:r>
            <a:r>
              <a:rPr lang="zh-CN" altLang="en-US" sz="2400" dirty="0">
                <a:solidFill>
                  <a:srgbClr val="0070C0"/>
                </a:solidFill>
              </a:rPr>
              <a:t>函数求出</a:t>
            </a:r>
            <a:r>
              <a:rPr lang="en-US" altLang="zh-CN" sz="2400" dirty="0">
                <a:solidFill>
                  <a:srgbClr val="0070C0"/>
                </a:solidFill>
              </a:rPr>
              <a:t>D</a:t>
            </a:r>
            <a:r>
              <a:rPr lang="zh-CN" altLang="en-US" sz="2400" dirty="0">
                <a:solidFill>
                  <a:srgbClr val="0070C0"/>
                </a:solidFill>
              </a:rPr>
              <a:t>和</a:t>
            </a:r>
            <a:r>
              <a:rPr lang="en-US" altLang="zh-CN" sz="2400" dirty="0">
                <a:solidFill>
                  <a:srgbClr val="0070C0"/>
                </a:solidFill>
              </a:rPr>
              <a:t>V</a:t>
            </a:r>
            <a:r>
              <a:rPr lang="zh-CN" altLang="en-US" sz="2400" dirty="0"/>
              <a:t>， </a:t>
            </a:r>
            <a:r>
              <a:rPr lang="en-US" altLang="zh-CN" sz="2400" dirty="0">
                <a:solidFill>
                  <a:srgbClr val="FF0000"/>
                </a:solidFill>
              </a:rPr>
              <a:t>[V,D]=</a:t>
            </a:r>
            <a:r>
              <a:rPr lang="en-US" altLang="zh-CN" sz="2400" dirty="0" err="1">
                <a:solidFill>
                  <a:srgbClr val="FF0000"/>
                </a:solidFill>
              </a:rPr>
              <a:t>eig</a:t>
            </a:r>
            <a:r>
              <a:rPr lang="en-US" altLang="zh-CN" sz="2400" dirty="0">
                <a:solidFill>
                  <a:srgbClr val="FF0000"/>
                </a:solidFill>
              </a:rPr>
              <a:t>(a)</a:t>
            </a:r>
          </a:p>
          <a:p>
            <a:pPr marL="342900" indent="-342900">
              <a:buFont typeface="Arial" panose="020B0604020202020204" pitchFamily="34" charset="0"/>
              <a:buChar char="•"/>
            </a:pPr>
            <a:endParaRPr lang="zh-CN" altLang="en-US" sz="2400" dirty="0"/>
          </a:p>
        </p:txBody>
      </p:sp>
      <p:sp>
        <p:nvSpPr>
          <p:cNvPr id="9" name="矩形 8"/>
          <p:cNvSpPr/>
          <p:nvPr/>
        </p:nvSpPr>
        <p:spPr>
          <a:xfrm>
            <a:off x="1644336" y="2788423"/>
            <a:ext cx="2456747" cy="3970318"/>
          </a:xfrm>
          <a:prstGeom prst="rect">
            <a:avLst/>
          </a:prstGeom>
        </p:spPr>
        <p:txBody>
          <a:bodyPr wrap="square">
            <a:spAutoFit/>
          </a:bodyPr>
          <a:lstStyle/>
          <a:p>
            <a:r>
              <a:rPr lang="zh-CN" altLang="en-US" sz="2800" dirty="0"/>
              <a:t>&gt;&gt; a=[1 2;3 4];</a:t>
            </a:r>
          </a:p>
          <a:p>
            <a:r>
              <a:rPr lang="zh-CN" altLang="en-US" sz="2800" dirty="0"/>
              <a:t>&gt;&gt; x=</a:t>
            </a:r>
            <a:r>
              <a:rPr lang="zh-CN" altLang="en-US" sz="2800" dirty="0">
                <a:solidFill>
                  <a:srgbClr val="FF0000"/>
                </a:solidFill>
              </a:rPr>
              <a:t>a^2</a:t>
            </a:r>
          </a:p>
          <a:p>
            <a:r>
              <a:rPr lang="zh-CN" altLang="en-US" sz="2800" dirty="0"/>
              <a:t>x =</a:t>
            </a:r>
          </a:p>
          <a:p>
            <a:r>
              <a:rPr lang="zh-CN" altLang="en-US" sz="2800" dirty="0"/>
              <a:t>     7    10</a:t>
            </a:r>
          </a:p>
          <a:p>
            <a:r>
              <a:rPr lang="zh-CN" altLang="en-US" sz="2800" dirty="0"/>
              <a:t>    15    22</a:t>
            </a:r>
          </a:p>
          <a:p>
            <a:r>
              <a:rPr lang="zh-CN" altLang="en-US" sz="2800" dirty="0"/>
              <a:t>&gt;&gt; </a:t>
            </a:r>
            <a:r>
              <a:rPr lang="zh-CN" altLang="en-US" sz="2800" dirty="0">
                <a:solidFill>
                  <a:srgbClr val="FF0000"/>
                </a:solidFill>
              </a:rPr>
              <a:t>a*a</a:t>
            </a:r>
          </a:p>
          <a:p>
            <a:r>
              <a:rPr lang="zh-CN" altLang="en-US" sz="2800" dirty="0"/>
              <a:t>ans =</a:t>
            </a:r>
          </a:p>
          <a:p>
            <a:r>
              <a:rPr lang="zh-CN" altLang="en-US" sz="2800" dirty="0"/>
              <a:t>     7    10</a:t>
            </a:r>
          </a:p>
          <a:p>
            <a:r>
              <a:rPr lang="zh-CN" altLang="en-US" sz="2800" dirty="0"/>
              <a:t>    15    22</a:t>
            </a:r>
          </a:p>
        </p:txBody>
      </p:sp>
      <p:sp>
        <p:nvSpPr>
          <p:cNvPr id="10" name="矩形 9"/>
          <p:cNvSpPr/>
          <p:nvPr/>
        </p:nvSpPr>
        <p:spPr>
          <a:xfrm>
            <a:off x="4554583" y="2788423"/>
            <a:ext cx="3770811" cy="3970318"/>
          </a:xfrm>
          <a:prstGeom prst="rect">
            <a:avLst/>
          </a:prstGeom>
        </p:spPr>
        <p:txBody>
          <a:bodyPr wrap="square">
            <a:spAutoFit/>
          </a:bodyPr>
          <a:lstStyle/>
          <a:p>
            <a:r>
              <a:rPr lang="zh-CN" altLang="en-US" sz="2800" dirty="0"/>
              <a:t>&gt;&gt; a=[1 2;3 4];</a:t>
            </a:r>
          </a:p>
          <a:p>
            <a:r>
              <a:rPr lang="zh-CN" altLang="en-US" sz="2800" dirty="0"/>
              <a:t>&gt;&gt; y=</a:t>
            </a:r>
            <a:r>
              <a:rPr lang="zh-CN" altLang="en-US" sz="2800" dirty="0">
                <a:solidFill>
                  <a:srgbClr val="FF0000"/>
                </a:solidFill>
              </a:rPr>
              <a:t>a^-2</a:t>
            </a:r>
          </a:p>
          <a:p>
            <a:r>
              <a:rPr lang="zh-CN" altLang="en-US" sz="2800" dirty="0"/>
              <a:t>y =</a:t>
            </a:r>
          </a:p>
          <a:p>
            <a:r>
              <a:rPr lang="zh-CN" altLang="en-US" sz="2800" dirty="0"/>
              <a:t>    5.5000   -2.5000</a:t>
            </a:r>
          </a:p>
          <a:p>
            <a:r>
              <a:rPr lang="zh-CN" altLang="en-US" sz="2800" dirty="0"/>
              <a:t>   -3.7500    1.7500</a:t>
            </a:r>
          </a:p>
          <a:p>
            <a:r>
              <a:rPr lang="zh-CN" altLang="en-US" sz="2800" dirty="0"/>
              <a:t>&gt;&gt; a_1=inv(a);</a:t>
            </a:r>
            <a:r>
              <a:rPr lang="zh-CN" altLang="en-US" sz="2800" dirty="0">
                <a:solidFill>
                  <a:srgbClr val="FF0000"/>
                </a:solidFill>
              </a:rPr>
              <a:t>a_1*a_1</a:t>
            </a:r>
          </a:p>
          <a:p>
            <a:r>
              <a:rPr lang="zh-CN" altLang="en-US" sz="2800" dirty="0"/>
              <a:t>ans =</a:t>
            </a:r>
          </a:p>
          <a:p>
            <a:r>
              <a:rPr lang="zh-CN" altLang="en-US" sz="2800" dirty="0"/>
              <a:t>    5.5000   -2.5000</a:t>
            </a:r>
          </a:p>
          <a:p>
            <a:r>
              <a:rPr lang="zh-CN" altLang="en-US" sz="2800" dirty="0"/>
              <a:t>   -3.7500    1.7500</a:t>
            </a:r>
          </a:p>
        </p:txBody>
      </p:sp>
    </p:spTree>
    <p:extLst>
      <p:ext uri="{BB962C8B-B14F-4D97-AF65-F5344CB8AC3E}">
        <p14:creationId xmlns:p14="http://schemas.microsoft.com/office/powerpoint/2010/main" val="260426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51822" y="720694"/>
            <a:ext cx="4403578" cy="1200329"/>
          </a:xfrm>
          <a:prstGeom prst="rect">
            <a:avLst/>
          </a:prstGeom>
          <a:noFill/>
        </p:spPr>
        <p:txBody>
          <a:bodyPr wrap="none" rtlCol="0">
            <a:spAutoFit/>
          </a:bodyPr>
          <a:lstStyle/>
          <a:p>
            <a:r>
              <a:rPr lang="zh-CN" altLang="en-US" sz="2400" dirty="0"/>
              <a:t>（</a:t>
            </a:r>
            <a:r>
              <a:rPr lang="en-US" altLang="zh-CN" sz="2400" dirty="0"/>
              <a:t>3</a:t>
            </a:r>
            <a:r>
              <a:rPr lang="zh-CN" altLang="en-US" sz="2400" dirty="0"/>
              <a:t>）标量</a:t>
            </a:r>
            <a:r>
              <a:rPr lang="en-US" altLang="zh-CN" sz="2400" dirty="0"/>
              <a:t>^</a:t>
            </a:r>
            <a:r>
              <a:rPr lang="zh-CN" altLang="en-US" sz="2400" dirty="0"/>
              <a:t>方阵</a:t>
            </a:r>
            <a:endParaRPr lang="en-US" altLang="zh-CN" sz="2400" dirty="0"/>
          </a:p>
          <a:p>
            <a:pPr marL="342900" indent="-342900">
              <a:buFont typeface="Arial" panose="020B0604020202020204" pitchFamily="34" charset="0"/>
              <a:buChar char="•"/>
            </a:pPr>
            <a:r>
              <a:rPr lang="zh-CN" altLang="en-US" sz="2400" dirty="0"/>
              <a:t>当</a:t>
            </a:r>
            <a:r>
              <a:rPr lang="en-US" altLang="zh-CN" sz="2400" dirty="0"/>
              <a:t>p </a:t>
            </a:r>
            <a:r>
              <a:rPr lang="zh-CN" altLang="en-US" sz="2400" dirty="0"/>
              <a:t>是方阵而</a:t>
            </a:r>
            <a:r>
              <a:rPr lang="en-US" altLang="zh-CN" sz="2400" dirty="0"/>
              <a:t>a</a:t>
            </a:r>
            <a:r>
              <a:rPr lang="zh-CN" altLang="en-US" sz="2400" dirty="0"/>
              <a:t>是标量时，</a:t>
            </a:r>
            <a:br>
              <a:rPr lang="en-US" altLang="zh-CN" sz="2400" dirty="0"/>
            </a:br>
            <a:r>
              <a:rPr lang="en-US" altLang="zh-CN" sz="2400" dirty="0" err="1"/>
              <a:t>a^p</a:t>
            </a:r>
            <a:r>
              <a:rPr lang="en-US" altLang="zh-CN" sz="2400" dirty="0"/>
              <a:t>=V*</a:t>
            </a:r>
            <a:r>
              <a:rPr lang="en-US" altLang="zh-CN" sz="2400" dirty="0" err="1"/>
              <a:t>a^D</a:t>
            </a:r>
            <a:r>
              <a:rPr lang="en-US" altLang="zh-CN" sz="2400" dirty="0"/>
              <a:t>/V,</a:t>
            </a:r>
            <a:r>
              <a:rPr lang="zh-CN" altLang="en-US" sz="2400" dirty="0"/>
              <a:t>其中</a:t>
            </a:r>
            <a:r>
              <a:rPr lang="en-US" altLang="zh-CN" sz="2400" dirty="0"/>
              <a:t>[V,D]=</a:t>
            </a:r>
            <a:r>
              <a:rPr lang="en-US" altLang="zh-CN" sz="2400" dirty="0" err="1"/>
              <a:t>eig</a:t>
            </a:r>
            <a:r>
              <a:rPr lang="en-US" altLang="zh-CN" sz="2400" dirty="0"/>
              <a:t>(p)</a:t>
            </a:r>
            <a:endParaRPr lang="zh-CN" altLang="en-US" sz="2400" dirty="0"/>
          </a:p>
        </p:txBody>
      </p:sp>
      <p:sp>
        <p:nvSpPr>
          <p:cNvPr id="5" name="矩形 4"/>
          <p:cNvSpPr/>
          <p:nvPr/>
        </p:nvSpPr>
        <p:spPr>
          <a:xfrm>
            <a:off x="843412" y="2231286"/>
            <a:ext cx="2586182" cy="1938992"/>
          </a:xfrm>
          <a:prstGeom prst="rect">
            <a:avLst/>
          </a:prstGeom>
        </p:spPr>
        <p:txBody>
          <a:bodyPr wrap="square">
            <a:spAutoFit/>
          </a:bodyPr>
          <a:lstStyle/>
          <a:p>
            <a:r>
              <a:rPr lang="zh-CN" altLang="en-US" sz="2400" dirty="0"/>
              <a:t>&gt;&gt; p = [0 1; 1 0];</a:t>
            </a:r>
          </a:p>
          <a:p>
            <a:r>
              <a:rPr lang="zh-CN" altLang="en-US" sz="2400" dirty="0"/>
              <a:t>&gt;&gt; x = 2^p</a:t>
            </a:r>
          </a:p>
          <a:p>
            <a:r>
              <a:rPr lang="zh-CN" altLang="en-US" sz="2400" dirty="0"/>
              <a:t>x =</a:t>
            </a:r>
          </a:p>
          <a:p>
            <a:r>
              <a:rPr lang="zh-CN" altLang="en-US" sz="2400" dirty="0"/>
              <a:t>    1.2500    0.7500</a:t>
            </a:r>
          </a:p>
          <a:p>
            <a:r>
              <a:rPr lang="zh-CN" altLang="en-US" sz="2400" dirty="0"/>
              <a:t>    0.7500    1.2500</a:t>
            </a:r>
          </a:p>
        </p:txBody>
      </p:sp>
      <p:grpSp>
        <p:nvGrpSpPr>
          <p:cNvPr id="8" name="组合 7"/>
          <p:cNvGrpSpPr/>
          <p:nvPr/>
        </p:nvGrpSpPr>
        <p:grpSpPr>
          <a:xfrm>
            <a:off x="4379285" y="2349197"/>
            <a:ext cx="2236510" cy="1510592"/>
            <a:chOff x="4379285" y="2349197"/>
            <a:chExt cx="2236510" cy="1510592"/>
          </a:xfrm>
        </p:grpSpPr>
        <mc:AlternateContent xmlns:mc="http://schemas.openxmlformats.org/markup-compatibility/2006" xmlns:a14="http://schemas.microsoft.com/office/drawing/2010/main">
          <mc:Choice Requires="a14">
            <p:sp>
              <p:nvSpPr>
                <p:cNvPr id="6" name="文本框 5"/>
                <p:cNvSpPr txBox="1"/>
                <p:nvPr/>
              </p:nvSpPr>
              <p:spPr>
                <a:xfrm>
                  <a:off x="4379285" y="2349197"/>
                  <a:ext cx="1352230" cy="8352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3600" i="1" smtClean="0">
                                <a:latin typeface="Cambria Math" panose="02040503050406030204" pitchFamily="18" charset="0"/>
                              </a:rPr>
                            </m:ctrlPr>
                          </m:sSupPr>
                          <m:e>
                            <m:r>
                              <a:rPr lang="en-US" altLang="zh-CN" sz="3600" b="0" i="1" smtClean="0">
                                <a:latin typeface="Cambria Math" panose="02040503050406030204" pitchFamily="18" charset="0"/>
                              </a:rPr>
                              <m:t>2</m:t>
                            </m:r>
                          </m:e>
                          <m:sup>
                            <m:d>
                              <m:dPr>
                                <m:begChr m:val="["/>
                                <m:endChr m:val="]"/>
                                <m:ctrlPr>
                                  <a:rPr lang="en-US" altLang="zh-CN" sz="3600" i="1" smtClean="0">
                                    <a:latin typeface="Cambria Math" panose="02040503050406030204" pitchFamily="18" charset="0"/>
                                  </a:rPr>
                                </m:ctrlPr>
                              </m:dPr>
                              <m:e>
                                <m:m>
                                  <m:mPr>
                                    <m:mcs>
                                      <m:mc>
                                        <m:mcPr>
                                          <m:count m:val="2"/>
                                          <m:mcJc m:val="center"/>
                                        </m:mcPr>
                                      </m:mc>
                                    </m:mcs>
                                    <m:ctrlPr>
                                      <a:rPr lang="en-US" altLang="zh-CN" sz="3600" i="1" smtClean="0">
                                        <a:latin typeface="Cambria Math" panose="02040503050406030204" pitchFamily="18" charset="0"/>
                                      </a:rPr>
                                    </m:ctrlPr>
                                  </m:mPr>
                                  <m:mr>
                                    <m:e>
                                      <m:r>
                                        <m:rPr>
                                          <m:brk m:alnAt="7"/>
                                        </m:rPr>
                                        <a:rPr lang="en-US" altLang="zh-CN" sz="3600" b="0" i="1" smtClean="0">
                                          <a:latin typeface="Cambria Math" panose="02040503050406030204" pitchFamily="18" charset="0"/>
                                        </a:rPr>
                                        <m:t>0</m:t>
                                      </m:r>
                                    </m:e>
                                    <m:e>
                                      <m:r>
                                        <a:rPr lang="en-US" altLang="zh-CN" sz="3600" b="0" i="1" smtClean="0">
                                          <a:latin typeface="Cambria Math" panose="02040503050406030204" pitchFamily="18" charset="0"/>
                                        </a:rPr>
                                        <m:t>1</m:t>
                                      </m:r>
                                    </m:e>
                                  </m:mr>
                                  <m:mr>
                                    <m:e>
                                      <m:r>
                                        <a:rPr lang="en-US" altLang="zh-CN" sz="3600" b="0" i="1" smtClean="0">
                                          <a:latin typeface="Cambria Math" panose="02040503050406030204" pitchFamily="18" charset="0"/>
                                        </a:rPr>
                                        <m:t>1</m:t>
                                      </m:r>
                                    </m:e>
                                    <m:e>
                                      <m:r>
                                        <a:rPr lang="en-US" altLang="zh-CN" sz="3600" b="0" i="1" smtClean="0">
                                          <a:latin typeface="Cambria Math" panose="02040503050406030204" pitchFamily="18" charset="0"/>
                                        </a:rPr>
                                        <m:t>0</m:t>
                                      </m:r>
                                    </m:e>
                                  </m:mr>
                                </m:m>
                              </m:e>
                            </m:d>
                          </m:sup>
                        </m:sSup>
                      </m:oMath>
                    </m:oMathPara>
                  </a14:m>
                  <a:endParaRPr lang="zh-CN" altLang="en-US" sz="3600" dirty="0"/>
                </a:p>
              </p:txBody>
            </p:sp>
          </mc:Choice>
          <mc:Fallback xmlns="">
            <p:sp>
              <p:nvSpPr>
                <p:cNvPr id="6" name="文本框 5"/>
                <p:cNvSpPr txBox="1">
                  <a:spLocks noRot="1" noChangeAspect="1" noMove="1" noResize="1" noEditPoints="1" noAdjustHandles="1" noChangeArrowheads="1" noChangeShapeType="1" noTextEdit="1"/>
                </p:cNvSpPr>
                <p:nvPr/>
              </p:nvSpPr>
              <p:spPr>
                <a:xfrm>
                  <a:off x="4379285" y="2349197"/>
                  <a:ext cx="1352230" cy="835293"/>
                </a:xfrm>
                <a:prstGeom prst="rect">
                  <a:avLst/>
                </a:prstGeom>
                <a:blipFill rotWithShape="0">
                  <a:blip r:embed="rId2"/>
                  <a:stretch>
                    <a:fillRect/>
                  </a:stretch>
                </a:blipFill>
              </p:spPr>
              <p:txBody>
                <a:bodyPr/>
                <a:lstStyle/>
                <a:p>
                  <a:r>
                    <a:rPr lang="zh-CN" altLang="en-US">
                      <a:noFill/>
                    </a:rPr>
                    <a:t> </a:t>
                  </a:r>
                </a:p>
              </p:txBody>
            </p:sp>
          </mc:Fallback>
        </mc:AlternateContent>
        <p:sp>
          <p:nvSpPr>
            <p:cNvPr id="7" name="文本框 6"/>
            <p:cNvSpPr txBox="1"/>
            <p:nvPr/>
          </p:nvSpPr>
          <p:spPr>
            <a:xfrm>
              <a:off x="4379285" y="3459679"/>
              <a:ext cx="2236510" cy="400110"/>
            </a:xfrm>
            <a:prstGeom prst="rect">
              <a:avLst/>
            </a:prstGeom>
            <a:noFill/>
          </p:spPr>
          <p:txBody>
            <a:bodyPr wrap="none" rtlCol="0">
              <a:spAutoFit/>
            </a:bodyPr>
            <a:lstStyle/>
            <a:p>
              <a:r>
                <a:rPr lang="zh-CN" altLang="en-US" sz="2000" dirty="0">
                  <a:solidFill>
                    <a:srgbClr val="FF0000"/>
                  </a:solidFill>
                </a:rPr>
                <a:t>数学意义是什么？</a:t>
              </a:r>
            </a:p>
          </p:txBody>
        </p:sp>
      </p:grpSp>
    </p:spTree>
    <p:extLst>
      <p:ext uri="{BB962C8B-B14F-4D97-AF65-F5344CB8AC3E}">
        <p14:creationId xmlns:p14="http://schemas.microsoft.com/office/powerpoint/2010/main" val="221946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en-US" altLang="zh-CN" dirty="0"/>
              <a:t>3.2 </a:t>
            </a:r>
            <a:r>
              <a:rPr lang="zh-CN" altLang="en-US" dirty="0"/>
              <a:t>点运算</a:t>
            </a:r>
          </a:p>
        </p:txBody>
      </p:sp>
      <p:sp>
        <p:nvSpPr>
          <p:cNvPr id="5" name="内容占位符 2"/>
          <p:cNvSpPr>
            <a:spLocks noGrp="1"/>
          </p:cNvSpPr>
          <p:nvPr>
            <p:ph idx="1"/>
          </p:nvPr>
        </p:nvSpPr>
        <p:spPr>
          <a:xfrm>
            <a:off x="1454331" y="1610566"/>
            <a:ext cx="6670766" cy="1353004"/>
          </a:xfrm>
        </p:spPr>
        <p:txBody>
          <a:bodyPr>
            <a:noAutofit/>
          </a:bodyPr>
          <a:lstStyle/>
          <a:p>
            <a:pPr lvl="4">
              <a:buNone/>
            </a:pPr>
            <a:r>
              <a:rPr lang="en-US" altLang="zh-CN" sz="3200" b="1" dirty="0">
                <a:solidFill>
                  <a:srgbClr val="0000FF"/>
                </a:solidFill>
                <a:latin typeface="华文中宋" panose="02010600040101010101" pitchFamily="2" charset="-122"/>
                <a:ea typeface="华文中宋" panose="02010600040101010101" pitchFamily="2" charset="-122"/>
              </a:rPr>
              <a:t>.*</a:t>
            </a:r>
            <a:r>
              <a:rPr lang="en-US" altLang="zh-CN"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点乘</a:t>
            </a:r>
            <a:r>
              <a:rPr lang="en-US" altLang="zh-CN" sz="2400" b="1" dirty="0">
                <a:solidFill>
                  <a:srgbClr val="0000FF"/>
                </a:solidFill>
                <a:latin typeface="华文中宋" panose="02010600040101010101" pitchFamily="2" charset="-122"/>
                <a:ea typeface="华文中宋" panose="02010600040101010101" pitchFamily="2" charset="-122"/>
              </a:rPr>
              <a:t>)</a:t>
            </a:r>
          </a:p>
          <a:p>
            <a:pPr lvl="4">
              <a:buNone/>
            </a:pPr>
            <a:r>
              <a:rPr lang="en-US" altLang="zh-CN" sz="3200" b="1" dirty="0">
                <a:solidFill>
                  <a:srgbClr val="0000FF"/>
                </a:solidFill>
                <a:latin typeface="华文中宋" panose="02010600040101010101" pitchFamily="2" charset="-122"/>
                <a:ea typeface="华文中宋" panose="02010600040101010101" pitchFamily="2" charset="-122"/>
              </a:rPr>
              <a:t>./</a:t>
            </a:r>
            <a:r>
              <a:rPr lang="en-US" altLang="zh-CN"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点除</a:t>
            </a:r>
            <a:r>
              <a:rPr lang="en-US" altLang="zh-CN" sz="2400" b="1" dirty="0">
                <a:solidFill>
                  <a:srgbClr val="0000FF"/>
                </a:solidFill>
                <a:latin typeface="华文中宋" panose="02010600040101010101" pitchFamily="2" charset="-122"/>
                <a:ea typeface="华文中宋" panose="02010600040101010101" pitchFamily="2" charset="-122"/>
              </a:rPr>
              <a:t>)</a:t>
            </a:r>
          </a:p>
          <a:p>
            <a:pPr lvl="4">
              <a:buNone/>
            </a:pPr>
            <a:r>
              <a:rPr lang="en-US" altLang="zh-CN" sz="3200" b="1" dirty="0">
                <a:solidFill>
                  <a:srgbClr val="0000FF"/>
                </a:solidFill>
                <a:latin typeface="华文中宋" panose="02010600040101010101" pitchFamily="2" charset="-122"/>
                <a:ea typeface="华文中宋" panose="02010600040101010101" pitchFamily="2" charset="-122"/>
              </a:rPr>
              <a:t>.^</a:t>
            </a:r>
            <a:r>
              <a:rPr lang="en-US" altLang="zh-CN" sz="2400" b="1" dirty="0">
                <a:solidFill>
                  <a:srgbClr val="0000FF"/>
                </a:solidFill>
                <a:latin typeface="华文中宋" panose="02010600040101010101" pitchFamily="2" charset="-122"/>
                <a:ea typeface="华文中宋" panose="02010600040101010101" pitchFamily="2" charset="-122"/>
              </a:rPr>
              <a:t>                   (</a:t>
            </a:r>
            <a:r>
              <a:rPr lang="zh-CN" altLang="en-US" sz="2400" b="1" dirty="0">
                <a:solidFill>
                  <a:srgbClr val="0000FF"/>
                </a:solidFill>
                <a:latin typeface="华文中宋" panose="02010600040101010101" pitchFamily="2" charset="-122"/>
                <a:ea typeface="华文中宋" panose="02010600040101010101" pitchFamily="2" charset="-122"/>
              </a:rPr>
              <a:t>点乘方</a:t>
            </a:r>
            <a:r>
              <a:rPr lang="en-US" altLang="zh-CN" sz="2400" b="1" dirty="0">
                <a:solidFill>
                  <a:srgbClr val="0000FF"/>
                </a:solidFill>
                <a:latin typeface="华文中宋" panose="02010600040101010101" pitchFamily="2" charset="-122"/>
                <a:ea typeface="华文中宋" panose="02010600040101010101" pitchFamily="2" charset="-122"/>
              </a:rPr>
              <a:t>)</a:t>
            </a:r>
          </a:p>
        </p:txBody>
      </p:sp>
      <p:sp>
        <p:nvSpPr>
          <p:cNvPr id="6" name="矩形 5"/>
          <p:cNvSpPr/>
          <p:nvPr/>
        </p:nvSpPr>
        <p:spPr>
          <a:xfrm>
            <a:off x="1622852" y="3369383"/>
            <a:ext cx="8327921" cy="1200329"/>
          </a:xfrm>
          <a:prstGeom prst="rect">
            <a:avLst/>
          </a:prstGeom>
        </p:spPr>
        <p:txBody>
          <a:bodyPr wrap="none">
            <a:spAutoFit/>
          </a:bodyPr>
          <a:lstStyle/>
          <a:p>
            <a:r>
              <a:rPr lang="en-US" altLang="zh-CN" sz="2400" dirty="0">
                <a:solidFill>
                  <a:srgbClr val="404040"/>
                </a:solidFill>
                <a:latin typeface="Arial" panose="020B0604020202020204" pitchFamily="34" charset="0"/>
              </a:rPr>
              <a:t>1</a:t>
            </a:r>
            <a:r>
              <a:rPr lang="zh-CN" altLang="en-US" sz="2400" dirty="0">
                <a:solidFill>
                  <a:srgbClr val="404040"/>
                </a:solidFill>
                <a:latin typeface="Arial" panose="020B0604020202020204" pitchFamily="34" charset="0"/>
              </a:rPr>
              <a:t>、元素和元素之间的一对一进行操作运算（</a:t>
            </a:r>
            <a:r>
              <a:rPr lang="en-US" altLang="zh-CN" sz="2400" dirty="0">
                <a:solidFill>
                  <a:srgbClr val="404040"/>
                </a:solidFill>
                <a:latin typeface="Arial" panose="020B0604020202020204" pitchFamily="34" charset="0"/>
              </a:rPr>
              <a:t>element-wise</a:t>
            </a:r>
            <a:r>
              <a:rPr lang="zh-CN" altLang="en-US" sz="2400" dirty="0">
                <a:solidFill>
                  <a:srgbClr val="404040"/>
                </a:solidFill>
                <a:latin typeface="Arial" panose="020B0604020202020204" pitchFamily="34" charset="0"/>
              </a:rPr>
              <a:t>）</a:t>
            </a:r>
            <a:endParaRPr lang="en-US" altLang="zh-CN" sz="2400" dirty="0">
              <a:solidFill>
                <a:srgbClr val="404040"/>
              </a:solidFill>
              <a:latin typeface="Arial" panose="020B0604020202020204" pitchFamily="34" charset="0"/>
            </a:endParaRPr>
          </a:p>
          <a:p>
            <a:r>
              <a:rPr lang="en-US" altLang="zh-CN" sz="2400" dirty="0">
                <a:solidFill>
                  <a:srgbClr val="404040"/>
                </a:solidFill>
                <a:latin typeface="Arial" panose="020B0604020202020204" pitchFamily="34" charset="0"/>
              </a:rPr>
              <a:t>2</a:t>
            </a:r>
            <a:r>
              <a:rPr lang="zh-CN" altLang="en-US" sz="2400" dirty="0">
                <a:solidFill>
                  <a:srgbClr val="404040"/>
                </a:solidFill>
                <a:latin typeface="Arial" panose="020B0604020202020204" pitchFamily="34" charset="0"/>
              </a:rPr>
              <a:t>、都要求左右两边的操作数大小要一致</a:t>
            </a:r>
            <a:endParaRPr lang="en-US" altLang="zh-CN" sz="2400" dirty="0">
              <a:solidFill>
                <a:srgbClr val="404040"/>
              </a:solidFill>
              <a:latin typeface="Arial" panose="020B0604020202020204" pitchFamily="34" charset="0"/>
            </a:endParaRPr>
          </a:p>
          <a:p>
            <a:r>
              <a:rPr lang="en-US" altLang="zh-CN" sz="2400" dirty="0">
                <a:solidFill>
                  <a:srgbClr val="404040"/>
                </a:solidFill>
                <a:latin typeface="Arial" panose="020B0604020202020204" pitchFamily="34" charset="0"/>
              </a:rPr>
              <a:t>3</a:t>
            </a:r>
            <a:r>
              <a:rPr lang="zh-CN" altLang="en-US" sz="2400" dirty="0">
                <a:solidFill>
                  <a:srgbClr val="404040"/>
                </a:solidFill>
                <a:latin typeface="Arial" panose="020B0604020202020204" pitchFamily="34" charset="0"/>
              </a:rPr>
              <a:t>、在书写上，它们中间不能有空格</a:t>
            </a:r>
            <a:endParaRPr lang="zh-CN" altLang="en-US" sz="2400" dirty="0"/>
          </a:p>
        </p:txBody>
      </p:sp>
      <p:pic>
        <p:nvPicPr>
          <p:cNvPr id="7" name="图片 6"/>
          <p:cNvPicPr>
            <a:picLocks noChangeAspect="1"/>
          </p:cNvPicPr>
          <p:nvPr/>
        </p:nvPicPr>
        <p:blipFill>
          <a:blip r:embed="rId2"/>
          <a:stretch>
            <a:fillRect/>
          </a:stretch>
        </p:blipFill>
        <p:spPr>
          <a:xfrm>
            <a:off x="2273617" y="4569712"/>
            <a:ext cx="6181725" cy="1409700"/>
          </a:xfrm>
          <a:prstGeom prst="rect">
            <a:avLst/>
          </a:prstGeom>
        </p:spPr>
      </p:pic>
    </p:spTree>
    <p:extLst>
      <p:ext uri="{BB962C8B-B14F-4D97-AF65-F5344CB8AC3E}">
        <p14:creationId xmlns:p14="http://schemas.microsoft.com/office/powerpoint/2010/main" val="337846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02081" y="1836565"/>
            <a:ext cx="1994262" cy="1938992"/>
          </a:xfrm>
          <a:prstGeom prst="rect">
            <a:avLst/>
          </a:prstGeom>
        </p:spPr>
        <p:txBody>
          <a:bodyPr wrap="square">
            <a:spAutoFit/>
          </a:bodyPr>
          <a:lstStyle/>
          <a:p>
            <a:r>
              <a:rPr lang="zh-CN" altLang="en-US" sz="2400" dirty="0"/>
              <a:t>&gt;&gt; A = [1 0 3];</a:t>
            </a:r>
          </a:p>
          <a:p>
            <a:r>
              <a:rPr lang="zh-CN" altLang="en-US" sz="2400" dirty="0"/>
              <a:t>&gt;&gt; B = [2 3 7];</a:t>
            </a:r>
          </a:p>
          <a:p>
            <a:r>
              <a:rPr lang="zh-CN" altLang="en-US" sz="2400" dirty="0"/>
              <a:t>&gt;&gt; C = A</a:t>
            </a:r>
            <a:r>
              <a:rPr lang="zh-CN" altLang="en-US" sz="2400" dirty="0">
                <a:solidFill>
                  <a:srgbClr val="FF0000"/>
                </a:solidFill>
              </a:rPr>
              <a:t>.*</a:t>
            </a:r>
            <a:r>
              <a:rPr lang="zh-CN" altLang="en-US" sz="2400" dirty="0"/>
              <a:t>B</a:t>
            </a:r>
          </a:p>
          <a:p>
            <a:r>
              <a:rPr lang="zh-CN" altLang="en-US" sz="2400" dirty="0"/>
              <a:t>C =</a:t>
            </a:r>
          </a:p>
          <a:p>
            <a:r>
              <a:rPr lang="zh-CN" altLang="en-US" sz="2400" dirty="0"/>
              <a:t>     2     0    21</a:t>
            </a:r>
          </a:p>
        </p:txBody>
      </p:sp>
      <p:sp>
        <p:nvSpPr>
          <p:cNvPr id="3" name="矩形 2"/>
          <p:cNvSpPr/>
          <p:nvPr/>
        </p:nvSpPr>
        <p:spPr>
          <a:xfrm>
            <a:off x="5059681" y="687034"/>
            <a:ext cx="3457303" cy="5632311"/>
          </a:xfrm>
          <a:prstGeom prst="rect">
            <a:avLst/>
          </a:prstGeom>
        </p:spPr>
        <p:txBody>
          <a:bodyPr wrap="square">
            <a:spAutoFit/>
          </a:bodyPr>
          <a:lstStyle/>
          <a:p>
            <a:r>
              <a:rPr lang="zh-CN" altLang="en-US" sz="2400" dirty="0"/>
              <a:t>&gt;&gt; A = [1 0 3; 5 3 8; 2 4 6]</a:t>
            </a:r>
          </a:p>
          <a:p>
            <a:r>
              <a:rPr lang="zh-CN" altLang="en-US" sz="2400" dirty="0"/>
              <a:t>A =</a:t>
            </a:r>
          </a:p>
          <a:p>
            <a:r>
              <a:rPr lang="zh-CN" altLang="en-US" sz="2400" dirty="0"/>
              <a:t>     1     0     3</a:t>
            </a:r>
          </a:p>
          <a:p>
            <a:r>
              <a:rPr lang="zh-CN" altLang="en-US" sz="2400" dirty="0"/>
              <a:t>     5     3     </a:t>
            </a:r>
            <a:r>
              <a:rPr lang="zh-CN" altLang="en-US" sz="2400" dirty="0">
                <a:solidFill>
                  <a:srgbClr val="FF0000"/>
                </a:solidFill>
              </a:rPr>
              <a:t>8</a:t>
            </a:r>
          </a:p>
          <a:p>
            <a:r>
              <a:rPr lang="zh-CN" altLang="en-US" sz="2400" dirty="0"/>
              <a:t>     2     </a:t>
            </a:r>
            <a:r>
              <a:rPr lang="zh-CN" altLang="en-US" sz="2400" dirty="0">
                <a:solidFill>
                  <a:srgbClr val="00B050"/>
                </a:solidFill>
              </a:rPr>
              <a:t>4</a:t>
            </a:r>
            <a:r>
              <a:rPr lang="zh-CN" altLang="en-US" sz="2400" dirty="0"/>
              <a:t>     6</a:t>
            </a:r>
          </a:p>
          <a:p>
            <a:r>
              <a:rPr lang="zh-CN" altLang="en-US" sz="2400" dirty="0"/>
              <a:t>&gt;&gt; B = [2 3 7; 9 1 5; 8 8 3]</a:t>
            </a:r>
          </a:p>
          <a:p>
            <a:r>
              <a:rPr lang="zh-CN" altLang="en-US" sz="2400" dirty="0"/>
              <a:t>B =</a:t>
            </a:r>
          </a:p>
          <a:p>
            <a:r>
              <a:rPr lang="zh-CN" altLang="en-US" sz="2400" dirty="0"/>
              <a:t>     2     3     7</a:t>
            </a:r>
          </a:p>
          <a:p>
            <a:r>
              <a:rPr lang="zh-CN" altLang="en-US" sz="2400" dirty="0"/>
              <a:t>     9     1     </a:t>
            </a:r>
            <a:r>
              <a:rPr lang="zh-CN" altLang="en-US" sz="2400" dirty="0">
                <a:solidFill>
                  <a:srgbClr val="FF0000"/>
                </a:solidFill>
              </a:rPr>
              <a:t>5</a:t>
            </a:r>
          </a:p>
          <a:p>
            <a:r>
              <a:rPr lang="zh-CN" altLang="en-US" sz="2400" dirty="0"/>
              <a:t>     8     </a:t>
            </a:r>
            <a:r>
              <a:rPr lang="zh-CN" altLang="en-US" sz="2400" dirty="0">
                <a:solidFill>
                  <a:srgbClr val="00B050"/>
                </a:solidFill>
              </a:rPr>
              <a:t>8</a:t>
            </a:r>
            <a:r>
              <a:rPr lang="zh-CN" altLang="en-US" sz="2400" dirty="0"/>
              <a:t>     3</a:t>
            </a:r>
          </a:p>
          <a:p>
            <a:r>
              <a:rPr lang="zh-CN" altLang="en-US" sz="2400" dirty="0"/>
              <a:t>&gt;&gt; C = A</a:t>
            </a:r>
            <a:r>
              <a:rPr lang="zh-CN" altLang="en-US" sz="2400" dirty="0">
                <a:solidFill>
                  <a:srgbClr val="FF0000"/>
                </a:solidFill>
              </a:rPr>
              <a:t>.*</a:t>
            </a:r>
            <a:r>
              <a:rPr lang="zh-CN" altLang="en-US" sz="2400" dirty="0"/>
              <a:t>B</a:t>
            </a:r>
          </a:p>
          <a:p>
            <a:r>
              <a:rPr lang="zh-CN" altLang="en-US" sz="2400" dirty="0"/>
              <a:t>C =</a:t>
            </a:r>
          </a:p>
          <a:p>
            <a:r>
              <a:rPr lang="zh-CN" altLang="en-US" sz="2400" dirty="0"/>
              <a:t>      2      0    21</a:t>
            </a:r>
          </a:p>
          <a:p>
            <a:r>
              <a:rPr lang="zh-CN" altLang="en-US" sz="2400" dirty="0"/>
              <a:t>    45      3    </a:t>
            </a:r>
            <a:r>
              <a:rPr lang="zh-CN" altLang="en-US" sz="2400" dirty="0">
                <a:solidFill>
                  <a:srgbClr val="FF0000"/>
                </a:solidFill>
              </a:rPr>
              <a:t>40</a:t>
            </a:r>
          </a:p>
          <a:p>
            <a:r>
              <a:rPr lang="zh-CN" altLang="en-US" sz="2400" dirty="0"/>
              <a:t>    16    </a:t>
            </a:r>
            <a:r>
              <a:rPr lang="zh-CN" altLang="en-US" sz="2400" dirty="0">
                <a:solidFill>
                  <a:srgbClr val="00B050"/>
                </a:solidFill>
              </a:rPr>
              <a:t>32</a:t>
            </a:r>
            <a:r>
              <a:rPr lang="zh-CN" altLang="en-US" sz="2400" dirty="0"/>
              <a:t>    18</a:t>
            </a:r>
          </a:p>
        </p:txBody>
      </p:sp>
    </p:spTree>
    <p:extLst>
      <p:ext uri="{BB962C8B-B14F-4D97-AF65-F5344CB8AC3E}">
        <p14:creationId xmlns:p14="http://schemas.microsoft.com/office/powerpoint/2010/main" val="24473826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2552836" y="1295128"/>
            <a:ext cx="6981825" cy="3257550"/>
          </a:xfrm>
          <a:prstGeom prst="rect">
            <a:avLst/>
          </a:prstGeom>
        </p:spPr>
      </p:pic>
    </p:spTree>
    <p:extLst>
      <p:ext uri="{BB962C8B-B14F-4D97-AF65-F5344CB8AC3E}">
        <p14:creationId xmlns:p14="http://schemas.microsoft.com/office/powerpoint/2010/main" val="2698742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52450" y="280987"/>
            <a:ext cx="3448050" cy="981075"/>
          </a:xfrm>
          <a:prstGeom prst="rect">
            <a:avLst/>
          </a:prstGeom>
        </p:spPr>
      </p:pic>
      <p:pic>
        <p:nvPicPr>
          <p:cNvPr id="5" name="图片 4"/>
          <p:cNvPicPr>
            <a:picLocks noChangeAspect="1"/>
          </p:cNvPicPr>
          <p:nvPr/>
        </p:nvPicPr>
        <p:blipFill rotWithShape="1">
          <a:blip r:embed="rId3"/>
          <a:srcRect r="42053"/>
          <a:stretch/>
        </p:blipFill>
        <p:spPr>
          <a:xfrm>
            <a:off x="839834" y="1894794"/>
            <a:ext cx="3958590" cy="4263967"/>
          </a:xfrm>
          <a:prstGeom prst="rect">
            <a:avLst/>
          </a:prstGeom>
        </p:spPr>
      </p:pic>
      <p:pic>
        <p:nvPicPr>
          <p:cNvPr id="6" name="图片 5"/>
          <p:cNvPicPr>
            <a:picLocks noChangeAspect="1"/>
          </p:cNvPicPr>
          <p:nvPr/>
        </p:nvPicPr>
        <p:blipFill>
          <a:blip r:embed="rId4"/>
          <a:stretch>
            <a:fillRect/>
          </a:stretch>
        </p:blipFill>
        <p:spPr>
          <a:xfrm>
            <a:off x="5661795" y="2234429"/>
            <a:ext cx="3078617" cy="3779797"/>
          </a:xfrm>
          <a:prstGeom prst="rect">
            <a:avLst/>
          </a:prstGeom>
        </p:spPr>
      </p:pic>
      <p:pic>
        <p:nvPicPr>
          <p:cNvPr id="7" name="图片 6"/>
          <p:cNvPicPr>
            <a:picLocks noChangeAspect="1"/>
          </p:cNvPicPr>
          <p:nvPr/>
        </p:nvPicPr>
        <p:blipFill>
          <a:blip r:embed="rId5"/>
          <a:stretch>
            <a:fillRect/>
          </a:stretch>
        </p:blipFill>
        <p:spPr>
          <a:xfrm>
            <a:off x="5568587" y="280987"/>
            <a:ext cx="3171825" cy="600075"/>
          </a:xfrm>
          <a:prstGeom prst="rect">
            <a:avLst/>
          </a:prstGeom>
        </p:spPr>
      </p:pic>
    </p:spTree>
    <p:extLst>
      <p:ext uri="{BB962C8B-B14F-4D97-AF65-F5344CB8AC3E}">
        <p14:creationId xmlns:p14="http://schemas.microsoft.com/office/powerpoint/2010/main" val="2946812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71154" y="740453"/>
            <a:ext cx="5608320" cy="2739211"/>
          </a:xfrm>
          <a:prstGeom prst="rect">
            <a:avLst/>
          </a:prstGeom>
        </p:spPr>
        <p:txBody>
          <a:bodyPr wrap="square">
            <a:spAutoFit/>
          </a:bodyPr>
          <a:lstStyle/>
          <a:p>
            <a:r>
              <a:rPr lang="zh-CN" altLang="en-US" sz="2800" dirty="0"/>
              <a:t>&gt;&gt; A = [2 4 6 8; 3 5 7 9];</a:t>
            </a:r>
          </a:p>
          <a:p>
            <a:r>
              <a:rPr lang="zh-CN" altLang="en-US" sz="2800" dirty="0"/>
              <a:t>&gt;&gt; B = 10*ones(2,4);</a:t>
            </a:r>
          </a:p>
          <a:p>
            <a:r>
              <a:rPr lang="zh-CN" altLang="en-US" sz="2800" dirty="0"/>
              <a:t>&gt;&gt; x = A</a:t>
            </a:r>
            <a:r>
              <a:rPr lang="zh-CN" altLang="en-US" sz="3200" dirty="0"/>
              <a:t>./</a:t>
            </a:r>
            <a:r>
              <a:rPr lang="zh-CN" altLang="en-US" sz="2800" dirty="0"/>
              <a:t>B</a:t>
            </a:r>
          </a:p>
          <a:p>
            <a:r>
              <a:rPr lang="zh-CN" altLang="en-US" sz="2800" dirty="0"/>
              <a:t>x =</a:t>
            </a:r>
          </a:p>
          <a:p>
            <a:r>
              <a:rPr lang="zh-CN" altLang="en-US" sz="2800" dirty="0"/>
              <a:t>    0.2000    0.4000    0.6000    0.8000</a:t>
            </a:r>
          </a:p>
          <a:p>
            <a:r>
              <a:rPr lang="zh-CN" altLang="en-US" sz="2800" dirty="0"/>
              <a:t>    0.3000    0.5000    0.7000    0.9000</a:t>
            </a:r>
          </a:p>
        </p:txBody>
      </p:sp>
    </p:spTree>
    <p:extLst>
      <p:ext uri="{BB962C8B-B14F-4D97-AF65-F5344CB8AC3E}">
        <p14:creationId xmlns:p14="http://schemas.microsoft.com/office/powerpoint/2010/main" val="39880918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62446" y="189806"/>
            <a:ext cx="6096000" cy="523220"/>
          </a:xfrm>
          <a:prstGeom prst="rect">
            <a:avLst/>
          </a:prstGeom>
        </p:spPr>
        <p:txBody>
          <a:bodyPr>
            <a:spAutoFit/>
          </a:bodyPr>
          <a:lstStyle/>
          <a:p>
            <a:r>
              <a:rPr lang="zh-CN" altLang="en-US" sz="2800" dirty="0"/>
              <a:t>&gt;&gt; y=[1 2 3]; x=[4 5 6];</a:t>
            </a:r>
          </a:p>
        </p:txBody>
      </p:sp>
      <p:sp>
        <p:nvSpPr>
          <p:cNvPr id="5" name="矩形 4"/>
          <p:cNvSpPr/>
          <p:nvPr/>
        </p:nvSpPr>
        <p:spPr>
          <a:xfrm>
            <a:off x="1062446" y="1140475"/>
            <a:ext cx="2508069" cy="1384995"/>
          </a:xfrm>
          <a:prstGeom prst="rect">
            <a:avLst/>
          </a:prstGeom>
        </p:spPr>
        <p:txBody>
          <a:bodyPr wrap="square">
            <a:spAutoFit/>
          </a:bodyPr>
          <a:lstStyle/>
          <a:p>
            <a:r>
              <a:rPr lang="zh-CN" altLang="en-US" sz="2800" dirty="0"/>
              <a:t>&gt;&gt; x.^y</a:t>
            </a:r>
          </a:p>
          <a:p>
            <a:r>
              <a:rPr lang="zh-CN" altLang="en-US" sz="2800" dirty="0"/>
              <a:t>ans =</a:t>
            </a:r>
          </a:p>
          <a:p>
            <a:r>
              <a:rPr lang="zh-CN" altLang="en-US" sz="2800" dirty="0"/>
              <a:t>     4    25   216</a:t>
            </a:r>
          </a:p>
        </p:txBody>
      </p:sp>
      <p:sp>
        <p:nvSpPr>
          <p:cNvPr id="6" name="矩形 5"/>
          <p:cNvSpPr/>
          <p:nvPr/>
        </p:nvSpPr>
        <p:spPr>
          <a:xfrm>
            <a:off x="6174377" y="2952919"/>
            <a:ext cx="2586446" cy="1815882"/>
          </a:xfrm>
          <a:prstGeom prst="rect">
            <a:avLst/>
          </a:prstGeom>
        </p:spPr>
        <p:txBody>
          <a:bodyPr wrap="square">
            <a:spAutoFit/>
          </a:bodyPr>
          <a:lstStyle/>
          <a:p>
            <a:r>
              <a:rPr lang="zh-CN" altLang="en-US" sz="2800" dirty="0"/>
              <a:t>&gt;&gt; 2.^[x;y]</a:t>
            </a:r>
          </a:p>
          <a:p>
            <a:r>
              <a:rPr lang="zh-CN" altLang="en-US" sz="2800" dirty="0"/>
              <a:t>ans =</a:t>
            </a:r>
          </a:p>
          <a:p>
            <a:r>
              <a:rPr lang="zh-CN" altLang="en-US" sz="2800" dirty="0"/>
              <a:t>    16    32    64</a:t>
            </a:r>
          </a:p>
          <a:p>
            <a:r>
              <a:rPr lang="zh-CN" altLang="en-US" sz="2800" dirty="0"/>
              <a:t>     2     4     8</a:t>
            </a:r>
          </a:p>
        </p:txBody>
      </p:sp>
      <p:sp>
        <p:nvSpPr>
          <p:cNvPr id="7" name="矩形 6"/>
          <p:cNvSpPr/>
          <p:nvPr/>
        </p:nvSpPr>
        <p:spPr>
          <a:xfrm>
            <a:off x="6113417" y="1140475"/>
            <a:ext cx="2412274" cy="1384995"/>
          </a:xfrm>
          <a:prstGeom prst="rect">
            <a:avLst/>
          </a:prstGeom>
        </p:spPr>
        <p:txBody>
          <a:bodyPr wrap="square">
            <a:spAutoFit/>
          </a:bodyPr>
          <a:lstStyle/>
          <a:p>
            <a:r>
              <a:rPr lang="zh-CN" altLang="en-US" sz="2800" dirty="0"/>
              <a:t>&gt;&gt; 2.^y</a:t>
            </a:r>
          </a:p>
          <a:p>
            <a:r>
              <a:rPr lang="zh-CN" altLang="en-US" sz="2800" dirty="0"/>
              <a:t>ans =</a:t>
            </a:r>
          </a:p>
          <a:p>
            <a:r>
              <a:rPr lang="zh-CN" altLang="en-US" sz="2800" dirty="0"/>
              <a:t>     2     4     8</a:t>
            </a:r>
          </a:p>
        </p:txBody>
      </p:sp>
      <p:sp>
        <p:nvSpPr>
          <p:cNvPr id="8" name="矩形 7"/>
          <p:cNvSpPr/>
          <p:nvPr/>
        </p:nvSpPr>
        <p:spPr>
          <a:xfrm>
            <a:off x="1062446" y="2952919"/>
            <a:ext cx="2420983" cy="1384995"/>
          </a:xfrm>
          <a:prstGeom prst="rect">
            <a:avLst/>
          </a:prstGeom>
        </p:spPr>
        <p:txBody>
          <a:bodyPr wrap="square">
            <a:spAutoFit/>
          </a:bodyPr>
          <a:lstStyle/>
          <a:p>
            <a:r>
              <a:rPr lang="zh-CN" altLang="en-US" sz="2800" dirty="0"/>
              <a:t>&gt;&gt; y.^2</a:t>
            </a:r>
          </a:p>
          <a:p>
            <a:r>
              <a:rPr lang="zh-CN" altLang="en-US" sz="2800" dirty="0"/>
              <a:t>ans =</a:t>
            </a:r>
          </a:p>
          <a:p>
            <a:r>
              <a:rPr lang="zh-CN" altLang="en-US" sz="2800" dirty="0"/>
              <a:t>     1     4     9</a:t>
            </a:r>
          </a:p>
        </p:txBody>
      </p:sp>
      <p:sp>
        <p:nvSpPr>
          <p:cNvPr id="9" name="文本框 8"/>
          <p:cNvSpPr txBox="1"/>
          <p:nvPr/>
        </p:nvSpPr>
        <p:spPr>
          <a:xfrm>
            <a:off x="2351315" y="1271104"/>
            <a:ext cx="2053767" cy="46166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b="1" dirty="0">
                <a:ln w="0"/>
                <a:solidFill>
                  <a:srgbClr val="FF0000"/>
                </a:solidFill>
                <a:effectLst>
                  <a:outerShdw blurRad="38100" dist="19050" dir="2700000" algn="tl" rotWithShape="0">
                    <a:schemeClr val="dk1">
                      <a:alpha val="40000"/>
                    </a:schemeClr>
                  </a:outerShdw>
                </a:effectLst>
              </a:rPr>
              <a:t>[4^1  5^2  6^3]</a:t>
            </a:r>
            <a:endParaRPr lang="zh-CN" altLang="en-US" sz="2400" b="1" dirty="0">
              <a:ln w="0"/>
              <a:solidFill>
                <a:srgbClr val="FF0000"/>
              </a:solidFill>
              <a:effectLst>
                <a:outerShdw blurRad="38100" dist="19050" dir="2700000" algn="tl" rotWithShape="0">
                  <a:schemeClr val="dk1">
                    <a:alpha val="40000"/>
                  </a:schemeClr>
                </a:outerShdw>
              </a:effectLst>
            </a:endParaRPr>
          </a:p>
        </p:txBody>
      </p:sp>
      <p:sp>
        <p:nvSpPr>
          <p:cNvPr id="10" name="文本框 9"/>
          <p:cNvSpPr txBox="1"/>
          <p:nvPr/>
        </p:nvSpPr>
        <p:spPr>
          <a:xfrm>
            <a:off x="2351314" y="3083548"/>
            <a:ext cx="2053767" cy="46166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altLang="zh-CN" sz="2400" b="1" dirty="0">
                <a:ln w="0"/>
                <a:solidFill>
                  <a:srgbClr val="FF0000"/>
                </a:solidFill>
                <a:effectLst>
                  <a:outerShdw blurRad="38100" dist="19050" dir="2700000" algn="tl" rotWithShape="0">
                    <a:schemeClr val="dk1">
                      <a:alpha val="40000"/>
                    </a:schemeClr>
                  </a:outerShdw>
                </a:effectLst>
              </a:rPr>
              <a:t>[1^2  2^2  3^2]</a:t>
            </a:r>
            <a:endParaRPr lang="zh-CN" altLang="en-US" sz="2400" b="1" dirty="0">
              <a:ln w="0"/>
              <a:solidFill>
                <a:srgbClr val="FF0000"/>
              </a:solidFill>
              <a:effectLst>
                <a:outerShdw blurRad="38100" dist="19050" dir="2700000" algn="tl" rotWithShape="0">
                  <a:schemeClr val="dk1">
                    <a:alpha val="40000"/>
                  </a:schemeClr>
                </a:outerShdw>
              </a:effectLst>
            </a:endParaRPr>
          </a:p>
        </p:txBody>
      </p:sp>
      <p:sp>
        <p:nvSpPr>
          <p:cNvPr id="11" name="文本框 10"/>
          <p:cNvSpPr txBox="1"/>
          <p:nvPr/>
        </p:nvSpPr>
        <p:spPr>
          <a:xfrm>
            <a:off x="7606936" y="1271104"/>
            <a:ext cx="2053767" cy="46166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wrap="none" rtlCol="0">
            <a:spAutoFit/>
          </a:bodyPr>
          <a:lstStyle>
            <a:defPPr>
              <a:defRPr lang="zh-CN"/>
            </a:defPPr>
            <a:lvl1pPr>
              <a:defRPr sz="2400" b="1">
                <a:ln w="0"/>
                <a:solidFill>
                  <a:srgbClr val="FF0000"/>
                </a:solidFill>
                <a:effectLst>
                  <a:outerShdw blurRad="38100" dist="19050" dir="2700000" algn="tl" rotWithShape="0">
                    <a:schemeClr val="dk1">
                      <a:alpha val="40000"/>
                    </a:schemeClr>
                  </a:outerShdw>
                </a:effectLst>
              </a:defRPr>
            </a:lvl1pPr>
          </a:lstStyle>
          <a:p>
            <a:r>
              <a:rPr lang="en-US" altLang="zh-CN" dirty="0"/>
              <a:t>[2^1  2^2  2^3]</a:t>
            </a:r>
            <a:endParaRPr lang="zh-CN" altLang="en-US" dirty="0"/>
          </a:p>
        </p:txBody>
      </p:sp>
      <mc:AlternateContent xmlns:mc="http://schemas.openxmlformats.org/markup-compatibility/2006" xmlns:a14="http://schemas.microsoft.com/office/drawing/2010/main">
        <mc:Choice Requires="a14">
          <p:sp>
            <p:nvSpPr>
              <p:cNvPr id="13" name="文本框 12"/>
              <p:cNvSpPr txBox="1"/>
              <p:nvPr/>
            </p:nvSpPr>
            <p:spPr>
              <a:xfrm>
                <a:off x="8366278" y="3041020"/>
                <a:ext cx="2588850" cy="727250"/>
              </a:xfrm>
              <a:prstGeom prst="rect">
                <a:avLst/>
              </a:prstGeom>
              <a:noFill/>
              <a:ln>
                <a:solidFill>
                  <a:srgbClr val="FF0000"/>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altLang="zh-CN" sz="2800" i="1" smtClean="0">
                              <a:solidFill>
                                <a:srgbClr val="FF0000"/>
                              </a:solidFill>
                              <a:latin typeface="Cambria Math" panose="02040503050406030204" pitchFamily="18" charset="0"/>
                            </a:rPr>
                          </m:ctrlPr>
                        </m:mPr>
                        <m:mr>
                          <m:e>
                            <m:r>
                              <m:rPr>
                                <m:brk m:alnAt="7"/>
                              </m:rPr>
                              <a:rPr lang="en-US" altLang="zh-CN" sz="2800" b="0" i="1" smtClean="0">
                                <a:solidFill>
                                  <a:srgbClr val="FF0000"/>
                                </a:solidFill>
                                <a:latin typeface="Cambria Math" panose="02040503050406030204" pitchFamily="18" charset="0"/>
                              </a:rPr>
                              <m:t>2</m:t>
                            </m:r>
                            <m:r>
                              <a:rPr lang="en-US" altLang="zh-CN" sz="2800" b="0" i="1" smtClean="0">
                                <a:solidFill>
                                  <a:srgbClr val="FF0000"/>
                                </a:solidFill>
                                <a:latin typeface="Cambria Math" panose="02040503050406030204" pitchFamily="18" charset="0"/>
                              </a:rPr>
                              <m:t>^4</m:t>
                            </m:r>
                          </m:e>
                          <m:e>
                            <m:r>
                              <a:rPr lang="en-US" altLang="zh-CN" sz="2800" b="0" i="1" smtClean="0">
                                <a:solidFill>
                                  <a:srgbClr val="FF0000"/>
                                </a:solidFill>
                                <a:latin typeface="Cambria Math" panose="02040503050406030204" pitchFamily="18" charset="0"/>
                              </a:rPr>
                              <m:t>2^5</m:t>
                            </m:r>
                          </m:e>
                          <m:e>
                            <m:r>
                              <a:rPr lang="en-US" altLang="zh-CN" sz="2800" i="1">
                                <a:solidFill>
                                  <a:srgbClr val="FF0000"/>
                                </a:solidFill>
                                <a:latin typeface="Cambria Math" panose="02040503050406030204" pitchFamily="18" charset="0"/>
                              </a:rPr>
                              <m:t>2^</m:t>
                            </m:r>
                            <m:r>
                              <a:rPr lang="en-US" altLang="zh-CN" sz="2800" b="0" i="1" smtClean="0">
                                <a:solidFill>
                                  <a:srgbClr val="FF0000"/>
                                </a:solidFill>
                                <a:latin typeface="Cambria Math" panose="02040503050406030204" pitchFamily="18" charset="0"/>
                              </a:rPr>
                              <m:t>6</m:t>
                            </m:r>
                          </m:e>
                        </m:mr>
                        <m:mr>
                          <m:e>
                            <m:r>
                              <a:rPr lang="en-US" altLang="zh-CN" sz="2800" i="1">
                                <a:solidFill>
                                  <a:srgbClr val="FF0000"/>
                                </a:solidFill>
                                <a:latin typeface="Cambria Math" panose="02040503050406030204" pitchFamily="18" charset="0"/>
                              </a:rPr>
                              <m:t>2^</m:t>
                            </m:r>
                            <m:r>
                              <a:rPr lang="en-US" altLang="zh-CN" sz="2800" b="0" i="1" smtClean="0">
                                <a:solidFill>
                                  <a:srgbClr val="FF0000"/>
                                </a:solidFill>
                                <a:latin typeface="Cambria Math" panose="02040503050406030204" pitchFamily="18" charset="0"/>
                              </a:rPr>
                              <m:t>1</m:t>
                            </m:r>
                          </m:e>
                          <m:e>
                            <m:r>
                              <a:rPr lang="en-US" altLang="zh-CN" sz="2800" i="1">
                                <a:solidFill>
                                  <a:srgbClr val="FF0000"/>
                                </a:solidFill>
                                <a:latin typeface="Cambria Math" panose="02040503050406030204" pitchFamily="18" charset="0"/>
                              </a:rPr>
                              <m:t>2^</m:t>
                            </m:r>
                            <m:r>
                              <a:rPr lang="en-US" altLang="zh-CN" sz="2800" b="0" i="1" smtClean="0">
                                <a:solidFill>
                                  <a:srgbClr val="FF0000"/>
                                </a:solidFill>
                                <a:latin typeface="Cambria Math" panose="02040503050406030204" pitchFamily="18" charset="0"/>
                              </a:rPr>
                              <m:t>2</m:t>
                            </m:r>
                          </m:e>
                          <m:e>
                            <m:r>
                              <a:rPr lang="en-US" altLang="zh-CN" sz="2800" i="1">
                                <a:solidFill>
                                  <a:srgbClr val="FF0000"/>
                                </a:solidFill>
                                <a:latin typeface="Cambria Math" panose="02040503050406030204" pitchFamily="18" charset="0"/>
                              </a:rPr>
                              <m:t>2^</m:t>
                            </m:r>
                            <m:r>
                              <a:rPr lang="en-US" altLang="zh-CN" sz="2800" b="0" i="1" smtClean="0">
                                <a:solidFill>
                                  <a:srgbClr val="FF0000"/>
                                </a:solidFill>
                                <a:latin typeface="Cambria Math" panose="02040503050406030204" pitchFamily="18" charset="0"/>
                              </a:rPr>
                              <m:t>3</m:t>
                            </m:r>
                          </m:e>
                        </m:mr>
                      </m:m>
                    </m:oMath>
                  </m:oMathPara>
                </a14:m>
                <a:endParaRPr lang="zh-CN" altLang="en-US" sz="2800" dirty="0">
                  <a:solidFill>
                    <a:srgbClr val="FF0000"/>
                  </a:solidFill>
                </a:endParaRPr>
              </a:p>
            </p:txBody>
          </p:sp>
        </mc:Choice>
        <mc:Fallback xmlns="">
          <p:sp>
            <p:nvSpPr>
              <p:cNvPr id="13" name="文本框 12"/>
              <p:cNvSpPr txBox="1">
                <a:spLocks noRot="1" noChangeAspect="1" noMove="1" noResize="1" noEditPoints="1" noAdjustHandles="1" noChangeArrowheads="1" noChangeShapeType="1" noTextEdit="1"/>
              </p:cNvSpPr>
              <p:nvPr/>
            </p:nvSpPr>
            <p:spPr>
              <a:xfrm>
                <a:off x="8366278" y="3041020"/>
                <a:ext cx="2588850" cy="727250"/>
              </a:xfrm>
              <a:prstGeom prst="rect">
                <a:avLst/>
              </a:prstGeom>
              <a:blipFill rotWithShape="0">
                <a:blip r:embed="rId2"/>
                <a:stretch>
                  <a:fillRect/>
                </a:stretch>
              </a:blipFill>
              <a:ln>
                <a:solidFill>
                  <a:srgbClr val="FF0000"/>
                </a:solidFill>
              </a:ln>
            </p:spPr>
            <p:txBody>
              <a:bodyPr/>
              <a:lstStyle/>
              <a:p>
                <a:r>
                  <a:rPr lang="zh-CN" altLang="en-US">
                    <a:noFill/>
                  </a:rPr>
                  <a:t> </a:t>
                </a:r>
              </a:p>
            </p:txBody>
          </p:sp>
        </mc:Fallback>
      </mc:AlternateContent>
    </p:spTree>
    <p:extLst>
      <p:ext uri="{BB962C8B-B14F-4D97-AF65-F5344CB8AC3E}">
        <p14:creationId xmlns:p14="http://schemas.microsoft.com/office/powerpoint/2010/main" val="30965104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p>
        </p:txBody>
      </p:sp>
      <p:sp>
        <p:nvSpPr>
          <p:cNvPr id="3" name="内容占位符 2"/>
          <p:cNvSpPr>
            <a:spLocks noGrp="1"/>
          </p:cNvSpPr>
          <p:nvPr>
            <p:ph idx="1"/>
          </p:nvPr>
        </p:nvSpPr>
        <p:spPr>
          <a:xfrm>
            <a:off x="838200" y="1825625"/>
            <a:ext cx="2976154" cy="1657804"/>
          </a:xfrm>
        </p:spPr>
        <p:txBody>
          <a:bodyPr/>
          <a:lstStyle/>
          <a:p>
            <a:r>
              <a:rPr lang="en-US" altLang="zh-CN" dirty="0"/>
              <a:t>A*B == A.*B  ?</a:t>
            </a:r>
          </a:p>
          <a:p>
            <a:r>
              <a:rPr lang="en-US" altLang="zh-CN" dirty="0"/>
              <a:t>A/B == A./B  ?</a:t>
            </a:r>
          </a:p>
          <a:p>
            <a:r>
              <a:rPr lang="en-US" altLang="zh-CN" dirty="0"/>
              <a:t>A^B == A.^B  ?</a:t>
            </a:r>
            <a:endParaRPr lang="zh-CN" altLang="en-US" dirty="0"/>
          </a:p>
          <a:p>
            <a:endParaRPr lang="zh-CN" altLang="en-US" dirty="0"/>
          </a:p>
        </p:txBody>
      </p:sp>
      <p:sp>
        <p:nvSpPr>
          <p:cNvPr id="4" name="矩形 3"/>
          <p:cNvSpPr/>
          <p:nvPr/>
        </p:nvSpPr>
        <p:spPr>
          <a:xfrm>
            <a:off x="4615543" y="1825625"/>
            <a:ext cx="2673531" cy="1512209"/>
          </a:xfrm>
          <a:prstGeom prst="rect">
            <a:avLst/>
          </a:prstGeom>
        </p:spPr>
        <p:txBody>
          <a:bodyPr vert="horz" lIns="91440" tIns="45720" rIns="91440" bIns="45720" rtlCol="0">
            <a:normAutofit fontScale="92500" lnSpcReduction="20000"/>
          </a:bodyPr>
          <a:lstStyle/>
          <a:p>
            <a:pPr>
              <a:lnSpc>
                <a:spcPct val="90000"/>
              </a:lnSpc>
              <a:spcBef>
                <a:spcPts val="1000"/>
              </a:spcBef>
            </a:pPr>
            <a:r>
              <a:rPr lang="en-US" altLang="zh-CN" sz="2800" dirty="0"/>
              <a:t>A*B </a:t>
            </a:r>
            <a:r>
              <a:rPr lang="en-US" altLang="zh-CN" sz="3600" dirty="0">
                <a:solidFill>
                  <a:srgbClr val="FF0000"/>
                </a:solidFill>
              </a:rPr>
              <a:t>≠</a:t>
            </a:r>
            <a:r>
              <a:rPr lang="en-US" altLang="zh-CN" sz="2800" dirty="0"/>
              <a:t> A.*B  ?</a:t>
            </a:r>
          </a:p>
          <a:p>
            <a:pPr>
              <a:lnSpc>
                <a:spcPct val="90000"/>
              </a:lnSpc>
              <a:spcBef>
                <a:spcPts val="1000"/>
              </a:spcBef>
            </a:pPr>
            <a:r>
              <a:rPr lang="en-US" altLang="zh-CN" sz="2800" dirty="0"/>
              <a:t>A/B </a:t>
            </a:r>
            <a:r>
              <a:rPr lang="en-US" altLang="zh-CN" sz="3600" dirty="0">
                <a:solidFill>
                  <a:srgbClr val="FF0000"/>
                </a:solidFill>
              </a:rPr>
              <a:t>≠</a:t>
            </a:r>
            <a:r>
              <a:rPr lang="en-US" altLang="zh-CN" sz="2800" dirty="0"/>
              <a:t> A./B  ?</a:t>
            </a:r>
          </a:p>
          <a:p>
            <a:pPr>
              <a:lnSpc>
                <a:spcPct val="90000"/>
              </a:lnSpc>
              <a:spcBef>
                <a:spcPts val="1000"/>
              </a:spcBef>
            </a:pPr>
            <a:r>
              <a:rPr lang="en-US" altLang="zh-CN" sz="2800" dirty="0"/>
              <a:t>A^B </a:t>
            </a:r>
            <a:r>
              <a:rPr lang="en-US" altLang="zh-CN" sz="3600" dirty="0">
                <a:solidFill>
                  <a:srgbClr val="FF0000"/>
                </a:solidFill>
              </a:rPr>
              <a:t>≠</a:t>
            </a:r>
            <a:r>
              <a:rPr lang="en-US" altLang="zh-CN" sz="2800" dirty="0"/>
              <a:t> A.^B  ?</a:t>
            </a:r>
            <a:endParaRPr lang="zh-CN" altLang="en-US" sz="2800" dirty="0"/>
          </a:p>
        </p:txBody>
      </p:sp>
    </p:spTree>
    <p:extLst>
      <p:ext uri="{BB962C8B-B14F-4D97-AF65-F5344CB8AC3E}">
        <p14:creationId xmlns:p14="http://schemas.microsoft.com/office/powerpoint/2010/main" val="30295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练习：</a:t>
            </a:r>
            <a:r>
              <a:rPr lang="zh-CN" altLang="zh-CN" dirty="0"/>
              <a:t>计算表达式的值：</a:t>
            </a:r>
            <a:endParaRPr lang="zh-CN" altLang="en-US" dirty="0"/>
          </a:p>
        </p:txBody>
      </p:sp>
      <p:sp>
        <p:nvSpPr>
          <p:cNvPr id="3" name="内容占位符 2"/>
          <p:cNvSpPr>
            <a:spLocks noGrp="1"/>
          </p:cNvSpPr>
          <p:nvPr>
            <p:ph idx="1"/>
          </p:nvPr>
        </p:nvSpPr>
        <p:spPr>
          <a:xfrm>
            <a:off x="1329907" y="2222440"/>
            <a:ext cx="5450456" cy="494881"/>
          </a:xfrm>
        </p:spPr>
        <p:txBody>
          <a:bodyPr/>
          <a:lstStyle/>
          <a:p>
            <a:pPr marL="0" indent="0">
              <a:buNone/>
            </a:pPr>
            <a:r>
              <a:rPr lang="en-US" altLang="zh-CN" i="1" dirty="0"/>
              <a:t>e</a:t>
            </a:r>
            <a:r>
              <a:rPr lang="en-US" altLang="zh-CN" baseline="30000" dirty="0"/>
              <a:t>x </a:t>
            </a:r>
            <a:r>
              <a:rPr lang="en-US" altLang="zh-CN" b="1" dirty="0">
                <a:sym typeface="Wingdings" panose="05000000000000000000" pitchFamily="2" charset="2"/>
              </a:rPr>
              <a:t>  </a:t>
            </a:r>
            <a:r>
              <a:rPr lang="zh-CN" altLang="en-US" b="1" dirty="0">
                <a:sym typeface="Wingdings" panose="05000000000000000000" pitchFamily="2" charset="2"/>
              </a:rPr>
              <a:t>函数</a:t>
            </a:r>
            <a:r>
              <a:rPr lang="en-US" altLang="zh-CN" b="1" dirty="0" err="1"/>
              <a:t>exp</a:t>
            </a:r>
            <a:r>
              <a:rPr lang="en-US" altLang="zh-CN" b="1" dirty="0"/>
              <a:t>(x) </a:t>
            </a:r>
            <a:endParaRPr lang="zh-CN" altLang="en-US" dirty="0"/>
          </a:p>
        </p:txBody>
      </p:sp>
      <p:sp>
        <p:nvSpPr>
          <p:cNvPr id="5" name="Rectangle 2"/>
          <p:cNvSpPr>
            <a:spLocks noChangeArrowheads="1"/>
          </p:cNvSpPr>
          <p:nvPr/>
        </p:nvSpPr>
        <p:spPr bwMode="auto">
          <a:xfrm>
            <a:off x="6961517" y="69874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3052522746"/>
              </p:ext>
            </p:extLst>
          </p:nvPr>
        </p:nvGraphicFramePr>
        <p:xfrm>
          <a:off x="6892505" y="622464"/>
          <a:ext cx="3495807" cy="810883"/>
        </p:xfrm>
        <a:graphic>
          <a:graphicData uri="http://schemas.openxmlformats.org/presentationml/2006/ole">
            <mc:AlternateContent xmlns:mc="http://schemas.openxmlformats.org/markup-compatibility/2006">
              <mc:Choice xmlns:v="urn:schemas-microsoft-com:vml" Requires="v">
                <p:oleObj r:id="rId2" imgW="1841500" imgH="431800" progId="Equation.DSMT4">
                  <p:embed/>
                </p:oleObj>
              </mc:Choice>
              <mc:Fallback>
                <p:oleObj r:id="rId2" imgW="1841500" imgH="431800"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2505" y="622464"/>
                        <a:ext cx="3495807" cy="810883"/>
                      </a:xfrm>
                      <a:prstGeom prst="rect">
                        <a:avLst/>
                      </a:prstGeom>
                      <a:noFill/>
                    </p:spPr>
                  </p:pic>
                </p:oleObj>
              </mc:Fallback>
            </mc:AlternateContent>
          </a:graphicData>
        </a:graphic>
      </p:graphicFrame>
      <p:sp>
        <p:nvSpPr>
          <p:cNvPr id="7" name="矩形 6"/>
          <p:cNvSpPr/>
          <p:nvPr/>
        </p:nvSpPr>
        <p:spPr>
          <a:xfrm>
            <a:off x="6892504" y="1503992"/>
            <a:ext cx="4002657" cy="523220"/>
          </a:xfrm>
          <a:prstGeom prst="rect">
            <a:avLst/>
          </a:prstGeom>
        </p:spPr>
        <p:txBody>
          <a:bodyPr wrap="square">
            <a:spAutoFit/>
          </a:bodyPr>
          <a:lstStyle/>
          <a:p>
            <a:r>
              <a:rPr lang="zh-CN" altLang="zh-CN" sz="2800" dirty="0">
                <a:latin typeface="Calibri" panose="020F0502020204030204" pitchFamily="34" charset="0"/>
                <a:cs typeface="Times New Roman" panose="02020603050405020304" pitchFamily="18" charset="0"/>
              </a:rPr>
              <a:t>其中</a:t>
            </a:r>
            <a:r>
              <a:rPr lang="en-US" altLang="zh-CN" sz="2800" dirty="0">
                <a:latin typeface="Calibri" panose="020F0502020204030204" pitchFamily="34" charset="0"/>
                <a:cs typeface="Times New Roman" panose="02020603050405020304" pitchFamily="18" charset="0"/>
              </a:rPr>
              <a:t>t</a:t>
            </a:r>
            <a:r>
              <a:rPr lang="zh-CN" altLang="zh-CN" sz="2800" dirty="0">
                <a:latin typeface="Calibri" panose="020F0502020204030204" pitchFamily="34" charset="0"/>
                <a:cs typeface="Times New Roman" panose="02020603050405020304" pitchFamily="18" charset="0"/>
              </a:rPr>
              <a:t>的值分别取</a:t>
            </a:r>
            <a:r>
              <a:rPr lang="en-US" altLang="zh-CN" sz="2800" dirty="0">
                <a:latin typeface="Calibri" panose="020F0502020204030204" pitchFamily="34" charset="0"/>
                <a:cs typeface="Times New Roman" panose="02020603050405020304" pitchFamily="18" charset="0"/>
              </a:rPr>
              <a:t>0,1,2,3</a:t>
            </a:r>
            <a:endParaRPr lang="zh-CN" altLang="en-US" sz="2800" dirty="0"/>
          </a:p>
        </p:txBody>
      </p:sp>
      <p:sp>
        <p:nvSpPr>
          <p:cNvPr id="8" name="矩形 7"/>
          <p:cNvSpPr/>
          <p:nvPr/>
        </p:nvSpPr>
        <p:spPr>
          <a:xfrm>
            <a:off x="1071115" y="3166079"/>
            <a:ext cx="9056296" cy="1692771"/>
          </a:xfrm>
          <a:prstGeom prst="rect">
            <a:avLst/>
          </a:prstGeom>
        </p:spPr>
        <p:txBody>
          <a:bodyPr wrap="square">
            <a:spAutoFit/>
          </a:bodyPr>
          <a:lstStyle/>
          <a:p>
            <a:r>
              <a:rPr lang="zh-CN" altLang="en-US" dirty="0"/>
              <a:t>&gt;&gt; format long</a:t>
            </a:r>
          </a:p>
          <a:p>
            <a:r>
              <a:rPr lang="zh-CN" altLang="en-US" dirty="0"/>
              <a:t>&gt;&gt; </a:t>
            </a:r>
            <a:r>
              <a:rPr lang="zh-CN" altLang="en-US" b="1" dirty="0">
                <a:solidFill>
                  <a:srgbClr val="FF0000"/>
                </a:solidFill>
              </a:rPr>
              <a:t>t = 0:3;（</a:t>
            </a:r>
            <a:r>
              <a:rPr lang="zh-CN" altLang="en-US" b="1" dirty="0">
                <a:solidFill>
                  <a:srgbClr val="0070C0"/>
                </a:solidFill>
              </a:rPr>
              <a:t>可以有数据批量处理</a:t>
            </a:r>
            <a:r>
              <a:rPr lang="zh-CN" altLang="en-US" b="1" dirty="0">
                <a:solidFill>
                  <a:srgbClr val="FF0000"/>
                </a:solidFill>
              </a:rPr>
              <a:t>）</a:t>
            </a:r>
          </a:p>
          <a:p>
            <a:r>
              <a:rPr lang="zh-CN" altLang="en-US" dirty="0"/>
              <a:t>&gt;&gt; </a:t>
            </a:r>
            <a:r>
              <a:rPr lang="zh-CN" altLang="en-US" sz="2400" b="1" dirty="0">
                <a:solidFill>
                  <a:srgbClr val="FF0000"/>
                </a:solidFill>
              </a:rPr>
              <a:t>y=sqrt(3)/2 * exp(-4*t) </a:t>
            </a:r>
            <a:r>
              <a:rPr lang="zh-CN" altLang="en-US" sz="3200" b="1" dirty="0">
                <a:solidFill>
                  <a:srgbClr val="00B050"/>
                </a:solidFill>
              </a:rPr>
              <a:t>.* </a:t>
            </a:r>
            <a:r>
              <a:rPr lang="zh-CN" altLang="en-US" sz="2400" b="1" dirty="0">
                <a:solidFill>
                  <a:srgbClr val="FF0000"/>
                </a:solidFill>
              </a:rPr>
              <a:t>sin(4*sqrt(3*t) + pi/3)</a:t>
            </a:r>
            <a:endParaRPr lang="zh-CN" altLang="en-US" sz="2400" dirty="0"/>
          </a:p>
          <a:p>
            <a:r>
              <a:rPr lang="zh-CN" altLang="en-US" dirty="0"/>
              <a:t>y =</a:t>
            </a:r>
          </a:p>
          <a:p>
            <a:r>
              <a:rPr lang="zh-CN" altLang="en-US" dirty="0"/>
              <a:t>   0.750000000000000   0.015745029914651  -0.000287238778609   0.000002461049390</a:t>
            </a:r>
          </a:p>
        </p:txBody>
      </p:sp>
      <p:sp>
        <p:nvSpPr>
          <p:cNvPr id="9" name="矩形 8"/>
          <p:cNvSpPr/>
          <p:nvPr/>
        </p:nvSpPr>
        <p:spPr>
          <a:xfrm>
            <a:off x="1202054" y="5307608"/>
            <a:ext cx="6862776" cy="830997"/>
          </a:xfrm>
          <a:prstGeom prst="rect">
            <a:avLst/>
          </a:prstGeom>
        </p:spPr>
        <p:txBody>
          <a:bodyPr wrap="none">
            <a:spAutoFit/>
          </a:bodyPr>
          <a:lstStyle/>
          <a:p>
            <a:r>
              <a:rPr lang="zh-CN" altLang="en-US" dirty="0"/>
              <a:t>&gt;&gt; </a:t>
            </a:r>
            <a:r>
              <a:rPr lang="zh-CN" altLang="en-US" sz="2400" b="1" dirty="0">
                <a:solidFill>
                  <a:srgbClr val="FF0000"/>
                </a:solidFill>
              </a:rPr>
              <a:t>y=sqrt(3)/2 </a:t>
            </a:r>
            <a:r>
              <a:rPr lang="zh-CN" altLang="en-US" sz="2400" b="1" dirty="0">
                <a:solidFill>
                  <a:srgbClr val="00B050"/>
                </a:solidFill>
              </a:rPr>
              <a:t>.*</a:t>
            </a:r>
            <a:r>
              <a:rPr lang="zh-CN" altLang="en-US" sz="2400" b="1" dirty="0">
                <a:solidFill>
                  <a:srgbClr val="FF0000"/>
                </a:solidFill>
              </a:rPr>
              <a:t> exp(-4</a:t>
            </a:r>
            <a:r>
              <a:rPr lang="zh-CN" altLang="en-US" sz="2400" b="1" dirty="0">
                <a:solidFill>
                  <a:srgbClr val="00B050"/>
                </a:solidFill>
              </a:rPr>
              <a:t>.*</a:t>
            </a:r>
            <a:r>
              <a:rPr lang="zh-CN" altLang="en-US" sz="2400" b="1" dirty="0">
                <a:solidFill>
                  <a:srgbClr val="FF0000"/>
                </a:solidFill>
              </a:rPr>
              <a:t>t) </a:t>
            </a:r>
            <a:r>
              <a:rPr lang="zh-CN" altLang="en-US" sz="2400" b="1" dirty="0">
                <a:solidFill>
                  <a:srgbClr val="00B050"/>
                </a:solidFill>
              </a:rPr>
              <a:t>.* </a:t>
            </a:r>
            <a:r>
              <a:rPr lang="zh-CN" altLang="en-US" sz="2400" b="1" dirty="0">
                <a:solidFill>
                  <a:srgbClr val="FF0000"/>
                </a:solidFill>
              </a:rPr>
              <a:t>sin(4</a:t>
            </a:r>
            <a:r>
              <a:rPr lang="zh-CN" altLang="en-US" sz="2400" b="1" dirty="0">
                <a:solidFill>
                  <a:srgbClr val="00B050"/>
                </a:solidFill>
              </a:rPr>
              <a:t>.*</a:t>
            </a:r>
            <a:r>
              <a:rPr lang="zh-CN" altLang="en-US" sz="2400" b="1" dirty="0">
                <a:solidFill>
                  <a:srgbClr val="FF0000"/>
                </a:solidFill>
              </a:rPr>
              <a:t>sqrt(3</a:t>
            </a:r>
            <a:r>
              <a:rPr lang="zh-CN" altLang="en-US" sz="2400" b="1" dirty="0">
                <a:solidFill>
                  <a:srgbClr val="00B050"/>
                </a:solidFill>
              </a:rPr>
              <a:t>.*</a:t>
            </a:r>
            <a:r>
              <a:rPr lang="zh-CN" altLang="en-US" sz="2400" b="1" dirty="0">
                <a:solidFill>
                  <a:srgbClr val="FF0000"/>
                </a:solidFill>
              </a:rPr>
              <a:t>t) + pi/3</a:t>
            </a:r>
            <a:r>
              <a:rPr lang="en-US" altLang="zh-CN" sz="2400" b="1" dirty="0">
                <a:solidFill>
                  <a:srgbClr val="FF0000"/>
                </a:solidFill>
              </a:rPr>
              <a:t>)</a:t>
            </a:r>
          </a:p>
          <a:p>
            <a:r>
              <a:rPr lang="en-US" altLang="zh-CN" sz="2400" b="1" dirty="0">
                <a:solidFill>
                  <a:srgbClr val="FF0000"/>
                </a:solidFill>
              </a:rPr>
              <a:t>                          </a:t>
            </a:r>
            <a:r>
              <a:rPr lang="zh-CN" altLang="en-US" sz="2400" b="1" dirty="0">
                <a:solidFill>
                  <a:srgbClr val="FF0000"/>
                </a:solidFill>
              </a:rPr>
              <a:t>标*方            方</a:t>
            </a:r>
            <a:r>
              <a:rPr lang="en-US" altLang="zh-CN" sz="2400" b="1" dirty="0">
                <a:solidFill>
                  <a:srgbClr val="FF0000"/>
                </a:solidFill>
              </a:rPr>
              <a:t>*</a:t>
            </a:r>
            <a:r>
              <a:rPr lang="zh-CN" altLang="en-US" sz="2400" b="1" dirty="0">
                <a:solidFill>
                  <a:srgbClr val="FF0000"/>
                </a:solidFill>
              </a:rPr>
              <a:t>方</a:t>
            </a:r>
            <a:endParaRPr lang="zh-CN" altLang="en-US" dirty="0"/>
          </a:p>
        </p:txBody>
      </p:sp>
    </p:spTree>
    <p:extLst>
      <p:ext uri="{BB962C8B-B14F-4D97-AF65-F5344CB8AC3E}">
        <p14:creationId xmlns:p14="http://schemas.microsoft.com/office/powerpoint/2010/main" val="2902625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3.3 </a:t>
            </a:r>
            <a:r>
              <a:rPr lang="zh-CN" altLang="en-US" dirty="0"/>
              <a:t>关系运算</a:t>
            </a:r>
          </a:p>
        </p:txBody>
      </p:sp>
      <p:sp>
        <p:nvSpPr>
          <p:cNvPr id="4" name="Rectangle 3"/>
          <p:cNvSpPr txBox="1">
            <a:spLocks noChangeArrowheads="1"/>
          </p:cNvSpPr>
          <p:nvPr/>
        </p:nvSpPr>
        <p:spPr>
          <a:xfrm>
            <a:off x="838200" y="1548539"/>
            <a:ext cx="7313612" cy="4114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FF"/>
              </a:buClr>
            </a:pPr>
            <a:r>
              <a:rPr lang="en-US" altLang="zh-CN" b="1" dirty="0">
                <a:solidFill>
                  <a:srgbClr val="FF0000"/>
                </a:solidFill>
                <a:latin typeface="华文中宋" panose="02010600040101010101" pitchFamily="2" charset="-122"/>
                <a:ea typeface="华文中宋" panose="02010600040101010101" pitchFamily="2" charset="-122"/>
              </a:rPr>
              <a:t>MATLAB</a:t>
            </a:r>
            <a:r>
              <a:rPr lang="zh-CN" altLang="en-US" b="1" dirty="0">
                <a:solidFill>
                  <a:srgbClr val="FF0000"/>
                </a:solidFill>
                <a:latin typeface="华文中宋" panose="02010600040101010101" pitchFamily="2" charset="-122"/>
                <a:ea typeface="华文中宋" panose="02010600040101010101" pitchFamily="2" charset="-122"/>
              </a:rPr>
              <a:t>提供了</a:t>
            </a:r>
            <a:r>
              <a:rPr lang="en-US" altLang="zh-CN" b="1" dirty="0">
                <a:solidFill>
                  <a:srgbClr val="FF0000"/>
                </a:solidFill>
                <a:latin typeface="华文中宋" panose="02010600040101010101" pitchFamily="2" charset="-122"/>
                <a:ea typeface="华文中宋" panose="02010600040101010101" pitchFamily="2" charset="-122"/>
              </a:rPr>
              <a:t>6</a:t>
            </a:r>
            <a:r>
              <a:rPr lang="zh-CN" altLang="en-US" b="1" dirty="0">
                <a:solidFill>
                  <a:srgbClr val="FF0000"/>
                </a:solidFill>
                <a:latin typeface="华文中宋" panose="02010600040101010101" pitchFamily="2" charset="-122"/>
                <a:ea typeface="华文中宋" panose="02010600040101010101" pitchFamily="2" charset="-122"/>
              </a:rPr>
              <a:t>种关系运算符：</a:t>
            </a:r>
          </a:p>
          <a:p>
            <a:pPr lvl="4">
              <a:lnSpc>
                <a:spcPct val="130000"/>
              </a:lnSpc>
              <a:buClr>
                <a:srgbClr val="0000FF"/>
              </a:buClr>
              <a:buFont typeface="Wingdings" panose="05000000000000000000" pitchFamily="2" charset="2"/>
              <a:buNone/>
            </a:pPr>
            <a:r>
              <a:rPr lang="en-US" altLang="zh-CN" sz="2500" b="1" dirty="0">
                <a:solidFill>
                  <a:srgbClr val="0000FF"/>
                </a:solidFill>
                <a:latin typeface="华文中宋" panose="02010600040101010101" pitchFamily="2" charset="-122"/>
                <a:ea typeface="华文中宋" panose="02010600040101010101" pitchFamily="2" charset="-122"/>
              </a:rPr>
              <a:t>&lt;       (</a:t>
            </a:r>
            <a:r>
              <a:rPr lang="zh-CN" altLang="en-US" sz="2500" b="1" dirty="0">
                <a:solidFill>
                  <a:srgbClr val="0000FF"/>
                </a:solidFill>
                <a:latin typeface="华文中宋" panose="02010600040101010101" pitchFamily="2" charset="-122"/>
                <a:ea typeface="华文中宋" panose="02010600040101010101" pitchFamily="2" charset="-122"/>
              </a:rPr>
              <a:t>小于</a:t>
            </a:r>
            <a:r>
              <a:rPr lang="en-US" altLang="zh-CN" sz="2500" b="1" dirty="0">
                <a:solidFill>
                  <a:srgbClr val="0000FF"/>
                </a:solidFill>
                <a:latin typeface="华文中宋" panose="02010600040101010101" pitchFamily="2" charset="-122"/>
                <a:ea typeface="华文中宋" panose="02010600040101010101" pitchFamily="2" charset="-122"/>
              </a:rPr>
              <a:t>) </a:t>
            </a:r>
          </a:p>
          <a:p>
            <a:pPr lvl="4">
              <a:lnSpc>
                <a:spcPct val="130000"/>
              </a:lnSpc>
              <a:buClr>
                <a:srgbClr val="0000FF"/>
              </a:buClr>
              <a:buFont typeface="Wingdings" panose="05000000000000000000" pitchFamily="2" charset="2"/>
              <a:buNone/>
            </a:pPr>
            <a:r>
              <a:rPr lang="en-US" altLang="zh-CN" sz="2500" b="1" dirty="0">
                <a:solidFill>
                  <a:srgbClr val="0000FF"/>
                </a:solidFill>
                <a:latin typeface="华文中宋" panose="02010600040101010101" pitchFamily="2" charset="-122"/>
                <a:ea typeface="华文中宋" panose="02010600040101010101" pitchFamily="2" charset="-122"/>
              </a:rPr>
              <a:t>&lt;=     (</a:t>
            </a:r>
            <a:r>
              <a:rPr lang="zh-CN" altLang="en-US" sz="2500" b="1" dirty="0">
                <a:solidFill>
                  <a:srgbClr val="0000FF"/>
                </a:solidFill>
                <a:latin typeface="华文中宋" panose="02010600040101010101" pitchFamily="2" charset="-122"/>
                <a:ea typeface="华文中宋" panose="02010600040101010101" pitchFamily="2" charset="-122"/>
              </a:rPr>
              <a:t>小于或等于</a:t>
            </a:r>
            <a:r>
              <a:rPr lang="en-US" altLang="zh-CN" sz="2500" b="1" dirty="0">
                <a:solidFill>
                  <a:srgbClr val="0000FF"/>
                </a:solidFill>
                <a:latin typeface="华文中宋" panose="02010600040101010101" pitchFamily="2" charset="-122"/>
                <a:ea typeface="华文中宋" panose="02010600040101010101" pitchFamily="2" charset="-122"/>
              </a:rPr>
              <a:t>)</a:t>
            </a:r>
          </a:p>
          <a:p>
            <a:pPr lvl="4">
              <a:lnSpc>
                <a:spcPct val="130000"/>
              </a:lnSpc>
              <a:buClr>
                <a:srgbClr val="0000FF"/>
              </a:buClr>
              <a:buFont typeface="Wingdings" panose="05000000000000000000" pitchFamily="2" charset="2"/>
              <a:buNone/>
            </a:pPr>
            <a:r>
              <a:rPr lang="en-US" altLang="zh-CN" sz="2500" b="1" dirty="0">
                <a:solidFill>
                  <a:srgbClr val="0000FF"/>
                </a:solidFill>
                <a:latin typeface="华文中宋" panose="02010600040101010101" pitchFamily="2" charset="-122"/>
                <a:ea typeface="华文中宋" panose="02010600040101010101" pitchFamily="2" charset="-122"/>
              </a:rPr>
              <a:t>&gt;       (</a:t>
            </a:r>
            <a:r>
              <a:rPr lang="zh-CN" altLang="en-US" sz="2500" b="1" dirty="0">
                <a:solidFill>
                  <a:srgbClr val="0000FF"/>
                </a:solidFill>
                <a:latin typeface="华文中宋" panose="02010600040101010101" pitchFamily="2" charset="-122"/>
                <a:ea typeface="华文中宋" panose="02010600040101010101" pitchFamily="2" charset="-122"/>
              </a:rPr>
              <a:t>大于</a:t>
            </a:r>
            <a:r>
              <a:rPr lang="en-US" altLang="zh-CN" sz="2500" b="1" dirty="0">
                <a:solidFill>
                  <a:srgbClr val="0000FF"/>
                </a:solidFill>
                <a:latin typeface="华文中宋" panose="02010600040101010101" pitchFamily="2" charset="-122"/>
                <a:ea typeface="华文中宋" panose="02010600040101010101" pitchFamily="2" charset="-122"/>
              </a:rPr>
              <a:t>)</a:t>
            </a:r>
          </a:p>
          <a:p>
            <a:pPr lvl="4">
              <a:lnSpc>
                <a:spcPct val="130000"/>
              </a:lnSpc>
              <a:buClr>
                <a:srgbClr val="0000FF"/>
              </a:buClr>
              <a:buFont typeface="Wingdings" panose="05000000000000000000" pitchFamily="2" charset="2"/>
              <a:buNone/>
            </a:pPr>
            <a:r>
              <a:rPr lang="en-US" altLang="zh-CN" sz="2500" b="1" dirty="0">
                <a:solidFill>
                  <a:srgbClr val="0000FF"/>
                </a:solidFill>
                <a:latin typeface="华文中宋" panose="02010600040101010101" pitchFamily="2" charset="-122"/>
                <a:ea typeface="华文中宋" panose="02010600040101010101" pitchFamily="2" charset="-122"/>
              </a:rPr>
              <a:t>&gt;=     (</a:t>
            </a:r>
            <a:r>
              <a:rPr lang="zh-CN" altLang="en-US" sz="2500" b="1" dirty="0">
                <a:solidFill>
                  <a:srgbClr val="0000FF"/>
                </a:solidFill>
                <a:latin typeface="华文中宋" panose="02010600040101010101" pitchFamily="2" charset="-122"/>
                <a:ea typeface="华文中宋" panose="02010600040101010101" pitchFamily="2" charset="-122"/>
              </a:rPr>
              <a:t>大于或等于</a:t>
            </a:r>
            <a:r>
              <a:rPr lang="en-US" altLang="zh-CN" sz="2500" b="1" dirty="0">
                <a:solidFill>
                  <a:srgbClr val="0000FF"/>
                </a:solidFill>
                <a:latin typeface="华文中宋" panose="02010600040101010101" pitchFamily="2" charset="-122"/>
                <a:ea typeface="华文中宋" panose="02010600040101010101" pitchFamily="2" charset="-122"/>
              </a:rPr>
              <a:t>)</a:t>
            </a:r>
          </a:p>
          <a:p>
            <a:pPr lvl="4">
              <a:lnSpc>
                <a:spcPct val="130000"/>
              </a:lnSpc>
              <a:buClr>
                <a:srgbClr val="0000FF"/>
              </a:buClr>
              <a:buFont typeface="Wingdings" panose="05000000000000000000" pitchFamily="2" charset="2"/>
              <a:buNone/>
            </a:pPr>
            <a:r>
              <a:rPr lang="en-US" altLang="zh-CN" sz="2500" b="1" dirty="0">
                <a:solidFill>
                  <a:srgbClr val="0000FF"/>
                </a:solidFill>
                <a:latin typeface="华文中宋" panose="02010600040101010101" pitchFamily="2" charset="-122"/>
                <a:ea typeface="华文中宋" panose="02010600040101010101" pitchFamily="2" charset="-122"/>
              </a:rPr>
              <a:t>==     (</a:t>
            </a:r>
            <a:r>
              <a:rPr lang="zh-CN" altLang="en-US" sz="2500" b="1" dirty="0">
                <a:solidFill>
                  <a:srgbClr val="0000FF"/>
                </a:solidFill>
                <a:latin typeface="华文中宋" panose="02010600040101010101" pitchFamily="2" charset="-122"/>
                <a:ea typeface="华文中宋" panose="02010600040101010101" pitchFamily="2" charset="-122"/>
              </a:rPr>
              <a:t>等于</a:t>
            </a:r>
            <a:r>
              <a:rPr lang="en-US" altLang="zh-CN" sz="2500" b="1" dirty="0">
                <a:solidFill>
                  <a:srgbClr val="0000FF"/>
                </a:solidFill>
                <a:latin typeface="华文中宋" panose="02010600040101010101" pitchFamily="2" charset="-122"/>
                <a:ea typeface="华文中宋" panose="02010600040101010101" pitchFamily="2" charset="-122"/>
              </a:rPr>
              <a:t>)</a:t>
            </a:r>
          </a:p>
          <a:p>
            <a:pPr lvl="4">
              <a:lnSpc>
                <a:spcPct val="130000"/>
              </a:lnSpc>
              <a:buClr>
                <a:srgbClr val="0000FF"/>
              </a:buClr>
              <a:buFont typeface="Wingdings" panose="05000000000000000000" pitchFamily="2" charset="2"/>
              <a:buNone/>
            </a:pPr>
            <a:r>
              <a:rPr lang="zh-CN" altLang="en-US" sz="2500" b="1" dirty="0">
                <a:solidFill>
                  <a:srgbClr val="0000FF"/>
                </a:solidFill>
                <a:latin typeface="华文中宋" panose="02010600040101010101" pitchFamily="2" charset="-122"/>
                <a:ea typeface="华文中宋" panose="02010600040101010101" pitchFamily="2" charset="-122"/>
              </a:rPr>
              <a:t>～</a:t>
            </a:r>
            <a:r>
              <a:rPr lang="en-US" altLang="zh-CN" sz="2500" b="1" dirty="0">
                <a:solidFill>
                  <a:srgbClr val="0000FF"/>
                </a:solidFill>
                <a:latin typeface="华文中宋" panose="02010600040101010101" pitchFamily="2" charset="-122"/>
                <a:ea typeface="华文中宋" panose="02010600040101010101" pitchFamily="2" charset="-122"/>
              </a:rPr>
              <a:t>=    (</a:t>
            </a:r>
            <a:r>
              <a:rPr lang="zh-CN" altLang="en-US" sz="2500" b="1" dirty="0">
                <a:solidFill>
                  <a:srgbClr val="0000FF"/>
                </a:solidFill>
                <a:latin typeface="华文中宋" panose="02010600040101010101" pitchFamily="2" charset="-122"/>
                <a:ea typeface="华文中宋" panose="02010600040101010101" pitchFamily="2" charset="-122"/>
              </a:rPr>
              <a:t>不等于</a:t>
            </a:r>
            <a:r>
              <a:rPr lang="en-US" altLang="zh-CN" sz="2500" b="1" dirty="0">
                <a:solidFill>
                  <a:srgbClr val="0000FF"/>
                </a:solidFill>
                <a:latin typeface="华文中宋" panose="02010600040101010101" pitchFamily="2" charset="-122"/>
                <a:ea typeface="华文中宋" panose="02010600040101010101" pitchFamily="2" charset="-122"/>
              </a:rPr>
              <a:t>)</a:t>
            </a:r>
            <a:endParaRPr lang="en-US" altLang="zh-CN" sz="1700" dirty="0">
              <a:solidFill>
                <a:srgbClr val="660066"/>
              </a:solidFill>
              <a:latin typeface="华文中宋" panose="02010600040101010101" pitchFamily="2" charset="-122"/>
              <a:ea typeface="华文中宋" panose="02010600040101010101" pitchFamily="2" charset="-122"/>
            </a:endParaRPr>
          </a:p>
        </p:txBody>
      </p:sp>
      <p:sp>
        <p:nvSpPr>
          <p:cNvPr id="5" name="Rectangle 1"/>
          <p:cNvSpPr>
            <a:spLocks noChangeArrowheads="1"/>
          </p:cNvSpPr>
          <p:nvPr/>
        </p:nvSpPr>
        <p:spPr bwMode="auto">
          <a:xfrm>
            <a:off x="7332618" y="2206717"/>
            <a:ext cx="2257349"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zh-CN" altLang="zh-CN" sz="2400" dirty="0">
                <a:solidFill>
                  <a:srgbClr val="404040"/>
                </a:solidFill>
                <a:cs typeface="Arial" panose="020B0604020202020204" pitchFamily="34" charset="0"/>
              </a:rPr>
              <a:t>logical 1 (true) </a:t>
            </a:r>
            <a:endParaRPr lang="en-US" altLang="zh-CN" sz="2400" dirty="0">
              <a:solidFill>
                <a:srgbClr val="404040"/>
              </a:solidFill>
              <a:cs typeface="Arial" panose="020B0604020202020204" pitchFamily="34" charset="0"/>
            </a:endParaRPr>
          </a:p>
          <a:p>
            <a:pPr lvl="0"/>
            <a:r>
              <a:rPr lang="zh-CN" altLang="zh-CN" sz="2400" dirty="0">
                <a:solidFill>
                  <a:srgbClr val="404040"/>
                </a:solidFill>
                <a:cs typeface="Arial" panose="020B0604020202020204" pitchFamily="34" charset="0"/>
              </a:rPr>
              <a:t>logical </a:t>
            </a:r>
            <a:r>
              <a:rPr lang="zh-CN" altLang="zh-CN" sz="2400" dirty="0">
                <a:solidFill>
                  <a:srgbClr val="404040"/>
                </a:solidFill>
                <a:latin typeface="Arial Unicode MS" panose="020B0604020202020204" pitchFamily="34" charset="-122"/>
                <a:ea typeface="Menlo"/>
              </a:rPr>
              <a:t>0</a:t>
            </a:r>
            <a:r>
              <a:rPr lang="zh-CN" altLang="zh-CN" sz="2400" dirty="0">
                <a:solidFill>
                  <a:srgbClr val="404040"/>
                </a:solidFill>
                <a:cs typeface="Arial" panose="020B0604020202020204" pitchFamily="34" charset="0"/>
              </a:rPr>
              <a:t> (</a:t>
            </a:r>
            <a:r>
              <a:rPr lang="zh-CN" altLang="zh-CN" sz="2400" dirty="0">
                <a:solidFill>
                  <a:srgbClr val="404040"/>
                </a:solidFill>
                <a:latin typeface="Arial Unicode MS" panose="020B0604020202020204" pitchFamily="34" charset="-122"/>
                <a:ea typeface="Menlo"/>
              </a:rPr>
              <a:t>false</a:t>
            </a:r>
            <a:r>
              <a:rPr lang="zh-CN" altLang="zh-CN" sz="2400" dirty="0">
                <a:solidFill>
                  <a:srgbClr val="404040"/>
                </a:solidFill>
                <a:cs typeface="Arial" panose="020B0604020202020204" pitchFamily="34" charset="0"/>
              </a:rPr>
              <a:t>)</a:t>
            </a:r>
            <a:endParaRPr kumimoji="0" lang="zh-CN"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499341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241975" y="763455"/>
            <a:ext cx="4096585" cy="1815882"/>
          </a:xfrm>
          <a:prstGeom prst="rect">
            <a:avLst/>
          </a:prstGeom>
        </p:spPr>
        <p:txBody>
          <a:bodyPr wrap="square">
            <a:spAutoFit/>
          </a:bodyPr>
          <a:lstStyle/>
          <a:p>
            <a:r>
              <a:rPr lang="zh-CN" altLang="en-US" sz="2800" dirty="0"/>
              <a:t>问题：</a:t>
            </a:r>
            <a:endParaRPr lang="en-US" altLang="zh-CN" sz="2800" dirty="0"/>
          </a:p>
          <a:p>
            <a:r>
              <a:rPr lang="en-US" altLang="zh-CN" sz="2800" dirty="0"/>
              <a:t>1</a:t>
            </a:r>
            <a:r>
              <a:rPr lang="zh-CN" altLang="en-US" sz="2800" dirty="0"/>
              <a:t>、以下命令叫</a:t>
            </a:r>
            <a:r>
              <a:rPr lang="zh-CN" altLang="en-US" sz="2800" u="sng" dirty="0"/>
              <a:t>        </a:t>
            </a:r>
            <a:r>
              <a:rPr lang="zh-CN" altLang="en-US" sz="2800" dirty="0"/>
              <a:t>索引？</a:t>
            </a:r>
            <a:endParaRPr lang="en-US" altLang="zh-CN" sz="2800" dirty="0"/>
          </a:p>
          <a:p>
            <a:r>
              <a:rPr lang="en-US" altLang="zh-CN" sz="2800" dirty="0"/>
              <a:t>2</a:t>
            </a:r>
            <a:r>
              <a:rPr lang="zh-CN" altLang="en-US" sz="2800" dirty="0"/>
              <a:t>、结果是？</a:t>
            </a:r>
            <a:endParaRPr lang="en-US" altLang="zh-CN" sz="2800" dirty="0"/>
          </a:p>
          <a:p>
            <a:r>
              <a:rPr lang="zh-CN" altLang="en-US" sz="2800" dirty="0"/>
              <a:t>&gt;&gt; A(A &gt; 10)</a:t>
            </a:r>
          </a:p>
        </p:txBody>
      </p:sp>
      <p:sp>
        <p:nvSpPr>
          <p:cNvPr id="7" name="矩形 6"/>
          <p:cNvSpPr/>
          <p:nvPr/>
        </p:nvSpPr>
        <p:spPr>
          <a:xfrm>
            <a:off x="7241975" y="2713950"/>
            <a:ext cx="3196046" cy="954107"/>
          </a:xfrm>
          <a:prstGeom prst="rect">
            <a:avLst/>
          </a:prstGeom>
        </p:spPr>
        <p:txBody>
          <a:bodyPr wrap="square">
            <a:spAutoFit/>
          </a:bodyPr>
          <a:lstStyle/>
          <a:p>
            <a:r>
              <a:rPr lang="zh-CN" altLang="en-US" sz="2800" dirty="0">
                <a:solidFill>
                  <a:srgbClr val="FF0000"/>
                </a:solidFill>
              </a:rPr>
              <a:t>ans =</a:t>
            </a:r>
          </a:p>
          <a:p>
            <a:r>
              <a:rPr lang="zh-CN" altLang="en-US" sz="2800" dirty="0">
                <a:solidFill>
                  <a:srgbClr val="FF0000"/>
                </a:solidFill>
              </a:rPr>
              <a:t>    12    18    11    15</a:t>
            </a:r>
          </a:p>
        </p:txBody>
      </p:sp>
      <p:sp>
        <p:nvSpPr>
          <p:cNvPr id="8" name="文本框 7"/>
          <p:cNvSpPr txBox="1"/>
          <p:nvPr/>
        </p:nvSpPr>
        <p:spPr>
          <a:xfrm>
            <a:off x="9637802" y="1209731"/>
            <a:ext cx="800219" cy="461665"/>
          </a:xfrm>
          <a:prstGeom prst="rect">
            <a:avLst/>
          </a:prstGeom>
          <a:noFill/>
        </p:spPr>
        <p:txBody>
          <a:bodyPr wrap="none" rtlCol="0">
            <a:spAutoFit/>
          </a:bodyPr>
          <a:lstStyle/>
          <a:p>
            <a:r>
              <a:rPr lang="zh-CN" altLang="en-US" sz="2400" dirty="0">
                <a:solidFill>
                  <a:srgbClr val="FF0000"/>
                </a:solidFill>
              </a:rPr>
              <a:t>逻辑</a:t>
            </a:r>
          </a:p>
        </p:txBody>
      </p:sp>
      <p:grpSp>
        <p:nvGrpSpPr>
          <p:cNvPr id="12" name="组合 11"/>
          <p:cNvGrpSpPr/>
          <p:nvPr/>
        </p:nvGrpSpPr>
        <p:grpSpPr>
          <a:xfrm>
            <a:off x="1323703" y="756196"/>
            <a:ext cx="5017733" cy="1815882"/>
            <a:chOff x="1323703" y="756196"/>
            <a:chExt cx="5017733" cy="1815882"/>
          </a:xfrm>
        </p:grpSpPr>
        <p:sp>
          <p:nvSpPr>
            <p:cNvPr id="4" name="矩形 3"/>
            <p:cNvSpPr/>
            <p:nvPr/>
          </p:nvSpPr>
          <p:spPr>
            <a:xfrm>
              <a:off x="1323703" y="756196"/>
              <a:ext cx="5017733" cy="1815882"/>
            </a:xfrm>
            <a:prstGeom prst="rect">
              <a:avLst/>
            </a:prstGeom>
          </p:spPr>
          <p:txBody>
            <a:bodyPr wrap="square">
              <a:spAutoFit/>
            </a:bodyPr>
            <a:lstStyle/>
            <a:p>
              <a:r>
                <a:rPr lang="zh-CN" altLang="en-US" sz="2800" dirty="0"/>
                <a:t>&gt;&gt; A = [1 12 18 7 9 11 2 15];</a:t>
              </a:r>
            </a:p>
            <a:p>
              <a:r>
                <a:rPr lang="zh-CN" altLang="en-US" sz="2800" dirty="0"/>
                <a:t>&gt;&gt; </a:t>
              </a:r>
              <a:r>
                <a:rPr lang="zh-CN" altLang="en-US" sz="2800" dirty="0">
                  <a:solidFill>
                    <a:srgbClr val="FF0000"/>
                  </a:solidFill>
                </a:rPr>
                <a:t>A&gt;10</a:t>
              </a:r>
            </a:p>
            <a:p>
              <a:r>
                <a:rPr lang="zh-CN" altLang="en-US" sz="2800" dirty="0"/>
                <a:t>ans =</a:t>
              </a:r>
            </a:p>
            <a:p>
              <a:r>
                <a:rPr lang="zh-CN" altLang="en-US" sz="2800" dirty="0"/>
                <a:t>     0     1     1     0     0     1     0     1</a:t>
              </a:r>
            </a:p>
          </p:txBody>
        </p:sp>
        <p:sp>
          <p:nvSpPr>
            <p:cNvPr id="9" name="文本框 8"/>
            <p:cNvSpPr txBox="1"/>
            <p:nvPr/>
          </p:nvSpPr>
          <p:spPr>
            <a:xfrm>
              <a:off x="2995749" y="1255897"/>
              <a:ext cx="1980029" cy="400110"/>
            </a:xfrm>
            <a:prstGeom prst="rect">
              <a:avLst/>
            </a:prstGeom>
            <a:noFill/>
          </p:spPr>
          <p:txBody>
            <a:bodyPr wrap="none" rtlCol="0">
              <a:spAutoFit/>
            </a:bodyPr>
            <a:lstStyle/>
            <a:p>
              <a:r>
                <a:rPr lang="zh-CN" altLang="en-US" sz="2000" dirty="0">
                  <a:solidFill>
                    <a:srgbClr val="FF0000"/>
                  </a:solidFill>
                </a:rPr>
                <a:t>向量与标量比较</a:t>
              </a:r>
            </a:p>
          </p:txBody>
        </p:sp>
      </p:grpSp>
      <p:grpSp>
        <p:nvGrpSpPr>
          <p:cNvPr id="11" name="组合 10"/>
          <p:cNvGrpSpPr/>
          <p:nvPr/>
        </p:nvGrpSpPr>
        <p:grpSpPr>
          <a:xfrm>
            <a:off x="1323703" y="2813093"/>
            <a:ext cx="4946468" cy="2677656"/>
            <a:chOff x="1323703" y="2813093"/>
            <a:chExt cx="4946468" cy="2677656"/>
          </a:xfrm>
        </p:grpSpPr>
        <p:sp>
          <p:nvSpPr>
            <p:cNvPr id="5" name="矩形 4"/>
            <p:cNvSpPr/>
            <p:nvPr/>
          </p:nvSpPr>
          <p:spPr>
            <a:xfrm>
              <a:off x="1323703" y="2813093"/>
              <a:ext cx="4946468" cy="2677656"/>
            </a:xfrm>
            <a:prstGeom prst="rect">
              <a:avLst/>
            </a:prstGeom>
          </p:spPr>
          <p:txBody>
            <a:bodyPr wrap="square">
              <a:spAutoFit/>
            </a:bodyPr>
            <a:lstStyle/>
            <a:p>
              <a:r>
                <a:rPr lang="zh-CN" altLang="en-US" sz="2800" dirty="0"/>
                <a:t>&gt;&gt; B=1:numel(A)</a:t>
              </a:r>
            </a:p>
            <a:p>
              <a:r>
                <a:rPr lang="zh-CN" altLang="en-US" sz="2800" dirty="0"/>
                <a:t>B =</a:t>
              </a:r>
            </a:p>
            <a:p>
              <a:r>
                <a:rPr lang="zh-CN" altLang="en-US" sz="2800" dirty="0"/>
                <a:t>     1     2     3     4     5     6     7     8</a:t>
              </a:r>
            </a:p>
            <a:p>
              <a:r>
                <a:rPr lang="zh-CN" altLang="en-US" sz="2800" dirty="0"/>
                <a:t>&gt;&gt; </a:t>
              </a:r>
              <a:r>
                <a:rPr lang="zh-CN" altLang="en-US" sz="2800" dirty="0">
                  <a:solidFill>
                    <a:srgbClr val="FF0000"/>
                  </a:solidFill>
                </a:rPr>
                <a:t>A&gt;B</a:t>
              </a:r>
            </a:p>
            <a:p>
              <a:r>
                <a:rPr lang="zh-CN" altLang="en-US" sz="2800" dirty="0"/>
                <a:t>ans =</a:t>
              </a:r>
            </a:p>
            <a:p>
              <a:r>
                <a:rPr lang="zh-CN" altLang="en-US" sz="2800" dirty="0"/>
                <a:t>     0     1     1     1     1     1     0     1</a:t>
              </a:r>
            </a:p>
          </p:txBody>
        </p:sp>
        <p:sp>
          <p:nvSpPr>
            <p:cNvPr id="10" name="文本框 9"/>
            <p:cNvSpPr txBox="1"/>
            <p:nvPr/>
          </p:nvSpPr>
          <p:spPr>
            <a:xfrm>
              <a:off x="2842554" y="4151921"/>
              <a:ext cx="1980029" cy="400110"/>
            </a:xfrm>
            <a:prstGeom prst="rect">
              <a:avLst/>
            </a:prstGeom>
            <a:noFill/>
          </p:spPr>
          <p:txBody>
            <a:bodyPr wrap="none" rtlCol="0">
              <a:spAutoFit/>
            </a:bodyPr>
            <a:lstStyle/>
            <a:p>
              <a:r>
                <a:rPr lang="zh-CN" altLang="en-US" sz="2000" dirty="0">
                  <a:solidFill>
                    <a:srgbClr val="FF0000"/>
                  </a:solidFill>
                </a:rPr>
                <a:t>向量与向量比较</a:t>
              </a:r>
            </a:p>
          </p:txBody>
        </p:sp>
      </p:grpSp>
    </p:spTree>
    <p:extLst>
      <p:ext uri="{BB962C8B-B14F-4D97-AF65-F5344CB8AC3E}">
        <p14:creationId xmlns:p14="http://schemas.microsoft.com/office/powerpoint/2010/main" val="44870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3070951"/>
            <a:ext cx="6189617" cy="665026"/>
          </a:xfrm>
        </p:spPr>
        <p:txBody>
          <a:bodyPr>
            <a:normAutofit/>
          </a:bodyPr>
          <a:lstStyle/>
          <a:p>
            <a:pPr marL="0" indent="0">
              <a:buNone/>
            </a:pPr>
            <a:r>
              <a:rPr lang="zh-CN" altLang="en-US" sz="3600" b="1" dirty="0">
                <a:sym typeface="Wingdings" panose="05000000000000000000" pitchFamily="2" charset="2"/>
              </a:rPr>
              <a:t>方法</a:t>
            </a:r>
            <a:r>
              <a:rPr lang="en-US" altLang="zh-CN" sz="3600" b="1" dirty="0">
                <a:sym typeface="Wingdings" panose="05000000000000000000" pitchFamily="2" charset="2"/>
              </a:rPr>
              <a:t> </a:t>
            </a:r>
            <a:r>
              <a:rPr lang="en-US" altLang="zh-CN" sz="3600" b="1" dirty="0"/>
              <a:t>&gt;&gt; </a:t>
            </a:r>
            <a:r>
              <a:rPr lang="en-US" altLang="zh-CN" sz="3600" b="1" dirty="0" err="1"/>
              <a:t>numel</a:t>
            </a:r>
            <a:r>
              <a:rPr lang="en-US" altLang="zh-CN" sz="3600" b="1" dirty="0"/>
              <a:t>(  </a:t>
            </a:r>
            <a:r>
              <a:rPr lang="en-US" altLang="zh-CN" sz="3600" b="1" dirty="0">
                <a:solidFill>
                  <a:srgbClr val="FF0000"/>
                </a:solidFill>
              </a:rPr>
              <a:t>find</a:t>
            </a:r>
            <a:r>
              <a:rPr lang="en-US" altLang="zh-CN" sz="3600" b="1" dirty="0"/>
              <a:t>(  X&gt;0 )  )</a:t>
            </a:r>
            <a:endParaRPr lang="zh-CN" altLang="en-US" sz="3600" b="1" dirty="0"/>
          </a:p>
        </p:txBody>
      </p:sp>
      <p:sp>
        <p:nvSpPr>
          <p:cNvPr id="4" name="标题 3"/>
          <p:cNvSpPr>
            <a:spLocks noGrp="1" noChangeArrowheads="1"/>
          </p:cNvSpPr>
          <p:nvPr>
            <p:ph type="title"/>
          </p:nvPr>
        </p:nvSpPr>
        <p:spPr bwMode="auto">
          <a:xfrm>
            <a:off x="838200" y="489297"/>
            <a:ext cx="105156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r>
              <a:rPr lang="en-US" altLang="zh-CN" sz="3200" b="1" dirty="0"/>
              <a:t>X=-100:3:876;</a:t>
            </a:r>
            <a:r>
              <a:rPr lang="zh-CN" altLang="en-US" sz="3200" b="1" dirty="0"/>
              <a:t>你希望知道</a:t>
            </a:r>
            <a:r>
              <a:rPr lang="en-US" altLang="zh-CN" sz="3200" b="1" dirty="0"/>
              <a:t>X</a:t>
            </a:r>
            <a:r>
              <a:rPr lang="zh-CN" altLang="en-US" sz="3200" b="1" dirty="0"/>
              <a:t>中大于</a:t>
            </a:r>
            <a:r>
              <a:rPr lang="en-US" altLang="zh-CN" sz="3200" b="1" dirty="0"/>
              <a:t>0</a:t>
            </a:r>
            <a:r>
              <a:rPr lang="zh-CN" altLang="en-US" sz="3200" b="1" dirty="0"/>
              <a:t>的元素的个数，如何写代码？</a:t>
            </a:r>
          </a:p>
        </p:txBody>
      </p:sp>
      <p:sp>
        <p:nvSpPr>
          <p:cNvPr id="5" name="内容占位符 2"/>
          <p:cNvSpPr txBox="1">
            <a:spLocks/>
          </p:cNvSpPr>
          <p:nvPr/>
        </p:nvSpPr>
        <p:spPr>
          <a:xfrm>
            <a:off x="838200" y="1982380"/>
            <a:ext cx="6189617" cy="665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600" b="1" dirty="0">
                <a:sym typeface="Wingdings" panose="05000000000000000000" pitchFamily="2" charset="2"/>
              </a:rPr>
              <a:t>方法</a:t>
            </a:r>
            <a:r>
              <a:rPr lang="en-US" altLang="zh-CN" sz="3600" b="1" dirty="0">
                <a:sym typeface="Wingdings" panose="05000000000000000000" pitchFamily="2" charset="2"/>
              </a:rPr>
              <a:t> </a:t>
            </a:r>
            <a:r>
              <a:rPr lang="en-US" altLang="zh-CN" sz="3600" b="1" dirty="0"/>
              <a:t>&gt;&gt; </a:t>
            </a:r>
            <a:r>
              <a:rPr lang="en-US" altLang="zh-CN" sz="3600" b="1" dirty="0" err="1"/>
              <a:t>numel</a:t>
            </a:r>
            <a:r>
              <a:rPr lang="en-US" altLang="zh-CN" sz="3600" b="1" dirty="0"/>
              <a:t>( X(X&gt;0) )</a:t>
            </a:r>
            <a:endParaRPr lang="zh-CN" altLang="en-US" sz="3600" b="1" dirty="0"/>
          </a:p>
        </p:txBody>
      </p:sp>
      <p:sp>
        <p:nvSpPr>
          <p:cNvPr id="6" name="矩形 5"/>
          <p:cNvSpPr/>
          <p:nvPr/>
        </p:nvSpPr>
        <p:spPr>
          <a:xfrm>
            <a:off x="838200" y="4159522"/>
            <a:ext cx="7459093" cy="393441"/>
          </a:xfrm>
          <a:prstGeom prst="rect">
            <a:avLst/>
          </a:prstGeom>
        </p:spPr>
        <p:txBody>
          <a:bodyPr wrap="none">
            <a:spAutoFit/>
          </a:bodyPr>
          <a:lstStyle/>
          <a:p>
            <a:pPr algn="r">
              <a:lnSpc>
                <a:spcPct val="80000"/>
              </a:lnSpc>
            </a:pPr>
            <a:r>
              <a:rPr lang="en-US" altLang="zh-CN" sz="2400" b="1" dirty="0">
                <a:solidFill>
                  <a:srgbClr val="0070C0"/>
                </a:solidFill>
                <a:ea typeface="华文中宋" panose="02010600040101010101" pitchFamily="2" charset="-122"/>
              </a:rPr>
              <a:t>find</a:t>
            </a:r>
            <a:r>
              <a:rPr lang="zh-CN" altLang="en-US" sz="2400" b="1" dirty="0">
                <a:solidFill>
                  <a:srgbClr val="0070C0"/>
                </a:solidFill>
                <a:ea typeface="华文中宋" panose="02010600040101010101" pitchFamily="2" charset="-122"/>
              </a:rPr>
              <a:t>函数：</a:t>
            </a:r>
            <a:r>
              <a:rPr lang="zh-CN" altLang="en-US" sz="2400" dirty="0">
                <a:solidFill>
                  <a:srgbClr val="0070C0"/>
                </a:solidFill>
                <a:ea typeface="华文中宋" panose="02010600040101010101" pitchFamily="2" charset="-122"/>
              </a:rPr>
              <a:t>返回满足特定条件的数组元素的线性索引号</a:t>
            </a:r>
          </a:p>
        </p:txBody>
      </p:sp>
    </p:spTree>
    <p:extLst>
      <p:ext uri="{BB962C8B-B14F-4D97-AF65-F5344CB8AC3E}">
        <p14:creationId xmlns:p14="http://schemas.microsoft.com/office/powerpoint/2010/main" val="3063582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723446"/>
          </a:xfrm>
        </p:spPr>
        <p:txBody>
          <a:bodyPr/>
          <a:lstStyle/>
          <a:p>
            <a:r>
              <a:rPr lang="en-US" altLang="zh-CN" dirty="0"/>
              <a:t>find</a:t>
            </a:r>
            <a:r>
              <a:rPr lang="zh-CN" altLang="en-US" dirty="0"/>
              <a:t>函数</a:t>
            </a:r>
          </a:p>
        </p:txBody>
      </p:sp>
      <p:sp>
        <p:nvSpPr>
          <p:cNvPr id="3" name="内容占位符 2"/>
          <p:cNvSpPr>
            <a:spLocks noGrp="1"/>
          </p:cNvSpPr>
          <p:nvPr>
            <p:ph idx="1"/>
          </p:nvPr>
        </p:nvSpPr>
        <p:spPr>
          <a:xfrm>
            <a:off x="838200" y="1477282"/>
            <a:ext cx="3037114" cy="3077301"/>
          </a:xfrm>
        </p:spPr>
        <p:txBody>
          <a:bodyPr/>
          <a:lstStyle/>
          <a:p>
            <a:pPr marL="0" indent="0">
              <a:buNone/>
            </a:pPr>
            <a:r>
              <a:rPr lang="en-US" altLang="zh-CN" dirty="0"/>
              <a:t>&gt;&gt; A=magic(4)</a:t>
            </a:r>
          </a:p>
          <a:p>
            <a:pPr marL="0" indent="0">
              <a:buNone/>
            </a:pPr>
            <a:r>
              <a:rPr lang="en-US" altLang="zh-CN" dirty="0"/>
              <a:t>A =</a:t>
            </a:r>
          </a:p>
          <a:p>
            <a:pPr marL="0" indent="0">
              <a:buNone/>
            </a:pPr>
            <a:r>
              <a:rPr lang="en-US" altLang="zh-CN" dirty="0"/>
              <a:t>    16     2     3    13</a:t>
            </a:r>
          </a:p>
          <a:p>
            <a:pPr marL="0" indent="0">
              <a:buNone/>
            </a:pPr>
            <a:r>
              <a:rPr lang="en-US" altLang="zh-CN" dirty="0"/>
              <a:t>     5    11    10     8</a:t>
            </a:r>
          </a:p>
          <a:p>
            <a:pPr marL="0" indent="0">
              <a:buNone/>
            </a:pPr>
            <a:r>
              <a:rPr lang="en-US" altLang="zh-CN" dirty="0"/>
              <a:t>     9     7     6    12</a:t>
            </a:r>
          </a:p>
          <a:p>
            <a:pPr marL="0" indent="0">
              <a:buNone/>
            </a:pPr>
            <a:r>
              <a:rPr lang="en-US" altLang="zh-CN" dirty="0"/>
              <a:t>     4    14    15     1</a:t>
            </a:r>
            <a:endParaRPr lang="zh-CN" altLang="en-US" dirty="0"/>
          </a:p>
        </p:txBody>
      </p:sp>
      <p:sp>
        <p:nvSpPr>
          <p:cNvPr id="4" name="矩形 3"/>
          <p:cNvSpPr/>
          <p:nvPr/>
        </p:nvSpPr>
        <p:spPr>
          <a:xfrm>
            <a:off x="4833256" y="1474107"/>
            <a:ext cx="3457304" cy="4092402"/>
          </a:xfrm>
          <a:prstGeom prst="rect">
            <a:avLst/>
          </a:prstGeom>
        </p:spPr>
        <p:txBody>
          <a:bodyPr vert="horz" lIns="91440" tIns="45720" rIns="91440" bIns="45720" rtlCol="0">
            <a:normAutofit/>
          </a:bodyPr>
          <a:lstStyle/>
          <a:p>
            <a:pPr>
              <a:lnSpc>
                <a:spcPct val="90000"/>
              </a:lnSpc>
              <a:spcBef>
                <a:spcPts val="1000"/>
              </a:spcBef>
              <a:buFont typeface="Arial" panose="020B0604020202020204" pitchFamily="34" charset="0"/>
              <a:buNone/>
            </a:pPr>
            <a:r>
              <a:rPr lang="zh-CN" altLang="en-US" sz="2800" dirty="0"/>
              <a:t>&gt;&gt; k=find( isprime(A) )</a:t>
            </a:r>
          </a:p>
          <a:p>
            <a:pPr>
              <a:lnSpc>
                <a:spcPct val="90000"/>
              </a:lnSpc>
              <a:spcBef>
                <a:spcPts val="1000"/>
              </a:spcBef>
              <a:buFont typeface="Arial" panose="020B0604020202020204" pitchFamily="34" charset="0"/>
              <a:buNone/>
            </a:pPr>
            <a:r>
              <a:rPr lang="zh-CN" altLang="en-US" sz="2800" dirty="0"/>
              <a:t>k =</a:t>
            </a:r>
          </a:p>
          <a:p>
            <a:pPr>
              <a:lnSpc>
                <a:spcPct val="90000"/>
              </a:lnSpc>
              <a:spcBef>
                <a:spcPts val="1000"/>
              </a:spcBef>
              <a:buFont typeface="Arial" panose="020B0604020202020204" pitchFamily="34" charset="0"/>
              <a:buNone/>
            </a:pPr>
            <a:r>
              <a:rPr lang="zh-CN" altLang="en-US" sz="2800" dirty="0"/>
              <a:t>     2</a:t>
            </a:r>
          </a:p>
          <a:p>
            <a:pPr>
              <a:lnSpc>
                <a:spcPct val="90000"/>
              </a:lnSpc>
              <a:spcBef>
                <a:spcPts val="1000"/>
              </a:spcBef>
              <a:buFont typeface="Arial" panose="020B0604020202020204" pitchFamily="34" charset="0"/>
              <a:buNone/>
            </a:pPr>
            <a:r>
              <a:rPr lang="zh-CN" altLang="en-US" sz="2800" dirty="0"/>
              <a:t>     5</a:t>
            </a:r>
          </a:p>
          <a:p>
            <a:pPr>
              <a:lnSpc>
                <a:spcPct val="90000"/>
              </a:lnSpc>
              <a:spcBef>
                <a:spcPts val="1000"/>
              </a:spcBef>
              <a:buFont typeface="Arial" panose="020B0604020202020204" pitchFamily="34" charset="0"/>
              <a:buNone/>
            </a:pPr>
            <a:r>
              <a:rPr lang="zh-CN" altLang="en-US" sz="2800" dirty="0"/>
              <a:t>     6</a:t>
            </a:r>
          </a:p>
          <a:p>
            <a:pPr>
              <a:lnSpc>
                <a:spcPct val="90000"/>
              </a:lnSpc>
              <a:spcBef>
                <a:spcPts val="1000"/>
              </a:spcBef>
              <a:buFont typeface="Arial" panose="020B0604020202020204" pitchFamily="34" charset="0"/>
              <a:buNone/>
            </a:pPr>
            <a:r>
              <a:rPr lang="zh-CN" altLang="en-US" sz="2800" dirty="0"/>
              <a:t>     7</a:t>
            </a:r>
          </a:p>
          <a:p>
            <a:pPr>
              <a:lnSpc>
                <a:spcPct val="90000"/>
              </a:lnSpc>
              <a:spcBef>
                <a:spcPts val="1000"/>
              </a:spcBef>
              <a:buFont typeface="Arial" panose="020B0604020202020204" pitchFamily="34" charset="0"/>
              <a:buNone/>
            </a:pPr>
            <a:r>
              <a:rPr lang="zh-CN" altLang="en-US" sz="2800" dirty="0"/>
              <a:t>     9</a:t>
            </a:r>
          </a:p>
          <a:p>
            <a:pPr>
              <a:lnSpc>
                <a:spcPct val="90000"/>
              </a:lnSpc>
              <a:spcBef>
                <a:spcPts val="1000"/>
              </a:spcBef>
              <a:buFont typeface="Arial" panose="020B0604020202020204" pitchFamily="34" charset="0"/>
              <a:buNone/>
            </a:pPr>
            <a:r>
              <a:rPr lang="zh-CN" altLang="en-US" sz="2800" dirty="0"/>
              <a:t>    13</a:t>
            </a:r>
          </a:p>
        </p:txBody>
      </p:sp>
    </p:spTree>
    <p:extLst>
      <p:ext uri="{BB962C8B-B14F-4D97-AF65-F5344CB8AC3E}">
        <p14:creationId xmlns:p14="http://schemas.microsoft.com/office/powerpoint/2010/main" val="407278121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58578"/>
          </a:xfrm>
        </p:spPr>
        <p:txBody>
          <a:bodyPr/>
          <a:lstStyle/>
          <a:p>
            <a:r>
              <a:rPr lang="zh-CN" altLang="en-US" dirty="0"/>
              <a:t>找出</a:t>
            </a:r>
            <a:r>
              <a:rPr lang="en-US" altLang="zh-CN" dirty="0"/>
              <a:t>A</a:t>
            </a:r>
            <a:r>
              <a:rPr lang="zh-CN" altLang="en-US" dirty="0"/>
              <a:t>矩阵中前</a:t>
            </a:r>
            <a:r>
              <a:rPr lang="en-US" altLang="zh-CN" dirty="0"/>
              <a:t>5</a:t>
            </a:r>
            <a:r>
              <a:rPr lang="zh-CN" altLang="en-US" dirty="0"/>
              <a:t>个小于</a:t>
            </a:r>
            <a:r>
              <a:rPr lang="en-US" altLang="zh-CN" dirty="0"/>
              <a:t>10</a:t>
            </a:r>
            <a:r>
              <a:rPr lang="zh-CN" altLang="en-US" dirty="0"/>
              <a:t>的元素</a:t>
            </a:r>
          </a:p>
        </p:txBody>
      </p:sp>
      <p:sp>
        <p:nvSpPr>
          <p:cNvPr id="4" name="内容占位符 2"/>
          <p:cNvSpPr>
            <a:spLocks noGrp="1"/>
          </p:cNvSpPr>
          <p:nvPr>
            <p:ph idx="1"/>
          </p:nvPr>
        </p:nvSpPr>
        <p:spPr>
          <a:xfrm>
            <a:off x="838200" y="1416322"/>
            <a:ext cx="3037114" cy="3077301"/>
          </a:xfrm>
        </p:spPr>
        <p:txBody>
          <a:bodyPr/>
          <a:lstStyle/>
          <a:p>
            <a:pPr marL="0" indent="0">
              <a:buNone/>
            </a:pPr>
            <a:r>
              <a:rPr lang="en-US" altLang="zh-CN" dirty="0"/>
              <a:t>&gt;&gt; A=magic(4)</a:t>
            </a:r>
          </a:p>
          <a:p>
            <a:pPr marL="0" indent="0">
              <a:buNone/>
            </a:pPr>
            <a:r>
              <a:rPr lang="en-US" altLang="zh-CN" dirty="0"/>
              <a:t>A =</a:t>
            </a:r>
          </a:p>
          <a:p>
            <a:pPr marL="0" indent="0">
              <a:buNone/>
            </a:pPr>
            <a:r>
              <a:rPr lang="en-US" altLang="zh-CN" dirty="0"/>
              <a:t>    16     </a:t>
            </a:r>
            <a:r>
              <a:rPr lang="en-US" altLang="zh-CN" dirty="0">
                <a:solidFill>
                  <a:srgbClr val="FF0000"/>
                </a:solidFill>
              </a:rPr>
              <a:t>2</a:t>
            </a:r>
            <a:r>
              <a:rPr lang="en-US" altLang="zh-CN" dirty="0"/>
              <a:t>     3    13</a:t>
            </a:r>
          </a:p>
          <a:p>
            <a:pPr marL="0" indent="0">
              <a:buNone/>
            </a:pPr>
            <a:r>
              <a:rPr lang="en-US" altLang="zh-CN" dirty="0"/>
              <a:t>     </a:t>
            </a:r>
            <a:r>
              <a:rPr lang="en-US" altLang="zh-CN" dirty="0">
                <a:solidFill>
                  <a:srgbClr val="FF0000"/>
                </a:solidFill>
              </a:rPr>
              <a:t>5</a:t>
            </a:r>
            <a:r>
              <a:rPr lang="en-US" altLang="zh-CN" dirty="0"/>
              <a:t>    11    10     8</a:t>
            </a:r>
          </a:p>
          <a:p>
            <a:pPr marL="0" indent="0">
              <a:buNone/>
            </a:pPr>
            <a:r>
              <a:rPr lang="en-US" altLang="zh-CN" dirty="0"/>
              <a:t>     </a:t>
            </a:r>
            <a:r>
              <a:rPr lang="en-US" altLang="zh-CN" dirty="0">
                <a:solidFill>
                  <a:srgbClr val="FF0000"/>
                </a:solidFill>
              </a:rPr>
              <a:t>9</a:t>
            </a:r>
            <a:r>
              <a:rPr lang="en-US" altLang="zh-CN" dirty="0"/>
              <a:t>     </a:t>
            </a:r>
            <a:r>
              <a:rPr lang="en-US" altLang="zh-CN" dirty="0">
                <a:solidFill>
                  <a:srgbClr val="FF0000"/>
                </a:solidFill>
              </a:rPr>
              <a:t>7</a:t>
            </a:r>
            <a:r>
              <a:rPr lang="en-US" altLang="zh-CN" dirty="0"/>
              <a:t>     6    12</a:t>
            </a:r>
          </a:p>
          <a:p>
            <a:pPr marL="0" indent="0">
              <a:buNone/>
            </a:pPr>
            <a:r>
              <a:rPr lang="en-US" altLang="zh-CN" dirty="0"/>
              <a:t>     </a:t>
            </a:r>
            <a:r>
              <a:rPr lang="en-US" altLang="zh-CN" dirty="0">
                <a:solidFill>
                  <a:srgbClr val="FF0000"/>
                </a:solidFill>
              </a:rPr>
              <a:t>4</a:t>
            </a:r>
            <a:r>
              <a:rPr lang="en-US" altLang="zh-CN" dirty="0"/>
              <a:t>    14    15     1</a:t>
            </a:r>
            <a:endParaRPr lang="zh-CN" altLang="en-US" dirty="0"/>
          </a:p>
        </p:txBody>
      </p:sp>
      <p:sp>
        <p:nvSpPr>
          <p:cNvPr id="6" name="矩形 5"/>
          <p:cNvSpPr/>
          <p:nvPr/>
        </p:nvSpPr>
        <p:spPr>
          <a:xfrm>
            <a:off x="4467497" y="1416322"/>
            <a:ext cx="6514011" cy="4401205"/>
          </a:xfrm>
          <a:prstGeom prst="rect">
            <a:avLst/>
          </a:prstGeom>
        </p:spPr>
        <p:txBody>
          <a:bodyPr wrap="square">
            <a:spAutoFit/>
          </a:bodyPr>
          <a:lstStyle/>
          <a:p>
            <a:r>
              <a:rPr lang="zh-CN" altLang="en-US" sz="2800" dirty="0">
                <a:solidFill>
                  <a:srgbClr val="FF0000"/>
                </a:solidFill>
              </a:rPr>
              <a:t>方法</a:t>
            </a:r>
            <a:r>
              <a:rPr lang="en-US" altLang="zh-CN" sz="2800" dirty="0">
                <a:solidFill>
                  <a:srgbClr val="FF0000"/>
                </a:solidFill>
              </a:rPr>
              <a:t>1</a:t>
            </a:r>
            <a:r>
              <a:rPr lang="zh-CN" altLang="en-US" sz="2800" dirty="0">
                <a:solidFill>
                  <a:srgbClr val="FF0000"/>
                </a:solidFill>
              </a:rPr>
              <a:t>：</a:t>
            </a:r>
            <a:endParaRPr lang="en-US" altLang="zh-CN" sz="2800" dirty="0">
              <a:solidFill>
                <a:srgbClr val="FF0000"/>
              </a:solidFill>
            </a:endParaRPr>
          </a:p>
          <a:p>
            <a:r>
              <a:rPr lang="zh-CN" altLang="en-US" sz="2800" dirty="0"/>
              <a:t>&gt;&gt; B=A(A&lt;10); </a:t>
            </a:r>
            <a:r>
              <a:rPr lang="en-US" altLang="zh-CN" sz="2800" dirty="0"/>
              <a:t>%A</a:t>
            </a:r>
            <a:r>
              <a:rPr lang="zh-CN" altLang="en-US" sz="2800" dirty="0"/>
              <a:t>中所有小于</a:t>
            </a:r>
            <a:r>
              <a:rPr lang="en-US" altLang="zh-CN" sz="2800" dirty="0"/>
              <a:t>10</a:t>
            </a:r>
            <a:r>
              <a:rPr lang="zh-CN" altLang="en-US" sz="2800" dirty="0"/>
              <a:t>的元素</a:t>
            </a:r>
          </a:p>
          <a:p>
            <a:r>
              <a:rPr lang="zh-CN" altLang="en-US" sz="2800" dirty="0"/>
              <a:t>&gt;&gt; C=B(1:5) </a:t>
            </a:r>
            <a:r>
              <a:rPr lang="en-US" altLang="zh-CN" sz="2800" dirty="0"/>
              <a:t>%</a:t>
            </a:r>
            <a:r>
              <a:rPr lang="zh-CN" altLang="en-US" sz="2800" dirty="0"/>
              <a:t>前</a:t>
            </a:r>
            <a:r>
              <a:rPr lang="en-US" altLang="zh-CN" sz="2800" dirty="0"/>
              <a:t>5</a:t>
            </a:r>
            <a:r>
              <a:rPr lang="zh-CN" altLang="en-US" sz="2800" dirty="0"/>
              <a:t>个小于</a:t>
            </a:r>
            <a:r>
              <a:rPr lang="en-US" altLang="zh-CN" sz="2800" dirty="0"/>
              <a:t>10</a:t>
            </a:r>
            <a:r>
              <a:rPr lang="zh-CN" altLang="en-US" sz="2800" dirty="0"/>
              <a:t>的元素</a:t>
            </a:r>
            <a:endParaRPr lang="en-US" altLang="zh-CN" sz="2800" dirty="0"/>
          </a:p>
          <a:p>
            <a:r>
              <a:rPr lang="zh-CN" altLang="en-US" sz="2800" dirty="0">
                <a:solidFill>
                  <a:srgbClr val="0070C0"/>
                </a:solidFill>
              </a:rPr>
              <a:t>如何合并这两个语句：</a:t>
            </a:r>
          </a:p>
          <a:p>
            <a:r>
              <a:rPr lang="zh-CN" altLang="en-US" sz="2800" dirty="0"/>
              <a:t>C =</a:t>
            </a:r>
          </a:p>
          <a:p>
            <a:r>
              <a:rPr lang="zh-CN" altLang="en-US" sz="2800" dirty="0"/>
              <a:t>     5</a:t>
            </a:r>
          </a:p>
          <a:p>
            <a:r>
              <a:rPr lang="zh-CN" altLang="en-US" sz="2800" dirty="0"/>
              <a:t>     9</a:t>
            </a:r>
          </a:p>
          <a:p>
            <a:r>
              <a:rPr lang="zh-CN" altLang="en-US" sz="2800" dirty="0"/>
              <a:t>     4</a:t>
            </a:r>
          </a:p>
          <a:p>
            <a:r>
              <a:rPr lang="zh-CN" altLang="en-US" sz="2800" dirty="0"/>
              <a:t>     2</a:t>
            </a:r>
          </a:p>
          <a:p>
            <a:r>
              <a:rPr lang="zh-CN" altLang="en-US" sz="2800" dirty="0"/>
              <a:t>     7</a:t>
            </a:r>
          </a:p>
        </p:txBody>
      </p:sp>
      <p:sp>
        <p:nvSpPr>
          <p:cNvPr id="7" name="矩形 6"/>
          <p:cNvSpPr/>
          <p:nvPr/>
        </p:nvSpPr>
        <p:spPr>
          <a:xfrm>
            <a:off x="6353907" y="3318570"/>
            <a:ext cx="3979818" cy="3539430"/>
          </a:xfrm>
          <a:prstGeom prst="rect">
            <a:avLst/>
          </a:prstGeom>
        </p:spPr>
        <p:txBody>
          <a:bodyPr wrap="square">
            <a:spAutoFit/>
          </a:bodyPr>
          <a:lstStyle/>
          <a:p>
            <a:r>
              <a:rPr lang="zh-CN" altLang="en-US" sz="2800" dirty="0">
                <a:solidFill>
                  <a:srgbClr val="FF0000"/>
                </a:solidFill>
              </a:rPr>
              <a:t>方法</a:t>
            </a:r>
            <a:r>
              <a:rPr lang="en-US" altLang="zh-CN" sz="2800" dirty="0">
                <a:solidFill>
                  <a:srgbClr val="FF0000"/>
                </a:solidFill>
              </a:rPr>
              <a:t>2</a:t>
            </a:r>
            <a:r>
              <a:rPr lang="zh-CN" altLang="en-US" sz="2800" dirty="0">
                <a:solidFill>
                  <a:srgbClr val="FF0000"/>
                </a:solidFill>
              </a:rPr>
              <a:t>：</a:t>
            </a:r>
            <a:endParaRPr lang="en-US" altLang="zh-CN" sz="2800" dirty="0">
              <a:solidFill>
                <a:srgbClr val="FF0000"/>
              </a:solidFill>
            </a:endParaRPr>
          </a:p>
          <a:p>
            <a:r>
              <a:rPr lang="zh-CN" altLang="en-US" sz="2800" dirty="0"/>
              <a:t>&gt;&gt; B=A( find(A&lt;10</a:t>
            </a:r>
            <a:r>
              <a:rPr lang="zh-CN" altLang="en-US" sz="2800" dirty="0">
                <a:solidFill>
                  <a:srgbClr val="FF0000"/>
                </a:solidFill>
              </a:rPr>
              <a:t>,5</a:t>
            </a:r>
            <a:r>
              <a:rPr lang="zh-CN" altLang="en-US" sz="2800" dirty="0"/>
              <a:t>) )</a:t>
            </a:r>
          </a:p>
          <a:p>
            <a:r>
              <a:rPr lang="zh-CN" altLang="en-US" sz="2800" dirty="0"/>
              <a:t>B =</a:t>
            </a:r>
          </a:p>
          <a:p>
            <a:r>
              <a:rPr lang="zh-CN" altLang="en-US" sz="2800" dirty="0"/>
              <a:t>     5</a:t>
            </a:r>
          </a:p>
          <a:p>
            <a:r>
              <a:rPr lang="zh-CN" altLang="en-US" sz="2800" dirty="0"/>
              <a:t>     9</a:t>
            </a:r>
          </a:p>
          <a:p>
            <a:r>
              <a:rPr lang="zh-CN" altLang="en-US" sz="2800" dirty="0"/>
              <a:t>     4</a:t>
            </a:r>
          </a:p>
          <a:p>
            <a:r>
              <a:rPr lang="zh-CN" altLang="en-US" sz="2800" dirty="0"/>
              <a:t>     2</a:t>
            </a:r>
          </a:p>
          <a:p>
            <a:r>
              <a:rPr lang="zh-CN" altLang="en-US" sz="2800" dirty="0"/>
              <a:t>     7</a:t>
            </a:r>
          </a:p>
        </p:txBody>
      </p:sp>
      <p:grpSp>
        <p:nvGrpSpPr>
          <p:cNvPr id="10" name="组合 9"/>
          <p:cNvGrpSpPr/>
          <p:nvPr/>
        </p:nvGrpSpPr>
        <p:grpSpPr>
          <a:xfrm>
            <a:off x="8778575" y="5395923"/>
            <a:ext cx="1879041" cy="1028443"/>
            <a:chOff x="8524352" y="3487783"/>
            <a:chExt cx="1879041" cy="1028443"/>
          </a:xfrm>
        </p:grpSpPr>
        <p:sp>
          <p:nvSpPr>
            <p:cNvPr id="8" name="燕尾形箭头 7"/>
            <p:cNvSpPr/>
            <p:nvPr/>
          </p:nvSpPr>
          <p:spPr>
            <a:xfrm rot="16200000">
              <a:off x="8908869" y="3640183"/>
              <a:ext cx="548640" cy="243840"/>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p:nvSpPr>
          <p:spPr>
            <a:xfrm>
              <a:off x="8524352" y="4054561"/>
              <a:ext cx="1879041" cy="461665"/>
            </a:xfrm>
            <a:prstGeom prst="rect">
              <a:avLst/>
            </a:prstGeom>
          </p:spPr>
          <p:txBody>
            <a:bodyPr wrap="none">
              <a:spAutoFit/>
            </a:bodyPr>
            <a:lstStyle/>
            <a:p>
              <a:r>
                <a:rPr lang="zh-CN" altLang="en-US" sz="2400" dirty="0"/>
                <a:t>前</a:t>
              </a:r>
              <a:r>
                <a:rPr lang="en-US" altLang="zh-CN" sz="2400" dirty="0"/>
                <a:t>5</a:t>
              </a:r>
              <a:r>
                <a:rPr lang="zh-CN" altLang="en-US" sz="2400" dirty="0"/>
                <a:t>个的意思</a:t>
              </a:r>
            </a:p>
          </p:txBody>
        </p:sp>
      </p:grpSp>
    </p:spTree>
    <p:extLst>
      <p:ext uri="{BB962C8B-B14F-4D97-AF65-F5344CB8AC3E}">
        <p14:creationId xmlns:p14="http://schemas.microsoft.com/office/powerpoint/2010/main" val="364444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958578"/>
          </a:xfrm>
        </p:spPr>
        <p:txBody>
          <a:bodyPr/>
          <a:lstStyle/>
          <a:p>
            <a:r>
              <a:rPr lang="zh-CN" altLang="en-US" dirty="0"/>
              <a:t>找出</a:t>
            </a:r>
            <a:r>
              <a:rPr lang="en-US" altLang="zh-CN" dirty="0"/>
              <a:t>A</a:t>
            </a:r>
            <a:r>
              <a:rPr lang="zh-CN" altLang="en-US" dirty="0"/>
              <a:t>矩阵中后</a:t>
            </a:r>
            <a:r>
              <a:rPr lang="en-US" altLang="zh-CN" dirty="0"/>
              <a:t>5</a:t>
            </a:r>
            <a:r>
              <a:rPr lang="zh-CN" altLang="en-US" dirty="0"/>
              <a:t>个小于</a:t>
            </a:r>
            <a:r>
              <a:rPr lang="en-US" altLang="zh-CN" dirty="0"/>
              <a:t>10</a:t>
            </a:r>
            <a:r>
              <a:rPr lang="zh-CN" altLang="en-US" dirty="0"/>
              <a:t>的元素</a:t>
            </a:r>
          </a:p>
        </p:txBody>
      </p:sp>
      <p:sp>
        <p:nvSpPr>
          <p:cNvPr id="4" name="内容占位符 2"/>
          <p:cNvSpPr>
            <a:spLocks noGrp="1"/>
          </p:cNvSpPr>
          <p:nvPr>
            <p:ph idx="1"/>
          </p:nvPr>
        </p:nvSpPr>
        <p:spPr>
          <a:xfrm>
            <a:off x="838200" y="1416322"/>
            <a:ext cx="3037114" cy="3077301"/>
          </a:xfrm>
        </p:spPr>
        <p:txBody>
          <a:bodyPr/>
          <a:lstStyle/>
          <a:p>
            <a:pPr marL="0" indent="0">
              <a:buNone/>
            </a:pPr>
            <a:r>
              <a:rPr lang="en-US" altLang="zh-CN" dirty="0"/>
              <a:t>&gt;&gt; A=magic(4)</a:t>
            </a:r>
          </a:p>
          <a:p>
            <a:pPr marL="0" indent="0">
              <a:buNone/>
            </a:pPr>
            <a:r>
              <a:rPr lang="en-US" altLang="zh-CN" dirty="0"/>
              <a:t>A =</a:t>
            </a:r>
          </a:p>
          <a:p>
            <a:pPr marL="0" indent="0">
              <a:buNone/>
            </a:pPr>
            <a:r>
              <a:rPr lang="en-US" altLang="zh-CN" dirty="0"/>
              <a:t>    16     2     </a:t>
            </a:r>
            <a:r>
              <a:rPr lang="en-US" altLang="zh-CN" dirty="0">
                <a:solidFill>
                  <a:srgbClr val="FF0000"/>
                </a:solidFill>
              </a:rPr>
              <a:t>3</a:t>
            </a:r>
            <a:r>
              <a:rPr lang="en-US" altLang="zh-CN" dirty="0"/>
              <a:t>    13</a:t>
            </a:r>
          </a:p>
          <a:p>
            <a:pPr marL="0" indent="0">
              <a:buNone/>
            </a:pPr>
            <a:r>
              <a:rPr lang="en-US" altLang="zh-CN" dirty="0"/>
              <a:t>     5    11    10     </a:t>
            </a:r>
            <a:r>
              <a:rPr lang="en-US" altLang="zh-CN" dirty="0">
                <a:solidFill>
                  <a:srgbClr val="FF0000"/>
                </a:solidFill>
              </a:rPr>
              <a:t>8</a:t>
            </a:r>
          </a:p>
          <a:p>
            <a:pPr marL="0" indent="0">
              <a:buNone/>
            </a:pPr>
            <a:r>
              <a:rPr lang="en-US" altLang="zh-CN" dirty="0"/>
              <a:t>     9     </a:t>
            </a:r>
            <a:r>
              <a:rPr lang="en-US" altLang="zh-CN" dirty="0">
                <a:solidFill>
                  <a:srgbClr val="FF0000"/>
                </a:solidFill>
              </a:rPr>
              <a:t>7</a:t>
            </a:r>
            <a:r>
              <a:rPr lang="en-US" altLang="zh-CN" dirty="0"/>
              <a:t>     </a:t>
            </a:r>
            <a:r>
              <a:rPr lang="en-US" altLang="zh-CN" dirty="0">
                <a:solidFill>
                  <a:srgbClr val="FF0000"/>
                </a:solidFill>
              </a:rPr>
              <a:t>6</a:t>
            </a:r>
            <a:r>
              <a:rPr lang="en-US" altLang="zh-CN" dirty="0"/>
              <a:t>    12</a:t>
            </a:r>
          </a:p>
          <a:p>
            <a:pPr marL="0" indent="0">
              <a:buNone/>
            </a:pPr>
            <a:r>
              <a:rPr lang="en-US" altLang="zh-CN" dirty="0"/>
              <a:t>     4    14    15     </a:t>
            </a:r>
            <a:r>
              <a:rPr lang="en-US" altLang="zh-CN" dirty="0">
                <a:solidFill>
                  <a:srgbClr val="FF0000"/>
                </a:solidFill>
              </a:rPr>
              <a:t>1</a:t>
            </a:r>
            <a:endParaRPr lang="zh-CN" altLang="en-US" dirty="0">
              <a:solidFill>
                <a:srgbClr val="FF0000"/>
              </a:solidFill>
            </a:endParaRPr>
          </a:p>
        </p:txBody>
      </p:sp>
      <p:sp>
        <p:nvSpPr>
          <p:cNvPr id="6" name="矩形 5"/>
          <p:cNvSpPr/>
          <p:nvPr/>
        </p:nvSpPr>
        <p:spPr>
          <a:xfrm>
            <a:off x="4467497" y="1416322"/>
            <a:ext cx="6514011" cy="3970318"/>
          </a:xfrm>
          <a:prstGeom prst="rect">
            <a:avLst/>
          </a:prstGeom>
        </p:spPr>
        <p:txBody>
          <a:bodyPr wrap="square">
            <a:spAutoFit/>
          </a:bodyPr>
          <a:lstStyle/>
          <a:p>
            <a:r>
              <a:rPr lang="zh-CN" altLang="en-US" sz="2800" dirty="0">
                <a:solidFill>
                  <a:srgbClr val="FF0000"/>
                </a:solidFill>
              </a:rPr>
              <a:t>方法</a:t>
            </a:r>
            <a:r>
              <a:rPr lang="en-US" altLang="zh-CN" sz="2800" dirty="0">
                <a:solidFill>
                  <a:srgbClr val="FF0000"/>
                </a:solidFill>
              </a:rPr>
              <a:t>1</a:t>
            </a:r>
            <a:r>
              <a:rPr lang="zh-CN" altLang="en-US" sz="2800" dirty="0">
                <a:solidFill>
                  <a:srgbClr val="FF0000"/>
                </a:solidFill>
              </a:rPr>
              <a:t>：</a:t>
            </a:r>
            <a:endParaRPr lang="en-US" altLang="zh-CN" sz="2800" dirty="0">
              <a:solidFill>
                <a:srgbClr val="FF0000"/>
              </a:solidFill>
            </a:endParaRPr>
          </a:p>
          <a:p>
            <a:r>
              <a:rPr lang="zh-CN" altLang="en-US" sz="2800" dirty="0"/>
              <a:t>&gt;&gt; B=A(A&lt;10); </a:t>
            </a:r>
            <a:r>
              <a:rPr lang="en-US" altLang="zh-CN" sz="2800" dirty="0"/>
              <a:t>%A</a:t>
            </a:r>
            <a:r>
              <a:rPr lang="zh-CN" altLang="en-US" sz="2800" dirty="0"/>
              <a:t>中所有小于</a:t>
            </a:r>
            <a:r>
              <a:rPr lang="en-US" altLang="zh-CN" sz="2800" dirty="0"/>
              <a:t>10</a:t>
            </a:r>
            <a:r>
              <a:rPr lang="zh-CN" altLang="en-US" sz="2800" dirty="0"/>
              <a:t>的元素</a:t>
            </a:r>
          </a:p>
          <a:p>
            <a:r>
              <a:rPr lang="zh-CN" altLang="en-US" sz="2800" dirty="0"/>
              <a:t>&gt;&gt; C=B(</a:t>
            </a:r>
            <a:r>
              <a:rPr lang="en-US" altLang="zh-CN" sz="2800" dirty="0">
                <a:solidFill>
                  <a:srgbClr val="FF0000"/>
                </a:solidFill>
              </a:rPr>
              <a:t>end-4</a:t>
            </a:r>
            <a:r>
              <a:rPr lang="zh-CN" altLang="en-US" sz="2800" dirty="0">
                <a:solidFill>
                  <a:srgbClr val="FF0000"/>
                </a:solidFill>
              </a:rPr>
              <a:t>:</a:t>
            </a:r>
            <a:r>
              <a:rPr lang="en-US" altLang="zh-CN" sz="2800" dirty="0">
                <a:solidFill>
                  <a:srgbClr val="FF0000"/>
                </a:solidFill>
              </a:rPr>
              <a:t>end</a:t>
            </a:r>
            <a:r>
              <a:rPr lang="zh-CN" altLang="en-US" sz="2800" dirty="0"/>
              <a:t>) </a:t>
            </a:r>
            <a:r>
              <a:rPr lang="en-US" altLang="zh-CN" sz="2800" dirty="0"/>
              <a:t>%</a:t>
            </a:r>
            <a:r>
              <a:rPr lang="zh-CN" altLang="en-US" sz="2800" dirty="0"/>
              <a:t>后</a:t>
            </a:r>
            <a:r>
              <a:rPr lang="en-US" altLang="zh-CN" sz="2800" dirty="0"/>
              <a:t>5</a:t>
            </a:r>
            <a:r>
              <a:rPr lang="zh-CN" altLang="en-US" sz="2800" dirty="0"/>
              <a:t>个小于</a:t>
            </a:r>
            <a:r>
              <a:rPr lang="en-US" altLang="zh-CN" sz="2800" dirty="0"/>
              <a:t>10</a:t>
            </a:r>
            <a:r>
              <a:rPr lang="zh-CN" altLang="en-US" sz="2800" dirty="0"/>
              <a:t>的元素</a:t>
            </a:r>
          </a:p>
          <a:p>
            <a:r>
              <a:rPr lang="en-US" altLang="zh-CN" sz="2800" dirty="0"/>
              <a:t>C =</a:t>
            </a:r>
          </a:p>
          <a:p>
            <a:r>
              <a:rPr lang="en-US" altLang="zh-CN" sz="2800" dirty="0"/>
              <a:t>     7</a:t>
            </a:r>
          </a:p>
          <a:p>
            <a:r>
              <a:rPr lang="en-US" altLang="zh-CN" sz="2800" dirty="0"/>
              <a:t>     3</a:t>
            </a:r>
          </a:p>
          <a:p>
            <a:r>
              <a:rPr lang="en-US" altLang="zh-CN" sz="2800" dirty="0"/>
              <a:t>     6</a:t>
            </a:r>
          </a:p>
          <a:p>
            <a:r>
              <a:rPr lang="en-US" altLang="zh-CN" sz="2800" dirty="0"/>
              <a:t>     8</a:t>
            </a:r>
          </a:p>
          <a:p>
            <a:r>
              <a:rPr lang="en-US" altLang="zh-CN" sz="2800" dirty="0"/>
              <a:t>     1</a:t>
            </a:r>
            <a:endParaRPr lang="zh-CN" altLang="en-US" sz="2800" dirty="0"/>
          </a:p>
        </p:txBody>
      </p:sp>
      <p:sp>
        <p:nvSpPr>
          <p:cNvPr id="7" name="矩形 6"/>
          <p:cNvSpPr/>
          <p:nvPr/>
        </p:nvSpPr>
        <p:spPr>
          <a:xfrm>
            <a:off x="6278879" y="2954972"/>
            <a:ext cx="3979818" cy="3539430"/>
          </a:xfrm>
          <a:prstGeom prst="rect">
            <a:avLst/>
          </a:prstGeom>
        </p:spPr>
        <p:txBody>
          <a:bodyPr wrap="square">
            <a:spAutoFit/>
          </a:bodyPr>
          <a:lstStyle/>
          <a:p>
            <a:r>
              <a:rPr lang="zh-CN" altLang="en-US" sz="2800" dirty="0">
                <a:solidFill>
                  <a:srgbClr val="FF0000"/>
                </a:solidFill>
              </a:rPr>
              <a:t>方法</a:t>
            </a:r>
            <a:r>
              <a:rPr lang="en-US" altLang="zh-CN" sz="2800" dirty="0">
                <a:solidFill>
                  <a:srgbClr val="FF0000"/>
                </a:solidFill>
              </a:rPr>
              <a:t>2</a:t>
            </a:r>
            <a:r>
              <a:rPr lang="zh-CN" altLang="en-US" sz="2800" dirty="0">
                <a:solidFill>
                  <a:srgbClr val="FF0000"/>
                </a:solidFill>
              </a:rPr>
              <a:t>：</a:t>
            </a:r>
            <a:endParaRPr lang="en-US" altLang="zh-CN" sz="2800" dirty="0">
              <a:solidFill>
                <a:srgbClr val="FF0000"/>
              </a:solidFill>
            </a:endParaRPr>
          </a:p>
          <a:p>
            <a:r>
              <a:rPr lang="en-US" altLang="zh-CN" sz="2800" dirty="0"/>
              <a:t>&gt;&gt; B=A(find(A&lt;10,</a:t>
            </a:r>
            <a:r>
              <a:rPr lang="en-US" altLang="zh-CN" sz="2800" dirty="0">
                <a:solidFill>
                  <a:srgbClr val="FF0000"/>
                </a:solidFill>
              </a:rPr>
              <a:t>5,'last'</a:t>
            </a:r>
            <a:r>
              <a:rPr lang="en-US" altLang="zh-CN" sz="2800" dirty="0"/>
              <a:t>))</a:t>
            </a:r>
          </a:p>
          <a:p>
            <a:r>
              <a:rPr lang="en-US" altLang="zh-CN" sz="2800" dirty="0"/>
              <a:t>B =</a:t>
            </a:r>
          </a:p>
          <a:p>
            <a:r>
              <a:rPr lang="en-US" altLang="zh-CN" sz="2800" dirty="0"/>
              <a:t>     7</a:t>
            </a:r>
          </a:p>
          <a:p>
            <a:r>
              <a:rPr lang="en-US" altLang="zh-CN" sz="2800" dirty="0"/>
              <a:t>     3</a:t>
            </a:r>
          </a:p>
          <a:p>
            <a:r>
              <a:rPr lang="en-US" altLang="zh-CN" sz="2800" dirty="0"/>
              <a:t>     6</a:t>
            </a:r>
          </a:p>
          <a:p>
            <a:r>
              <a:rPr lang="en-US" altLang="zh-CN" sz="2800" dirty="0"/>
              <a:t>     8</a:t>
            </a:r>
          </a:p>
          <a:p>
            <a:r>
              <a:rPr lang="en-US" altLang="zh-CN" sz="2800" dirty="0"/>
              <a:t>     1</a:t>
            </a:r>
            <a:endParaRPr lang="zh-CN" altLang="en-US" sz="2800" dirty="0"/>
          </a:p>
        </p:txBody>
      </p:sp>
      <p:grpSp>
        <p:nvGrpSpPr>
          <p:cNvPr id="10" name="组合 9"/>
          <p:cNvGrpSpPr/>
          <p:nvPr/>
        </p:nvGrpSpPr>
        <p:grpSpPr>
          <a:xfrm>
            <a:off x="8741061" y="3897085"/>
            <a:ext cx="1879041" cy="1028443"/>
            <a:chOff x="8524352" y="3487783"/>
            <a:chExt cx="1879041" cy="1028443"/>
          </a:xfrm>
        </p:grpSpPr>
        <p:sp>
          <p:nvSpPr>
            <p:cNvPr id="8" name="燕尾形箭头 7"/>
            <p:cNvSpPr/>
            <p:nvPr/>
          </p:nvSpPr>
          <p:spPr>
            <a:xfrm rot="16200000">
              <a:off x="8908869" y="3640183"/>
              <a:ext cx="548640" cy="243840"/>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9" name="矩形 8"/>
            <p:cNvSpPr/>
            <p:nvPr/>
          </p:nvSpPr>
          <p:spPr>
            <a:xfrm>
              <a:off x="8524352" y="4054561"/>
              <a:ext cx="1879041" cy="461665"/>
            </a:xfrm>
            <a:prstGeom prst="rect">
              <a:avLst/>
            </a:prstGeom>
          </p:spPr>
          <p:txBody>
            <a:bodyPr wrap="none">
              <a:spAutoFit/>
            </a:bodyPr>
            <a:lstStyle/>
            <a:p>
              <a:r>
                <a:rPr lang="zh-CN" altLang="en-US" sz="2400" dirty="0"/>
                <a:t>后</a:t>
              </a:r>
              <a:r>
                <a:rPr lang="en-US" altLang="zh-CN" sz="2400" dirty="0"/>
                <a:t>5</a:t>
              </a:r>
              <a:r>
                <a:rPr lang="zh-CN" altLang="en-US" sz="2400" dirty="0"/>
                <a:t>个的意思</a:t>
              </a:r>
            </a:p>
          </p:txBody>
        </p:sp>
      </p:grpSp>
    </p:spTree>
    <p:extLst>
      <p:ext uri="{BB962C8B-B14F-4D97-AF65-F5344CB8AC3E}">
        <p14:creationId xmlns:p14="http://schemas.microsoft.com/office/powerpoint/2010/main" val="202983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p:nvPr>
        </p:nvSpPr>
        <p:spPr/>
        <p:txBody>
          <a:bodyPr/>
          <a:lstStyle/>
          <a:p>
            <a:r>
              <a:rPr lang="en-US" altLang="zh-CN" dirty="0"/>
              <a:t>3.4 </a:t>
            </a:r>
            <a:r>
              <a:rPr lang="zh-CN" altLang="en-US" dirty="0"/>
              <a:t>逻辑运算</a:t>
            </a:r>
          </a:p>
        </p:txBody>
      </p:sp>
      <p:sp>
        <p:nvSpPr>
          <p:cNvPr id="5" name="Rectangle 2"/>
          <p:cNvSpPr txBox="1">
            <a:spLocks noChangeArrowheads="1"/>
          </p:cNvSpPr>
          <p:nvPr/>
        </p:nvSpPr>
        <p:spPr>
          <a:xfrm>
            <a:off x="1133430" y="1545001"/>
            <a:ext cx="9656490" cy="46974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000FF"/>
              </a:buClr>
            </a:pPr>
            <a:r>
              <a:rPr lang="en-US" altLang="zh-CN" sz="2000" b="1" dirty="0">
                <a:solidFill>
                  <a:srgbClr val="0000FF"/>
                </a:solidFill>
                <a:latin typeface="华文中宋" panose="02010600040101010101" pitchFamily="2" charset="-122"/>
                <a:ea typeface="华文中宋" panose="02010600040101010101" pitchFamily="2" charset="-122"/>
              </a:rPr>
              <a:t>MATLAB</a:t>
            </a:r>
            <a:r>
              <a:rPr lang="zh-CN" altLang="en-US" sz="2000" b="1" dirty="0">
                <a:solidFill>
                  <a:srgbClr val="0000FF"/>
                </a:solidFill>
                <a:latin typeface="华文中宋" panose="02010600040101010101" pitchFamily="2" charset="-122"/>
                <a:ea typeface="华文中宋" panose="02010600040101010101" pitchFamily="2" charset="-122"/>
              </a:rPr>
              <a:t>提供了</a:t>
            </a:r>
            <a:r>
              <a:rPr lang="en-US" altLang="zh-CN" sz="2000" b="1" dirty="0">
                <a:solidFill>
                  <a:srgbClr val="0000FF"/>
                </a:solidFill>
                <a:latin typeface="华文中宋" panose="02010600040101010101" pitchFamily="2" charset="-122"/>
                <a:ea typeface="华文中宋" panose="02010600040101010101" pitchFamily="2" charset="-122"/>
              </a:rPr>
              <a:t>3</a:t>
            </a:r>
            <a:r>
              <a:rPr lang="zh-CN" altLang="en-US" sz="2000" b="1" dirty="0">
                <a:solidFill>
                  <a:srgbClr val="0000FF"/>
                </a:solidFill>
                <a:latin typeface="华文中宋" panose="02010600040101010101" pitchFamily="2" charset="-122"/>
                <a:ea typeface="华文中宋" panose="02010600040101010101" pitchFamily="2" charset="-122"/>
              </a:rPr>
              <a:t>种逻辑运算符：</a:t>
            </a:r>
          </a:p>
          <a:p>
            <a:pPr lvl="4">
              <a:buClr>
                <a:srgbClr val="0000FF"/>
              </a:buClr>
              <a:buFont typeface="Wingdings" panose="05000000000000000000" pitchFamily="2" charset="2"/>
              <a:buNone/>
            </a:pPr>
            <a:r>
              <a:rPr lang="en-US" altLang="zh-CN" sz="2000" b="1" dirty="0">
                <a:solidFill>
                  <a:srgbClr val="0000FF"/>
                </a:solidFill>
                <a:latin typeface="华文中宋" panose="02010600040101010101" pitchFamily="2" charset="-122"/>
                <a:ea typeface="华文中宋" panose="02010600040101010101" pitchFamily="2" charset="-122"/>
              </a:rPr>
              <a:t>&amp;       (</a:t>
            </a:r>
            <a:r>
              <a:rPr lang="zh-CN" altLang="en-US" sz="2000" b="1" dirty="0">
                <a:solidFill>
                  <a:srgbClr val="0000FF"/>
                </a:solidFill>
                <a:latin typeface="华文中宋" panose="02010600040101010101" pitchFamily="2" charset="-122"/>
                <a:ea typeface="华文中宋" panose="02010600040101010101" pitchFamily="2" charset="-122"/>
              </a:rPr>
              <a:t>与</a:t>
            </a:r>
            <a:r>
              <a:rPr lang="en-US" altLang="zh-CN" sz="2000" b="1" dirty="0">
                <a:solidFill>
                  <a:srgbClr val="0000FF"/>
                </a:solidFill>
                <a:latin typeface="华文中宋" panose="02010600040101010101" pitchFamily="2" charset="-122"/>
                <a:ea typeface="华文中宋" panose="02010600040101010101" pitchFamily="2" charset="-122"/>
              </a:rPr>
              <a:t>)           and</a:t>
            </a:r>
          </a:p>
          <a:p>
            <a:pPr lvl="4">
              <a:buClr>
                <a:srgbClr val="0000FF"/>
              </a:buClr>
              <a:buFont typeface="Wingdings" panose="05000000000000000000" pitchFamily="2" charset="2"/>
              <a:buNone/>
            </a:pPr>
            <a:r>
              <a:rPr lang="en-US" altLang="zh-CN" sz="2000" b="1" dirty="0">
                <a:solidFill>
                  <a:srgbClr val="0000FF"/>
                </a:solidFill>
                <a:latin typeface="华文中宋" panose="02010600040101010101" pitchFamily="2" charset="-122"/>
                <a:ea typeface="华文中宋" panose="02010600040101010101" pitchFamily="2" charset="-122"/>
              </a:rPr>
              <a:t>|        (</a:t>
            </a:r>
            <a:r>
              <a:rPr lang="zh-CN" altLang="en-US" sz="2000" b="1" dirty="0">
                <a:solidFill>
                  <a:srgbClr val="0000FF"/>
                </a:solidFill>
                <a:latin typeface="华文中宋" panose="02010600040101010101" pitchFamily="2" charset="-122"/>
                <a:ea typeface="华文中宋" panose="02010600040101010101" pitchFamily="2" charset="-122"/>
              </a:rPr>
              <a:t>或</a:t>
            </a:r>
            <a:r>
              <a:rPr lang="en-US" altLang="zh-CN" sz="2000" b="1" dirty="0">
                <a:solidFill>
                  <a:srgbClr val="0000FF"/>
                </a:solidFill>
                <a:latin typeface="华文中宋" panose="02010600040101010101" pitchFamily="2" charset="-122"/>
                <a:ea typeface="华文中宋" panose="02010600040101010101" pitchFamily="2" charset="-122"/>
              </a:rPr>
              <a:t>)           or</a:t>
            </a:r>
          </a:p>
          <a:p>
            <a:pPr lvl="4">
              <a:buClr>
                <a:srgbClr val="0000FF"/>
              </a:buClr>
              <a:buFont typeface="Wingdings" panose="05000000000000000000" pitchFamily="2" charset="2"/>
              <a:buNone/>
            </a:pPr>
            <a:r>
              <a:rPr lang="zh-CN" altLang="en-US" sz="2000" b="1" dirty="0">
                <a:solidFill>
                  <a:srgbClr val="0000FF"/>
                </a:solidFill>
                <a:latin typeface="华文中宋" panose="02010600040101010101" pitchFamily="2" charset="-122"/>
                <a:ea typeface="华文中宋" panose="02010600040101010101" pitchFamily="2" charset="-122"/>
              </a:rPr>
              <a:t>～       </a:t>
            </a:r>
            <a:r>
              <a:rPr lang="en-US" altLang="zh-CN" sz="2000" b="1" dirty="0">
                <a:solidFill>
                  <a:srgbClr val="0000FF"/>
                </a:solidFill>
                <a:latin typeface="华文中宋" panose="02010600040101010101" pitchFamily="2" charset="-122"/>
                <a:ea typeface="华文中宋" panose="02010600040101010101" pitchFamily="2" charset="-122"/>
              </a:rPr>
              <a:t>(</a:t>
            </a:r>
            <a:r>
              <a:rPr lang="zh-CN" altLang="en-US" sz="2000" b="1" dirty="0">
                <a:solidFill>
                  <a:srgbClr val="0000FF"/>
                </a:solidFill>
                <a:latin typeface="华文中宋" panose="02010600040101010101" pitchFamily="2" charset="-122"/>
                <a:ea typeface="华文中宋" panose="02010600040101010101" pitchFamily="2" charset="-122"/>
              </a:rPr>
              <a:t>非</a:t>
            </a:r>
            <a:r>
              <a:rPr lang="en-US" altLang="zh-CN" sz="2000" b="1" dirty="0">
                <a:solidFill>
                  <a:srgbClr val="0000FF"/>
                </a:solidFill>
                <a:latin typeface="华文中宋" panose="02010600040101010101" pitchFamily="2" charset="-122"/>
                <a:ea typeface="华文中宋" panose="02010600040101010101" pitchFamily="2" charset="-122"/>
              </a:rPr>
              <a:t>)           not</a:t>
            </a:r>
          </a:p>
          <a:p>
            <a:pPr lvl="4">
              <a:buClr>
                <a:srgbClr val="0000FF"/>
              </a:buClr>
              <a:buFont typeface="Wingdings" panose="05000000000000000000" pitchFamily="2" charset="2"/>
              <a:buNone/>
            </a:pPr>
            <a:r>
              <a:rPr lang="en-US" altLang="zh-CN" sz="2000" b="1" dirty="0">
                <a:solidFill>
                  <a:srgbClr val="0000FF"/>
                </a:solidFill>
                <a:latin typeface="华文中宋" panose="02010600040101010101" pitchFamily="2" charset="-122"/>
                <a:ea typeface="华文中宋" panose="02010600040101010101" pitchFamily="2" charset="-122"/>
              </a:rPr>
              <a:t>          (</a:t>
            </a:r>
            <a:r>
              <a:rPr lang="zh-CN" altLang="en-US" sz="2000" b="1" dirty="0">
                <a:solidFill>
                  <a:srgbClr val="0000FF"/>
                </a:solidFill>
                <a:latin typeface="华文中宋" panose="02010600040101010101" pitchFamily="2" charset="-122"/>
                <a:ea typeface="华文中宋" panose="02010600040101010101" pitchFamily="2" charset="-122"/>
              </a:rPr>
              <a:t>异或）      </a:t>
            </a:r>
            <a:r>
              <a:rPr lang="en-US" altLang="zh-CN" sz="2000" b="1" dirty="0" err="1">
                <a:solidFill>
                  <a:srgbClr val="0000FF"/>
                </a:solidFill>
                <a:latin typeface="华文中宋" panose="02010600040101010101" pitchFamily="2" charset="-122"/>
                <a:ea typeface="华文中宋" panose="02010600040101010101" pitchFamily="2" charset="-122"/>
              </a:rPr>
              <a:t>xor</a:t>
            </a:r>
            <a:endParaRPr lang="en-US" altLang="zh-CN" sz="2000" b="1" dirty="0">
              <a:solidFill>
                <a:srgbClr val="0000FF"/>
              </a:solidFill>
              <a:latin typeface="华文中宋" panose="02010600040101010101" pitchFamily="2" charset="-122"/>
              <a:ea typeface="华文中宋" panose="02010600040101010101" pitchFamily="2" charset="-122"/>
            </a:endParaRPr>
          </a:p>
          <a:p>
            <a:pPr>
              <a:lnSpc>
                <a:spcPct val="120000"/>
              </a:lnSpc>
              <a:buClr>
                <a:srgbClr val="0000FF"/>
              </a:buClr>
            </a:pPr>
            <a:r>
              <a:rPr lang="zh-CN" altLang="en-US" sz="2000" b="1" dirty="0">
                <a:solidFill>
                  <a:srgbClr val="FF0000"/>
                </a:solidFill>
                <a:latin typeface="华文中宋" panose="02010600040101010101" pitchFamily="2" charset="-122"/>
                <a:ea typeface="华文中宋" panose="02010600040101010101" pitchFamily="2" charset="-122"/>
              </a:rPr>
              <a:t>逻辑运算的运算法则：非零元素为真，用</a:t>
            </a:r>
            <a:r>
              <a:rPr lang="en-US" altLang="zh-CN" sz="2000" b="1" dirty="0">
                <a:solidFill>
                  <a:srgbClr val="FF0000"/>
                </a:solidFill>
                <a:latin typeface="华文中宋" panose="02010600040101010101" pitchFamily="2" charset="-122"/>
                <a:ea typeface="华文中宋" panose="02010600040101010101" pitchFamily="2" charset="-122"/>
              </a:rPr>
              <a:t>1</a:t>
            </a:r>
            <a:r>
              <a:rPr lang="zh-CN" altLang="en-US" sz="2000" b="1" dirty="0">
                <a:solidFill>
                  <a:srgbClr val="FF0000"/>
                </a:solidFill>
                <a:latin typeface="华文中宋" panose="02010600040101010101" pitchFamily="2" charset="-122"/>
                <a:ea typeface="华文中宋" panose="02010600040101010101" pitchFamily="2" charset="-122"/>
              </a:rPr>
              <a:t>表示，零元素为假，用</a:t>
            </a:r>
            <a:r>
              <a:rPr lang="en-US" altLang="zh-CN" sz="2000" b="1" dirty="0">
                <a:solidFill>
                  <a:srgbClr val="FF0000"/>
                </a:solidFill>
                <a:latin typeface="华文中宋" panose="02010600040101010101" pitchFamily="2" charset="-122"/>
                <a:ea typeface="华文中宋" panose="02010600040101010101" pitchFamily="2" charset="-122"/>
              </a:rPr>
              <a:t>0</a:t>
            </a:r>
            <a:r>
              <a:rPr lang="zh-CN" altLang="en-US" sz="2000" b="1" dirty="0">
                <a:solidFill>
                  <a:srgbClr val="FF0000"/>
                </a:solidFill>
                <a:latin typeface="华文中宋" panose="02010600040101010101" pitchFamily="2" charset="-122"/>
                <a:ea typeface="华文中宋" panose="02010600040101010101" pitchFamily="2" charset="-122"/>
              </a:rPr>
              <a:t>表示。</a:t>
            </a:r>
          </a:p>
          <a:p>
            <a:pPr>
              <a:lnSpc>
                <a:spcPct val="120000"/>
              </a:lnSpc>
              <a:buClr>
                <a:srgbClr val="0000FF"/>
              </a:buClr>
            </a:pPr>
            <a:r>
              <a:rPr lang="zh-CN" altLang="en-US" sz="2000" b="1" dirty="0">
                <a:solidFill>
                  <a:srgbClr val="008000"/>
                </a:solidFill>
                <a:latin typeface="华文中宋" panose="02010600040101010101" pitchFamily="2" charset="-122"/>
                <a:ea typeface="华文中宋" panose="02010600040101010101" pitchFamily="2" charset="-122"/>
              </a:rPr>
              <a:t>设参与逻辑运算的是两个标量</a:t>
            </a:r>
            <a:r>
              <a:rPr lang="en-US" altLang="zh-CN" sz="2000" b="1" dirty="0">
                <a:solidFill>
                  <a:srgbClr val="008000"/>
                </a:solidFill>
                <a:latin typeface="华文中宋" panose="02010600040101010101" pitchFamily="2" charset="-122"/>
                <a:ea typeface="华文中宋" panose="02010600040101010101" pitchFamily="2" charset="-122"/>
              </a:rPr>
              <a:t>a</a:t>
            </a:r>
            <a:r>
              <a:rPr lang="zh-CN" altLang="en-US" sz="2000" b="1" dirty="0">
                <a:solidFill>
                  <a:srgbClr val="008000"/>
                </a:solidFill>
                <a:latin typeface="华文中宋" panose="02010600040101010101" pitchFamily="2" charset="-122"/>
                <a:ea typeface="华文中宋" panose="02010600040101010101" pitchFamily="2" charset="-122"/>
              </a:rPr>
              <a:t>和</a:t>
            </a:r>
            <a:r>
              <a:rPr lang="en-US" altLang="zh-CN" sz="2000" b="1" dirty="0">
                <a:solidFill>
                  <a:srgbClr val="008000"/>
                </a:solidFill>
                <a:latin typeface="华文中宋" panose="02010600040101010101" pitchFamily="2" charset="-122"/>
                <a:ea typeface="华文中宋" panose="02010600040101010101" pitchFamily="2" charset="-122"/>
              </a:rPr>
              <a:t>b</a:t>
            </a:r>
            <a:r>
              <a:rPr lang="zh-CN" altLang="en-US" sz="2000" b="1" dirty="0">
                <a:solidFill>
                  <a:srgbClr val="008000"/>
                </a:solidFill>
                <a:latin typeface="华文中宋" panose="02010600040101010101" pitchFamily="2" charset="-122"/>
                <a:ea typeface="华文中宋" panose="02010600040101010101" pitchFamily="2" charset="-122"/>
              </a:rPr>
              <a:t>，那么：</a:t>
            </a:r>
            <a:br>
              <a:rPr lang="zh-CN" altLang="en-US" sz="2000" b="1" dirty="0">
                <a:solidFill>
                  <a:srgbClr val="008000"/>
                </a:solidFill>
                <a:latin typeface="华文中宋" panose="02010600040101010101" pitchFamily="2" charset="-122"/>
                <a:ea typeface="华文中宋" panose="02010600040101010101" pitchFamily="2" charset="-122"/>
              </a:rPr>
            </a:br>
            <a:r>
              <a:rPr lang="zh-CN" altLang="en-US" sz="2000" b="1" dirty="0">
                <a:latin typeface="华文中宋" panose="02010600040101010101" pitchFamily="2" charset="-122"/>
                <a:ea typeface="华文中宋" panose="02010600040101010101" pitchFamily="2" charset="-122"/>
              </a:rPr>
              <a:t>  </a:t>
            </a:r>
            <a:r>
              <a:rPr lang="en-US" altLang="zh-CN" sz="2000" b="1" dirty="0" err="1">
                <a:latin typeface="华文中宋" panose="02010600040101010101" pitchFamily="2" charset="-122"/>
                <a:ea typeface="华文中宋" panose="02010600040101010101" pitchFamily="2" charset="-122"/>
              </a:rPr>
              <a:t>a&amp;b</a:t>
            </a:r>
            <a:r>
              <a:rPr lang="en-US" altLang="zh-CN" sz="2000" b="1" dirty="0">
                <a:latin typeface="华文中宋" panose="02010600040101010101" pitchFamily="2" charset="-122"/>
                <a:ea typeface="华文中宋" panose="02010600040101010101" pitchFamily="2" charset="-122"/>
              </a:rPr>
              <a:t>  </a:t>
            </a:r>
            <a:r>
              <a:rPr lang="en-US" altLang="zh-CN" sz="2000" b="1" dirty="0" err="1">
                <a:latin typeface="华文中宋" panose="02010600040101010101" pitchFamily="2" charset="-122"/>
                <a:ea typeface="华文中宋" panose="02010600040101010101" pitchFamily="2" charset="-122"/>
              </a:rPr>
              <a:t>a,b</a:t>
            </a:r>
            <a:r>
              <a:rPr lang="zh-CN" altLang="en-US" sz="2000" b="1" dirty="0">
                <a:latin typeface="华文中宋" panose="02010600040101010101" pitchFamily="2" charset="-122"/>
                <a:ea typeface="华文中宋" panose="02010600040101010101" pitchFamily="2" charset="-122"/>
              </a:rPr>
              <a:t>都为非零时，运算结果为</a:t>
            </a:r>
            <a:r>
              <a:rPr lang="en-US" altLang="zh-CN" sz="2000" b="1" dirty="0">
                <a:latin typeface="华文中宋" panose="02010600040101010101" pitchFamily="2" charset="-122"/>
                <a:ea typeface="华文中宋" panose="02010600040101010101" pitchFamily="2" charset="-122"/>
              </a:rPr>
              <a:t>1</a:t>
            </a:r>
            <a:r>
              <a:rPr lang="zh-CN" altLang="en-US" sz="2000" b="1" dirty="0">
                <a:latin typeface="华文中宋" panose="02010600040101010101" pitchFamily="2" charset="-122"/>
                <a:ea typeface="华文中宋" panose="02010600040101010101" pitchFamily="2" charset="-122"/>
              </a:rPr>
              <a:t>，否则为</a:t>
            </a:r>
            <a:r>
              <a:rPr lang="en-US" altLang="zh-CN" sz="2000" b="1" dirty="0">
                <a:latin typeface="华文中宋" panose="02010600040101010101" pitchFamily="2" charset="-122"/>
                <a:ea typeface="华文中宋" panose="02010600040101010101" pitchFamily="2" charset="-122"/>
              </a:rPr>
              <a:t>0</a:t>
            </a:r>
            <a:r>
              <a:rPr lang="zh-CN" altLang="en-US" sz="2000" b="1" dirty="0">
                <a:latin typeface="华文中宋" panose="02010600040101010101" pitchFamily="2" charset="-122"/>
                <a:ea typeface="华文中宋" panose="02010600040101010101" pitchFamily="2" charset="-122"/>
              </a:rPr>
              <a:t>。</a:t>
            </a:r>
            <a:br>
              <a:rPr lang="zh-CN" altLang="en-US" sz="2000" b="1" dirty="0">
                <a:latin typeface="华文中宋" panose="02010600040101010101" pitchFamily="2" charset="-122"/>
                <a:ea typeface="华文中宋" panose="02010600040101010101" pitchFamily="2" charset="-122"/>
              </a:rPr>
            </a:br>
            <a:r>
              <a:rPr lang="zh-CN" altLang="en-US" sz="2000" b="1" dirty="0">
                <a:latin typeface="华文中宋" panose="02010600040101010101" pitchFamily="2" charset="-122"/>
                <a:ea typeface="华文中宋" panose="02010600040101010101" pitchFamily="2" charset="-122"/>
              </a:rPr>
              <a:t>  </a:t>
            </a:r>
            <a:r>
              <a:rPr lang="en-US" altLang="zh-CN" sz="2000" b="1" dirty="0" err="1">
                <a:latin typeface="华文中宋" panose="02010600040101010101" pitchFamily="2" charset="-122"/>
                <a:ea typeface="华文中宋" panose="02010600040101010101" pitchFamily="2" charset="-122"/>
              </a:rPr>
              <a:t>a|b</a:t>
            </a:r>
            <a:r>
              <a:rPr lang="en-US" altLang="zh-CN" sz="2000" b="1" dirty="0">
                <a:latin typeface="华文中宋" panose="02010600040101010101" pitchFamily="2" charset="-122"/>
                <a:ea typeface="华文中宋" panose="02010600040101010101" pitchFamily="2" charset="-122"/>
              </a:rPr>
              <a:t>  </a:t>
            </a:r>
            <a:r>
              <a:rPr lang="en-US" altLang="zh-CN" sz="2000" b="1" dirty="0" err="1">
                <a:latin typeface="华文中宋" panose="02010600040101010101" pitchFamily="2" charset="-122"/>
                <a:ea typeface="华文中宋" panose="02010600040101010101" pitchFamily="2" charset="-122"/>
              </a:rPr>
              <a:t>a,b</a:t>
            </a:r>
            <a:r>
              <a:rPr lang="zh-CN" altLang="en-US" sz="2000" b="1" dirty="0">
                <a:latin typeface="华文中宋" panose="02010600040101010101" pitchFamily="2" charset="-122"/>
                <a:ea typeface="华文中宋" panose="02010600040101010101" pitchFamily="2" charset="-122"/>
              </a:rPr>
              <a:t>中只要有一个非零，运算结果为</a:t>
            </a:r>
            <a:r>
              <a:rPr lang="en-US" altLang="zh-CN" sz="2000" b="1" dirty="0">
                <a:latin typeface="华文中宋" panose="02010600040101010101" pitchFamily="2" charset="-122"/>
                <a:ea typeface="华文中宋" panose="02010600040101010101" pitchFamily="2" charset="-122"/>
              </a:rPr>
              <a:t>1</a:t>
            </a:r>
            <a:r>
              <a:rPr lang="zh-CN" altLang="en-US" sz="2000" b="1" dirty="0">
                <a:latin typeface="华文中宋" panose="02010600040101010101" pitchFamily="2" charset="-122"/>
                <a:ea typeface="华文中宋" panose="02010600040101010101" pitchFamily="2" charset="-122"/>
              </a:rPr>
              <a:t>。</a:t>
            </a:r>
            <a:br>
              <a:rPr lang="zh-CN" altLang="en-US" sz="2000" b="1" dirty="0">
                <a:latin typeface="华文中宋" panose="02010600040101010101" pitchFamily="2" charset="-122"/>
                <a:ea typeface="华文中宋" panose="02010600040101010101" pitchFamily="2" charset="-122"/>
              </a:rPr>
            </a:br>
            <a:r>
              <a:rPr lang="zh-CN" altLang="en-US" sz="2000" b="1" dirty="0">
                <a:latin typeface="华文中宋" panose="02010600040101010101" pitchFamily="2" charset="-122"/>
                <a:ea typeface="华文中宋" panose="02010600040101010101" pitchFamily="2" charset="-122"/>
              </a:rPr>
              <a:t>  ～</a:t>
            </a:r>
            <a:r>
              <a:rPr lang="en-US" altLang="zh-CN" sz="2000" b="1" dirty="0">
                <a:latin typeface="华文中宋" panose="02010600040101010101" pitchFamily="2" charset="-122"/>
                <a:ea typeface="华文中宋" panose="02010600040101010101" pitchFamily="2" charset="-122"/>
              </a:rPr>
              <a:t>a  </a:t>
            </a:r>
            <a:r>
              <a:rPr lang="zh-CN" altLang="en-US" sz="2000" b="1" dirty="0">
                <a:latin typeface="华文中宋" panose="02010600040101010101" pitchFamily="2" charset="-122"/>
                <a:ea typeface="华文中宋" panose="02010600040101010101" pitchFamily="2" charset="-122"/>
              </a:rPr>
              <a:t>当</a:t>
            </a:r>
            <a:r>
              <a:rPr lang="en-US" altLang="zh-CN" sz="2000" b="1" dirty="0">
                <a:latin typeface="华文中宋" panose="02010600040101010101" pitchFamily="2" charset="-122"/>
                <a:ea typeface="华文中宋" panose="02010600040101010101" pitchFamily="2" charset="-122"/>
              </a:rPr>
              <a:t>a</a:t>
            </a:r>
            <a:r>
              <a:rPr lang="zh-CN" altLang="en-US" sz="2000" b="1" dirty="0">
                <a:latin typeface="华文中宋" panose="02010600040101010101" pitchFamily="2" charset="-122"/>
                <a:ea typeface="华文中宋" panose="02010600040101010101" pitchFamily="2" charset="-122"/>
              </a:rPr>
              <a:t>是零时，运算结果为</a:t>
            </a:r>
            <a:r>
              <a:rPr lang="en-US" altLang="zh-CN" sz="2000" b="1" dirty="0">
                <a:latin typeface="华文中宋" panose="02010600040101010101" pitchFamily="2" charset="-122"/>
                <a:ea typeface="华文中宋" panose="02010600040101010101" pitchFamily="2" charset="-122"/>
              </a:rPr>
              <a:t>1</a:t>
            </a:r>
            <a:r>
              <a:rPr lang="zh-CN" altLang="en-US" sz="2000" b="1" dirty="0">
                <a:latin typeface="华文中宋" panose="02010600040101010101" pitchFamily="2" charset="-122"/>
                <a:ea typeface="华文中宋" panose="02010600040101010101" pitchFamily="2" charset="-122"/>
              </a:rPr>
              <a:t>；当</a:t>
            </a:r>
            <a:r>
              <a:rPr lang="en-US" altLang="zh-CN" sz="2000" b="1" dirty="0">
                <a:latin typeface="华文中宋" panose="02010600040101010101" pitchFamily="2" charset="-122"/>
                <a:ea typeface="华文中宋" panose="02010600040101010101" pitchFamily="2" charset="-122"/>
              </a:rPr>
              <a:t>a</a:t>
            </a:r>
            <a:r>
              <a:rPr lang="zh-CN" altLang="en-US" sz="2000" b="1" dirty="0">
                <a:latin typeface="华文中宋" panose="02010600040101010101" pitchFamily="2" charset="-122"/>
                <a:ea typeface="华文中宋" panose="02010600040101010101" pitchFamily="2" charset="-122"/>
              </a:rPr>
              <a:t>非零时，运算结果为</a:t>
            </a:r>
            <a:r>
              <a:rPr lang="en-US" altLang="zh-CN" sz="2000" b="1" dirty="0">
                <a:latin typeface="华文中宋" panose="02010600040101010101" pitchFamily="2" charset="-122"/>
                <a:ea typeface="华文中宋" panose="02010600040101010101" pitchFamily="2" charset="-122"/>
              </a:rPr>
              <a:t>0</a:t>
            </a:r>
            <a:r>
              <a:rPr lang="zh-CN" altLang="en-US" sz="2000" b="1" dirty="0">
                <a:latin typeface="华文中宋" panose="02010600040101010101" pitchFamily="2" charset="-122"/>
                <a:ea typeface="华文中宋" panose="02010600040101010101" pitchFamily="2" charset="-122"/>
              </a:rPr>
              <a:t>。</a:t>
            </a:r>
          </a:p>
          <a:p>
            <a:pPr>
              <a:lnSpc>
                <a:spcPct val="120000"/>
              </a:lnSpc>
              <a:buClr>
                <a:srgbClr val="0000FF"/>
              </a:buClr>
              <a:buFont typeface="Wingdings" panose="05000000000000000000" pitchFamily="2" charset="2"/>
              <a:buNone/>
            </a:pPr>
            <a:r>
              <a:rPr lang="en-US" altLang="zh-CN" sz="2000" b="1" dirty="0">
                <a:latin typeface="华文中宋" panose="02010600040101010101" pitchFamily="2" charset="-122"/>
                <a:ea typeface="华文中宋" panose="02010600040101010101" pitchFamily="2" charset="-122"/>
              </a:rPr>
              <a:t>      </a:t>
            </a:r>
            <a:r>
              <a:rPr lang="en-US" altLang="zh-CN" sz="2000" b="1" dirty="0" err="1">
                <a:latin typeface="华文中宋" panose="02010600040101010101" pitchFamily="2" charset="-122"/>
                <a:ea typeface="华文中宋" panose="02010600040101010101" pitchFamily="2" charset="-122"/>
              </a:rPr>
              <a:t>xor</a:t>
            </a:r>
            <a:r>
              <a:rPr lang="en-US" altLang="zh-CN" sz="2000" b="1" dirty="0">
                <a:latin typeface="华文中宋" panose="02010600040101010101" pitchFamily="2" charset="-122"/>
                <a:ea typeface="华文中宋" panose="02010600040101010101" pitchFamily="2" charset="-122"/>
              </a:rPr>
              <a:t>(</a:t>
            </a:r>
            <a:r>
              <a:rPr lang="en-US" altLang="zh-CN" sz="2000" b="1" dirty="0" err="1">
                <a:latin typeface="华文中宋" panose="02010600040101010101" pitchFamily="2" charset="-122"/>
                <a:ea typeface="华文中宋" panose="02010600040101010101" pitchFamily="2" charset="-122"/>
              </a:rPr>
              <a:t>a,b</a:t>
            </a:r>
            <a:r>
              <a:rPr lang="en-US" altLang="zh-CN" sz="2000" b="1" dirty="0">
                <a:latin typeface="华文中宋" panose="02010600040101010101" pitchFamily="2" charset="-122"/>
                <a:ea typeface="华文中宋" panose="02010600040101010101" pitchFamily="2" charset="-122"/>
              </a:rPr>
              <a:t>) </a:t>
            </a:r>
            <a:r>
              <a:rPr lang="zh-CN" altLang="en-US" sz="2000" b="1" dirty="0">
                <a:latin typeface="华文中宋" panose="02010600040101010101" pitchFamily="2" charset="-122"/>
                <a:ea typeface="华文中宋" panose="02010600040101010101" pitchFamily="2" charset="-122"/>
              </a:rPr>
              <a:t>当</a:t>
            </a:r>
            <a:r>
              <a:rPr lang="en-US" altLang="zh-CN" sz="2000" b="1" dirty="0">
                <a:latin typeface="华文中宋" panose="02010600040101010101" pitchFamily="2" charset="-122"/>
                <a:ea typeface="华文中宋" panose="02010600040101010101" pitchFamily="2" charset="-122"/>
              </a:rPr>
              <a:t>a</a:t>
            </a:r>
            <a:r>
              <a:rPr lang="zh-CN" altLang="en-US" sz="2000" b="1" dirty="0">
                <a:latin typeface="华文中宋" panose="02010600040101010101" pitchFamily="2" charset="-122"/>
                <a:ea typeface="华文中宋" panose="02010600040101010101" pitchFamily="2" charset="-122"/>
              </a:rPr>
              <a:t>和</a:t>
            </a:r>
            <a:r>
              <a:rPr lang="en-US" altLang="zh-CN" sz="2000" b="1" dirty="0">
                <a:latin typeface="华文中宋" panose="02010600040101010101" pitchFamily="2" charset="-122"/>
                <a:ea typeface="华文中宋" panose="02010600040101010101" pitchFamily="2" charset="-122"/>
              </a:rPr>
              <a:t>b</a:t>
            </a:r>
            <a:r>
              <a:rPr lang="zh-CN" altLang="en-US" sz="2000" b="1" dirty="0">
                <a:latin typeface="华文中宋" panose="02010600040101010101" pitchFamily="2" charset="-122"/>
                <a:ea typeface="华文中宋" panose="02010600040101010101" pitchFamily="2" charset="-122"/>
              </a:rPr>
              <a:t>有</a:t>
            </a:r>
            <a:r>
              <a:rPr lang="en-US" altLang="zh-CN" sz="2000" b="1" dirty="0">
                <a:latin typeface="华文中宋" panose="02010600040101010101" pitchFamily="2" charset="-122"/>
                <a:ea typeface="华文中宋" panose="02010600040101010101" pitchFamily="2" charset="-122"/>
              </a:rPr>
              <a:t>1</a:t>
            </a:r>
            <a:r>
              <a:rPr lang="zh-CN" altLang="en-US" sz="2000" b="1" dirty="0">
                <a:latin typeface="华文中宋" panose="02010600040101010101" pitchFamily="2" charset="-122"/>
                <a:ea typeface="华文中宋" panose="02010600040101010101" pitchFamily="2" charset="-122"/>
              </a:rPr>
              <a:t>个零，一个非零时，运算结果为</a:t>
            </a:r>
            <a:r>
              <a:rPr lang="en-US" altLang="zh-CN" sz="2000" b="1" dirty="0">
                <a:latin typeface="华文中宋" panose="02010600040101010101" pitchFamily="2" charset="-122"/>
                <a:ea typeface="华文中宋" panose="02010600040101010101" pitchFamily="2" charset="-122"/>
              </a:rPr>
              <a:t>1</a:t>
            </a:r>
            <a:r>
              <a:rPr lang="zh-CN" altLang="en-US" sz="2000" b="1" dirty="0">
                <a:latin typeface="华文中宋" panose="02010600040101010101" pitchFamily="2" charset="-122"/>
                <a:ea typeface="华文中宋" panose="02010600040101010101" pitchFamily="2" charset="-122"/>
              </a:rPr>
              <a:t>；否则，为零。 </a:t>
            </a:r>
          </a:p>
        </p:txBody>
      </p:sp>
    </p:spTree>
    <p:extLst>
      <p:ext uri="{BB962C8B-B14F-4D97-AF65-F5344CB8AC3E}">
        <p14:creationId xmlns:p14="http://schemas.microsoft.com/office/powerpoint/2010/main" val="1665024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5" end="5"/>
                                            </p:txEl>
                                          </p:spTgt>
                                        </p:tgtEl>
                                        <p:attrNameLst>
                                          <p:attrName>style.visibility</p:attrName>
                                        </p:attrNameLst>
                                      </p:cBhvr>
                                      <p:to>
                                        <p:strVal val="visible"/>
                                      </p:to>
                                    </p:set>
                                    <p:anim calcmode="lin" valueType="num">
                                      <p:cBhvr additive="base">
                                        <p:cTn id="7" dur="500" fill="hold"/>
                                        <p:tgtEl>
                                          <p:spTgt spid="5">
                                            <p:txEl>
                                              <p:pRg st="5" end="5"/>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xEl>
                                              <p:pRg st="6" end="6"/>
                                            </p:txEl>
                                          </p:spTgt>
                                        </p:tgtEl>
                                        <p:attrNameLst>
                                          <p:attrName>style.visibility</p:attrName>
                                        </p:attrNameLst>
                                      </p:cBhvr>
                                      <p:to>
                                        <p:strVal val="visible"/>
                                      </p:to>
                                    </p:set>
                                    <p:anim calcmode="lin" valueType="num">
                                      <p:cBhvr additive="base">
                                        <p:cTn id="13" dur="500" fill="hold"/>
                                        <p:tgtEl>
                                          <p:spTgt spid="5">
                                            <p:txEl>
                                              <p:pRg st="6" end="6"/>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xEl>
                                              <p:pRg st="7" end="7"/>
                                            </p:txEl>
                                          </p:spTgt>
                                        </p:tgtEl>
                                        <p:attrNameLst>
                                          <p:attrName>style.visibility</p:attrName>
                                        </p:attrNameLst>
                                      </p:cBhvr>
                                      <p:to>
                                        <p:strVal val="visible"/>
                                      </p:to>
                                    </p:set>
                                    <p:anim calcmode="lin" valueType="num">
                                      <p:cBhvr additive="base">
                                        <p:cTn id="19" dur="500" fill="hold"/>
                                        <p:tgtEl>
                                          <p:spTgt spid="5">
                                            <p:txEl>
                                              <p:pRg st="7" end="7"/>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四、</a:t>
            </a:r>
            <a:r>
              <a:rPr lang="en-US" altLang="zh-CN" dirty="0"/>
              <a:t>MATLAB</a:t>
            </a:r>
            <a:r>
              <a:rPr lang="zh-CN" altLang="en-US" dirty="0"/>
              <a:t>内部函数行为</a:t>
            </a:r>
          </a:p>
        </p:txBody>
      </p:sp>
      <p:sp>
        <p:nvSpPr>
          <p:cNvPr id="3" name="内容占位符 2"/>
          <p:cNvSpPr>
            <a:spLocks noGrp="1"/>
          </p:cNvSpPr>
          <p:nvPr>
            <p:ph idx="1"/>
          </p:nvPr>
        </p:nvSpPr>
        <p:spPr>
          <a:xfrm>
            <a:off x="838200" y="1825625"/>
            <a:ext cx="5902234" cy="1309461"/>
          </a:xfrm>
        </p:spPr>
        <p:txBody>
          <a:bodyPr/>
          <a:lstStyle/>
          <a:p>
            <a:r>
              <a:rPr lang="en-US" altLang="zh-CN" dirty="0"/>
              <a:t>1</a:t>
            </a:r>
            <a:r>
              <a:rPr lang="zh-CN" altLang="en-US" dirty="0"/>
              <a:t>、逐个元素计算（</a:t>
            </a:r>
            <a:r>
              <a:rPr lang="en-US" altLang="zh-CN" dirty="0"/>
              <a:t>element-wise</a:t>
            </a:r>
            <a:r>
              <a:rPr lang="zh-CN" altLang="en-US" dirty="0"/>
              <a:t>）</a:t>
            </a:r>
            <a:endParaRPr lang="en-US" altLang="zh-CN" dirty="0"/>
          </a:p>
          <a:p>
            <a:r>
              <a:rPr lang="en-US" altLang="zh-CN" dirty="0"/>
              <a:t>2</a:t>
            </a:r>
            <a:r>
              <a:rPr lang="zh-CN" altLang="en-US" dirty="0"/>
              <a:t>、按列计算（</a:t>
            </a:r>
            <a:r>
              <a:rPr lang="en-US" altLang="zh-CN" dirty="0"/>
              <a:t>column-wise</a:t>
            </a:r>
            <a:r>
              <a:rPr lang="zh-CN" altLang="en-US" dirty="0"/>
              <a:t>）</a:t>
            </a:r>
            <a:endParaRPr lang="en-US" altLang="zh-CN" dirty="0"/>
          </a:p>
        </p:txBody>
      </p:sp>
    </p:spTree>
    <p:extLst>
      <p:ext uri="{BB962C8B-B14F-4D97-AF65-F5344CB8AC3E}">
        <p14:creationId xmlns:p14="http://schemas.microsoft.com/office/powerpoint/2010/main" val="14549309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4210050" cy="682625"/>
          </a:xfrm>
        </p:spPr>
        <p:txBody>
          <a:bodyPr>
            <a:normAutofit fontScale="90000"/>
          </a:bodyPr>
          <a:lstStyle/>
          <a:p>
            <a:r>
              <a:rPr lang="en-US" altLang="zh-CN" dirty="0"/>
              <a:t>1</a:t>
            </a:r>
            <a:r>
              <a:rPr lang="zh-CN" altLang="en-US" dirty="0"/>
              <a:t>、逐个元素计算</a:t>
            </a:r>
          </a:p>
        </p:txBody>
      </p:sp>
      <p:grpSp>
        <p:nvGrpSpPr>
          <p:cNvPr id="10" name="组合 9"/>
          <p:cNvGrpSpPr/>
          <p:nvPr/>
        </p:nvGrpSpPr>
        <p:grpSpPr>
          <a:xfrm>
            <a:off x="6558091" y="1252537"/>
            <a:ext cx="5241751" cy="2676525"/>
            <a:chOff x="6558091" y="1252537"/>
            <a:chExt cx="5241751" cy="2676525"/>
          </a:xfrm>
        </p:grpSpPr>
        <p:pic>
          <p:nvPicPr>
            <p:cNvPr id="5" name="图片 4"/>
            <p:cNvPicPr>
              <a:picLocks noChangeAspect="1"/>
            </p:cNvPicPr>
            <p:nvPr/>
          </p:nvPicPr>
          <p:blipFill>
            <a:blip r:embed="rId2"/>
            <a:stretch>
              <a:fillRect/>
            </a:stretch>
          </p:blipFill>
          <p:spPr>
            <a:xfrm>
              <a:off x="6999242" y="1252537"/>
              <a:ext cx="4800600" cy="2676525"/>
            </a:xfrm>
            <a:prstGeom prst="rect">
              <a:avLst/>
            </a:prstGeom>
          </p:spPr>
        </p:pic>
        <p:sp>
          <p:nvSpPr>
            <p:cNvPr id="6" name="文本框 5"/>
            <p:cNvSpPr txBox="1"/>
            <p:nvPr/>
          </p:nvSpPr>
          <p:spPr>
            <a:xfrm>
              <a:off x="6558091" y="2250812"/>
              <a:ext cx="364202" cy="523220"/>
            </a:xfrm>
            <a:prstGeom prst="rect">
              <a:avLst/>
            </a:prstGeom>
            <a:noFill/>
          </p:spPr>
          <p:txBody>
            <a:bodyPr wrap="none" rtlCol="0">
              <a:spAutoFit/>
            </a:bodyPr>
            <a:lstStyle/>
            <a:p>
              <a:r>
                <a:rPr lang="en-US" altLang="zh-CN" sz="2800" dirty="0">
                  <a:solidFill>
                    <a:srgbClr val="FF0000"/>
                  </a:solidFill>
                </a:rPr>
                <a:t>=</a:t>
              </a:r>
              <a:endParaRPr lang="zh-CN" altLang="en-US" sz="2800" dirty="0">
                <a:solidFill>
                  <a:srgbClr val="FF0000"/>
                </a:solidFill>
              </a:endParaRPr>
            </a:p>
          </p:txBody>
        </p:sp>
      </p:grpSp>
      <p:grpSp>
        <p:nvGrpSpPr>
          <p:cNvPr id="11" name="组合 10"/>
          <p:cNvGrpSpPr/>
          <p:nvPr/>
        </p:nvGrpSpPr>
        <p:grpSpPr>
          <a:xfrm>
            <a:off x="2213895" y="3948112"/>
            <a:ext cx="3002538" cy="2568797"/>
            <a:chOff x="2213895" y="3948112"/>
            <a:chExt cx="3002538" cy="2568797"/>
          </a:xfrm>
        </p:grpSpPr>
        <p:pic>
          <p:nvPicPr>
            <p:cNvPr id="8" name="图片 7"/>
            <p:cNvPicPr>
              <a:picLocks noChangeAspect="1"/>
            </p:cNvPicPr>
            <p:nvPr/>
          </p:nvPicPr>
          <p:blipFill>
            <a:blip r:embed="rId3"/>
            <a:stretch>
              <a:fillRect/>
            </a:stretch>
          </p:blipFill>
          <p:spPr>
            <a:xfrm>
              <a:off x="2213895" y="3948112"/>
              <a:ext cx="1071292" cy="2568797"/>
            </a:xfrm>
            <a:prstGeom prst="rect">
              <a:avLst/>
            </a:prstGeom>
          </p:spPr>
        </p:pic>
        <p:pic>
          <p:nvPicPr>
            <p:cNvPr id="9" name="图片 8"/>
            <p:cNvPicPr>
              <a:picLocks noChangeAspect="1"/>
            </p:cNvPicPr>
            <p:nvPr/>
          </p:nvPicPr>
          <p:blipFill>
            <a:blip r:embed="rId4"/>
            <a:stretch>
              <a:fillRect/>
            </a:stretch>
          </p:blipFill>
          <p:spPr>
            <a:xfrm>
              <a:off x="4029346" y="4048395"/>
              <a:ext cx="1187087" cy="2302949"/>
            </a:xfrm>
            <a:prstGeom prst="rect">
              <a:avLst/>
            </a:prstGeom>
          </p:spPr>
        </p:pic>
      </p:grpSp>
      <p:grpSp>
        <p:nvGrpSpPr>
          <p:cNvPr id="7" name="组合 6"/>
          <p:cNvGrpSpPr/>
          <p:nvPr/>
        </p:nvGrpSpPr>
        <p:grpSpPr>
          <a:xfrm>
            <a:off x="511661" y="1252537"/>
            <a:ext cx="6046301" cy="2695575"/>
            <a:chOff x="511661" y="1252537"/>
            <a:chExt cx="6046301" cy="2695575"/>
          </a:xfrm>
        </p:grpSpPr>
        <p:pic>
          <p:nvPicPr>
            <p:cNvPr id="4" name="图片 3"/>
            <p:cNvPicPr>
              <a:picLocks noChangeAspect="1"/>
            </p:cNvPicPr>
            <p:nvPr/>
          </p:nvPicPr>
          <p:blipFill>
            <a:blip r:embed="rId5"/>
            <a:stretch>
              <a:fillRect/>
            </a:stretch>
          </p:blipFill>
          <p:spPr>
            <a:xfrm>
              <a:off x="928687" y="1252537"/>
              <a:ext cx="5629275" cy="2695575"/>
            </a:xfrm>
            <a:prstGeom prst="rect">
              <a:avLst/>
            </a:prstGeom>
          </p:spPr>
        </p:pic>
        <p:sp>
          <p:nvSpPr>
            <p:cNvPr id="3" name="文本框 2"/>
            <p:cNvSpPr txBox="1"/>
            <p:nvPr/>
          </p:nvSpPr>
          <p:spPr>
            <a:xfrm>
              <a:off x="511661" y="2774032"/>
              <a:ext cx="1107996" cy="369332"/>
            </a:xfrm>
            <a:prstGeom prst="rect">
              <a:avLst/>
            </a:prstGeom>
            <a:noFill/>
          </p:spPr>
          <p:txBody>
            <a:bodyPr wrap="none" rtlCol="0">
              <a:spAutoFit/>
            </a:bodyPr>
            <a:lstStyle/>
            <a:p>
              <a:r>
                <a:rPr lang="zh-CN" altLang="en-US" dirty="0"/>
                <a:t>四舍五入</a:t>
              </a:r>
            </a:p>
          </p:txBody>
        </p:sp>
      </p:grpSp>
      <p:sp>
        <p:nvSpPr>
          <p:cNvPr id="12" name="矩形 11"/>
          <p:cNvSpPr/>
          <p:nvPr/>
        </p:nvSpPr>
        <p:spPr>
          <a:xfrm>
            <a:off x="6034389" y="4709290"/>
            <a:ext cx="3416320" cy="523220"/>
          </a:xfrm>
          <a:prstGeom prst="rect">
            <a:avLst/>
          </a:prstGeom>
        </p:spPr>
        <p:txBody>
          <a:bodyPr wrap="none">
            <a:spAutoFit/>
          </a:bodyPr>
          <a:lstStyle/>
          <a:p>
            <a:r>
              <a:rPr lang="zh-CN" altLang="en-US" sz="2800" dirty="0"/>
              <a:t>逐个元素计算的函数</a:t>
            </a:r>
          </a:p>
        </p:txBody>
      </p:sp>
      <p:sp>
        <p:nvSpPr>
          <p:cNvPr id="13" name="燕尾形箭头 12"/>
          <p:cNvSpPr/>
          <p:nvPr/>
        </p:nvSpPr>
        <p:spPr>
          <a:xfrm rot="10800000">
            <a:off x="5320285" y="4840095"/>
            <a:ext cx="714104" cy="261610"/>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0397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736523" y="359497"/>
            <a:ext cx="5467350" cy="2647950"/>
          </a:xfrm>
          <a:prstGeom prst="rect">
            <a:avLst/>
          </a:prstGeom>
        </p:spPr>
      </p:pic>
      <p:sp>
        <p:nvSpPr>
          <p:cNvPr id="7" name="标题 1"/>
          <p:cNvSpPr>
            <a:spLocks noGrp="1"/>
          </p:cNvSpPr>
          <p:nvPr>
            <p:ph type="title"/>
          </p:nvPr>
        </p:nvSpPr>
        <p:spPr>
          <a:xfrm>
            <a:off x="515983" y="163193"/>
            <a:ext cx="4210050" cy="682625"/>
          </a:xfrm>
        </p:spPr>
        <p:txBody>
          <a:bodyPr>
            <a:normAutofit fontScale="90000"/>
          </a:bodyPr>
          <a:lstStyle/>
          <a:p>
            <a:r>
              <a:rPr lang="en-US" altLang="zh-CN" dirty="0"/>
              <a:t>2</a:t>
            </a:r>
            <a:r>
              <a:rPr lang="zh-CN" altLang="en-US" dirty="0"/>
              <a:t>、按列计算</a:t>
            </a:r>
          </a:p>
        </p:txBody>
      </p:sp>
      <p:grpSp>
        <p:nvGrpSpPr>
          <p:cNvPr id="3" name="组合 2"/>
          <p:cNvGrpSpPr/>
          <p:nvPr/>
        </p:nvGrpSpPr>
        <p:grpSpPr>
          <a:xfrm>
            <a:off x="3343002" y="2943497"/>
            <a:ext cx="6724650" cy="2964809"/>
            <a:chOff x="3343002" y="2943497"/>
            <a:chExt cx="6724650" cy="2964809"/>
          </a:xfrm>
        </p:grpSpPr>
        <p:pic>
          <p:nvPicPr>
            <p:cNvPr id="6" name="图片 5"/>
            <p:cNvPicPr>
              <a:picLocks noChangeAspect="1"/>
            </p:cNvPicPr>
            <p:nvPr/>
          </p:nvPicPr>
          <p:blipFill>
            <a:blip r:embed="rId3"/>
            <a:stretch>
              <a:fillRect/>
            </a:stretch>
          </p:blipFill>
          <p:spPr>
            <a:xfrm>
              <a:off x="3343002" y="3412756"/>
              <a:ext cx="6724650" cy="2495550"/>
            </a:xfrm>
            <a:prstGeom prst="rect">
              <a:avLst/>
            </a:prstGeom>
          </p:spPr>
        </p:pic>
        <p:sp>
          <p:nvSpPr>
            <p:cNvPr id="2" name="下箭头 1"/>
            <p:cNvSpPr/>
            <p:nvPr/>
          </p:nvSpPr>
          <p:spPr>
            <a:xfrm>
              <a:off x="6461760" y="2943497"/>
              <a:ext cx="235131" cy="39188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grpSp>
        <p:nvGrpSpPr>
          <p:cNvPr id="9" name="组合 8"/>
          <p:cNvGrpSpPr/>
          <p:nvPr/>
        </p:nvGrpSpPr>
        <p:grpSpPr>
          <a:xfrm>
            <a:off x="3640728" y="5806697"/>
            <a:ext cx="6686550" cy="828819"/>
            <a:chOff x="3640728" y="5806697"/>
            <a:chExt cx="6686550" cy="828819"/>
          </a:xfrm>
        </p:grpSpPr>
        <p:pic>
          <p:nvPicPr>
            <p:cNvPr id="5" name="图片 4"/>
            <p:cNvPicPr>
              <a:picLocks noChangeAspect="1"/>
            </p:cNvPicPr>
            <p:nvPr/>
          </p:nvPicPr>
          <p:blipFill>
            <a:blip r:embed="rId4"/>
            <a:stretch>
              <a:fillRect/>
            </a:stretch>
          </p:blipFill>
          <p:spPr>
            <a:xfrm>
              <a:off x="3640728" y="6197366"/>
              <a:ext cx="6686550" cy="438150"/>
            </a:xfrm>
            <a:prstGeom prst="rect">
              <a:avLst/>
            </a:prstGeom>
          </p:spPr>
        </p:pic>
        <p:sp>
          <p:nvSpPr>
            <p:cNvPr id="8" name="下箭头 7"/>
            <p:cNvSpPr/>
            <p:nvPr/>
          </p:nvSpPr>
          <p:spPr>
            <a:xfrm>
              <a:off x="6718662" y="5806697"/>
              <a:ext cx="235131" cy="391886"/>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2946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Rectangle 2"/>
          <p:cNvSpPr txBox="1">
            <a:spLocks noChangeArrowheads="1"/>
          </p:cNvSpPr>
          <p:nvPr/>
        </p:nvSpPr>
        <p:spPr>
          <a:xfrm>
            <a:off x="708161" y="113482"/>
            <a:ext cx="7313612" cy="6615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008000"/>
                </a:solidFill>
                <a:latin typeface="华文中宋" panose="02010600040101010101" pitchFamily="2" charset="-122"/>
                <a:ea typeface="华文中宋" panose="02010600040101010101" pitchFamily="2" charset="-122"/>
              </a:rPr>
              <a:t>按列计算的函数</a:t>
            </a:r>
          </a:p>
        </p:txBody>
      </p:sp>
      <p:sp>
        <p:nvSpPr>
          <p:cNvPr id="6" name="Rectangle 3"/>
          <p:cNvSpPr txBox="1">
            <a:spLocks noChangeArrowheads="1"/>
          </p:cNvSpPr>
          <p:nvPr/>
        </p:nvSpPr>
        <p:spPr>
          <a:xfrm>
            <a:off x="625034" y="775062"/>
            <a:ext cx="3816350" cy="596945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zh-CN" altLang="en-US" sz="2000" dirty="0">
                <a:solidFill>
                  <a:srgbClr val="FF0000"/>
                </a:solidFill>
                <a:latin typeface="华文中宋" panose="02010600040101010101" pitchFamily="2" charset="-122"/>
                <a:ea typeface="华文中宋" panose="02010600040101010101" pitchFamily="2" charset="-122"/>
              </a:rPr>
              <a:t>统计相关的函数</a:t>
            </a:r>
            <a:endParaRPr lang="en-US" altLang="zh-CN" sz="2000" dirty="0">
              <a:solidFill>
                <a:srgbClr val="FF0000"/>
              </a:solidFill>
              <a:latin typeface="华文中宋" panose="02010600040101010101" pitchFamily="2" charset="-122"/>
              <a:ea typeface="华文中宋" panose="02010600040101010101" pitchFamily="2" charset="-122"/>
            </a:endParaRPr>
          </a:p>
          <a:p>
            <a:pPr>
              <a:lnSpc>
                <a:spcPct val="80000"/>
              </a:lnSpc>
              <a:buFont typeface="Wingdings" panose="05000000000000000000" pitchFamily="2" charset="2"/>
              <a:buNone/>
            </a:pPr>
            <a:r>
              <a:rPr lang="en-US" altLang="zh-CN" sz="1800" dirty="0">
                <a:latin typeface="华文中宋" panose="02010600040101010101" pitchFamily="2" charset="-122"/>
                <a:ea typeface="华文中宋" panose="02010600040101010101" pitchFamily="2" charset="-122"/>
              </a:rPr>
              <a:t>max         - </a:t>
            </a:r>
            <a:r>
              <a:rPr lang="zh-CN" altLang="en-US" sz="1800" dirty="0">
                <a:latin typeface="华文中宋" panose="02010600040101010101" pitchFamily="2" charset="-122"/>
                <a:ea typeface="华文中宋" panose="02010600040101010101" pitchFamily="2" charset="-122"/>
              </a:rPr>
              <a:t>最大值</a:t>
            </a:r>
          </a:p>
          <a:p>
            <a:pPr>
              <a:lnSpc>
                <a:spcPct val="80000"/>
              </a:lnSpc>
              <a:buFont typeface="Wingdings" panose="05000000000000000000" pitchFamily="2" charset="2"/>
              <a:buNone/>
            </a:pPr>
            <a:r>
              <a:rPr lang="en-US" altLang="zh-CN" sz="1800" dirty="0">
                <a:latin typeface="华文中宋" panose="02010600040101010101" pitchFamily="2" charset="-122"/>
                <a:ea typeface="华文中宋" panose="02010600040101010101" pitchFamily="2" charset="-122"/>
              </a:rPr>
              <a:t>min         - </a:t>
            </a:r>
            <a:r>
              <a:rPr lang="zh-CN" altLang="en-US" sz="1800" dirty="0">
                <a:latin typeface="华文中宋" panose="02010600040101010101" pitchFamily="2" charset="-122"/>
                <a:ea typeface="华文中宋" panose="02010600040101010101" pitchFamily="2" charset="-122"/>
              </a:rPr>
              <a:t>最小值</a:t>
            </a:r>
          </a:p>
          <a:p>
            <a:pPr>
              <a:lnSpc>
                <a:spcPct val="80000"/>
              </a:lnSpc>
              <a:buFont typeface="Wingdings" panose="05000000000000000000" pitchFamily="2" charset="2"/>
              <a:buNone/>
            </a:pPr>
            <a:r>
              <a:rPr lang="en-US" altLang="zh-CN" sz="1800" dirty="0">
                <a:latin typeface="华文中宋" panose="02010600040101010101" pitchFamily="2" charset="-122"/>
                <a:ea typeface="华文中宋" panose="02010600040101010101" pitchFamily="2" charset="-122"/>
              </a:rPr>
              <a:t>mean        - </a:t>
            </a:r>
            <a:r>
              <a:rPr lang="zh-CN" altLang="en-US" sz="1800" dirty="0">
                <a:latin typeface="华文中宋" panose="02010600040101010101" pitchFamily="2" charset="-122"/>
                <a:ea typeface="华文中宋" panose="02010600040101010101" pitchFamily="2" charset="-122"/>
              </a:rPr>
              <a:t>平均值</a:t>
            </a:r>
          </a:p>
          <a:p>
            <a:pPr>
              <a:lnSpc>
                <a:spcPct val="80000"/>
              </a:lnSpc>
              <a:buFont typeface="Wingdings" panose="05000000000000000000" pitchFamily="2" charset="2"/>
              <a:buNone/>
            </a:pPr>
            <a:r>
              <a:rPr lang="en-US" altLang="zh-CN" sz="1800" dirty="0">
                <a:latin typeface="华文中宋" panose="02010600040101010101" pitchFamily="2" charset="-122"/>
                <a:ea typeface="华文中宋" panose="02010600040101010101" pitchFamily="2" charset="-122"/>
              </a:rPr>
              <a:t>median      - </a:t>
            </a:r>
            <a:r>
              <a:rPr lang="zh-CN" altLang="en-US" sz="1800" dirty="0">
                <a:latin typeface="华文中宋" panose="02010600040101010101" pitchFamily="2" charset="-122"/>
                <a:ea typeface="华文中宋" panose="02010600040101010101" pitchFamily="2" charset="-122"/>
              </a:rPr>
              <a:t>中值</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std</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标准差 </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var</a:t>
            </a:r>
            <a:r>
              <a:rPr lang="en-US" altLang="zh-CN" sz="1800" dirty="0">
                <a:latin typeface="华文中宋" panose="02010600040101010101" pitchFamily="2" charset="-122"/>
                <a:ea typeface="华文中宋" panose="02010600040101010101" pitchFamily="2" charset="-122"/>
              </a:rPr>
              <a:t>         - </a:t>
            </a:r>
            <a:r>
              <a:rPr lang="zh-CN" altLang="en-US" sz="1800" dirty="0">
                <a:latin typeface="华文中宋" panose="02010600040101010101" pitchFamily="2" charset="-122"/>
                <a:ea typeface="华文中宋" panose="02010600040101010101" pitchFamily="2" charset="-122"/>
              </a:rPr>
              <a:t>方差</a:t>
            </a:r>
          </a:p>
          <a:p>
            <a:pPr>
              <a:lnSpc>
                <a:spcPct val="80000"/>
              </a:lnSpc>
              <a:buFont typeface="Wingdings" panose="05000000000000000000" pitchFamily="2" charset="2"/>
              <a:buNone/>
            </a:pPr>
            <a:r>
              <a:rPr lang="en-US" altLang="zh-CN" sz="1800" dirty="0">
                <a:latin typeface="华文中宋" panose="02010600040101010101" pitchFamily="2" charset="-122"/>
                <a:ea typeface="华文中宋" panose="02010600040101010101" pitchFamily="2" charset="-122"/>
              </a:rPr>
              <a:t>sort        - </a:t>
            </a:r>
            <a:r>
              <a:rPr lang="zh-CN" altLang="en-US" sz="1800" dirty="0">
                <a:latin typeface="华文中宋" panose="02010600040101010101" pitchFamily="2" charset="-122"/>
                <a:ea typeface="华文中宋" panose="02010600040101010101" pitchFamily="2" charset="-122"/>
              </a:rPr>
              <a:t>升序排列  </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sortrows</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按行的升序排列 </a:t>
            </a:r>
          </a:p>
          <a:p>
            <a:pPr>
              <a:lnSpc>
                <a:spcPct val="80000"/>
              </a:lnSpc>
              <a:buFont typeface="Wingdings" panose="05000000000000000000" pitchFamily="2" charset="2"/>
              <a:buNone/>
            </a:pPr>
            <a:r>
              <a:rPr lang="en-US" altLang="zh-CN" sz="1800" dirty="0">
                <a:latin typeface="华文中宋" panose="02010600040101010101" pitchFamily="2" charset="-122"/>
                <a:ea typeface="华文中宋" panose="02010600040101010101" pitchFamily="2" charset="-122"/>
              </a:rPr>
              <a:t>sum         - </a:t>
            </a:r>
            <a:r>
              <a:rPr lang="zh-CN" altLang="en-US" sz="1800" dirty="0">
                <a:latin typeface="华文中宋" panose="02010600040101010101" pitchFamily="2" charset="-122"/>
                <a:ea typeface="华文中宋" panose="02010600040101010101" pitchFamily="2" charset="-122"/>
              </a:rPr>
              <a:t>求和</a:t>
            </a:r>
          </a:p>
          <a:p>
            <a:pPr>
              <a:lnSpc>
                <a:spcPct val="80000"/>
              </a:lnSpc>
              <a:buFont typeface="Wingdings" panose="05000000000000000000" pitchFamily="2" charset="2"/>
              <a:buNone/>
            </a:pPr>
            <a:r>
              <a:rPr lang="en-US" altLang="zh-CN" sz="1800" dirty="0">
                <a:latin typeface="华文中宋" panose="02010600040101010101" pitchFamily="2" charset="-122"/>
                <a:ea typeface="华文中宋" panose="02010600040101010101" pitchFamily="2" charset="-122"/>
              </a:rPr>
              <a:t>prod        - </a:t>
            </a:r>
            <a:r>
              <a:rPr lang="zh-CN" altLang="en-US" sz="1800" dirty="0">
                <a:latin typeface="华文中宋" panose="02010600040101010101" pitchFamily="2" charset="-122"/>
                <a:ea typeface="华文中宋" panose="02010600040101010101" pitchFamily="2" charset="-122"/>
              </a:rPr>
              <a:t>求积</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hist</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直方图 </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histc</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直方图计数 </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trapz</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梯形数值积分 </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cumsum</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元素的累积求和 </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cumprod</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元素的累积求积 </a:t>
            </a:r>
          </a:p>
          <a:p>
            <a:pPr>
              <a:lnSpc>
                <a:spcPct val="80000"/>
              </a:lnSpc>
              <a:buFont typeface="Wingdings" panose="05000000000000000000" pitchFamily="2" charset="2"/>
              <a:buNone/>
            </a:pPr>
            <a:r>
              <a:rPr lang="en-US" altLang="zh-CN" sz="1800" dirty="0" err="1">
                <a:latin typeface="华文中宋" panose="02010600040101010101" pitchFamily="2" charset="-122"/>
                <a:ea typeface="华文中宋" panose="02010600040101010101" pitchFamily="2" charset="-122"/>
              </a:rPr>
              <a:t>cumtrapz</a:t>
            </a:r>
            <a:r>
              <a:rPr lang="en-US" altLang="zh-CN" sz="1800" dirty="0">
                <a:latin typeface="华文中宋" panose="02010600040101010101" pitchFamily="2" charset="-122"/>
                <a:ea typeface="华文中宋" panose="02010600040101010101" pitchFamily="2" charset="-122"/>
              </a:rPr>
              <a:t>    -</a:t>
            </a:r>
            <a:r>
              <a:rPr lang="zh-CN" altLang="en-US" sz="1800" dirty="0">
                <a:latin typeface="华文中宋" panose="02010600040101010101" pitchFamily="2" charset="-122"/>
                <a:ea typeface="华文中宋" panose="02010600040101010101" pitchFamily="2" charset="-122"/>
              </a:rPr>
              <a:t>累计梯形数值积分 </a:t>
            </a:r>
          </a:p>
        </p:txBody>
      </p:sp>
      <p:sp>
        <p:nvSpPr>
          <p:cNvPr id="8" name="Rectangle 5"/>
          <p:cNvSpPr>
            <a:spLocks noChangeArrowheads="1"/>
          </p:cNvSpPr>
          <p:nvPr/>
        </p:nvSpPr>
        <p:spPr bwMode="auto">
          <a:xfrm>
            <a:off x="4828165" y="775062"/>
            <a:ext cx="4855766"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Char char="•"/>
            </a:pPr>
            <a:r>
              <a:rPr lang="zh-CN" altLang="en-US" sz="2000" b="1" dirty="0">
                <a:solidFill>
                  <a:srgbClr val="0000FF"/>
                </a:solidFill>
                <a:latin typeface="华文中宋" panose="02010600040101010101" pitchFamily="2" charset="-122"/>
                <a:ea typeface="华文中宋" panose="02010600040101010101" pitchFamily="2" charset="-122"/>
              </a:rPr>
              <a:t>   有限差分</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a:latin typeface="华文中宋" panose="02010600040101010101" pitchFamily="2" charset="-122"/>
                <a:ea typeface="华文中宋" panose="02010600040101010101" pitchFamily="2" charset="-122"/>
              </a:rPr>
              <a:t>diff            - </a:t>
            </a:r>
            <a:r>
              <a:rPr lang="zh-CN" altLang="en-US" sz="2000" dirty="0">
                <a:latin typeface="华文中宋" panose="02010600040101010101" pitchFamily="2" charset="-122"/>
                <a:ea typeface="华文中宋" panose="02010600040101010101" pitchFamily="2" charset="-122"/>
              </a:rPr>
              <a:t>微分和导数</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a:latin typeface="华文中宋" panose="02010600040101010101" pitchFamily="2" charset="-122"/>
                <a:ea typeface="华文中宋" panose="02010600040101010101" pitchFamily="2" charset="-122"/>
              </a:rPr>
              <a:t>gradient    - </a:t>
            </a:r>
            <a:r>
              <a:rPr lang="zh-CN" altLang="en-US" sz="2000" dirty="0">
                <a:latin typeface="华文中宋" panose="02010600040101010101" pitchFamily="2" charset="-122"/>
                <a:ea typeface="华文中宋" panose="02010600040101010101" pitchFamily="2" charset="-122"/>
              </a:rPr>
              <a:t>梯度</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a:latin typeface="华文中宋" panose="02010600040101010101" pitchFamily="2" charset="-122"/>
                <a:ea typeface="华文中宋" panose="02010600040101010101" pitchFamily="2" charset="-122"/>
              </a:rPr>
              <a:t>del2          - </a:t>
            </a:r>
            <a:r>
              <a:rPr lang="zh-CN" altLang="en-US" sz="2000" dirty="0">
                <a:latin typeface="华文中宋" panose="02010600040101010101" pitchFamily="2" charset="-122"/>
                <a:ea typeface="华文中宋" panose="02010600040101010101" pitchFamily="2" charset="-122"/>
              </a:rPr>
              <a:t>离散拉普拉斯算子</a:t>
            </a:r>
          </a:p>
        </p:txBody>
      </p:sp>
      <p:sp>
        <p:nvSpPr>
          <p:cNvPr id="9" name="Rectangle 6"/>
          <p:cNvSpPr>
            <a:spLocks noChangeArrowheads="1"/>
          </p:cNvSpPr>
          <p:nvPr/>
        </p:nvSpPr>
        <p:spPr bwMode="auto">
          <a:xfrm>
            <a:off x="5005519" y="2284471"/>
            <a:ext cx="3669594"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marL="342900" indent="-342900" eaLnBrk="1" hangingPunct="1">
              <a:spcBef>
                <a:spcPct val="0"/>
              </a:spcBef>
              <a:buClrTx/>
              <a:buSzTx/>
              <a:buFont typeface="Arial" panose="020B0604020202020204" pitchFamily="34" charset="0"/>
              <a:buChar char="•"/>
            </a:pPr>
            <a:r>
              <a:rPr lang="zh-CN" altLang="en-US" sz="2000" b="1" dirty="0">
                <a:solidFill>
                  <a:srgbClr val="0000FF"/>
                </a:solidFill>
                <a:latin typeface="华文中宋" panose="02010600040101010101" pitchFamily="2" charset="-122"/>
                <a:ea typeface="华文中宋" panose="02010600040101010101" pitchFamily="2" charset="-122"/>
              </a:rPr>
              <a:t>相关性分析</a:t>
            </a:r>
            <a:br>
              <a:rPr lang="zh-CN" altLang="en-US" sz="2000" dirty="0">
                <a:latin typeface="华文中宋" panose="02010600040101010101" pitchFamily="2" charset="-122"/>
                <a:ea typeface="华文中宋" panose="02010600040101010101" pitchFamily="2" charset="-122"/>
              </a:rPr>
            </a:br>
            <a:r>
              <a:rPr lang="en-US" altLang="zh-CN" sz="2000" dirty="0" err="1">
                <a:latin typeface="华文中宋" panose="02010600040101010101" pitchFamily="2" charset="-122"/>
                <a:ea typeface="华文中宋" panose="02010600040101010101" pitchFamily="2" charset="-122"/>
              </a:rPr>
              <a:t>corrcoef</a:t>
            </a:r>
            <a:r>
              <a:rPr lang="en-US" altLang="zh-CN" sz="2000" dirty="0">
                <a:latin typeface="华文中宋" panose="02010600040101010101" pitchFamily="2" charset="-122"/>
                <a:ea typeface="华文中宋" panose="02010600040101010101" pitchFamily="2" charset="-122"/>
              </a:rPr>
              <a:t>   - </a:t>
            </a:r>
            <a:r>
              <a:rPr lang="zh-CN" altLang="en-US" sz="2000" dirty="0">
                <a:latin typeface="华文中宋" panose="02010600040101010101" pitchFamily="2" charset="-122"/>
                <a:ea typeface="华文中宋" panose="02010600040101010101" pitchFamily="2" charset="-122"/>
              </a:rPr>
              <a:t>相关系数</a:t>
            </a:r>
            <a:br>
              <a:rPr lang="zh-CN" altLang="en-US" sz="2000" dirty="0">
                <a:latin typeface="华文中宋" panose="02010600040101010101" pitchFamily="2" charset="-122"/>
                <a:ea typeface="华文中宋" panose="02010600040101010101" pitchFamily="2" charset="-122"/>
              </a:rPr>
            </a:br>
            <a:r>
              <a:rPr lang="en-US" altLang="zh-CN" sz="2000" dirty="0" err="1">
                <a:latin typeface="华文中宋" panose="02010600040101010101" pitchFamily="2" charset="-122"/>
                <a:ea typeface="华文中宋" panose="02010600040101010101" pitchFamily="2" charset="-122"/>
              </a:rPr>
              <a:t>cov</a:t>
            </a:r>
            <a:r>
              <a:rPr lang="en-US" altLang="zh-CN" sz="2000" dirty="0">
                <a:latin typeface="华文中宋" panose="02010600040101010101" pitchFamily="2" charset="-122"/>
                <a:ea typeface="华文中宋" panose="02010600040101010101" pitchFamily="2" charset="-122"/>
              </a:rPr>
              <a:t>          - </a:t>
            </a:r>
            <a:r>
              <a:rPr lang="zh-CN" altLang="en-US" sz="2000" dirty="0">
                <a:latin typeface="华文中宋" panose="02010600040101010101" pitchFamily="2" charset="-122"/>
                <a:ea typeface="华文中宋" panose="02010600040101010101" pitchFamily="2" charset="-122"/>
              </a:rPr>
              <a:t>协方差矩阵</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a:latin typeface="华文中宋" panose="02010600040101010101" pitchFamily="2" charset="-122"/>
                <a:ea typeface="华文中宋" panose="02010600040101010101" pitchFamily="2" charset="-122"/>
              </a:rPr>
              <a:t>subspace - </a:t>
            </a:r>
            <a:r>
              <a:rPr lang="zh-CN" altLang="en-US" sz="2000" dirty="0">
                <a:latin typeface="华文中宋" panose="02010600040101010101" pitchFamily="2" charset="-122"/>
                <a:ea typeface="华文中宋" panose="02010600040101010101" pitchFamily="2" charset="-122"/>
              </a:rPr>
              <a:t>子空间的夹角</a:t>
            </a:r>
            <a:r>
              <a:rPr lang="zh-CN" altLang="en-US" sz="2000" dirty="0"/>
              <a:t>  </a:t>
            </a:r>
          </a:p>
        </p:txBody>
      </p:sp>
      <p:sp>
        <p:nvSpPr>
          <p:cNvPr id="11" name="Rectangle 8"/>
          <p:cNvSpPr>
            <a:spLocks noChangeArrowheads="1"/>
          </p:cNvSpPr>
          <p:nvPr/>
        </p:nvSpPr>
        <p:spPr bwMode="auto">
          <a:xfrm>
            <a:off x="5005519" y="3886213"/>
            <a:ext cx="513389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marL="342900" indent="-342900">
              <a:spcBef>
                <a:spcPct val="0"/>
              </a:spcBef>
              <a:buClrTx/>
              <a:buSzTx/>
              <a:buFont typeface="Arial" panose="020B0604020202020204" pitchFamily="34" charset="0"/>
              <a:buChar char="•"/>
            </a:pPr>
            <a:r>
              <a:rPr lang="zh-CN" altLang="en-US" sz="2000" b="1" dirty="0">
                <a:solidFill>
                  <a:srgbClr val="0000FF"/>
                </a:solidFill>
                <a:latin typeface="华文中宋" panose="02010600040101010101" pitchFamily="2" charset="-122"/>
                <a:ea typeface="华文中宋" panose="02010600040101010101" pitchFamily="2" charset="-122"/>
              </a:rPr>
              <a:t>滤波和卷积 </a:t>
            </a:r>
            <a:r>
              <a:rPr lang="en-US" altLang="zh-CN" sz="2000" dirty="0">
                <a:latin typeface="华文中宋" panose="02010600040101010101" pitchFamily="2" charset="-122"/>
                <a:ea typeface="华文中宋" panose="02010600040101010101" pitchFamily="2" charset="-122"/>
              </a:rPr>
              <a:t>    </a:t>
            </a:r>
          </a:p>
          <a:p>
            <a:pPr eaLnBrk="1" hangingPunct="1">
              <a:spcBef>
                <a:spcPct val="0"/>
              </a:spcBef>
              <a:buClrTx/>
              <a:buSzTx/>
              <a:buFontTx/>
              <a:buNone/>
            </a:pPr>
            <a:r>
              <a:rPr lang="en-US" altLang="zh-CN" sz="2000" dirty="0">
                <a:latin typeface="华文中宋" panose="02010600040101010101" pitchFamily="2" charset="-122"/>
                <a:ea typeface="华文中宋" panose="02010600040101010101" pitchFamily="2" charset="-122"/>
              </a:rPr>
              <a:t>    filter          - </a:t>
            </a:r>
            <a:r>
              <a:rPr lang="zh-CN" altLang="en-US" sz="2000" dirty="0">
                <a:latin typeface="华文中宋" panose="02010600040101010101" pitchFamily="2" charset="-122"/>
                <a:ea typeface="华文中宋" panose="02010600040101010101" pitchFamily="2" charset="-122"/>
              </a:rPr>
              <a:t>一维数字滤波器 </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a:latin typeface="华文中宋" panose="02010600040101010101" pitchFamily="2" charset="-122"/>
                <a:ea typeface="华文中宋" panose="02010600040101010101" pitchFamily="2" charset="-122"/>
              </a:rPr>
              <a:t>filter2        - </a:t>
            </a:r>
            <a:r>
              <a:rPr lang="zh-CN" altLang="en-US" sz="2000" dirty="0">
                <a:latin typeface="华文中宋" panose="02010600040101010101" pitchFamily="2" charset="-122"/>
                <a:ea typeface="华文中宋" panose="02010600040101010101" pitchFamily="2" charset="-122"/>
              </a:rPr>
              <a:t>二维数字滤波器 </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a:latin typeface="华文中宋" panose="02010600040101010101" pitchFamily="2" charset="-122"/>
                <a:ea typeface="华文中宋" panose="02010600040101010101" pitchFamily="2" charset="-122"/>
              </a:rPr>
              <a:t>conv          - </a:t>
            </a:r>
            <a:r>
              <a:rPr lang="zh-CN" altLang="en-US" sz="2000" dirty="0">
                <a:latin typeface="华文中宋" panose="02010600040101010101" pitchFamily="2" charset="-122"/>
                <a:ea typeface="华文中宋" panose="02010600040101010101" pitchFamily="2" charset="-122"/>
              </a:rPr>
              <a:t>卷积和多项式乘法</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a:latin typeface="华文中宋" panose="02010600040101010101" pitchFamily="2" charset="-122"/>
                <a:ea typeface="华文中宋" panose="02010600040101010101" pitchFamily="2" charset="-122"/>
              </a:rPr>
              <a:t>conv2        - </a:t>
            </a:r>
            <a:r>
              <a:rPr lang="zh-CN" altLang="en-US" sz="2000" dirty="0">
                <a:latin typeface="华文中宋" panose="02010600040101010101" pitchFamily="2" charset="-122"/>
                <a:ea typeface="华文中宋" panose="02010600040101010101" pitchFamily="2" charset="-122"/>
              </a:rPr>
              <a:t>二维卷积 </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err="1">
                <a:latin typeface="华文中宋" panose="02010600040101010101" pitchFamily="2" charset="-122"/>
                <a:ea typeface="华文中宋" panose="02010600040101010101" pitchFamily="2" charset="-122"/>
              </a:rPr>
              <a:t>convn</a:t>
            </a:r>
            <a:r>
              <a:rPr lang="en-US" altLang="zh-CN" sz="2000" dirty="0">
                <a:latin typeface="华文中宋" panose="02010600040101010101" pitchFamily="2" charset="-122"/>
                <a:ea typeface="华文中宋" panose="02010600040101010101" pitchFamily="2" charset="-122"/>
              </a:rPr>
              <a:t>        - N</a:t>
            </a:r>
            <a:r>
              <a:rPr lang="zh-CN" altLang="en-US" sz="2000" dirty="0">
                <a:latin typeface="华文中宋" panose="02010600040101010101" pitchFamily="2" charset="-122"/>
                <a:ea typeface="华文中宋" panose="02010600040101010101" pitchFamily="2" charset="-122"/>
              </a:rPr>
              <a:t>维卷积 </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err="1">
                <a:latin typeface="华文中宋" panose="02010600040101010101" pitchFamily="2" charset="-122"/>
                <a:ea typeface="华文中宋" panose="02010600040101010101" pitchFamily="2" charset="-122"/>
              </a:rPr>
              <a:t>deconv</a:t>
            </a:r>
            <a:r>
              <a:rPr lang="en-US" altLang="zh-CN" sz="2000" dirty="0">
                <a:latin typeface="华文中宋" panose="02010600040101010101" pitchFamily="2" charset="-122"/>
                <a:ea typeface="华文中宋" panose="02010600040101010101" pitchFamily="2" charset="-122"/>
              </a:rPr>
              <a:t>      - </a:t>
            </a:r>
            <a:r>
              <a:rPr lang="zh-CN" altLang="en-US" sz="2000" dirty="0">
                <a:latin typeface="华文中宋" panose="02010600040101010101" pitchFamily="2" charset="-122"/>
                <a:ea typeface="华文中宋" panose="02010600040101010101" pitchFamily="2" charset="-122"/>
              </a:rPr>
              <a:t>反卷积和多项式除法运算</a:t>
            </a:r>
          </a:p>
          <a:p>
            <a:pPr eaLnBrk="1" hangingPunct="1">
              <a:spcBef>
                <a:spcPct val="0"/>
              </a:spcBef>
              <a:buClrTx/>
              <a:buSzTx/>
              <a:buFontTx/>
              <a:buNone/>
            </a:pPr>
            <a:r>
              <a:rPr lang="zh-CN" altLang="en-US" sz="2000" dirty="0">
                <a:latin typeface="华文中宋" panose="02010600040101010101" pitchFamily="2" charset="-122"/>
                <a:ea typeface="华文中宋" panose="02010600040101010101" pitchFamily="2" charset="-122"/>
              </a:rPr>
              <a:t>    </a:t>
            </a:r>
            <a:r>
              <a:rPr lang="en-US" altLang="zh-CN" sz="2000" dirty="0" err="1">
                <a:latin typeface="华文中宋" panose="02010600040101010101" pitchFamily="2" charset="-122"/>
                <a:ea typeface="华文中宋" panose="02010600040101010101" pitchFamily="2" charset="-122"/>
              </a:rPr>
              <a:t>detrend</a:t>
            </a:r>
            <a:r>
              <a:rPr lang="en-US" altLang="zh-CN" sz="2000" dirty="0">
                <a:latin typeface="华文中宋" panose="02010600040101010101" pitchFamily="2" charset="-122"/>
                <a:ea typeface="华文中宋" panose="02010600040101010101" pitchFamily="2" charset="-122"/>
              </a:rPr>
              <a:t>     - </a:t>
            </a:r>
            <a:r>
              <a:rPr lang="zh-CN" altLang="en-US" sz="2000" dirty="0">
                <a:latin typeface="华文中宋" panose="02010600040101010101" pitchFamily="2" charset="-122"/>
                <a:ea typeface="华文中宋" panose="02010600040101010101" pitchFamily="2" charset="-122"/>
              </a:rPr>
              <a:t>去除线性趋势 </a:t>
            </a:r>
          </a:p>
        </p:txBody>
      </p:sp>
    </p:spTree>
    <p:extLst>
      <p:ext uri="{BB962C8B-B14F-4D97-AF65-F5344CB8AC3E}">
        <p14:creationId xmlns:p14="http://schemas.microsoft.com/office/powerpoint/2010/main" val="286083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Grp="1" noChangeArrowheads="1"/>
          </p:cNvSpPr>
          <p:nvPr>
            <p:ph type="title"/>
          </p:nvPr>
        </p:nvSpPr>
        <p:spPr>
          <a:xfrm>
            <a:off x="838200" y="365125"/>
            <a:ext cx="10515600" cy="70602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solidFill>
                  <a:srgbClr val="008000"/>
                </a:solidFill>
                <a:latin typeface="华文中宋" panose="02010600040101010101" pitchFamily="2" charset="-122"/>
                <a:ea typeface="华文中宋" panose="02010600040101010101" pitchFamily="2" charset="-122"/>
              </a:rPr>
              <a:t>按列计算的函数</a:t>
            </a:r>
            <a:r>
              <a:rPr lang="en-US" altLang="zh-CN" sz="3600" b="1" dirty="0">
                <a:solidFill>
                  <a:srgbClr val="008000"/>
                </a:solidFill>
                <a:latin typeface="华文中宋" panose="02010600040101010101" pitchFamily="2" charset="-122"/>
                <a:ea typeface="华文中宋" panose="02010600040101010101" pitchFamily="2" charset="-122"/>
              </a:rPr>
              <a:t>(</a:t>
            </a:r>
            <a:r>
              <a:rPr lang="zh-CN" altLang="en-US" sz="3600" b="1" dirty="0">
                <a:solidFill>
                  <a:srgbClr val="008000"/>
                </a:solidFill>
                <a:latin typeface="华文中宋" panose="02010600040101010101" pitchFamily="2" charset="-122"/>
                <a:ea typeface="华文中宋" panose="02010600040101010101" pitchFamily="2" charset="-122"/>
              </a:rPr>
              <a:t>续</a:t>
            </a:r>
            <a:r>
              <a:rPr lang="en-US" altLang="zh-CN" sz="3600" b="1" dirty="0">
                <a:solidFill>
                  <a:srgbClr val="008000"/>
                </a:solidFill>
                <a:latin typeface="华文中宋" panose="02010600040101010101" pitchFamily="2" charset="-122"/>
                <a:ea typeface="华文中宋" panose="02010600040101010101" pitchFamily="2" charset="-122"/>
              </a:rPr>
              <a:t>)</a:t>
            </a:r>
            <a:endParaRPr lang="zh-CN" altLang="en-US" sz="3600" b="1" dirty="0">
              <a:solidFill>
                <a:srgbClr val="008000"/>
              </a:solidFill>
              <a:latin typeface="华文中宋" panose="02010600040101010101" pitchFamily="2" charset="-122"/>
              <a:ea typeface="华文中宋" panose="02010600040101010101" pitchFamily="2" charset="-122"/>
            </a:endParaRPr>
          </a:p>
        </p:txBody>
      </p:sp>
      <p:sp>
        <p:nvSpPr>
          <p:cNvPr id="5" name="Rectangle 3"/>
          <p:cNvSpPr>
            <a:spLocks noGrp="1" noChangeArrowheads="1"/>
          </p:cNvSpPr>
          <p:nvPr>
            <p:ph idx="1"/>
          </p:nvPr>
        </p:nvSpPr>
        <p:spPr bwMode="auto">
          <a:xfrm>
            <a:off x="838200" y="1329236"/>
            <a:ext cx="10515600" cy="4044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eaLnBrk="1" hangingPunct="1">
              <a:lnSpc>
                <a:spcPct val="110000"/>
              </a:lnSpc>
              <a:spcBef>
                <a:spcPct val="0"/>
              </a:spcBef>
              <a:buClrTx/>
              <a:buSzTx/>
              <a:buFontTx/>
              <a:buChar char="•"/>
            </a:pPr>
            <a:r>
              <a:rPr lang="zh-CN" altLang="en-US" sz="2400" b="1" dirty="0">
                <a:solidFill>
                  <a:srgbClr val="0000FF"/>
                </a:solidFill>
                <a:latin typeface="华文中宋" panose="02010600040101010101" pitchFamily="2" charset="-122"/>
                <a:ea typeface="华文中宋" panose="02010600040101010101" pitchFamily="2" charset="-122"/>
              </a:rPr>
              <a:t>傅里叶变换</a:t>
            </a:r>
            <a:r>
              <a:rPr lang="zh-CN" altLang="en-US" sz="2400" b="1" dirty="0">
                <a:latin typeface="华文中宋" panose="02010600040101010101" pitchFamily="2" charset="-122"/>
                <a:ea typeface="华文中宋" panose="02010600040101010101" pitchFamily="2" charset="-122"/>
              </a:rPr>
              <a:t>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err="1">
                <a:latin typeface="华文中宋" panose="02010600040101010101" pitchFamily="2" charset="-122"/>
                <a:ea typeface="华文中宋" panose="02010600040101010101" pitchFamily="2" charset="-122"/>
              </a:rPr>
              <a:t>fft</a:t>
            </a:r>
            <a:r>
              <a:rPr lang="en-US" altLang="zh-CN" sz="2400" dirty="0">
                <a:latin typeface="华文中宋" panose="02010600040101010101" pitchFamily="2" charset="-122"/>
                <a:ea typeface="华文中宋" panose="02010600040101010101" pitchFamily="2" charset="-122"/>
              </a:rPr>
              <a:t>          - </a:t>
            </a:r>
            <a:r>
              <a:rPr lang="zh-CN" altLang="en-US" sz="2400" dirty="0">
                <a:latin typeface="华文中宋" panose="02010600040101010101" pitchFamily="2" charset="-122"/>
                <a:ea typeface="华文中宋" panose="02010600040101010101" pitchFamily="2" charset="-122"/>
              </a:rPr>
              <a:t>离散傅里叶变换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fft2        - </a:t>
            </a:r>
            <a:r>
              <a:rPr lang="zh-CN" altLang="en-US" sz="2400" dirty="0">
                <a:latin typeface="华文中宋" panose="02010600040101010101" pitchFamily="2" charset="-122"/>
                <a:ea typeface="华文中宋" panose="02010600040101010101" pitchFamily="2" charset="-122"/>
              </a:rPr>
              <a:t>二维离散傅立叶变换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err="1">
                <a:latin typeface="华文中宋" panose="02010600040101010101" pitchFamily="2" charset="-122"/>
                <a:ea typeface="华文中宋" panose="02010600040101010101" pitchFamily="2" charset="-122"/>
              </a:rPr>
              <a:t>fftn</a:t>
            </a:r>
            <a:r>
              <a:rPr lang="en-US" altLang="zh-CN" sz="2400" dirty="0">
                <a:latin typeface="华文中宋" panose="02010600040101010101" pitchFamily="2" charset="-122"/>
                <a:ea typeface="华文中宋" panose="02010600040101010101" pitchFamily="2" charset="-122"/>
              </a:rPr>
              <a:t>        - N</a:t>
            </a:r>
            <a:r>
              <a:rPr lang="zh-CN" altLang="en-US" sz="2400" dirty="0">
                <a:latin typeface="华文中宋" panose="02010600040101010101" pitchFamily="2" charset="-122"/>
                <a:ea typeface="华文中宋" panose="02010600040101010101" pitchFamily="2" charset="-122"/>
              </a:rPr>
              <a:t>维离散傅里叶变换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err="1">
                <a:latin typeface="华文中宋" panose="02010600040101010101" pitchFamily="2" charset="-122"/>
                <a:ea typeface="华文中宋" panose="02010600040101010101" pitchFamily="2" charset="-122"/>
              </a:rPr>
              <a:t>ifft</a:t>
            </a:r>
            <a:r>
              <a:rPr lang="en-US" altLang="zh-CN" sz="2400" dirty="0">
                <a:latin typeface="华文中宋" panose="02010600040101010101" pitchFamily="2" charset="-122"/>
                <a:ea typeface="华文中宋" panose="02010600040101010101" pitchFamily="2" charset="-122"/>
              </a:rPr>
              <a:t>         - </a:t>
            </a:r>
            <a:r>
              <a:rPr lang="zh-CN" altLang="en-US" sz="2400" dirty="0">
                <a:latin typeface="华文中宋" panose="02010600040101010101" pitchFamily="2" charset="-122"/>
                <a:ea typeface="华文中宋" panose="02010600040101010101" pitchFamily="2" charset="-122"/>
              </a:rPr>
              <a:t>逆离散傅立叶变换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a:latin typeface="华文中宋" panose="02010600040101010101" pitchFamily="2" charset="-122"/>
                <a:ea typeface="华文中宋" panose="02010600040101010101" pitchFamily="2" charset="-122"/>
              </a:rPr>
              <a:t>ifft2       - </a:t>
            </a:r>
            <a:r>
              <a:rPr lang="zh-CN" altLang="en-US" sz="2400" dirty="0">
                <a:latin typeface="华文中宋" panose="02010600040101010101" pitchFamily="2" charset="-122"/>
                <a:ea typeface="华文中宋" panose="02010600040101010101" pitchFamily="2" charset="-122"/>
              </a:rPr>
              <a:t>二维逆离散傅立叶变换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err="1">
                <a:latin typeface="华文中宋" panose="02010600040101010101" pitchFamily="2" charset="-122"/>
                <a:ea typeface="华文中宋" panose="02010600040101010101" pitchFamily="2" charset="-122"/>
              </a:rPr>
              <a:t>ifftn</a:t>
            </a:r>
            <a:r>
              <a:rPr lang="en-US" altLang="zh-CN" sz="2400" dirty="0">
                <a:latin typeface="华文中宋" panose="02010600040101010101" pitchFamily="2" charset="-122"/>
                <a:ea typeface="华文中宋" panose="02010600040101010101" pitchFamily="2" charset="-122"/>
              </a:rPr>
              <a:t>       - N</a:t>
            </a:r>
            <a:r>
              <a:rPr lang="zh-CN" altLang="en-US" sz="2400" dirty="0">
                <a:latin typeface="华文中宋" panose="02010600040101010101" pitchFamily="2" charset="-122"/>
                <a:ea typeface="华文中宋" panose="02010600040101010101" pitchFamily="2" charset="-122"/>
              </a:rPr>
              <a:t>维离散傅里叶逆变换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err="1">
                <a:latin typeface="华文中宋" panose="02010600040101010101" pitchFamily="2" charset="-122"/>
                <a:ea typeface="华文中宋" panose="02010600040101010101" pitchFamily="2" charset="-122"/>
              </a:rPr>
              <a:t>fftshift</a:t>
            </a:r>
            <a:r>
              <a:rPr lang="en-US" altLang="zh-CN" sz="2400" dirty="0">
                <a:latin typeface="华文中宋" panose="02010600040101010101" pitchFamily="2" charset="-122"/>
                <a:ea typeface="华文中宋" panose="02010600040101010101" pitchFamily="2" charset="-122"/>
              </a:rPr>
              <a:t>   - </a:t>
            </a:r>
            <a:r>
              <a:rPr lang="zh-CN" altLang="en-US" sz="2400" dirty="0">
                <a:latin typeface="华文中宋" panose="02010600040101010101" pitchFamily="2" charset="-122"/>
                <a:ea typeface="华文中宋" panose="02010600040101010101" pitchFamily="2" charset="-122"/>
              </a:rPr>
              <a:t>移零频率分量的频谱中心 </a:t>
            </a:r>
          </a:p>
          <a:p>
            <a:pPr eaLnBrk="1" hangingPunct="1">
              <a:lnSpc>
                <a:spcPct val="120000"/>
              </a:lnSpc>
              <a:spcBef>
                <a:spcPct val="0"/>
              </a:spcBef>
              <a:buClrTx/>
              <a:buSzTx/>
              <a:buFontTx/>
              <a:buNone/>
            </a:pPr>
            <a:r>
              <a:rPr lang="zh-CN" altLang="en-US" sz="2400" dirty="0">
                <a:latin typeface="华文中宋" panose="02010600040101010101" pitchFamily="2" charset="-122"/>
                <a:ea typeface="华文中宋" panose="02010600040101010101" pitchFamily="2" charset="-122"/>
              </a:rPr>
              <a:t>    </a:t>
            </a:r>
            <a:r>
              <a:rPr lang="en-US" altLang="zh-CN" sz="2400" dirty="0" err="1">
                <a:latin typeface="华文中宋" panose="02010600040101010101" pitchFamily="2" charset="-122"/>
                <a:ea typeface="华文中宋" panose="02010600040101010101" pitchFamily="2" charset="-122"/>
              </a:rPr>
              <a:t>ifftshift</a:t>
            </a:r>
            <a:r>
              <a:rPr lang="en-US" altLang="zh-CN" sz="2400" dirty="0">
                <a:latin typeface="华文中宋" panose="02010600040101010101" pitchFamily="2" charset="-122"/>
                <a:ea typeface="华文中宋" panose="02010600040101010101" pitchFamily="2" charset="-122"/>
              </a:rPr>
              <a:t>  - </a:t>
            </a:r>
            <a:r>
              <a:rPr lang="zh-CN" altLang="en-US" sz="2400" dirty="0">
                <a:latin typeface="华文中宋" panose="02010600040101010101" pitchFamily="2" charset="-122"/>
                <a:ea typeface="华文中宋" panose="02010600040101010101" pitchFamily="2" charset="-122"/>
              </a:rPr>
              <a:t>逆</a:t>
            </a:r>
            <a:r>
              <a:rPr lang="en-US" altLang="zh-CN" sz="2400" dirty="0">
                <a:latin typeface="华文中宋" panose="02010600040101010101" pitchFamily="2" charset="-122"/>
                <a:ea typeface="华文中宋" panose="02010600040101010101" pitchFamily="2" charset="-122"/>
              </a:rPr>
              <a:t>FFTSHIFT</a:t>
            </a:r>
          </a:p>
        </p:txBody>
      </p:sp>
    </p:spTree>
    <p:extLst>
      <p:ext uri="{BB962C8B-B14F-4D97-AF65-F5344CB8AC3E}">
        <p14:creationId xmlns:p14="http://schemas.microsoft.com/office/powerpoint/2010/main" val="37211076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777" y="365126"/>
            <a:ext cx="3568337" cy="836658"/>
          </a:xfrm>
        </p:spPr>
        <p:txBody>
          <a:bodyPr/>
          <a:lstStyle/>
          <a:p>
            <a:r>
              <a:rPr lang="zh-CN" altLang="en-US" dirty="0"/>
              <a:t>学习</a:t>
            </a:r>
            <a:r>
              <a:rPr lang="en-US" altLang="zh-CN" dirty="0"/>
              <a:t>max</a:t>
            </a:r>
            <a:r>
              <a:rPr lang="zh-CN" altLang="en-US" dirty="0"/>
              <a:t>函数</a:t>
            </a:r>
          </a:p>
        </p:txBody>
      </p:sp>
      <p:sp>
        <p:nvSpPr>
          <p:cNvPr id="4" name="矩形 3"/>
          <p:cNvSpPr/>
          <p:nvPr/>
        </p:nvSpPr>
        <p:spPr>
          <a:xfrm>
            <a:off x="592183" y="1690688"/>
            <a:ext cx="4441371" cy="2308324"/>
          </a:xfrm>
          <a:prstGeom prst="rect">
            <a:avLst/>
          </a:prstGeom>
        </p:spPr>
        <p:txBody>
          <a:bodyPr wrap="square">
            <a:spAutoFit/>
          </a:bodyPr>
          <a:lstStyle/>
          <a:p>
            <a:r>
              <a:rPr lang="pt-BR" altLang="zh-CN" sz="2400" dirty="0"/>
              <a:t>&gt;&gt; A = [23 42 37 18 52];</a:t>
            </a:r>
          </a:p>
          <a:p>
            <a:r>
              <a:rPr lang="pt-BR" altLang="zh-CN" sz="2400" dirty="0"/>
              <a:t>&gt;&gt; M = max(A),N = max(A')</a:t>
            </a:r>
          </a:p>
          <a:p>
            <a:r>
              <a:rPr lang="pt-BR" altLang="zh-CN" sz="2400" dirty="0"/>
              <a:t>M =</a:t>
            </a:r>
          </a:p>
          <a:p>
            <a:r>
              <a:rPr lang="pt-BR" altLang="zh-CN" sz="2400" dirty="0"/>
              <a:t>    52</a:t>
            </a:r>
          </a:p>
          <a:p>
            <a:r>
              <a:rPr lang="pt-BR" altLang="zh-CN" sz="2400" dirty="0"/>
              <a:t>N =</a:t>
            </a:r>
          </a:p>
          <a:p>
            <a:r>
              <a:rPr lang="pt-BR" altLang="zh-CN" sz="2400" dirty="0"/>
              <a:t>    52</a:t>
            </a:r>
            <a:endParaRPr lang="zh-CN" altLang="en-US" sz="2400" dirty="0"/>
          </a:p>
        </p:txBody>
      </p:sp>
      <p:sp>
        <p:nvSpPr>
          <p:cNvPr id="5" name="矩形 4"/>
          <p:cNvSpPr/>
          <p:nvPr/>
        </p:nvSpPr>
        <p:spPr>
          <a:xfrm>
            <a:off x="4432663" y="1690688"/>
            <a:ext cx="3108960" cy="3046988"/>
          </a:xfrm>
          <a:prstGeom prst="rect">
            <a:avLst/>
          </a:prstGeom>
        </p:spPr>
        <p:txBody>
          <a:bodyPr wrap="square">
            <a:spAutoFit/>
          </a:bodyPr>
          <a:lstStyle/>
          <a:p>
            <a:r>
              <a:rPr lang="zh-CN" altLang="en-US" sz="2400" dirty="0"/>
              <a:t>&gt;&gt; A=magic(3)</a:t>
            </a:r>
          </a:p>
          <a:p>
            <a:r>
              <a:rPr lang="zh-CN" altLang="en-US" sz="2400" dirty="0"/>
              <a:t>A =</a:t>
            </a:r>
          </a:p>
          <a:p>
            <a:r>
              <a:rPr lang="zh-CN" altLang="en-US" sz="2400" dirty="0"/>
              <a:t>     8     1     6</a:t>
            </a:r>
          </a:p>
          <a:p>
            <a:r>
              <a:rPr lang="zh-CN" altLang="en-US" sz="2400" dirty="0"/>
              <a:t>     3     5     7</a:t>
            </a:r>
          </a:p>
          <a:p>
            <a:r>
              <a:rPr lang="zh-CN" altLang="en-US" sz="2400" dirty="0"/>
              <a:t>     4     9     2</a:t>
            </a:r>
          </a:p>
          <a:p>
            <a:r>
              <a:rPr lang="zh-CN" altLang="en-US" sz="2400" dirty="0"/>
              <a:t>&gt;&gt; M = max(A)</a:t>
            </a:r>
          </a:p>
          <a:p>
            <a:r>
              <a:rPr lang="zh-CN" altLang="en-US" sz="2400" dirty="0"/>
              <a:t>M =</a:t>
            </a:r>
          </a:p>
          <a:p>
            <a:r>
              <a:rPr lang="zh-CN" altLang="en-US" sz="2400" dirty="0"/>
              <a:t>     8     9     7</a:t>
            </a:r>
          </a:p>
        </p:txBody>
      </p:sp>
      <p:sp>
        <p:nvSpPr>
          <p:cNvPr id="6" name="矩形 5"/>
          <p:cNvSpPr/>
          <p:nvPr/>
        </p:nvSpPr>
        <p:spPr>
          <a:xfrm>
            <a:off x="6742670" y="1690688"/>
            <a:ext cx="3222171" cy="3785652"/>
          </a:xfrm>
          <a:prstGeom prst="rect">
            <a:avLst/>
          </a:prstGeom>
        </p:spPr>
        <p:txBody>
          <a:bodyPr wrap="square">
            <a:spAutoFit/>
          </a:bodyPr>
          <a:lstStyle/>
          <a:p>
            <a:r>
              <a:rPr lang="zh-CN" altLang="en-US" sz="2400" dirty="0"/>
              <a:t>&gt;&gt; A=magic(3)</a:t>
            </a:r>
          </a:p>
          <a:p>
            <a:r>
              <a:rPr lang="zh-CN" altLang="en-US" sz="2400" dirty="0"/>
              <a:t>A =</a:t>
            </a:r>
          </a:p>
          <a:p>
            <a:r>
              <a:rPr lang="zh-CN" altLang="en-US" sz="2400" dirty="0"/>
              <a:t>     8     1     6</a:t>
            </a:r>
          </a:p>
          <a:p>
            <a:r>
              <a:rPr lang="zh-CN" altLang="en-US" sz="2400" dirty="0"/>
              <a:t>     3     5     7</a:t>
            </a:r>
          </a:p>
          <a:p>
            <a:r>
              <a:rPr lang="zh-CN" altLang="en-US" sz="2400" dirty="0"/>
              <a:t>     4     9     2</a:t>
            </a:r>
          </a:p>
          <a:p>
            <a:r>
              <a:rPr lang="zh-CN" altLang="en-US" sz="2400" dirty="0"/>
              <a:t>&gt;&gt; </a:t>
            </a:r>
            <a:r>
              <a:rPr lang="zh-CN" altLang="en-US" sz="2400" dirty="0">
                <a:solidFill>
                  <a:srgbClr val="0070C0"/>
                </a:solidFill>
              </a:rPr>
              <a:t>M = max(A,[],2)</a:t>
            </a:r>
          </a:p>
          <a:p>
            <a:r>
              <a:rPr lang="zh-CN" altLang="en-US" sz="2400" dirty="0"/>
              <a:t>M =</a:t>
            </a:r>
          </a:p>
          <a:p>
            <a:r>
              <a:rPr lang="zh-CN" altLang="en-US" sz="2400" dirty="0"/>
              <a:t>     8</a:t>
            </a:r>
          </a:p>
          <a:p>
            <a:r>
              <a:rPr lang="zh-CN" altLang="en-US" sz="2400" dirty="0"/>
              <a:t>     7</a:t>
            </a:r>
          </a:p>
          <a:p>
            <a:r>
              <a:rPr lang="zh-CN" altLang="en-US" sz="2400" dirty="0"/>
              <a:t>     9</a:t>
            </a:r>
          </a:p>
        </p:txBody>
      </p:sp>
      <p:sp>
        <p:nvSpPr>
          <p:cNvPr id="7" name="文本框 6"/>
          <p:cNvSpPr txBox="1"/>
          <p:nvPr/>
        </p:nvSpPr>
        <p:spPr>
          <a:xfrm>
            <a:off x="592183" y="1321356"/>
            <a:ext cx="800219" cy="461665"/>
          </a:xfrm>
          <a:prstGeom prst="rect">
            <a:avLst/>
          </a:prstGeom>
          <a:noFill/>
        </p:spPr>
        <p:txBody>
          <a:bodyPr wrap="none" rtlCol="0">
            <a:spAutoFit/>
          </a:bodyPr>
          <a:lstStyle/>
          <a:p>
            <a:r>
              <a:rPr lang="zh-CN" altLang="en-US" sz="2400" b="1" dirty="0"/>
              <a:t>向量</a:t>
            </a:r>
          </a:p>
        </p:txBody>
      </p:sp>
      <p:sp>
        <p:nvSpPr>
          <p:cNvPr id="8" name="文本框 7"/>
          <p:cNvSpPr txBox="1"/>
          <p:nvPr/>
        </p:nvSpPr>
        <p:spPr>
          <a:xfrm>
            <a:off x="4432663" y="1287747"/>
            <a:ext cx="803425" cy="461665"/>
          </a:xfrm>
          <a:prstGeom prst="rect">
            <a:avLst/>
          </a:prstGeom>
          <a:noFill/>
        </p:spPr>
        <p:txBody>
          <a:bodyPr wrap="none" rtlCol="0">
            <a:spAutoFit/>
          </a:bodyPr>
          <a:lstStyle>
            <a:defPPr>
              <a:defRPr lang="zh-CN"/>
            </a:defPPr>
            <a:lvl1pPr>
              <a:defRPr sz="2400" b="1"/>
            </a:lvl1pPr>
          </a:lstStyle>
          <a:p>
            <a:r>
              <a:rPr lang="zh-CN" altLang="en-US" dirty="0"/>
              <a:t>矩阵</a:t>
            </a:r>
          </a:p>
        </p:txBody>
      </p:sp>
      <p:grpSp>
        <p:nvGrpSpPr>
          <p:cNvPr id="11" name="组合 10"/>
          <p:cNvGrpSpPr/>
          <p:nvPr/>
        </p:nvGrpSpPr>
        <p:grpSpPr>
          <a:xfrm>
            <a:off x="4336868" y="4666442"/>
            <a:ext cx="2031325" cy="978826"/>
            <a:chOff x="4336868" y="4666442"/>
            <a:chExt cx="2031325" cy="978826"/>
          </a:xfrm>
        </p:grpSpPr>
        <p:sp>
          <p:nvSpPr>
            <p:cNvPr id="9" name="文本框 8"/>
            <p:cNvSpPr txBox="1"/>
            <p:nvPr/>
          </p:nvSpPr>
          <p:spPr>
            <a:xfrm>
              <a:off x="4336868" y="5275936"/>
              <a:ext cx="2031325" cy="369332"/>
            </a:xfrm>
            <a:prstGeom prst="rect">
              <a:avLst/>
            </a:prstGeom>
            <a:noFill/>
          </p:spPr>
          <p:txBody>
            <a:bodyPr wrap="none" rtlCol="0">
              <a:spAutoFit/>
            </a:bodyPr>
            <a:lstStyle/>
            <a:p>
              <a:r>
                <a:rPr lang="zh-CN" altLang="en-US" dirty="0">
                  <a:solidFill>
                    <a:srgbClr val="FF0000"/>
                  </a:solidFill>
                </a:rPr>
                <a:t>每一列中的最大值</a:t>
              </a:r>
            </a:p>
          </p:txBody>
        </p:sp>
        <p:sp>
          <p:nvSpPr>
            <p:cNvPr id="10" name="燕尾形箭头 9"/>
            <p:cNvSpPr/>
            <p:nvPr/>
          </p:nvSpPr>
          <p:spPr>
            <a:xfrm rot="16200000">
              <a:off x="5044393" y="4866846"/>
              <a:ext cx="627017" cy="226210"/>
            </a:xfrm>
            <a:prstGeom prst="notchedRightArrow">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rgbClr val="FF0000"/>
                </a:solidFill>
              </a:endParaRPr>
            </a:p>
          </p:txBody>
        </p:sp>
      </p:grpSp>
      <p:grpSp>
        <p:nvGrpSpPr>
          <p:cNvPr id="12" name="组合 11"/>
          <p:cNvGrpSpPr/>
          <p:nvPr/>
        </p:nvGrpSpPr>
        <p:grpSpPr>
          <a:xfrm>
            <a:off x="7467505" y="4682180"/>
            <a:ext cx="2658342" cy="369332"/>
            <a:chOff x="4427244" y="4610946"/>
            <a:chExt cx="2658342" cy="369332"/>
          </a:xfrm>
        </p:grpSpPr>
        <p:sp>
          <p:nvSpPr>
            <p:cNvPr id="13" name="文本框 12"/>
            <p:cNvSpPr txBox="1"/>
            <p:nvPr/>
          </p:nvSpPr>
          <p:spPr>
            <a:xfrm>
              <a:off x="5054261" y="4610946"/>
              <a:ext cx="2031325" cy="369332"/>
            </a:xfrm>
            <a:prstGeom prst="rect">
              <a:avLst/>
            </a:prstGeom>
            <a:noFill/>
          </p:spPr>
          <p:txBody>
            <a:bodyPr wrap="none" rtlCol="0">
              <a:spAutoFit/>
            </a:bodyPr>
            <a:lstStyle/>
            <a:p>
              <a:r>
                <a:rPr lang="zh-CN" altLang="en-US" dirty="0">
                  <a:solidFill>
                    <a:srgbClr val="FF0000"/>
                  </a:solidFill>
                </a:rPr>
                <a:t>每一行中的最大值</a:t>
              </a:r>
            </a:p>
          </p:txBody>
        </p:sp>
        <p:sp>
          <p:nvSpPr>
            <p:cNvPr id="14" name="燕尾形箭头 13"/>
            <p:cNvSpPr/>
            <p:nvPr/>
          </p:nvSpPr>
          <p:spPr>
            <a:xfrm rot="10800000">
              <a:off x="4427244" y="4682507"/>
              <a:ext cx="627017" cy="226210"/>
            </a:xfrm>
            <a:prstGeom prst="notchedRightArrow">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solidFill>
                  <a:srgbClr val="FF0000"/>
                </a:solidFill>
              </a:endParaRPr>
            </a:p>
          </p:txBody>
        </p:sp>
      </p:grpSp>
    </p:spTree>
    <p:extLst>
      <p:ext uri="{BB962C8B-B14F-4D97-AF65-F5344CB8AC3E}">
        <p14:creationId xmlns:p14="http://schemas.microsoft.com/office/powerpoint/2010/main" val="4075901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4" name="矩形 3"/>
          <p:cNvSpPr/>
          <p:nvPr/>
        </p:nvSpPr>
        <p:spPr>
          <a:xfrm>
            <a:off x="862149" y="569632"/>
            <a:ext cx="2525486" cy="3785652"/>
          </a:xfrm>
          <a:prstGeom prst="rect">
            <a:avLst/>
          </a:prstGeom>
        </p:spPr>
        <p:txBody>
          <a:bodyPr wrap="square">
            <a:spAutoFit/>
          </a:bodyPr>
          <a:lstStyle/>
          <a:p>
            <a:r>
              <a:rPr lang="zh-CN" altLang="en-US" sz="2400" dirty="0"/>
              <a:t>&gt;&gt; A=magic(3)</a:t>
            </a:r>
          </a:p>
          <a:p>
            <a:r>
              <a:rPr lang="zh-CN" altLang="en-US" sz="2400" dirty="0"/>
              <a:t>A =</a:t>
            </a:r>
          </a:p>
          <a:p>
            <a:r>
              <a:rPr lang="zh-CN" altLang="en-US" sz="2400" dirty="0"/>
              <a:t>     8     1     6</a:t>
            </a:r>
          </a:p>
          <a:p>
            <a:r>
              <a:rPr lang="zh-CN" altLang="en-US" sz="2400" dirty="0"/>
              <a:t>     3     5     7</a:t>
            </a:r>
          </a:p>
          <a:p>
            <a:r>
              <a:rPr lang="zh-CN" altLang="en-US" sz="2400" dirty="0"/>
              <a:t>     4     9     2</a:t>
            </a:r>
          </a:p>
          <a:p>
            <a:r>
              <a:rPr lang="zh-CN" altLang="en-US" sz="2400" dirty="0"/>
              <a:t>&gt;&gt; B = </a:t>
            </a:r>
            <a:r>
              <a:rPr lang="zh-CN" altLang="en-US" sz="2400" dirty="0">
                <a:solidFill>
                  <a:srgbClr val="FF0000"/>
                </a:solidFill>
              </a:rPr>
              <a:t>max(A,5)</a:t>
            </a:r>
          </a:p>
          <a:p>
            <a:r>
              <a:rPr lang="zh-CN" altLang="en-US" sz="2400" dirty="0"/>
              <a:t>B =</a:t>
            </a:r>
          </a:p>
          <a:p>
            <a:r>
              <a:rPr lang="zh-CN" altLang="en-US" sz="2400" dirty="0"/>
              <a:t>     8     </a:t>
            </a:r>
            <a:r>
              <a:rPr lang="zh-CN" altLang="en-US" sz="2400" dirty="0">
                <a:solidFill>
                  <a:srgbClr val="FF0000"/>
                </a:solidFill>
              </a:rPr>
              <a:t>5</a:t>
            </a:r>
            <a:r>
              <a:rPr lang="zh-CN" altLang="en-US" sz="2400" dirty="0"/>
              <a:t>     6</a:t>
            </a:r>
          </a:p>
          <a:p>
            <a:r>
              <a:rPr lang="zh-CN" altLang="en-US" sz="2400" dirty="0"/>
              <a:t>     </a:t>
            </a:r>
            <a:r>
              <a:rPr lang="zh-CN" altLang="en-US" sz="2400" dirty="0">
                <a:solidFill>
                  <a:srgbClr val="FF0000"/>
                </a:solidFill>
              </a:rPr>
              <a:t>5</a:t>
            </a:r>
            <a:r>
              <a:rPr lang="zh-CN" altLang="en-US" sz="2400" dirty="0"/>
              <a:t>     5     7</a:t>
            </a:r>
          </a:p>
          <a:p>
            <a:r>
              <a:rPr lang="zh-CN" altLang="en-US" sz="2400" dirty="0"/>
              <a:t>     </a:t>
            </a:r>
            <a:r>
              <a:rPr lang="zh-CN" altLang="en-US" sz="2400" dirty="0">
                <a:solidFill>
                  <a:srgbClr val="FF0000"/>
                </a:solidFill>
              </a:rPr>
              <a:t>5</a:t>
            </a:r>
            <a:r>
              <a:rPr lang="zh-CN" altLang="en-US" sz="2400" dirty="0"/>
              <a:t>     9     </a:t>
            </a:r>
            <a:r>
              <a:rPr lang="zh-CN" altLang="en-US" sz="2400" dirty="0">
                <a:solidFill>
                  <a:srgbClr val="FF0000"/>
                </a:solidFill>
              </a:rPr>
              <a:t>5</a:t>
            </a:r>
          </a:p>
        </p:txBody>
      </p:sp>
      <p:grpSp>
        <p:nvGrpSpPr>
          <p:cNvPr id="9" name="组合 8"/>
          <p:cNvGrpSpPr/>
          <p:nvPr/>
        </p:nvGrpSpPr>
        <p:grpSpPr>
          <a:xfrm>
            <a:off x="2978497" y="2194561"/>
            <a:ext cx="3500350" cy="923330"/>
            <a:chOff x="2978497" y="2194561"/>
            <a:chExt cx="3500350" cy="923330"/>
          </a:xfrm>
        </p:grpSpPr>
        <p:sp>
          <p:nvSpPr>
            <p:cNvPr id="5" name="燕尾形箭头 4"/>
            <p:cNvSpPr/>
            <p:nvPr/>
          </p:nvSpPr>
          <p:spPr>
            <a:xfrm rot="10800000">
              <a:off x="2978497" y="2499472"/>
              <a:ext cx="657497" cy="313508"/>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7" name="文本框 6"/>
            <p:cNvSpPr txBox="1"/>
            <p:nvPr/>
          </p:nvSpPr>
          <p:spPr>
            <a:xfrm>
              <a:off x="3638005" y="2194561"/>
              <a:ext cx="2840842" cy="923330"/>
            </a:xfrm>
            <a:prstGeom prst="rect">
              <a:avLst/>
            </a:prstGeom>
            <a:noFill/>
          </p:spPr>
          <p:txBody>
            <a:bodyPr wrap="none" rtlCol="0">
              <a:spAutoFit/>
            </a:bodyPr>
            <a:lstStyle/>
            <a:p>
              <a:r>
                <a:rPr lang="zh-CN" altLang="en-US" dirty="0">
                  <a:solidFill>
                    <a:srgbClr val="0070C0"/>
                  </a:solidFill>
                </a:rPr>
                <a:t>逐个元素地和</a:t>
              </a:r>
              <a:r>
                <a:rPr lang="en-US" altLang="zh-CN" dirty="0">
                  <a:solidFill>
                    <a:srgbClr val="0070C0"/>
                  </a:solidFill>
                </a:rPr>
                <a:t>5</a:t>
              </a:r>
              <a:r>
                <a:rPr lang="zh-CN" altLang="en-US" dirty="0">
                  <a:solidFill>
                    <a:srgbClr val="0070C0"/>
                  </a:solidFill>
                </a:rPr>
                <a:t>进行比较，</a:t>
              </a:r>
              <a:endParaRPr lang="en-US" altLang="zh-CN" dirty="0">
                <a:solidFill>
                  <a:srgbClr val="0070C0"/>
                </a:solidFill>
              </a:endParaRPr>
            </a:p>
            <a:p>
              <a:r>
                <a:rPr lang="zh-CN" altLang="en-US" dirty="0">
                  <a:solidFill>
                    <a:srgbClr val="0070C0"/>
                  </a:solidFill>
                </a:rPr>
                <a:t>保留比</a:t>
              </a:r>
              <a:r>
                <a:rPr lang="en-US" altLang="zh-CN" dirty="0">
                  <a:solidFill>
                    <a:srgbClr val="0070C0"/>
                  </a:solidFill>
                </a:rPr>
                <a:t>5</a:t>
              </a:r>
              <a:r>
                <a:rPr lang="zh-CN" altLang="en-US" dirty="0">
                  <a:solidFill>
                    <a:srgbClr val="0070C0"/>
                  </a:solidFill>
                </a:rPr>
                <a:t>大的元素，</a:t>
              </a:r>
              <a:endParaRPr lang="en-US" altLang="zh-CN" dirty="0">
                <a:solidFill>
                  <a:srgbClr val="0070C0"/>
                </a:solidFill>
              </a:endParaRPr>
            </a:p>
            <a:p>
              <a:r>
                <a:rPr lang="zh-CN" altLang="en-US" dirty="0">
                  <a:solidFill>
                    <a:srgbClr val="0070C0"/>
                  </a:solidFill>
                </a:rPr>
                <a:t>比</a:t>
              </a:r>
              <a:r>
                <a:rPr lang="en-US" altLang="zh-CN" dirty="0">
                  <a:solidFill>
                    <a:srgbClr val="0070C0"/>
                  </a:solidFill>
                </a:rPr>
                <a:t>5</a:t>
              </a:r>
              <a:r>
                <a:rPr lang="zh-CN" altLang="en-US" dirty="0">
                  <a:solidFill>
                    <a:srgbClr val="0070C0"/>
                  </a:solidFill>
                </a:rPr>
                <a:t>小的元素被替换成</a:t>
              </a:r>
              <a:r>
                <a:rPr lang="en-US" altLang="zh-CN" dirty="0">
                  <a:solidFill>
                    <a:srgbClr val="0070C0"/>
                  </a:solidFill>
                </a:rPr>
                <a:t>5</a:t>
              </a:r>
              <a:endParaRPr lang="zh-CN" altLang="en-US" dirty="0">
                <a:solidFill>
                  <a:srgbClr val="0070C0"/>
                </a:solidFill>
              </a:endParaRPr>
            </a:p>
          </p:txBody>
        </p:sp>
      </p:grpSp>
      <p:sp>
        <p:nvSpPr>
          <p:cNvPr id="8" name="矩形 7"/>
          <p:cNvSpPr/>
          <p:nvPr/>
        </p:nvSpPr>
        <p:spPr>
          <a:xfrm>
            <a:off x="6975565" y="569632"/>
            <a:ext cx="3866606" cy="3785652"/>
          </a:xfrm>
          <a:prstGeom prst="rect">
            <a:avLst/>
          </a:prstGeom>
        </p:spPr>
        <p:txBody>
          <a:bodyPr wrap="square">
            <a:spAutoFit/>
          </a:bodyPr>
          <a:lstStyle/>
          <a:p>
            <a:r>
              <a:rPr lang="zh-CN" altLang="en-US" sz="2400" dirty="0"/>
              <a:t>&gt;&gt; A=magic(3)</a:t>
            </a:r>
          </a:p>
          <a:p>
            <a:r>
              <a:rPr lang="zh-CN" altLang="en-US" sz="2400" dirty="0"/>
              <a:t>A =</a:t>
            </a:r>
          </a:p>
          <a:p>
            <a:r>
              <a:rPr lang="zh-CN" altLang="en-US" sz="2400" dirty="0"/>
              <a:t>     8     1     6</a:t>
            </a:r>
          </a:p>
          <a:p>
            <a:r>
              <a:rPr lang="zh-CN" altLang="en-US" sz="2400" dirty="0"/>
              <a:t>     3     5     7</a:t>
            </a:r>
          </a:p>
          <a:p>
            <a:r>
              <a:rPr lang="zh-CN" altLang="en-US" sz="2400" dirty="0"/>
              <a:t>     4     9     2</a:t>
            </a:r>
          </a:p>
          <a:p>
            <a:r>
              <a:rPr lang="zh-CN" altLang="en-US" sz="2400" dirty="0"/>
              <a:t>&gt;&gt; </a:t>
            </a:r>
            <a:r>
              <a:rPr lang="zh-CN" altLang="en-US" sz="2400" dirty="0">
                <a:solidFill>
                  <a:srgbClr val="FF0000"/>
                </a:solidFill>
              </a:rPr>
              <a:t>[M,I]=</a:t>
            </a:r>
            <a:r>
              <a:rPr lang="zh-CN" altLang="en-US" sz="2400" dirty="0"/>
              <a:t>max(A)</a:t>
            </a:r>
          </a:p>
          <a:p>
            <a:r>
              <a:rPr lang="zh-CN" altLang="en-US" sz="2400" dirty="0"/>
              <a:t>M =</a:t>
            </a:r>
          </a:p>
          <a:p>
            <a:r>
              <a:rPr lang="zh-CN" altLang="en-US" sz="2400" dirty="0"/>
              <a:t>     8     9     7</a:t>
            </a:r>
          </a:p>
          <a:p>
            <a:r>
              <a:rPr lang="zh-CN" altLang="en-US" sz="2400" dirty="0">
                <a:solidFill>
                  <a:srgbClr val="FF0000"/>
                </a:solidFill>
              </a:rPr>
              <a:t>I =</a:t>
            </a:r>
          </a:p>
          <a:p>
            <a:r>
              <a:rPr lang="zh-CN" altLang="en-US" sz="2400" dirty="0">
                <a:solidFill>
                  <a:srgbClr val="FF0000"/>
                </a:solidFill>
              </a:rPr>
              <a:t>     1     3     2</a:t>
            </a:r>
          </a:p>
        </p:txBody>
      </p:sp>
      <p:grpSp>
        <p:nvGrpSpPr>
          <p:cNvPr id="10" name="组合 9"/>
          <p:cNvGrpSpPr/>
          <p:nvPr/>
        </p:nvGrpSpPr>
        <p:grpSpPr>
          <a:xfrm>
            <a:off x="9091996" y="2462458"/>
            <a:ext cx="2903360" cy="1200329"/>
            <a:chOff x="2978497" y="2379726"/>
            <a:chExt cx="2903360" cy="1200329"/>
          </a:xfrm>
        </p:grpSpPr>
        <p:sp>
          <p:nvSpPr>
            <p:cNvPr id="11" name="燕尾形箭头 10"/>
            <p:cNvSpPr/>
            <p:nvPr/>
          </p:nvSpPr>
          <p:spPr>
            <a:xfrm rot="10800000">
              <a:off x="2978497" y="2499472"/>
              <a:ext cx="657497" cy="313508"/>
            </a:xfrm>
            <a:prstGeom prst="notched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12" name="文本框 11"/>
            <p:cNvSpPr txBox="1"/>
            <p:nvPr/>
          </p:nvSpPr>
          <p:spPr>
            <a:xfrm>
              <a:off x="3635995" y="2379726"/>
              <a:ext cx="2245862" cy="1200329"/>
            </a:xfrm>
            <a:prstGeom prst="rect">
              <a:avLst/>
            </a:prstGeom>
            <a:noFill/>
          </p:spPr>
          <p:txBody>
            <a:bodyPr wrap="square" rtlCol="0">
              <a:spAutoFit/>
            </a:bodyPr>
            <a:lstStyle/>
            <a:p>
              <a:r>
                <a:rPr lang="zh-CN" altLang="en-US" dirty="0">
                  <a:solidFill>
                    <a:srgbClr val="0070C0"/>
                  </a:solidFill>
                </a:rPr>
                <a:t>返回最大值的同时，</a:t>
              </a:r>
              <a:endParaRPr lang="en-US" altLang="zh-CN" dirty="0">
                <a:solidFill>
                  <a:srgbClr val="0070C0"/>
                </a:solidFill>
              </a:endParaRPr>
            </a:p>
            <a:p>
              <a:r>
                <a:rPr lang="zh-CN" altLang="en-US" dirty="0">
                  <a:solidFill>
                    <a:srgbClr val="0070C0"/>
                  </a:solidFill>
                </a:rPr>
                <a:t>返回所在的位置</a:t>
              </a:r>
              <a:endParaRPr lang="en-US" altLang="zh-CN" dirty="0">
                <a:solidFill>
                  <a:srgbClr val="0070C0"/>
                </a:solidFill>
              </a:endParaRPr>
            </a:p>
            <a:p>
              <a:r>
                <a:rPr lang="zh-CN" altLang="en-US" dirty="0">
                  <a:solidFill>
                    <a:srgbClr val="0070C0"/>
                  </a:solidFill>
                </a:rPr>
                <a:t>进行</a:t>
              </a:r>
              <a:r>
                <a:rPr lang="en-US" altLang="zh-CN" dirty="0">
                  <a:solidFill>
                    <a:srgbClr val="0070C0"/>
                  </a:solidFill>
                </a:rPr>
                <a:t>find</a:t>
              </a:r>
              <a:r>
                <a:rPr lang="zh-CN" altLang="en-US" dirty="0">
                  <a:solidFill>
                    <a:srgbClr val="0070C0"/>
                  </a:solidFill>
                </a:rPr>
                <a:t>索引同样可以这样使用</a:t>
              </a:r>
            </a:p>
          </p:txBody>
        </p:sp>
      </p:grpSp>
    </p:spTree>
    <p:extLst>
      <p:ext uri="{BB962C8B-B14F-4D97-AF65-F5344CB8AC3E}">
        <p14:creationId xmlns:p14="http://schemas.microsoft.com/office/powerpoint/2010/main" val="132975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6"/>
            <a:ext cx="9629775" cy="958850"/>
          </a:xfrm>
        </p:spPr>
        <p:txBody>
          <a:bodyPr>
            <a:normAutofit fontScale="90000"/>
          </a:bodyPr>
          <a:lstStyle/>
          <a:p>
            <a:r>
              <a:rPr lang="zh-CN" altLang="en-US" sz="3600" dirty="0"/>
              <a:t>问题：如何得到一个矩阵中所有元素的最大值，以及该最大值所在的行号和列号？</a:t>
            </a:r>
          </a:p>
        </p:txBody>
      </p:sp>
      <p:sp>
        <p:nvSpPr>
          <p:cNvPr id="3" name="内容占位符 2"/>
          <p:cNvSpPr>
            <a:spLocks noGrp="1"/>
          </p:cNvSpPr>
          <p:nvPr>
            <p:ph idx="1"/>
          </p:nvPr>
        </p:nvSpPr>
        <p:spPr>
          <a:xfrm>
            <a:off x="838200" y="1825625"/>
            <a:ext cx="2724150" cy="2784475"/>
          </a:xfrm>
        </p:spPr>
        <p:txBody>
          <a:bodyPr/>
          <a:lstStyle/>
          <a:p>
            <a:pPr marL="0" indent="0">
              <a:buNone/>
            </a:pPr>
            <a:r>
              <a:rPr lang="en-US" altLang="zh-CN" dirty="0"/>
              <a:t>&gt;&gt; A=magic(3)</a:t>
            </a:r>
          </a:p>
          <a:p>
            <a:pPr marL="0" indent="0">
              <a:buNone/>
            </a:pPr>
            <a:r>
              <a:rPr lang="en-US" altLang="zh-CN" dirty="0"/>
              <a:t>A =</a:t>
            </a:r>
          </a:p>
          <a:p>
            <a:pPr marL="0" indent="0">
              <a:buNone/>
            </a:pPr>
            <a:r>
              <a:rPr lang="en-US" altLang="zh-CN" dirty="0"/>
              <a:t>     8     1     6</a:t>
            </a:r>
          </a:p>
          <a:p>
            <a:pPr marL="0" indent="0">
              <a:buNone/>
            </a:pPr>
            <a:r>
              <a:rPr lang="en-US" altLang="zh-CN" dirty="0"/>
              <a:t>     3     5     7</a:t>
            </a:r>
          </a:p>
          <a:p>
            <a:pPr marL="0" indent="0">
              <a:buNone/>
            </a:pPr>
            <a:r>
              <a:rPr lang="en-US" altLang="zh-CN" dirty="0"/>
              <a:t>     4     </a:t>
            </a:r>
            <a:r>
              <a:rPr lang="en-US" altLang="zh-CN" dirty="0">
                <a:solidFill>
                  <a:srgbClr val="FF0000"/>
                </a:solidFill>
              </a:rPr>
              <a:t>9</a:t>
            </a:r>
            <a:r>
              <a:rPr lang="en-US" altLang="zh-CN" dirty="0"/>
              <a:t>     2</a:t>
            </a:r>
            <a:endParaRPr lang="zh-CN" altLang="en-US" dirty="0"/>
          </a:p>
        </p:txBody>
      </p:sp>
      <p:sp>
        <p:nvSpPr>
          <p:cNvPr id="5" name="矩形 4"/>
          <p:cNvSpPr/>
          <p:nvPr/>
        </p:nvSpPr>
        <p:spPr>
          <a:xfrm>
            <a:off x="3267074" y="1825625"/>
            <a:ext cx="3790951" cy="1512209"/>
          </a:xfrm>
          <a:prstGeom prst="rect">
            <a:avLst/>
          </a:prstGeom>
        </p:spPr>
        <p:txBody>
          <a:bodyPr vert="horz" lIns="91440" tIns="45720" rIns="91440" bIns="45720" rtlCol="0">
            <a:normAutofit/>
          </a:bodyPr>
          <a:lstStyle/>
          <a:p>
            <a:pPr>
              <a:lnSpc>
                <a:spcPct val="90000"/>
              </a:lnSpc>
              <a:spcBef>
                <a:spcPts val="1000"/>
              </a:spcBef>
              <a:buFont typeface="Arial" panose="020B0604020202020204" pitchFamily="34" charset="0"/>
              <a:buNone/>
            </a:pPr>
            <a:r>
              <a:rPr lang="zh-CN" altLang="en-US" sz="2800" dirty="0"/>
              <a:t>&gt;&gt; maxV = </a:t>
            </a:r>
            <a:r>
              <a:rPr lang="zh-CN" altLang="en-US" sz="2800" dirty="0">
                <a:solidFill>
                  <a:srgbClr val="FF0000"/>
                </a:solidFill>
              </a:rPr>
              <a:t>max(max(A))</a:t>
            </a:r>
          </a:p>
          <a:p>
            <a:pPr>
              <a:lnSpc>
                <a:spcPct val="90000"/>
              </a:lnSpc>
              <a:spcBef>
                <a:spcPts val="1000"/>
              </a:spcBef>
              <a:buFont typeface="Arial" panose="020B0604020202020204" pitchFamily="34" charset="0"/>
              <a:buNone/>
            </a:pPr>
            <a:r>
              <a:rPr lang="zh-CN" altLang="en-US" sz="2800" dirty="0"/>
              <a:t>maxV =</a:t>
            </a:r>
          </a:p>
          <a:p>
            <a:pPr>
              <a:lnSpc>
                <a:spcPct val="90000"/>
              </a:lnSpc>
              <a:spcBef>
                <a:spcPts val="1000"/>
              </a:spcBef>
              <a:buFont typeface="Arial" panose="020B0604020202020204" pitchFamily="34" charset="0"/>
              <a:buNone/>
            </a:pPr>
            <a:r>
              <a:rPr lang="zh-CN" altLang="en-US" sz="2800" dirty="0"/>
              <a:t>     9</a:t>
            </a:r>
          </a:p>
        </p:txBody>
      </p:sp>
      <p:sp>
        <p:nvSpPr>
          <p:cNvPr id="6" name="矩形 5"/>
          <p:cNvSpPr/>
          <p:nvPr/>
        </p:nvSpPr>
        <p:spPr>
          <a:xfrm>
            <a:off x="7467600" y="1314452"/>
            <a:ext cx="4276725" cy="5124480"/>
          </a:xfrm>
          <a:prstGeom prst="rect">
            <a:avLst/>
          </a:prstGeom>
        </p:spPr>
        <p:txBody>
          <a:bodyPr vert="horz" lIns="91440" tIns="45720" rIns="91440" bIns="45720" rtlCol="0">
            <a:normAutofit/>
          </a:bodyPr>
          <a:lstStyle/>
          <a:p>
            <a:pPr>
              <a:lnSpc>
                <a:spcPct val="90000"/>
              </a:lnSpc>
              <a:spcBef>
                <a:spcPts val="1000"/>
              </a:spcBef>
              <a:buFont typeface="Arial" panose="020B0604020202020204" pitchFamily="34" charset="0"/>
              <a:buNone/>
            </a:pPr>
            <a:r>
              <a:rPr lang="en-US" altLang="zh-CN" sz="2800" dirty="0"/>
              <a:t>&gt;&gt; </a:t>
            </a:r>
            <a:r>
              <a:rPr lang="en-US" altLang="zh-CN" sz="2800" dirty="0">
                <a:solidFill>
                  <a:srgbClr val="FF0000"/>
                </a:solidFill>
              </a:rPr>
              <a:t>[</a:t>
            </a:r>
            <a:r>
              <a:rPr lang="en-US" altLang="zh-CN" sz="2800" dirty="0" err="1">
                <a:solidFill>
                  <a:srgbClr val="FF0000"/>
                </a:solidFill>
              </a:rPr>
              <a:t>maxV,I</a:t>
            </a:r>
            <a:r>
              <a:rPr lang="en-US" altLang="zh-CN" sz="2800" dirty="0">
                <a:solidFill>
                  <a:srgbClr val="FF0000"/>
                </a:solidFill>
              </a:rPr>
              <a:t>] = max(A(</a:t>
            </a:r>
            <a:r>
              <a:rPr lang="en-US" altLang="zh-CN" sz="2800" dirty="0">
                <a:solidFill>
                  <a:srgbClr val="0070C0"/>
                </a:solidFill>
              </a:rPr>
              <a:t>:</a:t>
            </a:r>
            <a:r>
              <a:rPr lang="en-US" altLang="zh-CN" sz="2800" dirty="0">
                <a:solidFill>
                  <a:srgbClr val="FF0000"/>
                </a:solidFill>
              </a:rPr>
              <a:t>))</a:t>
            </a:r>
          </a:p>
          <a:p>
            <a:pPr>
              <a:lnSpc>
                <a:spcPct val="90000"/>
              </a:lnSpc>
              <a:spcBef>
                <a:spcPts val="1000"/>
              </a:spcBef>
              <a:buFont typeface="Arial" panose="020B0604020202020204" pitchFamily="34" charset="0"/>
              <a:buNone/>
            </a:pPr>
            <a:r>
              <a:rPr lang="en-US" altLang="zh-CN" sz="2800" dirty="0" err="1"/>
              <a:t>maxV</a:t>
            </a:r>
            <a:r>
              <a:rPr lang="en-US" altLang="zh-CN" sz="2800" dirty="0"/>
              <a:t> =</a:t>
            </a:r>
          </a:p>
          <a:p>
            <a:pPr>
              <a:lnSpc>
                <a:spcPct val="90000"/>
              </a:lnSpc>
              <a:spcBef>
                <a:spcPts val="1000"/>
              </a:spcBef>
              <a:buFont typeface="Arial" panose="020B0604020202020204" pitchFamily="34" charset="0"/>
              <a:buNone/>
            </a:pPr>
            <a:r>
              <a:rPr lang="en-US" altLang="zh-CN" sz="2800" dirty="0"/>
              <a:t>     9</a:t>
            </a:r>
          </a:p>
          <a:p>
            <a:pPr>
              <a:lnSpc>
                <a:spcPct val="90000"/>
              </a:lnSpc>
              <a:spcBef>
                <a:spcPts val="1000"/>
              </a:spcBef>
              <a:buFont typeface="Arial" panose="020B0604020202020204" pitchFamily="34" charset="0"/>
              <a:buNone/>
            </a:pPr>
            <a:r>
              <a:rPr lang="en-US" altLang="zh-CN" sz="2800" dirty="0"/>
              <a:t>I =</a:t>
            </a:r>
          </a:p>
          <a:p>
            <a:pPr>
              <a:lnSpc>
                <a:spcPct val="90000"/>
              </a:lnSpc>
              <a:spcBef>
                <a:spcPts val="1000"/>
              </a:spcBef>
              <a:buFont typeface="Arial" panose="020B0604020202020204" pitchFamily="34" charset="0"/>
              <a:buNone/>
            </a:pPr>
            <a:r>
              <a:rPr lang="en-US" altLang="zh-CN" sz="2800" dirty="0"/>
              <a:t>     6</a:t>
            </a:r>
          </a:p>
          <a:p>
            <a:pPr>
              <a:lnSpc>
                <a:spcPct val="90000"/>
              </a:lnSpc>
              <a:spcBef>
                <a:spcPts val="1000"/>
              </a:spcBef>
              <a:buFont typeface="Arial" panose="020B0604020202020204" pitchFamily="34" charset="0"/>
              <a:buNone/>
            </a:pPr>
            <a:r>
              <a:rPr lang="en-US" altLang="zh-CN" sz="2800" dirty="0"/>
              <a:t>&gt;&gt; [</a:t>
            </a:r>
            <a:r>
              <a:rPr lang="en-US" altLang="zh-CN" sz="2800" dirty="0" err="1"/>
              <a:t>r,c</a:t>
            </a:r>
            <a:r>
              <a:rPr lang="en-US" altLang="zh-CN" sz="2800" dirty="0"/>
              <a:t>]=</a:t>
            </a:r>
            <a:r>
              <a:rPr lang="en-US" altLang="zh-CN" sz="2800" dirty="0">
                <a:solidFill>
                  <a:srgbClr val="FF0000"/>
                </a:solidFill>
              </a:rPr>
              <a:t>ind2sub</a:t>
            </a:r>
            <a:r>
              <a:rPr lang="en-US" altLang="zh-CN" sz="2800" dirty="0"/>
              <a:t>(size(A),I)</a:t>
            </a:r>
          </a:p>
          <a:p>
            <a:pPr>
              <a:lnSpc>
                <a:spcPct val="90000"/>
              </a:lnSpc>
              <a:spcBef>
                <a:spcPts val="1000"/>
              </a:spcBef>
              <a:buFont typeface="Arial" panose="020B0604020202020204" pitchFamily="34" charset="0"/>
              <a:buNone/>
            </a:pPr>
            <a:r>
              <a:rPr lang="en-US" altLang="zh-CN" sz="2800" dirty="0">
                <a:solidFill>
                  <a:srgbClr val="FF0000"/>
                </a:solidFill>
              </a:rPr>
              <a:t>r =</a:t>
            </a:r>
          </a:p>
          <a:p>
            <a:pPr>
              <a:lnSpc>
                <a:spcPct val="90000"/>
              </a:lnSpc>
              <a:spcBef>
                <a:spcPts val="1000"/>
              </a:spcBef>
              <a:buFont typeface="Arial" panose="020B0604020202020204" pitchFamily="34" charset="0"/>
              <a:buNone/>
            </a:pPr>
            <a:r>
              <a:rPr lang="en-US" altLang="zh-CN" sz="2800" dirty="0">
                <a:solidFill>
                  <a:srgbClr val="FF0000"/>
                </a:solidFill>
              </a:rPr>
              <a:t>     3</a:t>
            </a:r>
          </a:p>
          <a:p>
            <a:pPr>
              <a:lnSpc>
                <a:spcPct val="90000"/>
              </a:lnSpc>
              <a:spcBef>
                <a:spcPts val="1000"/>
              </a:spcBef>
              <a:buFont typeface="Arial" panose="020B0604020202020204" pitchFamily="34" charset="0"/>
              <a:buNone/>
            </a:pPr>
            <a:r>
              <a:rPr lang="en-US" altLang="zh-CN" sz="2800" dirty="0">
                <a:solidFill>
                  <a:srgbClr val="FF0000"/>
                </a:solidFill>
              </a:rPr>
              <a:t>c =</a:t>
            </a:r>
          </a:p>
          <a:p>
            <a:pPr>
              <a:lnSpc>
                <a:spcPct val="90000"/>
              </a:lnSpc>
              <a:spcBef>
                <a:spcPts val="1000"/>
              </a:spcBef>
              <a:buFont typeface="Arial" panose="020B0604020202020204" pitchFamily="34" charset="0"/>
              <a:buNone/>
            </a:pPr>
            <a:r>
              <a:rPr lang="en-US" altLang="zh-CN" sz="2800" dirty="0">
                <a:solidFill>
                  <a:srgbClr val="FF0000"/>
                </a:solidFill>
              </a:rPr>
              <a:t>     2</a:t>
            </a:r>
            <a:endParaRPr lang="zh-CN" altLang="en-US" sz="2800" dirty="0">
              <a:solidFill>
                <a:srgbClr val="FF0000"/>
              </a:solidFill>
            </a:endParaRPr>
          </a:p>
        </p:txBody>
      </p:sp>
    </p:spTree>
    <p:extLst>
      <p:ext uri="{BB962C8B-B14F-4D97-AF65-F5344CB8AC3E}">
        <p14:creationId xmlns:p14="http://schemas.microsoft.com/office/powerpoint/2010/main" val="3179753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打开帮助文档系统，自学</a:t>
            </a:r>
            <a:r>
              <a:rPr lang="en-US" altLang="zh-CN" dirty="0"/>
              <a:t>sum</a:t>
            </a:r>
            <a:r>
              <a:rPr lang="zh-CN" altLang="en-US" dirty="0"/>
              <a:t>函数</a:t>
            </a:r>
          </a:p>
        </p:txBody>
      </p:sp>
      <p:sp>
        <p:nvSpPr>
          <p:cNvPr id="3" name="内容占位符 2"/>
          <p:cNvSpPr>
            <a:spLocks noGrp="1"/>
          </p:cNvSpPr>
          <p:nvPr>
            <p:ph idx="1"/>
          </p:nvPr>
        </p:nvSpPr>
        <p:spPr>
          <a:xfrm>
            <a:off x="838200" y="1825625"/>
            <a:ext cx="10515600" cy="1492341"/>
          </a:xfrm>
        </p:spPr>
        <p:txBody>
          <a:bodyPr/>
          <a:lstStyle/>
          <a:p>
            <a:r>
              <a:rPr lang="zh-CN" altLang="en-US" dirty="0"/>
              <a:t>在命令行窗口中输入：</a:t>
            </a:r>
            <a:r>
              <a:rPr lang="en-US" altLang="zh-CN" dirty="0"/>
              <a:t>doc sum</a:t>
            </a:r>
          </a:p>
          <a:p>
            <a:r>
              <a:rPr lang="zh-CN" altLang="en-US" dirty="0"/>
              <a:t>仔细阅读学习</a:t>
            </a:r>
            <a:r>
              <a:rPr lang="en-US" altLang="zh-CN" b="1" dirty="0"/>
              <a:t>Description</a:t>
            </a:r>
            <a:r>
              <a:rPr lang="zh-CN" altLang="en-US" dirty="0"/>
              <a:t>部分，并在电脑上练习文档中提供的</a:t>
            </a:r>
            <a:r>
              <a:rPr lang="en-US" altLang="zh-CN" dirty="0"/>
              <a:t>examples</a:t>
            </a:r>
            <a:endParaRPr lang="zh-CN" altLang="en-US" dirty="0"/>
          </a:p>
        </p:txBody>
      </p:sp>
    </p:spTree>
    <p:extLst>
      <p:ext uri="{BB962C8B-B14F-4D97-AF65-F5344CB8AC3E}">
        <p14:creationId xmlns:p14="http://schemas.microsoft.com/office/powerpoint/2010/main" val="17292676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896291" cy="706029"/>
          </a:xfrm>
        </p:spPr>
        <p:txBody>
          <a:bodyPr/>
          <a:lstStyle/>
          <a:p>
            <a:r>
              <a:rPr lang="zh-CN" altLang="en-US" dirty="0"/>
              <a:t>测试：</a:t>
            </a:r>
          </a:p>
        </p:txBody>
      </p:sp>
      <p:sp>
        <p:nvSpPr>
          <p:cNvPr id="3" name="内容占位符 2"/>
          <p:cNvSpPr>
            <a:spLocks noGrp="1"/>
          </p:cNvSpPr>
          <p:nvPr>
            <p:ph idx="1"/>
          </p:nvPr>
        </p:nvSpPr>
        <p:spPr>
          <a:xfrm>
            <a:off x="1369423" y="3854245"/>
            <a:ext cx="4717868" cy="1773739"/>
          </a:xfrm>
        </p:spPr>
        <p:txBody>
          <a:bodyPr>
            <a:noAutofit/>
          </a:bodyPr>
          <a:lstStyle/>
          <a:p>
            <a:pPr marL="0" indent="0" algn="r">
              <a:buNone/>
            </a:pPr>
            <a:r>
              <a:rPr lang="en-US" altLang="zh-CN" sz="3600" dirty="0"/>
              <a:t>sum(A)= </a:t>
            </a:r>
            <a:r>
              <a:rPr lang="zh-CN" altLang="en-US" sz="3600" dirty="0">
                <a:solidFill>
                  <a:srgbClr val="FF0000"/>
                </a:solidFill>
              </a:rPr>
              <a:t>？</a:t>
            </a:r>
            <a:r>
              <a:rPr lang="en-US" altLang="zh-CN" sz="3600" dirty="0"/>
              <a:t> </a:t>
            </a:r>
          </a:p>
          <a:p>
            <a:pPr marL="0" indent="0" algn="r">
              <a:buNone/>
            </a:pPr>
            <a:r>
              <a:rPr lang="en-US" altLang="zh-CN" sz="3600" dirty="0"/>
              <a:t>sum( A(:,2) ) = </a:t>
            </a:r>
            <a:r>
              <a:rPr lang="zh-CN" altLang="en-US" sz="3600" dirty="0">
                <a:solidFill>
                  <a:srgbClr val="FF0000"/>
                </a:solidFill>
              </a:rPr>
              <a:t>？</a:t>
            </a:r>
            <a:endParaRPr lang="en-US" altLang="zh-CN" sz="3600" dirty="0">
              <a:solidFill>
                <a:srgbClr val="FF0000"/>
              </a:solidFill>
            </a:endParaRPr>
          </a:p>
          <a:p>
            <a:pPr marL="0" indent="0" algn="r">
              <a:buNone/>
            </a:pPr>
            <a:r>
              <a:rPr lang="en-US" altLang="zh-CN" sz="3600" dirty="0"/>
              <a:t> sum( A(</a:t>
            </a:r>
            <a:r>
              <a:rPr lang="en-US" altLang="zh-CN" sz="3600" dirty="0" err="1"/>
              <a:t>1,2:end</a:t>
            </a:r>
            <a:r>
              <a:rPr lang="en-US" altLang="zh-CN" sz="3600" dirty="0"/>
              <a:t>)) =</a:t>
            </a:r>
            <a:r>
              <a:rPr lang="zh-CN" altLang="en-US" sz="3600" dirty="0">
                <a:solidFill>
                  <a:srgbClr val="FF0000"/>
                </a:solidFill>
              </a:rPr>
              <a:t> ？</a:t>
            </a:r>
            <a:endParaRPr lang="zh-CN" altLang="zh-CN" sz="3600" dirty="0"/>
          </a:p>
          <a:p>
            <a:pPr marL="0" indent="0" algn="r">
              <a:buNone/>
            </a:pPr>
            <a:endParaRPr lang="zh-CN" altLang="en-US" sz="3600" dirty="0"/>
          </a:p>
        </p:txBody>
      </p:sp>
      <p:pic>
        <p:nvPicPr>
          <p:cNvPr id="4" name="图片 3"/>
          <p:cNvPicPr>
            <a:picLocks noChangeAspect="1"/>
          </p:cNvPicPr>
          <p:nvPr/>
        </p:nvPicPr>
        <p:blipFill>
          <a:blip r:embed="rId2"/>
          <a:stretch>
            <a:fillRect/>
          </a:stretch>
        </p:blipFill>
        <p:spPr>
          <a:xfrm>
            <a:off x="3421043" y="867514"/>
            <a:ext cx="3023300" cy="2473609"/>
          </a:xfrm>
          <a:prstGeom prst="rect">
            <a:avLst/>
          </a:prstGeom>
        </p:spPr>
      </p:pic>
      <p:grpSp>
        <p:nvGrpSpPr>
          <p:cNvPr id="11" name="组合 10"/>
          <p:cNvGrpSpPr/>
          <p:nvPr/>
        </p:nvGrpSpPr>
        <p:grpSpPr>
          <a:xfrm>
            <a:off x="6000206" y="3796285"/>
            <a:ext cx="3905047" cy="584775"/>
            <a:chOff x="6000206" y="3796285"/>
            <a:chExt cx="3905047" cy="584775"/>
          </a:xfrm>
        </p:grpSpPr>
        <p:sp>
          <p:nvSpPr>
            <p:cNvPr id="5" name="右箭头 4"/>
            <p:cNvSpPr/>
            <p:nvPr/>
          </p:nvSpPr>
          <p:spPr>
            <a:xfrm>
              <a:off x="6000206" y="3979816"/>
              <a:ext cx="1175657" cy="2177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287229" y="3796285"/>
              <a:ext cx="2618024" cy="584775"/>
            </a:xfrm>
            <a:prstGeom prst="rect">
              <a:avLst/>
            </a:prstGeom>
          </p:spPr>
          <p:txBody>
            <a:bodyPr wrap="none">
              <a:spAutoFit/>
            </a:bodyPr>
            <a:lstStyle/>
            <a:p>
              <a:r>
                <a:rPr lang="en-US" altLang="zh-CN" sz="3200" dirty="0">
                  <a:solidFill>
                    <a:srgbClr val="FF0000"/>
                  </a:solidFill>
                </a:rPr>
                <a:t>[ </a:t>
              </a:r>
              <a:r>
                <a:rPr lang="zh-CN" altLang="en-US" sz="3200" dirty="0">
                  <a:solidFill>
                    <a:srgbClr val="FF0000"/>
                  </a:solidFill>
                </a:rPr>
                <a:t>12    15    18 </a:t>
              </a:r>
              <a:r>
                <a:rPr lang="en-US" altLang="zh-CN" sz="3200" dirty="0">
                  <a:solidFill>
                    <a:srgbClr val="FF0000"/>
                  </a:solidFill>
                </a:rPr>
                <a:t>]</a:t>
              </a:r>
              <a:endParaRPr lang="zh-CN" altLang="en-US" sz="3200" dirty="0">
                <a:solidFill>
                  <a:srgbClr val="FF0000"/>
                </a:solidFill>
              </a:endParaRPr>
            </a:p>
          </p:txBody>
        </p:sp>
      </p:grpSp>
      <p:grpSp>
        <p:nvGrpSpPr>
          <p:cNvPr id="12" name="组合 11"/>
          <p:cNvGrpSpPr/>
          <p:nvPr/>
        </p:nvGrpSpPr>
        <p:grpSpPr>
          <a:xfrm>
            <a:off x="6030683" y="4445068"/>
            <a:ext cx="1857993" cy="584775"/>
            <a:chOff x="6030683" y="4445068"/>
            <a:chExt cx="1857993" cy="584775"/>
          </a:xfrm>
        </p:grpSpPr>
        <p:sp>
          <p:nvSpPr>
            <p:cNvPr id="6" name="右箭头 5"/>
            <p:cNvSpPr/>
            <p:nvPr/>
          </p:nvSpPr>
          <p:spPr>
            <a:xfrm>
              <a:off x="6030683" y="4628599"/>
              <a:ext cx="1175657" cy="2177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7287229" y="4445068"/>
              <a:ext cx="601447" cy="584775"/>
            </a:xfrm>
            <a:prstGeom prst="rect">
              <a:avLst/>
            </a:prstGeom>
          </p:spPr>
          <p:txBody>
            <a:bodyPr wrap="none">
              <a:spAutoFit/>
            </a:bodyPr>
            <a:lstStyle/>
            <a:p>
              <a:r>
                <a:rPr lang="zh-CN" altLang="en-US" sz="3200" dirty="0">
                  <a:solidFill>
                    <a:srgbClr val="FF0000"/>
                  </a:solidFill>
                </a:rPr>
                <a:t>15</a:t>
              </a:r>
            </a:p>
          </p:txBody>
        </p:sp>
      </p:grpSp>
      <p:grpSp>
        <p:nvGrpSpPr>
          <p:cNvPr id="13" name="组合 12"/>
          <p:cNvGrpSpPr/>
          <p:nvPr/>
        </p:nvGrpSpPr>
        <p:grpSpPr>
          <a:xfrm>
            <a:off x="6000205" y="5097548"/>
            <a:ext cx="1680079" cy="584775"/>
            <a:chOff x="6000205" y="5097548"/>
            <a:chExt cx="1680079" cy="584775"/>
          </a:xfrm>
        </p:grpSpPr>
        <p:sp>
          <p:nvSpPr>
            <p:cNvPr id="7" name="右箭头 6"/>
            <p:cNvSpPr/>
            <p:nvPr/>
          </p:nvSpPr>
          <p:spPr>
            <a:xfrm>
              <a:off x="6000205" y="5277382"/>
              <a:ext cx="1175657" cy="2177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287228" y="5097548"/>
              <a:ext cx="393056" cy="584775"/>
            </a:xfrm>
            <a:prstGeom prst="rect">
              <a:avLst/>
            </a:prstGeom>
          </p:spPr>
          <p:txBody>
            <a:bodyPr wrap="none">
              <a:spAutoFit/>
            </a:bodyPr>
            <a:lstStyle/>
            <a:p>
              <a:r>
                <a:rPr lang="zh-CN" altLang="en-US" sz="3200" dirty="0">
                  <a:solidFill>
                    <a:srgbClr val="FF0000"/>
                  </a:solidFill>
                </a:rPr>
                <a:t>5</a:t>
              </a:r>
            </a:p>
          </p:txBody>
        </p:sp>
      </p:grpSp>
    </p:spTree>
    <p:extLst>
      <p:ext uri="{BB962C8B-B14F-4D97-AF65-F5344CB8AC3E}">
        <p14:creationId xmlns:p14="http://schemas.microsoft.com/office/powerpoint/2010/main" val="393848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1205690" y="4129692"/>
            <a:ext cx="6006737" cy="1370420"/>
          </a:xfrm>
        </p:spPr>
        <p:txBody>
          <a:bodyPr>
            <a:noAutofit/>
          </a:bodyPr>
          <a:lstStyle/>
          <a:p>
            <a:pPr marL="0" lvl="0" indent="0">
              <a:buNone/>
            </a:pPr>
            <a:r>
              <a:rPr lang="en-US" altLang="zh-CN" sz="3600" dirty="0"/>
              <a:t>A(A&gt;5)=0</a:t>
            </a:r>
            <a:r>
              <a:rPr lang="zh-CN" altLang="zh-CN" sz="3600" dirty="0"/>
              <a:t>；</a:t>
            </a:r>
            <a:endParaRPr lang="en-US" altLang="zh-CN" sz="3600" dirty="0"/>
          </a:p>
          <a:p>
            <a:pPr marL="0" lvl="0" indent="0">
              <a:buNone/>
            </a:pPr>
            <a:r>
              <a:rPr lang="en-US" altLang="zh-CN" sz="3600" dirty="0"/>
              <a:t>sum( A(:) ) = </a:t>
            </a:r>
            <a:r>
              <a:rPr lang="en-US" altLang="zh-CN" sz="3600" dirty="0">
                <a:solidFill>
                  <a:srgbClr val="FF0000"/>
                </a:solidFill>
              </a:rPr>
              <a:t>?</a:t>
            </a:r>
            <a:endParaRPr lang="zh-CN" altLang="en-US" sz="3600" dirty="0">
              <a:solidFill>
                <a:srgbClr val="FF0000"/>
              </a:solidFill>
            </a:endParaRPr>
          </a:p>
        </p:txBody>
      </p:sp>
      <p:pic>
        <p:nvPicPr>
          <p:cNvPr id="5" name="图片 4"/>
          <p:cNvPicPr>
            <a:picLocks noChangeAspect="1"/>
          </p:cNvPicPr>
          <p:nvPr/>
        </p:nvPicPr>
        <p:blipFill>
          <a:blip r:embed="rId2"/>
          <a:stretch>
            <a:fillRect/>
          </a:stretch>
        </p:blipFill>
        <p:spPr>
          <a:xfrm>
            <a:off x="965226" y="484336"/>
            <a:ext cx="3023300" cy="2473609"/>
          </a:xfrm>
          <a:prstGeom prst="rect">
            <a:avLst/>
          </a:prstGeom>
        </p:spPr>
      </p:pic>
      <p:grpSp>
        <p:nvGrpSpPr>
          <p:cNvPr id="6" name="组合 5"/>
          <p:cNvGrpSpPr/>
          <p:nvPr/>
        </p:nvGrpSpPr>
        <p:grpSpPr>
          <a:xfrm>
            <a:off x="4209058" y="4814902"/>
            <a:ext cx="1857993" cy="584775"/>
            <a:chOff x="6030683" y="4445068"/>
            <a:chExt cx="1857993" cy="584775"/>
          </a:xfrm>
        </p:grpSpPr>
        <p:sp>
          <p:nvSpPr>
            <p:cNvPr id="7" name="右箭头 6"/>
            <p:cNvSpPr/>
            <p:nvPr/>
          </p:nvSpPr>
          <p:spPr>
            <a:xfrm>
              <a:off x="6030683" y="4628599"/>
              <a:ext cx="1175657" cy="2177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287229" y="4445068"/>
              <a:ext cx="601447" cy="584775"/>
            </a:xfrm>
            <a:prstGeom prst="rect">
              <a:avLst/>
            </a:prstGeom>
          </p:spPr>
          <p:txBody>
            <a:bodyPr wrap="none">
              <a:spAutoFit/>
            </a:bodyPr>
            <a:lstStyle/>
            <a:p>
              <a:r>
                <a:rPr lang="zh-CN" altLang="en-US" sz="3200" dirty="0">
                  <a:solidFill>
                    <a:srgbClr val="FF0000"/>
                  </a:solidFill>
                </a:rPr>
                <a:t>15</a:t>
              </a:r>
            </a:p>
          </p:txBody>
        </p:sp>
      </p:grpSp>
      <p:grpSp>
        <p:nvGrpSpPr>
          <p:cNvPr id="17" name="组合 16"/>
          <p:cNvGrpSpPr/>
          <p:nvPr/>
        </p:nvGrpSpPr>
        <p:grpSpPr>
          <a:xfrm>
            <a:off x="3203218" y="3041397"/>
            <a:ext cx="3022806" cy="1569660"/>
            <a:chOff x="3203218" y="3041397"/>
            <a:chExt cx="3022806" cy="1569660"/>
          </a:xfrm>
        </p:grpSpPr>
        <p:sp>
          <p:nvSpPr>
            <p:cNvPr id="10" name="矩形 9"/>
            <p:cNvSpPr/>
            <p:nvPr/>
          </p:nvSpPr>
          <p:spPr>
            <a:xfrm>
              <a:off x="4362390" y="3041397"/>
              <a:ext cx="1863634" cy="1569660"/>
            </a:xfrm>
            <a:prstGeom prst="rect">
              <a:avLst/>
            </a:prstGeom>
          </p:spPr>
          <p:txBody>
            <a:bodyPr wrap="square">
              <a:spAutoFit/>
            </a:bodyPr>
            <a:lstStyle/>
            <a:p>
              <a:r>
                <a:rPr lang="en-US" altLang="zh-CN" sz="2400" dirty="0"/>
                <a:t>A = </a:t>
              </a:r>
            </a:p>
            <a:p>
              <a:r>
                <a:rPr lang="en-US" altLang="zh-CN" sz="2400" dirty="0"/>
                <a:t>  </a:t>
              </a:r>
              <a:r>
                <a:rPr lang="zh-CN" altLang="en-US" sz="2400" dirty="0"/>
                <a:t>1     2     3</a:t>
              </a:r>
            </a:p>
            <a:p>
              <a:r>
                <a:rPr lang="zh-CN" altLang="en-US" sz="2400" dirty="0"/>
                <a:t>  4     5     </a:t>
              </a:r>
              <a:r>
                <a:rPr lang="zh-CN" altLang="en-US" sz="2400" dirty="0">
                  <a:solidFill>
                    <a:srgbClr val="FF0000"/>
                  </a:solidFill>
                </a:rPr>
                <a:t>0</a:t>
              </a:r>
            </a:p>
            <a:p>
              <a:r>
                <a:rPr lang="zh-CN" altLang="en-US" sz="2400" dirty="0">
                  <a:solidFill>
                    <a:srgbClr val="FF0000"/>
                  </a:solidFill>
                </a:rPr>
                <a:t>  0 </a:t>
              </a:r>
              <a:r>
                <a:rPr lang="zh-CN" altLang="en-US" sz="2400" dirty="0"/>
                <a:t>    </a:t>
              </a:r>
              <a:r>
                <a:rPr lang="zh-CN" altLang="en-US" sz="2400" dirty="0">
                  <a:solidFill>
                    <a:srgbClr val="FF0000"/>
                  </a:solidFill>
                </a:rPr>
                <a:t>0</a:t>
              </a:r>
              <a:r>
                <a:rPr lang="zh-CN" altLang="en-US" sz="2400" dirty="0"/>
                <a:t>     </a:t>
              </a:r>
              <a:r>
                <a:rPr lang="zh-CN" altLang="en-US" sz="2400" dirty="0">
                  <a:solidFill>
                    <a:srgbClr val="FF0000"/>
                  </a:solidFill>
                </a:rPr>
                <a:t>0</a:t>
              </a:r>
            </a:p>
          </p:txBody>
        </p:sp>
        <p:sp>
          <p:nvSpPr>
            <p:cNvPr id="11" name="右箭头 10"/>
            <p:cNvSpPr/>
            <p:nvPr/>
          </p:nvSpPr>
          <p:spPr>
            <a:xfrm rot="19943499">
              <a:off x="3203218" y="4028255"/>
              <a:ext cx="1175657" cy="2177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5914670" y="698791"/>
            <a:ext cx="3403502" cy="3970318"/>
            <a:chOff x="5914670" y="698791"/>
            <a:chExt cx="3403502" cy="3970318"/>
          </a:xfrm>
        </p:grpSpPr>
        <p:grpSp>
          <p:nvGrpSpPr>
            <p:cNvPr id="15" name="组合 14"/>
            <p:cNvGrpSpPr/>
            <p:nvPr/>
          </p:nvGrpSpPr>
          <p:grpSpPr>
            <a:xfrm>
              <a:off x="6833411" y="698791"/>
              <a:ext cx="2484761" cy="3970318"/>
              <a:chOff x="6833411" y="698791"/>
              <a:chExt cx="2484761" cy="3970318"/>
            </a:xfrm>
          </p:grpSpPr>
          <p:sp>
            <p:nvSpPr>
              <p:cNvPr id="12" name="矩形 11"/>
              <p:cNvSpPr/>
              <p:nvPr/>
            </p:nvSpPr>
            <p:spPr>
              <a:xfrm>
                <a:off x="6833411" y="2341116"/>
                <a:ext cx="1013011" cy="523220"/>
              </a:xfrm>
              <a:prstGeom prst="rect">
                <a:avLst/>
              </a:prstGeom>
            </p:spPr>
            <p:txBody>
              <a:bodyPr wrap="square">
                <a:spAutoFit/>
              </a:bodyPr>
              <a:lstStyle/>
              <a:p>
                <a:r>
                  <a:rPr lang="en-US" altLang="zh-CN" sz="2800" dirty="0"/>
                  <a:t>A(:) =</a:t>
                </a:r>
                <a:endParaRPr lang="zh-CN" altLang="en-US" sz="2800" dirty="0"/>
              </a:p>
            </p:txBody>
          </p:sp>
          <p:sp>
            <p:nvSpPr>
              <p:cNvPr id="13" name="矩形 12"/>
              <p:cNvSpPr/>
              <p:nvPr/>
            </p:nvSpPr>
            <p:spPr>
              <a:xfrm>
                <a:off x="7681228" y="698791"/>
                <a:ext cx="1636944" cy="3970318"/>
              </a:xfrm>
              <a:prstGeom prst="rect">
                <a:avLst/>
              </a:prstGeom>
            </p:spPr>
            <p:txBody>
              <a:bodyPr wrap="square">
                <a:spAutoFit/>
              </a:bodyPr>
              <a:lstStyle/>
              <a:p>
                <a:r>
                  <a:rPr lang="zh-CN" altLang="en-US" sz="2800" dirty="0"/>
                  <a:t>     1</a:t>
                </a:r>
              </a:p>
              <a:p>
                <a:r>
                  <a:rPr lang="zh-CN" altLang="en-US" sz="2800" dirty="0"/>
                  <a:t>     4</a:t>
                </a:r>
              </a:p>
              <a:p>
                <a:r>
                  <a:rPr lang="zh-CN" altLang="en-US" sz="2800" dirty="0"/>
                  <a:t>     0</a:t>
                </a:r>
              </a:p>
              <a:p>
                <a:r>
                  <a:rPr lang="zh-CN" altLang="en-US" sz="2800" dirty="0"/>
                  <a:t>     2</a:t>
                </a:r>
              </a:p>
              <a:p>
                <a:r>
                  <a:rPr lang="zh-CN" altLang="en-US" sz="2800" dirty="0"/>
                  <a:t>     5</a:t>
                </a:r>
              </a:p>
              <a:p>
                <a:r>
                  <a:rPr lang="zh-CN" altLang="en-US" sz="2800" dirty="0"/>
                  <a:t>     0</a:t>
                </a:r>
              </a:p>
              <a:p>
                <a:r>
                  <a:rPr lang="zh-CN" altLang="en-US" sz="2800" dirty="0"/>
                  <a:t>     3</a:t>
                </a:r>
              </a:p>
              <a:p>
                <a:r>
                  <a:rPr lang="zh-CN" altLang="en-US" sz="2800" dirty="0"/>
                  <a:t>     0</a:t>
                </a:r>
              </a:p>
              <a:p>
                <a:r>
                  <a:rPr lang="zh-CN" altLang="en-US" sz="2800" dirty="0"/>
                  <a:t>     0</a:t>
                </a:r>
              </a:p>
            </p:txBody>
          </p:sp>
        </p:grpSp>
        <p:sp>
          <p:nvSpPr>
            <p:cNvPr id="16" name="右箭头 15"/>
            <p:cNvSpPr/>
            <p:nvPr/>
          </p:nvSpPr>
          <p:spPr>
            <a:xfrm rot="19943499">
              <a:off x="5914670" y="3107811"/>
              <a:ext cx="1175657" cy="2177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453893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ph idx="1"/>
          </p:nvPr>
        </p:nvSpPr>
        <p:spPr>
          <a:xfrm>
            <a:off x="1395549" y="3663133"/>
            <a:ext cx="3907971" cy="1509757"/>
          </a:xfrm>
        </p:spPr>
        <p:txBody>
          <a:bodyPr>
            <a:noAutofit/>
          </a:bodyPr>
          <a:lstStyle/>
          <a:p>
            <a:pPr marL="0" lvl="0" indent="0">
              <a:buNone/>
            </a:pPr>
            <a:r>
              <a:rPr lang="en-US" altLang="zh-CN" sz="4000" dirty="0"/>
              <a:t>A( : , 2)=[]</a:t>
            </a:r>
            <a:r>
              <a:rPr lang="zh-CN" altLang="zh-CN" sz="4000" dirty="0"/>
              <a:t>；</a:t>
            </a:r>
            <a:endParaRPr lang="en-US" altLang="zh-CN" sz="4000" dirty="0"/>
          </a:p>
          <a:p>
            <a:pPr marL="0" lvl="0" indent="0">
              <a:buNone/>
            </a:pPr>
            <a:endParaRPr lang="en-US" altLang="zh-CN" sz="4000" dirty="0"/>
          </a:p>
          <a:p>
            <a:pPr marL="0" lvl="0" indent="0">
              <a:buNone/>
            </a:pPr>
            <a:r>
              <a:rPr lang="en-US" altLang="zh-CN" sz="4000" dirty="0"/>
              <a:t>sum( </a:t>
            </a:r>
            <a:r>
              <a:rPr lang="en-US" altLang="zh-CN" sz="4000" dirty="0" err="1"/>
              <a:t>A,2</a:t>
            </a:r>
            <a:r>
              <a:rPr lang="en-US" altLang="zh-CN" sz="4000" dirty="0"/>
              <a:t> ) = </a:t>
            </a:r>
            <a:r>
              <a:rPr lang="en-US" altLang="zh-CN" sz="4000" dirty="0">
                <a:solidFill>
                  <a:srgbClr val="FF0000"/>
                </a:solidFill>
              </a:rPr>
              <a:t>?</a:t>
            </a:r>
            <a:endParaRPr lang="zh-CN" altLang="zh-CN" sz="4000" dirty="0">
              <a:solidFill>
                <a:srgbClr val="FF0000"/>
              </a:solidFill>
            </a:endParaRPr>
          </a:p>
          <a:p>
            <a:endParaRPr lang="zh-CN" altLang="en-US" sz="4000" dirty="0"/>
          </a:p>
        </p:txBody>
      </p:sp>
      <p:pic>
        <p:nvPicPr>
          <p:cNvPr id="3" name="图片 2"/>
          <p:cNvPicPr>
            <a:picLocks noChangeAspect="1"/>
          </p:cNvPicPr>
          <p:nvPr/>
        </p:nvPicPr>
        <p:blipFill>
          <a:blip r:embed="rId2"/>
          <a:stretch>
            <a:fillRect/>
          </a:stretch>
        </p:blipFill>
        <p:spPr>
          <a:xfrm>
            <a:off x="965226" y="484336"/>
            <a:ext cx="3023300" cy="2473609"/>
          </a:xfrm>
          <a:prstGeom prst="rect">
            <a:avLst/>
          </a:prstGeom>
        </p:spPr>
      </p:pic>
      <p:sp>
        <p:nvSpPr>
          <p:cNvPr id="5" name="右箭头 4"/>
          <p:cNvSpPr/>
          <p:nvPr/>
        </p:nvSpPr>
        <p:spPr>
          <a:xfrm>
            <a:off x="4450080" y="5244537"/>
            <a:ext cx="1164270" cy="21771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5225143" y="2273301"/>
            <a:ext cx="1762484" cy="2144710"/>
          </a:xfrm>
          <a:prstGeom prst="rect">
            <a:avLst/>
          </a:prstGeom>
        </p:spPr>
      </p:pic>
      <p:sp>
        <p:nvSpPr>
          <p:cNvPr id="6" name="矩形 5"/>
          <p:cNvSpPr/>
          <p:nvPr/>
        </p:nvSpPr>
        <p:spPr>
          <a:xfrm>
            <a:off x="5614350" y="4489658"/>
            <a:ext cx="705394" cy="1569660"/>
          </a:xfrm>
          <a:prstGeom prst="rect">
            <a:avLst/>
          </a:prstGeom>
        </p:spPr>
        <p:txBody>
          <a:bodyPr wrap="square">
            <a:spAutoFit/>
          </a:bodyPr>
          <a:lstStyle/>
          <a:p>
            <a:r>
              <a:rPr lang="zh-CN" altLang="en-US" sz="3200" b="1" dirty="0">
                <a:solidFill>
                  <a:srgbClr val="FF0000"/>
                </a:solidFill>
              </a:rPr>
              <a:t>4</a:t>
            </a:r>
          </a:p>
          <a:p>
            <a:r>
              <a:rPr lang="zh-CN" altLang="en-US" sz="3200" b="1" dirty="0">
                <a:solidFill>
                  <a:srgbClr val="FF0000"/>
                </a:solidFill>
              </a:rPr>
              <a:t>10</a:t>
            </a:r>
          </a:p>
          <a:p>
            <a:r>
              <a:rPr lang="zh-CN" altLang="en-US" sz="3200" b="1" dirty="0">
                <a:solidFill>
                  <a:srgbClr val="FF0000"/>
                </a:solidFill>
              </a:rPr>
              <a:t>16</a:t>
            </a:r>
          </a:p>
        </p:txBody>
      </p:sp>
    </p:spTree>
    <p:extLst>
      <p:ext uri="{BB962C8B-B14F-4D97-AF65-F5344CB8AC3E}">
        <p14:creationId xmlns:p14="http://schemas.microsoft.com/office/powerpoint/2010/main" val="488452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739775"/>
          </a:xfrm>
        </p:spPr>
        <p:txBody>
          <a:bodyPr>
            <a:normAutofit/>
          </a:bodyPr>
          <a:lstStyle/>
          <a:p>
            <a:r>
              <a:rPr lang="zh-CN" altLang="en-US" dirty="0"/>
              <a:t>五、矩阵分析</a:t>
            </a:r>
          </a:p>
        </p:txBody>
      </p:sp>
      <p:sp>
        <p:nvSpPr>
          <p:cNvPr id="3" name="内容占位符 2"/>
          <p:cNvSpPr>
            <a:spLocks noGrp="1"/>
          </p:cNvSpPr>
          <p:nvPr>
            <p:ph idx="1"/>
          </p:nvPr>
        </p:nvSpPr>
        <p:spPr>
          <a:xfrm>
            <a:off x="1009650" y="1311275"/>
            <a:ext cx="3400425" cy="4351338"/>
          </a:xfrm>
        </p:spPr>
        <p:txBody>
          <a:bodyPr/>
          <a:lstStyle/>
          <a:p>
            <a:r>
              <a:rPr lang="zh-CN" altLang="en-US" dirty="0">
                <a:solidFill>
                  <a:srgbClr val="FF0000"/>
                </a:solidFill>
              </a:rPr>
              <a:t>转置：</a:t>
            </a:r>
            <a:r>
              <a:rPr lang="en-US" altLang="zh-CN" dirty="0">
                <a:solidFill>
                  <a:srgbClr val="FF0000"/>
                </a:solidFill>
              </a:rPr>
              <a:t>A'</a:t>
            </a:r>
          </a:p>
          <a:p>
            <a:r>
              <a:rPr lang="zh-CN" altLang="en-US" dirty="0"/>
              <a:t>行列式：</a:t>
            </a:r>
            <a:r>
              <a:rPr lang="en-US" altLang="zh-CN" dirty="0" err="1"/>
              <a:t>det</a:t>
            </a:r>
            <a:endParaRPr lang="en-US" altLang="zh-CN" dirty="0"/>
          </a:p>
          <a:p>
            <a:r>
              <a:rPr lang="zh-CN" altLang="en-US" dirty="0"/>
              <a:t>逆：</a:t>
            </a:r>
            <a:r>
              <a:rPr lang="en-US" altLang="zh-CN" dirty="0" err="1"/>
              <a:t>inv</a:t>
            </a:r>
            <a:endParaRPr lang="en-US" altLang="zh-CN" dirty="0"/>
          </a:p>
          <a:p>
            <a:r>
              <a:rPr lang="zh-CN" altLang="en-US" dirty="0"/>
              <a:t>特征值：</a:t>
            </a:r>
            <a:r>
              <a:rPr lang="en-US" altLang="zh-CN" dirty="0" err="1"/>
              <a:t>eig</a:t>
            </a:r>
            <a:endParaRPr lang="en-US" altLang="zh-CN" dirty="0"/>
          </a:p>
          <a:p>
            <a:r>
              <a:rPr lang="zh-CN" altLang="en-US" dirty="0"/>
              <a:t>秩：</a:t>
            </a:r>
            <a:r>
              <a:rPr lang="en-US" altLang="zh-CN" dirty="0"/>
              <a:t>rank</a:t>
            </a:r>
          </a:p>
          <a:p>
            <a:r>
              <a:rPr lang="zh-CN" altLang="en-US" dirty="0"/>
              <a:t>迹：</a:t>
            </a:r>
            <a:r>
              <a:rPr lang="en-US" altLang="zh-CN" dirty="0"/>
              <a:t>trace</a:t>
            </a:r>
          </a:p>
          <a:p>
            <a:r>
              <a:rPr lang="zh-CN" altLang="en-US" dirty="0"/>
              <a:t>范数：</a:t>
            </a:r>
            <a:r>
              <a:rPr lang="en-US" altLang="zh-CN" dirty="0"/>
              <a:t>norm</a:t>
            </a:r>
          </a:p>
          <a:p>
            <a:r>
              <a:rPr lang="zh-CN" altLang="en-US" dirty="0"/>
              <a:t>正交基：</a:t>
            </a:r>
            <a:r>
              <a:rPr lang="en-US" altLang="zh-CN" dirty="0" err="1"/>
              <a:t>orth</a:t>
            </a:r>
            <a:endParaRPr lang="zh-CN" altLang="en-US" dirty="0"/>
          </a:p>
        </p:txBody>
      </p:sp>
    </p:spTree>
    <p:extLst>
      <p:ext uri="{BB962C8B-B14F-4D97-AF65-F5344CB8AC3E}">
        <p14:creationId xmlns:p14="http://schemas.microsoft.com/office/powerpoint/2010/main" val="8414637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111250"/>
          </a:xfrm>
        </p:spPr>
        <p:txBody>
          <a:bodyPr/>
          <a:lstStyle/>
          <a:p>
            <a:r>
              <a:rPr lang="zh-CN" altLang="en-US" dirty="0"/>
              <a:t>六、矩阵分解（</a:t>
            </a:r>
            <a:r>
              <a:rPr lang="en-US" altLang="zh-CN" dirty="0"/>
              <a:t>Matrix Decomposition</a:t>
            </a:r>
            <a:r>
              <a:rPr lang="zh-CN" altLang="en-US" dirty="0"/>
              <a:t>）</a:t>
            </a:r>
          </a:p>
        </p:txBody>
      </p:sp>
      <p:sp>
        <p:nvSpPr>
          <p:cNvPr id="4" name="Rectangle 3"/>
          <p:cNvSpPr txBox="1">
            <a:spLocks noGrp="1" noChangeArrowheads="1"/>
          </p:cNvSpPr>
          <p:nvPr>
            <p:ph idx="1"/>
          </p:nvPr>
        </p:nvSpPr>
        <p:spPr bwMode="auto">
          <a:xfrm>
            <a:off x="838200" y="2644775"/>
            <a:ext cx="9105900" cy="266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2500" lnSpcReduction="10000"/>
          </a:bodyPr>
          <a:lstStyle>
            <a:lvl1pPr marL="342900" indent="-342900">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宋体" panose="02010600030101010101" pitchFamily="2" charset="-122"/>
              </a:defRPr>
            </a:lvl9pPr>
          </a:lstStyle>
          <a:p>
            <a:pPr>
              <a:lnSpc>
                <a:spcPct val="125000"/>
              </a:lnSpc>
              <a:buFontTx/>
              <a:buNone/>
            </a:pPr>
            <a:r>
              <a:rPr lang="en-US" altLang="zh-CN" sz="2800" dirty="0">
                <a:latin typeface="华文中宋" panose="02010600040101010101" pitchFamily="2" charset="-122"/>
                <a:ea typeface="华文中宋" panose="02010600040101010101" pitchFamily="2" charset="-122"/>
              </a:rPr>
              <a:t>1</a:t>
            </a:r>
            <a:r>
              <a:rPr lang="zh-CN" altLang="en-US" sz="2800" dirty="0">
                <a:latin typeface="华文中宋" panose="02010600040101010101" pitchFamily="2" charset="-122"/>
                <a:ea typeface="华文中宋" panose="02010600040101010101" pitchFamily="2" charset="-122"/>
              </a:rPr>
              <a:t>．</a:t>
            </a:r>
            <a:r>
              <a:rPr lang="en-US" altLang="zh-CN" sz="2800" dirty="0" err="1">
                <a:latin typeface="华文中宋" panose="02010600040101010101" pitchFamily="2" charset="-122"/>
                <a:ea typeface="华文中宋" panose="02010600040101010101" pitchFamily="2" charset="-122"/>
              </a:rPr>
              <a:t>Cholesky</a:t>
            </a:r>
            <a:r>
              <a:rPr lang="zh-CN" altLang="en-US" sz="2800" dirty="0">
                <a:latin typeface="华文中宋" panose="02010600040101010101" pitchFamily="2" charset="-122"/>
                <a:ea typeface="华文中宋" panose="02010600040101010101" pitchFamily="2" charset="-122"/>
              </a:rPr>
              <a:t>分解：</a:t>
            </a:r>
            <a:r>
              <a:rPr lang="en-US" altLang="zh-CN" sz="2800" dirty="0" err="1">
                <a:solidFill>
                  <a:srgbClr val="FF0000"/>
                </a:solidFill>
                <a:latin typeface="华文中宋" panose="02010600040101010101" pitchFamily="2" charset="-122"/>
                <a:ea typeface="华文中宋" panose="02010600040101010101" pitchFamily="2" charset="-122"/>
              </a:rPr>
              <a:t>chol</a:t>
            </a:r>
            <a:r>
              <a:rPr lang="zh-CN" altLang="en-US" sz="2800" dirty="0">
                <a:latin typeface="华文中宋" panose="02010600040101010101" pitchFamily="2" charset="-122"/>
                <a:ea typeface="华文中宋" panose="02010600040101010101" pitchFamily="2" charset="-122"/>
              </a:rPr>
              <a:t>、</a:t>
            </a:r>
            <a:r>
              <a:rPr lang="en-US" altLang="zh-CN" sz="2800" dirty="0" err="1">
                <a:solidFill>
                  <a:srgbClr val="FF0000"/>
                </a:solidFill>
                <a:latin typeface="华文中宋" panose="02010600040101010101" pitchFamily="2" charset="-122"/>
                <a:ea typeface="华文中宋" panose="02010600040101010101" pitchFamily="2" charset="-122"/>
              </a:rPr>
              <a:t>ichol</a:t>
            </a:r>
            <a:endParaRPr lang="zh-CN" altLang="en-US" sz="2800" dirty="0">
              <a:solidFill>
                <a:srgbClr val="FF0000"/>
              </a:solidFill>
              <a:latin typeface="华文中宋" panose="02010600040101010101" pitchFamily="2" charset="-122"/>
              <a:ea typeface="华文中宋" panose="02010600040101010101" pitchFamily="2" charset="-122"/>
            </a:endParaRPr>
          </a:p>
          <a:p>
            <a:pPr>
              <a:lnSpc>
                <a:spcPct val="125000"/>
              </a:lnSpc>
              <a:buFontTx/>
              <a:buNone/>
            </a:pPr>
            <a:r>
              <a:rPr lang="en-US" altLang="zh-CN" sz="2800" dirty="0">
                <a:latin typeface="华文中宋" panose="02010600040101010101" pitchFamily="2" charset="-122"/>
                <a:ea typeface="华文中宋" panose="02010600040101010101" pitchFamily="2" charset="-122"/>
              </a:rPr>
              <a:t>2</a:t>
            </a:r>
            <a:r>
              <a:rPr lang="zh-CN" altLang="en-US" sz="2800" dirty="0">
                <a:latin typeface="华文中宋" panose="02010600040101010101" pitchFamily="2" charset="-122"/>
                <a:ea typeface="华文中宋" panose="02010600040101010101" pitchFamily="2" charset="-122"/>
              </a:rPr>
              <a:t>．</a:t>
            </a:r>
            <a:r>
              <a:rPr lang="en-US" altLang="zh-CN" sz="2800" dirty="0">
                <a:latin typeface="华文中宋" panose="02010600040101010101" pitchFamily="2" charset="-122"/>
                <a:ea typeface="华文中宋" panose="02010600040101010101" pitchFamily="2" charset="-122"/>
              </a:rPr>
              <a:t>LU</a:t>
            </a:r>
            <a:r>
              <a:rPr lang="zh-CN" altLang="en-US" sz="2800" dirty="0">
                <a:latin typeface="华文中宋" panose="02010600040101010101" pitchFamily="2" charset="-122"/>
                <a:ea typeface="华文中宋" panose="02010600040101010101" pitchFamily="2" charset="-122"/>
              </a:rPr>
              <a:t>分解：</a:t>
            </a:r>
            <a:r>
              <a:rPr lang="en-US" altLang="zh-CN" sz="2800" dirty="0" err="1">
                <a:solidFill>
                  <a:srgbClr val="FF0000"/>
                </a:solidFill>
                <a:latin typeface="华文中宋" panose="02010600040101010101" pitchFamily="2" charset="-122"/>
                <a:ea typeface="华文中宋" panose="02010600040101010101" pitchFamily="2" charset="-122"/>
              </a:rPr>
              <a:t>lu</a:t>
            </a:r>
            <a:r>
              <a:rPr lang="zh-CN" altLang="en-US" sz="2800" dirty="0">
                <a:latin typeface="华文中宋" panose="02010600040101010101" pitchFamily="2" charset="-122"/>
                <a:ea typeface="华文中宋" panose="02010600040101010101" pitchFamily="2" charset="-122"/>
              </a:rPr>
              <a:t>、</a:t>
            </a:r>
            <a:r>
              <a:rPr lang="en-US" altLang="zh-CN" sz="2800" dirty="0" err="1">
                <a:solidFill>
                  <a:srgbClr val="FF0000"/>
                </a:solidFill>
                <a:latin typeface="华文中宋" panose="02010600040101010101" pitchFamily="2" charset="-122"/>
                <a:ea typeface="华文中宋" panose="02010600040101010101" pitchFamily="2" charset="-122"/>
              </a:rPr>
              <a:t>ilu</a:t>
            </a:r>
            <a:endParaRPr lang="zh-CN" altLang="en-US" sz="2800" dirty="0">
              <a:solidFill>
                <a:srgbClr val="FF0000"/>
              </a:solidFill>
              <a:latin typeface="华文中宋" panose="02010600040101010101" pitchFamily="2" charset="-122"/>
              <a:ea typeface="华文中宋" panose="02010600040101010101" pitchFamily="2" charset="-122"/>
            </a:endParaRPr>
          </a:p>
          <a:p>
            <a:pPr>
              <a:lnSpc>
                <a:spcPct val="125000"/>
              </a:lnSpc>
              <a:buFontTx/>
              <a:buNone/>
            </a:pPr>
            <a:r>
              <a:rPr lang="en-US" altLang="zh-CN" sz="2800" dirty="0">
                <a:latin typeface="华文中宋" panose="02010600040101010101" pitchFamily="2" charset="-122"/>
                <a:ea typeface="华文中宋" panose="02010600040101010101" pitchFamily="2" charset="-122"/>
              </a:rPr>
              <a:t>3</a:t>
            </a:r>
            <a:r>
              <a:rPr lang="zh-CN" altLang="en-US" sz="2800" dirty="0">
                <a:latin typeface="华文中宋" panose="02010600040101010101" pitchFamily="2" charset="-122"/>
                <a:ea typeface="华文中宋" panose="02010600040101010101" pitchFamily="2" charset="-122"/>
              </a:rPr>
              <a:t>．</a:t>
            </a:r>
            <a:r>
              <a:rPr lang="en-US" altLang="zh-CN" sz="2800" dirty="0">
                <a:latin typeface="华文中宋" panose="02010600040101010101" pitchFamily="2" charset="-122"/>
                <a:ea typeface="华文中宋" panose="02010600040101010101" pitchFamily="2" charset="-122"/>
              </a:rPr>
              <a:t>QR</a:t>
            </a:r>
            <a:r>
              <a:rPr lang="zh-CN" altLang="en-US" sz="2800" dirty="0">
                <a:latin typeface="华文中宋" panose="02010600040101010101" pitchFamily="2" charset="-122"/>
                <a:ea typeface="华文中宋" panose="02010600040101010101" pitchFamily="2" charset="-122"/>
              </a:rPr>
              <a:t>分解：</a:t>
            </a:r>
            <a:r>
              <a:rPr lang="en-US" altLang="zh-CN" sz="2800" dirty="0" err="1">
                <a:solidFill>
                  <a:srgbClr val="FF0000"/>
                </a:solidFill>
                <a:latin typeface="华文中宋" panose="02010600040101010101" pitchFamily="2" charset="-122"/>
                <a:ea typeface="华文中宋" panose="02010600040101010101" pitchFamily="2" charset="-122"/>
              </a:rPr>
              <a:t>qr</a:t>
            </a:r>
            <a:endParaRPr lang="zh-CN" altLang="en-US" sz="2800" dirty="0">
              <a:solidFill>
                <a:srgbClr val="FF0000"/>
              </a:solidFill>
              <a:latin typeface="华文中宋" panose="02010600040101010101" pitchFamily="2" charset="-122"/>
              <a:ea typeface="华文中宋" panose="02010600040101010101" pitchFamily="2" charset="-122"/>
            </a:endParaRPr>
          </a:p>
          <a:p>
            <a:pPr>
              <a:lnSpc>
                <a:spcPct val="125000"/>
              </a:lnSpc>
              <a:buFontTx/>
              <a:buNone/>
            </a:pPr>
            <a:r>
              <a:rPr lang="en-US" altLang="zh-CN" sz="2800" dirty="0">
                <a:latin typeface="华文中宋" panose="02010600040101010101" pitchFamily="2" charset="-122"/>
                <a:ea typeface="华文中宋" panose="02010600040101010101" pitchFamily="2" charset="-122"/>
              </a:rPr>
              <a:t>4</a:t>
            </a:r>
            <a:r>
              <a:rPr lang="zh-CN" altLang="en-US" sz="2800" dirty="0">
                <a:latin typeface="华文中宋" panose="02010600040101010101" pitchFamily="2" charset="-122"/>
                <a:ea typeface="华文中宋" panose="02010600040101010101" pitchFamily="2" charset="-122"/>
              </a:rPr>
              <a:t>．奇异值分解（</a:t>
            </a:r>
            <a:r>
              <a:rPr lang="en-US" altLang="zh-CN" sz="2800" dirty="0">
                <a:latin typeface="华文中宋" panose="02010600040101010101" pitchFamily="2" charset="-122"/>
                <a:ea typeface="华文中宋" panose="02010600040101010101" pitchFamily="2" charset="-122"/>
              </a:rPr>
              <a:t>SVD</a:t>
            </a:r>
            <a:r>
              <a:rPr lang="zh-CN" altLang="en-US" sz="2800" dirty="0">
                <a:latin typeface="华文中宋" panose="02010600040101010101" pitchFamily="2" charset="-122"/>
                <a:ea typeface="华文中宋" panose="02010600040101010101" pitchFamily="2" charset="-122"/>
              </a:rPr>
              <a:t>：</a:t>
            </a:r>
            <a:r>
              <a:rPr lang="en-US" altLang="zh-CN" sz="2800" dirty="0">
                <a:latin typeface="华文中宋" panose="02010600040101010101" pitchFamily="2" charset="-122"/>
                <a:ea typeface="华文中宋" panose="02010600040101010101" pitchFamily="2" charset="-122"/>
              </a:rPr>
              <a:t>singular value decomposition</a:t>
            </a:r>
            <a:r>
              <a:rPr lang="zh-CN" altLang="en-US" sz="2800" dirty="0">
                <a:latin typeface="华文中宋" panose="02010600040101010101" pitchFamily="2" charset="-122"/>
                <a:ea typeface="华文中宋" panose="02010600040101010101" pitchFamily="2" charset="-122"/>
              </a:rPr>
              <a:t>）：</a:t>
            </a:r>
            <a:r>
              <a:rPr lang="en-US" altLang="zh-CN" sz="2800" dirty="0" err="1">
                <a:solidFill>
                  <a:srgbClr val="FF0000"/>
                </a:solidFill>
                <a:latin typeface="华文中宋" panose="02010600040101010101" pitchFamily="2" charset="-122"/>
                <a:ea typeface="华文中宋" panose="02010600040101010101" pitchFamily="2" charset="-122"/>
              </a:rPr>
              <a:t>svd</a:t>
            </a:r>
            <a:r>
              <a:rPr lang="zh-CN" altLang="en-US" sz="2800" dirty="0">
                <a:latin typeface="华文中宋" panose="02010600040101010101" pitchFamily="2" charset="-122"/>
                <a:ea typeface="华文中宋" panose="02010600040101010101" pitchFamily="2" charset="-122"/>
              </a:rPr>
              <a:t>、</a:t>
            </a:r>
            <a:r>
              <a:rPr lang="en-US" altLang="zh-CN" sz="2800" dirty="0" err="1">
                <a:solidFill>
                  <a:srgbClr val="FF0000"/>
                </a:solidFill>
                <a:latin typeface="华文中宋" panose="02010600040101010101" pitchFamily="2" charset="-122"/>
                <a:ea typeface="华文中宋" panose="02010600040101010101" pitchFamily="2" charset="-122"/>
              </a:rPr>
              <a:t>gsvd</a:t>
            </a:r>
            <a:endParaRPr lang="zh-CN" altLang="en-US" sz="2800" dirty="0">
              <a:solidFill>
                <a:srgbClr val="FF0000"/>
              </a:solidFill>
              <a:latin typeface="华文中宋" panose="02010600040101010101" pitchFamily="2" charset="-122"/>
              <a:ea typeface="华文中宋" panose="02010600040101010101" pitchFamily="2" charset="-122"/>
            </a:endParaRPr>
          </a:p>
        </p:txBody>
      </p:sp>
      <p:sp>
        <p:nvSpPr>
          <p:cNvPr id="5" name="Rectangle 3"/>
          <p:cNvSpPr txBox="1">
            <a:spLocks noChangeArrowheads="1"/>
          </p:cNvSpPr>
          <p:nvPr/>
        </p:nvSpPr>
        <p:spPr bwMode="auto">
          <a:xfrm>
            <a:off x="838200" y="1266825"/>
            <a:ext cx="8229600" cy="1295400"/>
          </a:xfrm>
          <a:prstGeom prst="rect">
            <a:avLst/>
          </a:prstGeom>
          <a:noFill/>
          <a:ln w="9525">
            <a:noFill/>
            <a:miter lim="800000"/>
            <a:headEnd/>
            <a:tailEnd/>
          </a:ln>
        </p:spPr>
        <p:txBody>
          <a:bodyPr/>
          <a:lstStyle/>
          <a:p>
            <a:pPr marL="342900" indent="-342900" algn="just">
              <a:lnSpc>
                <a:spcPct val="125000"/>
              </a:lnSpc>
              <a:spcBef>
                <a:spcPct val="20000"/>
              </a:spcBef>
              <a:buClr>
                <a:schemeClr val="tx2"/>
              </a:buClr>
              <a:buSzPct val="70000"/>
              <a:defRPr/>
            </a:pPr>
            <a:r>
              <a:rPr lang="en-US" altLang="zh-CN" sz="2900" kern="0" dirty="0">
                <a:latin typeface="+mn-lt"/>
                <a:ea typeface="+mn-ea"/>
              </a:rPr>
              <a:t>        </a:t>
            </a:r>
            <a:r>
              <a:rPr lang="zh-CN" altLang="en-US" sz="2900" kern="0" dirty="0">
                <a:latin typeface="+mn-lt"/>
                <a:ea typeface="+mn-ea"/>
              </a:rPr>
              <a:t>矩阵分解是把一个矩阵分解成比较简单或者对它性质比较熟悉的若干矩阵的乘积的形式。</a:t>
            </a:r>
            <a:endParaRPr lang="en-US" altLang="zh-CN" sz="2400" kern="0" dirty="0">
              <a:latin typeface="+mn-lt"/>
              <a:ea typeface="+mn-ea"/>
            </a:endParaRPr>
          </a:p>
        </p:txBody>
      </p:sp>
    </p:spTree>
    <p:extLst>
      <p:ext uri="{BB962C8B-B14F-4D97-AF65-F5344CB8AC3E}">
        <p14:creationId xmlns:p14="http://schemas.microsoft.com/office/powerpoint/2010/main" val="2601397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4">
                                            <p:txEl>
                                              <p:pRg st="1" end="1"/>
                                            </p:txEl>
                                          </p:spTgt>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nodeType="after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fill="hold"/>
                                        <p:tgtEl>
                                          <p:spTgt spid="4">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4">
                                            <p:txEl>
                                              <p:pRg st="2" end="2"/>
                                            </p:txEl>
                                          </p:spTgt>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9071</TotalTime>
  <Words>4461</Words>
  <Application>Microsoft Office PowerPoint</Application>
  <PresentationFormat>宽屏</PresentationFormat>
  <Paragraphs>711</Paragraphs>
  <Slides>65</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6" baseType="lpstr">
      <vt:lpstr>Arial Unicode MS</vt:lpstr>
      <vt:lpstr>华文中宋</vt:lpstr>
      <vt:lpstr>宋体</vt:lpstr>
      <vt:lpstr>Arial</vt:lpstr>
      <vt:lpstr>Calibri</vt:lpstr>
      <vt:lpstr>Calibri Light</vt:lpstr>
      <vt:lpstr>Cambria Math</vt:lpstr>
      <vt:lpstr>Verdana</vt:lpstr>
      <vt:lpstr>Wingdings</vt:lpstr>
      <vt:lpstr>Office 主题</vt:lpstr>
      <vt:lpstr>MathType 6.0 Equation</vt:lpstr>
      <vt:lpstr>矩阵和数组 运算与操作</vt:lpstr>
      <vt:lpstr>大纲</vt:lpstr>
      <vt:lpstr>PowerPoint 演示文稿</vt:lpstr>
      <vt:lpstr>PowerPoint 演示文稿</vt:lpstr>
      <vt:lpstr>PowerPoint 演示文稿</vt:lpstr>
      <vt:lpstr>PowerPoint 演示文稿</vt:lpstr>
      <vt:lpstr>PowerPoint 演示文稿</vt:lpstr>
      <vt:lpstr>2.1循环移位</vt:lpstr>
      <vt:lpstr>2.2 排序： sort函数和sortrows函数</vt:lpstr>
      <vt:lpstr>PowerPoint 演示文稿</vt:lpstr>
      <vt:lpstr>PowerPoint 演示文稿</vt:lpstr>
      <vt:lpstr>PowerPoint 演示文稿</vt:lpstr>
      <vt:lpstr>sortrows</vt:lpstr>
      <vt:lpstr>PowerPoint 演示文稿</vt:lpstr>
      <vt:lpstr>PowerPoint 演示文稿</vt:lpstr>
      <vt:lpstr>PowerPoint 演示文稿</vt:lpstr>
      <vt:lpstr>issorted函数</vt:lpstr>
      <vt:lpstr>三、基本运算</vt:lpstr>
      <vt:lpstr>3.1 基本算术运算</vt:lpstr>
      <vt:lpstr>PowerPoint 演示文稿</vt:lpstr>
      <vt:lpstr>PowerPoint 演示文稿</vt:lpstr>
      <vt:lpstr>与标量直接进行运算</vt:lpstr>
      <vt:lpstr>PowerPoint 演示文稿</vt:lpstr>
      <vt:lpstr>PowerPoint 演示文稿</vt:lpstr>
      <vt:lpstr>PowerPoint 演示文稿</vt:lpstr>
      <vt:lpstr>函数的向量化运算特性（vectorized）</vt:lpstr>
      <vt:lpstr>PowerPoint 演示文稿</vt:lpstr>
      <vt:lpstr>PowerPoint 演示文稿</vt:lpstr>
      <vt:lpstr>矩阵乘法：A*B</vt:lpstr>
      <vt:lpstr>矩阵除法</vt:lpstr>
      <vt:lpstr>解方程组</vt:lpstr>
      <vt:lpstr>解方程组的2种方式：</vt:lpstr>
      <vt:lpstr>矩阵的乘方（Matrix power）： a^p</vt:lpstr>
      <vt:lpstr>PowerPoint 演示文稿</vt:lpstr>
      <vt:lpstr>PowerPoint 演示文稿</vt:lpstr>
      <vt:lpstr>PowerPoint 演示文稿</vt:lpstr>
      <vt:lpstr>3.2 点运算</vt:lpstr>
      <vt:lpstr>PowerPoint 演示文稿</vt:lpstr>
      <vt:lpstr>PowerPoint 演示文稿</vt:lpstr>
      <vt:lpstr>PowerPoint 演示文稿</vt:lpstr>
      <vt:lpstr>PowerPoint 演示文稿</vt:lpstr>
      <vt:lpstr>PowerPoint 演示文稿</vt:lpstr>
      <vt:lpstr>问题：</vt:lpstr>
      <vt:lpstr>练习：计算表达式的值：</vt:lpstr>
      <vt:lpstr>3.3 关系运算</vt:lpstr>
      <vt:lpstr>PowerPoint 演示文稿</vt:lpstr>
      <vt:lpstr>X=-100:3:876;你希望知道X中大于0的元素的个数，如何写代码？</vt:lpstr>
      <vt:lpstr>find函数</vt:lpstr>
      <vt:lpstr>找出A矩阵中前5个小于10的元素</vt:lpstr>
      <vt:lpstr>找出A矩阵中后5个小于10的元素</vt:lpstr>
      <vt:lpstr>3.4 逻辑运算</vt:lpstr>
      <vt:lpstr>四、MATLAB内部函数行为</vt:lpstr>
      <vt:lpstr>1、逐个元素计算</vt:lpstr>
      <vt:lpstr>2、按列计算</vt:lpstr>
      <vt:lpstr>PowerPoint 演示文稿</vt:lpstr>
      <vt:lpstr>按列计算的函数(续)</vt:lpstr>
      <vt:lpstr>学习max函数</vt:lpstr>
      <vt:lpstr>PowerPoint 演示文稿</vt:lpstr>
      <vt:lpstr>问题：如何得到一个矩阵中所有元素的最大值，以及该最大值所在的行号和列号？</vt:lpstr>
      <vt:lpstr>打开帮助文档系统，自学sum函数</vt:lpstr>
      <vt:lpstr>测试：</vt:lpstr>
      <vt:lpstr>PowerPoint 演示文稿</vt:lpstr>
      <vt:lpstr>PowerPoint 演示文稿</vt:lpstr>
      <vt:lpstr>五、矩阵分析</vt:lpstr>
      <vt:lpstr>六、矩阵分解（Matrix Decomposition）</vt:lpstr>
    </vt:vector>
  </TitlesOfParts>
  <Company>cugb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Matlab矩阵及其操作</dc:title>
  <dc:creator>HP</dc:creator>
  <cp:lastModifiedBy>妮唛 朴</cp:lastModifiedBy>
  <cp:revision>399</cp:revision>
  <dcterms:created xsi:type="dcterms:W3CDTF">2016-02-24T15:05:55Z</dcterms:created>
  <dcterms:modified xsi:type="dcterms:W3CDTF">2021-01-24T13:32:38Z</dcterms:modified>
</cp:coreProperties>
</file>