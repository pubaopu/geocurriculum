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8" r:id="rId3"/>
    <p:sldId id="267" r:id="rId4"/>
    <p:sldId id="257" r:id="rId5"/>
    <p:sldId id="276" r:id="rId6"/>
    <p:sldId id="269" r:id="rId7"/>
    <p:sldId id="270" r:id="rId8"/>
    <p:sldId id="271" r:id="rId9"/>
    <p:sldId id="273" r:id="rId10"/>
    <p:sldId id="272" r:id="rId11"/>
    <p:sldId id="274" r:id="rId12"/>
    <p:sldId id="275" r:id="rId13"/>
    <p:sldId id="287" r:id="rId14"/>
    <p:sldId id="290" r:id="rId15"/>
    <p:sldId id="288" r:id="rId16"/>
    <p:sldId id="259" r:id="rId17"/>
    <p:sldId id="266" r:id="rId18"/>
    <p:sldId id="289" r:id="rId19"/>
    <p:sldId id="291" r:id="rId20"/>
    <p:sldId id="293" r:id="rId21"/>
    <p:sldId id="292" r:id="rId22"/>
    <p:sldId id="268" r:id="rId23"/>
    <p:sldId id="263" r:id="rId24"/>
    <p:sldId id="264" r:id="rId25"/>
    <p:sldId id="262" r:id="rId26"/>
    <p:sldId id="265" r:id="rId27"/>
    <p:sldId id="294" r:id="rId28"/>
    <p:sldId id="295" r:id="rId29"/>
    <p:sldId id="278" r:id="rId30"/>
    <p:sldId id="279" r:id="rId31"/>
    <p:sldId id="280" r:id="rId32"/>
    <p:sldId id="282" r:id="rId33"/>
    <p:sldId id="281" r:id="rId34"/>
    <p:sldId id="283" r:id="rId35"/>
    <p:sldId id="284" r:id="rId36"/>
    <p:sldId id="285" r:id="rId37"/>
    <p:sldId id="286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820C2-9DF5-4F0E-A8A0-76AE8A5D61C0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4C4B0-D8AB-4F80-A13F-9B3D96F613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39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4C4B0-D8AB-4F80-A13F-9B3D96F613F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287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29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57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619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595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46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636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479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8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88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87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17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40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file:///D:\Program%20Files\MATLAB\R2015b\help\matlab\ref\beta.html" TargetMode="External"/><Relationship Id="rId13" Type="http://schemas.openxmlformats.org/officeDocument/2006/relationships/hyperlink" Target="file:///D:\Program%20Files\MATLAB\R2015b\help\matlab\ref\ellipke.html" TargetMode="External"/><Relationship Id="rId18" Type="http://schemas.openxmlformats.org/officeDocument/2006/relationships/hyperlink" Target="file:///D:\Program%20Files\MATLAB\R2015b\help\matlab\ref\erfinv.html" TargetMode="External"/><Relationship Id="rId3" Type="http://schemas.openxmlformats.org/officeDocument/2006/relationships/hyperlink" Target="file:///D:\Program%20Files\MATLAB\R2015b\help\matlab\ref\besselh.html" TargetMode="External"/><Relationship Id="rId21" Type="http://schemas.openxmlformats.org/officeDocument/2006/relationships/hyperlink" Target="file:///D:\Program%20Files\MATLAB\R2015b\help\matlab\ref\gammainc.html" TargetMode="External"/><Relationship Id="rId7" Type="http://schemas.openxmlformats.org/officeDocument/2006/relationships/hyperlink" Target="file:///D:\Program%20Files\MATLAB\R2015b\help\matlab\ref\bessely.html" TargetMode="External"/><Relationship Id="rId12" Type="http://schemas.openxmlformats.org/officeDocument/2006/relationships/hyperlink" Target="file:///D:\Program%20Files\MATLAB\R2015b\help\matlab\ref\ellipj.html" TargetMode="External"/><Relationship Id="rId17" Type="http://schemas.openxmlformats.org/officeDocument/2006/relationships/hyperlink" Target="file:///D:\Program%20Files\MATLAB\R2015b\help\matlab\ref\erfcx.html" TargetMode="External"/><Relationship Id="rId25" Type="http://schemas.openxmlformats.org/officeDocument/2006/relationships/hyperlink" Target="file:///D:\Program%20Files\MATLAB\R2015b\help\matlab\ref\psi.html" TargetMode="External"/><Relationship Id="rId2" Type="http://schemas.openxmlformats.org/officeDocument/2006/relationships/hyperlink" Target="file:///D:\Program%20Files\MATLAB\R2015b\help\matlab\ref\airy.html" TargetMode="External"/><Relationship Id="rId16" Type="http://schemas.openxmlformats.org/officeDocument/2006/relationships/hyperlink" Target="file:///D:\Program%20Files\MATLAB\R2015b\help\matlab\ref\erfcinv.html" TargetMode="External"/><Relationship Id="rId20" Type="http://schemas.openxmlformats.org/officeDocument/2006/relationships/hyperlink" Target="file:///D:\Program%20Files\MATLAB\R2015b\help\matlab\ref\gamma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D:\Program%20Files\MATLAB\R2015b\help\matlab\ref\besselk.html" TargetMode="External"/><Relationship Id="rId11" Type="http://schemas.openxmlformats.org/officeDocument/2006/relationships/hyperlink" Target="file:///D:\Program%20Files\MATLAB\R2015b\help\matlab\ref\betaln.html" TargetMode="External"/><Relationship Id="rId24" Type="http://schemas.openxmlformats.org/officeDocument/2006/relationships/hyperlink" Target="file:///D:\Program%20Files\MATLAB\R2015b\help\matlab\ref\legendre.html" TargetMode="External"/><Relationship Id="rId5" Type="http://schemas.openxmlformats.org/officeDocument/2006/relationships/hyperlink" Target="file:///D:\Program%20Files\MATLAB\R2015b\help\matlab\ref\besselj.html" TargetMode="External"/><Relationship Id="rId15" Type="http://schemas.openxmlformats.org/officeDocument/2006/relationships/hyperlink" Target="file:///D:\Program%20Files\MATLAB\R2015b\help\matlab\ref\erfc.html" TargetMode="External"/><Relationship Id="rId23" Type="http://schemas.openxmlformats.org/officeDocument/2006/relationships/hyperlink" Target="file:///D:\Program%20Files\MATLAB\R2015b\help\matlab\ref\gammaln.html" TargetMode="External"/><Relationship Id="rId10" Type="http://schemas.openxmlformats.org/officeDocument/2006/relationships/hyperlink" Target="file:///D:\Program%20Files\MATLAB\R2015b\help\matlab\ref\betaincinv.html" TargetMode="External"/><Relationship Id="rId19" Type="http://schemas.openxmlformats.org/officeDocument/2006/relationships/hyperlink" Target="file:///D:\Program%20Files\MATLAB\R2015b\help\matlab\ref\expint.html" TargetMode="External"/><Relationship Id="rId4" Type="http://schemas.openxmlformats.org/officeDocument/2006/relationships/hyperlink" Target="file:///D:\Program%20Files\MATLAB\R2015b\help\matlab\ref\besseli.html" TargetMode="External"/><Relationship Id="rId9" Type="http://schemas.openxmlformats.org/officeDocument/2006/relationships/hyperlink" Target="file:///D:\Program%20Files\MATLAB\R2015b\help\matlab\ref\betainc.html" TargetMode="External"/><Relationship Id="rId14" Type="http://schemas.openxmlformats.org/officeDocument/2006/relationships/hyperlink" Target="file:///D:\Program%20Files\MATLAB\R2015b\help\matlab\ref\erf.html" TargetMode="External"/><Relationship Id="rId22" Type="http://schemas.openxmlformats.org/officeDocument/2006/relationships/hyperlink" Target="file:///D:\Program%20Files\MATLAB\R2015b\help\matlab\ref\gammaincinv.html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Matlab</a:t>
            </a:r>
            <a:r>
              <a:rPr lang="zh-CN" altLang="en-US" dirty="0"/>
              <a:t>基础</a:t>
            </a:r>
          </a:p>
        </p:txBody>
      </p:sp>
    </p:spTree>
    <p:extLst>
      <p:ext uri="{BB962C8B-B14F-4D97-AF65-F5344CB8AC3E}">
        <p14:creationId xmlns:p14="http://schemas.microsoft.com/office/powerpoint/2010/main" val="823521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5343" y="250826"/>
            <a:ext cx="2940957" cy="688973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大纲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0643" y="1114926"/>
            <a:ext cx="7982857" cy="444767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3200" dirty="0" err="1"/>
              <a:t>Matlab</a:t>
            </a:r>
            <a:r>
              <a:rPr lang="zh-CN" altLang="en-US" sz="3200" dirty="0"/>
              <a:t>桌面（</a:t>
            </a:r>
            <a:r>
              <a:rPr lang="en-US" altLang="zh-CN" sz="3200" dirty="0"/>
              <a:t>Desktop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3200" dirty="0"/>
              <a:t>Workspace</a:t>
            </a:r>
            <a:r>
              <a:rPr lang="zh-CN" altLang="en-US" sz="3200" dirty="0"/>
              <a:t>工作区</a:t>
            </a:r>
            <a:endParaRPr lang="en-US" altLang="zh-CN" sz="32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3200" dirty="0"/>
              <a:t>命令行（</a:t>
            </a:r>
            <a:r>
              <a:rPr lang="en-US" altLang="zh-CN" sz="3200" dirty="0"/>
              <a:t>Command Line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3200" dirty="0"/>
              <a:t>变量</a:t>
            </a:r>
            <a:endParaRPr lang="en-US" altLang="zh-CN" sz="32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3200" dirty="0"/>
              <a:t>数学函数</a:t>
            </a:r>
            <a:endParaRPr lang="en-US" altLang="zh-CN" sz="32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3200" dirty="0"/>
              <a:t>M</a:t>
            </a:r>
            <a:r>
              <a:rPr lang="zh-CN" altLang="en-US" sz="3200" dirty="0"/>
              <a:t>脚本文件基础</a:t>
            </a:r>
            <a:endParaRPr lang="en-US" altLang="zh-CN" sz="32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3200" dirty="0"/>
              <a:t>“当前目录” 和“搜索路径”</a:t>
            </a:r>
            <a:endParaRPr lang="en-US" altLang="zh-CN" sz="3200" dirty="0"/>
          </a:p>
          <a:p>
            <a:pPr marL="514350" indent="-514350">
              <a:buFont typeface="+mj-lt"/>
              <a:buAutoNum type="arabicPeriod"/>
            </a:pPr>
            <a:endParaRPr lang="en-US" altLang="zh-CN" sz="3200" dirty="0"/>
          </a:p>
          <a:p>
            <a:pPr marL="514350" indent="-514350">
              <a:buFont typeface="+mj-lt"/>
              <a:buAutoNum type="arabicPeriod"/>
            </a:pPr>
            <a:endParaRPr lang="en-US" altLang="zh-CN" sz="3200" dirty="0"/>
          </a:p>
          <a:p>
            <a:pPr marL="514350" indent="-514350">
              <a:buFont typeface="+mj-lt"/>
              <a:buAutoNum type="arabicPeriod"/>
            </a:pPr>
            <a:endParaRPr lang="en-US" altLang="zh-CN" sz="3200" dirty="0"/>
          </a:p>
          <a:p>
            <a:pPr marL="514350" indent="-514350">
              <a:buFont typeface="+mj-lt"/>
              <a:buAutoNum type="arabicPeriod"/>
            </a:pP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74553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7147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 err="1"/>
              <a:t>Matlab</a:t>
            </a:r>
            <a:r>
              <a:rPr lang="en-US" altLang="zh-CN" dirty="0"/>
              <a:t> Desktop</a:t>
            </a:r>
            <a:r>
              <a:rPr lang="zh-CN" altLang="en-US" dirty="0"/>
              <a:t>（桌面）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16001"/>
            <a:ext cx="6896100" cy="549910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指的是</a:t>
            </a:r>
            <a:r>
              <a:rPr lang="en-US" altLang="zh-CN" dirty="0" err="1"/>
              <a:t>Matlab</a:t>
            </a:r>
            <a:r>
              <a:rPr lang="zh-CN" altLang="en-US" dirty="0"/>
              <a:t>交互环境（整体主界面）</a:t>
            </a:r>
            <a:endParaRPr lang="en-US" altLang="zh-CN" dirty="0"/>
          </a:p>
          <a:p>
            <a:r>
              <a:rPr lang="zh-CN" altLang="en-US" dirty="0"/>
              <a:t>从</a:t>
            </a:r>
            <a:r>
              <a:rPr lang="en-US" altLang="zh-CN" dirty="0"/>
              <a:t>R2012b</a:t>
            </a:r>
            <a:r>
              <a:rPr lang="zh-CN" altLang="en-US" dirty="0"/>
              <a:t>开始，为</a:t>
            </a:r>
            <a:r>
              <a:rPr lang="en-US" altLang="zh-CN" dirty="0"/>
              <a:t>Ribbon</a:t>
            </a:r>
            <a:r>
              <a:rPr lang="zh-CN" altLang="en-US" dirty="0"/>
              <a:t>界面风格</a:t>
            </a:r>
            <a:endParaRPr lang="en-US" altLang="zh-CN" dirty="0"/>
          </a:p>
          <a:p>
            <a:r>
              <a:rPr lang="zh-CN" altLang="en-US" dirty="0"/>
              <a:t>上部为工具栏（</a:t>
            </a:r>
            <a:r>
              <a:rPr lang="en-US" altLang="zh-CN" dirty="0" err="1"/>
              <a:t>Toolstrip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具有智能提示功能</a:t>
            </a:r>
            <a:endParaRPr lang="en-US" altLang="zh-CN" dirty="0"/>
          </a:p>
          <a:p>
            <a:r>
              <a:rPr lang="zh-CN" altLang="en-US" dirty="0"/>
              <a:t>常见的窗口（</a:t>
            </a:r>
            <a:r>
              <a:rPr lang="en-US" altLang="zh-CN" dirty="0"/>
              <a:t>Panel</a:t>
            </a:r>
            <a:r>
              <a:rPr lang="zh-CN" altLang="en-US" dirty="0"/>
              <a:t>）有：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当前目录（</a:t>
            </a:r>
            <a:r>
              <a:rPr lang="en-US" altLang="zh-CN" dirty="0"/>
              <a:t>Current Folder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命令窗口（</a:t>
            </a:r>
            <a:r>
              <a:rPr lang="en-US" altLang="zh-CN" dirty="0"/>
              <a:t>Command Window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工作区（</a:t>
            </a:r>
            <a:r>
              <a:rPr lang="en-US" altLang="zh-CN" dirty="0"/>
              <a:t>Workspace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命令历史（</a:t>
            </a:r>
            <a:r>
              <a:rPr lang="en-US" altLang="zh-CN" dirty="0"/>
              <a:t>Command History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帮助</a:t>
            </a:r>
            <a:endParaRPr lang="en-US" altLang="zh-CN" dirty="0"/>
          </a:p>
          <a:p>
            <a:r>
              <a:rPr lang="zh-CN" altLang="en-US" dirty="0"/>
              <a:t>窗口布局（尝试使用</a:t>
            </a:r>
            <a:r>
              <a:rPr lang="en-US" altLang="zh-CN" dirty="0"/>
              <a:t>Layout</a:t>
            </a:r>
            <a:r>
              <a:rPr lang="zh-CN" altLang="en-US" dirty="0"/>
              <a:t>按钮调整布局）</a:t>
            </a:r>
            <a:endParaRPr lang="en-US" altLang="zh-CN" dirty="0"/>
          </a:p>
          <a:p>
            <a:r>
              <a:rPr lang="zh-CN" altLang="en-US" dirty="0"/>
              <a:t>帮助系统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最全面、最权威的原始资料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2</a:t>
            </a:r>
            <a:r>
              <a:rPr lang="zh-CN" altLang="en-US" dirty="0"/>
              <a:t>个命令：</a:t>
            </a:r>
            <a:r>
              <a:rPr lang="en-US" altLang="zh-CN" dirty="0">
                <a:solidFill>
                  <a:srgbClr val="FF0000"/>
                </a:solidFill>
              </a:rPr>
              <a:t>doc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help</a:t>
            </a: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7150100" y="1341438"/>
            <a:ext cx="4056062" cy="4848225"/>
            <a:chOff x="7150100" y="1341438"/>
            <a:chExt cx="4056062" cy="484822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77237" y="1341438"/>
              <a:ext cx="2828925" cy="4848225"/>
            </a:xfrm>
            <a:prstGeom prst="rect">
              <a:avLst/>
            </a:prstGeom>
          </p:spPr>
        </p:pic>
        <p:cxnSp>
          <p:nvCxnSpPr>
            <p:cNvPr id="6" name="直接箭头连接符 5"/>
            <p:cNvCxnSpPr/>
            <p:nvPr/>
          </p:nvCxnSpPr>
          <p:spPr>
            <a:xfrm flipV="1">
              <a:off x="7150100" y="2438400"/>
              <a:ext cx="1625600" cy="2692400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830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151" imgH="215619" progId="Equation.3">
                  <p:embed/>
                </p:oleObj>
              </mc:Choice>
              <mc:Fallback>
                <p:oleObj name="公式" r:id="rId2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4151" imgH="215619" progId="Equation.3">
                  <p:embed/>
                </p:oleObj>
              </mc:Choice>
              <mc:Fallback>
                <p:oleObj name="公式" r:id="rId4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712" y="152463"/>
            <a:ext cx="9297987" cy="644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65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040" y="278538"/>
            <a:ext cx="6076950" cy="51339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30583" y="5582194"/>
            <a:ext cx="3527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给</a:t>
            </a:r>
            <a:r>
              <a:rPr lang="en-US" altLang="zh-CN" dirty="0"/>
              <a:t>Workspace</a:t>
            </a:r>
            <a:r>
              <a:rPr lang="zh-CN" altLang="en-US" dirty="0"/>
              <a:t>窗口选择要显示的列</a:t>
            </a:r>
          </a:p>
        </p:txBody>
      </p:sp>
    </p:spTree>
    <p:extLst>
      <p:ext uri="{BB962C8B-B14F-4D97-AF65-F5344CB8AC3E}">
        <p14:creationId xmlns:p14="http://schemas.microsoft.com/office/powerpoint/2010/main" val="2659143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9900" y="174625"/>
            <a:ext cx="6934200" cy="57467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Workspace</a:t>
            </a:r>
            <a:r>
              <a:rPr lang="zh-CN" altLang="en-US" dirty="0"/>
              <a:t>（工作区）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9900" y="1114425"/>
            <a:ext cx="6934200" cy="2911475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个含义：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是指</a:t>
            </a:r>
            <a:r>
              <a:rPr lang="en-US" altLang="zh-CN" dirty="0"/>
              <a:t>MATLAB</a:t>
            </a:r>
            <a:r>
              <a:rPr lang="zh-CN" altLang="en-US" dirty="0"/>
              <a:t>桌面环境中的一个</a:t>
            </a:r>
            <a:r>
              <a:rPr lang="zh-CN" altLang="en-US" b="1" dirty="0"/>
              <a:t>窗口</a:t>
            </a:r>
            <a:endParaRPr lang="en-US" altLang="zh-CN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/>
              <a:t>是指</a:t>
            </a:r>
            <a:r>
              <a:rPr lang="en-US" altLang="zh-CN" dirty="0"/>
              <a:t>MATLAB</a:t>
            </a:r>
            <a:r>
              <a:rPr lang="zh-CN" altLang="en-US" dirty="0"/>
              <a:t>中存放变量的</a:t>
            </a:r>
            <a:r>
              <a:rPr lang="zh-CN" altLang="en-US" b="1" dirty="0"/>
              <a:t>内存空间</a:t>
            </a:r>
            <a:endParaRPr lang="en-US" altLang="zh-CN" b="1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相关命令：</a:t>
            </a:r>
            <a:r>
              <a:rPr lang="en-US" altLang="zh-CN" dirty="0">
                <a:sym typeface="Wingdings" panose="05000000000000000000" pitchFamily="2" charset="2"/>
              </a:rPr>
              <a:t>who</a:t>
            </a:r>
            <a:r>
              <a:rPr lang="zh-CN" altLang="en-US" dirty="0">
                <a:sym typeface="Wingdings" panose="05000000000000000000" pitchFamily="2" charset="2"/>
              </a:rPr>
              <a:t>、</a:t>
            </a:r>
            <a:r>
              <a:rPr lang="en-US" altLang="zh-CN" dirty="0" err="1">
                <a:sym typeface="Wingdings" panose="05000000000000000000" pitchFamily="2" charset="2"/>
              </a:rPr>
              <a:t>whos</a:t>
            </a:r>
            <a:r>
              <a:rPr lang="zh-CN" altLang="en-US" dirty="0">
                <a:sym typeface="Wingdings" panose="05000000000000000000" pitchFamily="2" charset="2"/>
              </a:rPr>
              <a:t>、</a:t>
            </a:r>
            <a:r>
              <a:rPr lang="en-US" altLang="zh-CN" dirty="0">
                <a:sym typeface="Wingdings" panose="05000000000000000000" pitchFamily="2" charset="2"/>
              </a:rPr>
              <a:t>save</a:t>
            </a:r>
            <a:r>
              <a:rPr lang="zh-CN" altLang="en-US" dirty="0">
                <a:sym typeface="Wingdings" panose="05000000000000000000" pitchFamily="2" charset="2"/>
              </a:rPr>
              <a:t>、</a:t>
            </a:r>
            <a:r>
              <a:rPr lang="en-US" altLang="zh-CN" dirty="0">
                <a:sym typeface="Wingdings" panose="05000000000000000000" pitchFamily="2" charset="2"/>
              </a:rPr>
              <a:t>load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内存管理：（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MATLAB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是很耗内存的！！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3</a:t>
            </a:r>
            <a:r>
              <a:rPr lang="zh-CN" altLang="en-US" dirty="0"/>
              <a:t>个相关命令：</a:t>
            </a:r>
            <a:r>
              <a:rPr lang="en-US" altLang="zh-CN" dirty="0"/>
              <a:t>memory</a:t>
            </a:r>
            <a:r>
              <a:rPr lang="zh-CN" altLang="en-US" dirty="0"/>
              <a:t>、</a:t>
            </a:r>
            <a:r>
              <a:rPr lang="en-US" altLang="zh-CN" dirty="0"/>
              <a:t>clear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2912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125" y="3397250"/>
            <a:ext cx="3600888" cy="1651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b="5095"/>
          <a:stretch/>
        </p:blipFill>
        <p:spPr>
          <a:xfrm>
            <a:off x="955675" y="144461"/>
            <a:ext cx="5108658" cy="243681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475" y="3397249"/>
            <a:ext cx="5992562" cy="242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94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t="35540" b="33707"/>
          <a:stretch/>
        </p:blipFill>
        <p:spPr>
          <a:xfrm>
            <a:off x="233362" y="285750"/>
            <a:ext cx="8810625" cy="14382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35743" b="33096"/>
          <a:stretch/>
        </p:blipFill>
        <p:spPr>
          <a:xfrm>
            <a:off x="595311" y="1840704"/>
            <a:ext cx="8810625" cy="1457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/>
          <a:srcRect t="35539" b="29633"/>
          <a:stretch/>
        </p:blipFill>
        <p:spPr>
          <a:xfrm>
            <a:off x="1376361" y="3576633"/>
            <a:ext cx="8810625" cy="16287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480457" y="5756366"/>
            <a:ext cx="4715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思考：什么情况下需要用到</a:t>
            </a:r>
            <a:r>
              <a:rPr lang="en-US" altLang="zh-CN" dirty="0"/>
              <a:t>save</a:t>
            </a:r>
            <a:r>
              <a:rPr lang="zh-CN" altLang="en-US" dirty="0"/>
              <a:t>、</a:t>
            </a:r>
            <a:r>
              <a:rPr lang="en-US" altLang="zh-CN" dirty="0"/>
              <a:t>load</a:t>
            </a:r>
            <a:r>
              <a:rPr lang="zh-CN" altLang="en-US" dirty="0"/>
              <a:t>命令？</a:t>
            </a:r>
          </a:p>
        </p:txBody>
      </p:sp>
    </p:spTree>
    <p:extLst>
      <p:ext uri="{BB962C8B-B14F-4D97-AF65-F5344CB8AC3E}">
        <p14:creationId xmlns:p14="http://schemas.microsoft.com/office/powerpoint/2010/main" val="3428962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5" y="1066800"/>
            <a:ext cx="7239000" cy="15049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638697" y="2786743"/>
            <a:ext cx="281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查看</a:t>
            </a:r>
            <a:r>
              <a:rPr lang="en-US" altLang="zh-CN" dirty="0"/>
              <a:t>MATLAB</a:t>
            </a:r>
            <a:r>
              <a:rPr lang="zh-CN" altLang="en-US" dirty="0"/>
              <a:t>占用内存情况</a:t>
            </a:r>
          </a:p>
        </p:txBody>
      </p:sp>
    </p:spTree>
    <p:extLst>
      <p:ext uri="{BB962C8B-B14F-4D97-AF65-F5344CB8AC3E}">
        <p14:creationId xmlns:p14="http://schemas.microsoft.com/office/powerpoint/2010/main" val="2359634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69900" y="174625"/>
            <a:ext cx="6934200" cy="57467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、命令行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469900" y="1114425"/>
            <a:ext cx="8045450" cy="4791075"/>
          </a:xfrm>
        </p:spPr>
        <p:txBody>
          <a:bodyPr>
            <a:normAutofit/>
          </a:bodyPr>
          <a:lstStyle/>
          <a:p>
            <a:pPr lvl="0"/>
            <a:r>
              <a:rPr lang="zh-CN" altLang="zh-CN" dirty="0"/>
              <a:t>数字显示格式：</a:t>
            </a:r>
            <a:r>
              <a:rPr lang="en-US" altLang="zh-CN" dirty="0"/>
              <a:t>format</a:t>
            </a:r>
            <a:r>
              <a:rPr lang="zh-CN" altLang="zh-CN" dirty="0"/>
              <a:t>命令</a:t>
            </a:r>
          </a:p>
          <a:p>
            <a:pPr lvl="0"/>
            <a:r>
              <a:rPr lang="zh-CN" altLang="zh-CN" dirty="0"/>
              <a:t>注释和标点</a:t>
            </a:r>
          </a:p>
          <a:p>
            <a:pPr lvl="1"/>
            <a:r>
              <a:rPr lang="en-US" altLang="zh-CN" dirty="0"/>
              <a:t>%</a:t>
            </a:r>
            <a:r>
              <a:rPr lang="zh-CN" altLang="zh-CN" dirty="0"/>
              <a:t>（</a:t>
            </a:r>
            <a:r>
              <a:rPr lang="en-US" altLang="zh-CN" dirty="0"/>
              <a:t>percent</a:t>
            </a:r>
            <a:r>
              <a:rPr lang="zh-CN" altLang="zh-CN" dirty="0"/>
              <a:t>）</a:t>
            </a:r>
            <a:r>
              <a:rPr lang="zh-CN" altLang="en-US" dirty="0"/>
              <a:t>：注释</a:t>
            </a:r>
            <a:endParaRPr lang="zh-CN" altLang="zh-CN" dirty="0"/>
          </a:p>
          <a:p>
            <a:pPr lvl="1"/>
            <a:r>
              <a:rPr lang="zh-CN" altLang="zh-CN" dirty="0"/>
              <a:t>，（</a:t>
            </a:r>
            <a:r>
              <a:rPr lang="en-US" altLang="zh-CN" dirty="0"/>
              <a:t>comma</a:t>
            </a:r>
            <a:r>
              <a:rPr lang="zh-CN" altLang="zh-CN" dirty="0"/>
              <a:t>）</a:t>
            </a:r>
            <a:r>
              <a:rPr lang="zh-CN" altLang="en-US" dirty="0"/>
              <a:t>：同一命令行中多个语句的分割符</a:t>
            </a:r>
            <a:endParaRPr lang="zh-CN" altLang="zh-CN" dirty="0"/>
          </a:p>
          <a:p>
            <a:pPr lvl="1"/>
            <a:r>
              <a:rPr lang="zh-CN" altLang="zh-CN" dirty="0"/>
              <a:t>；（</a:t>
            </a:r>
            <a:r>
              <a:rPr lang="en-US" altLang="zh-CN" dirty="0"/>
              <a:t>semicolon</a:t>
            </a:r>
            <a:r>
              <a:rPr lang="zh-CN" altLang="zh-CN" dirty="0"/>
              <a:t>）</a:t>
            </a:r>
            <a:r>
              <a:rPr lang="zh-CN" altLang="en-US" dirty="0"/>
              <a:t>：运行语言，但让其结果不输出</a:t>
            </a:r>
            <a:endParaRPr lang="zh-CN" altLang="zh-CN" dirty="0"/>
          </a:p>
          <a:p>
            <a:pPr lvl="1"/>
            <a:r>
              <a:rPr lang="zh-CN" altLang="zh-CN" dirty="0"/>
              <a:t>…（</a:t>
            </a:r>
            <a:r>
              <a:rPr lang="en-US" altLang="zh-CN" dirty="0"/>
              <a:t>ellipsis</a:t>
            </a:r>
            <a:r>
              <a:rPr lang="zh-CN" altLang="zh-CN" dirty="0"/>
              <a:t>）</a:t>
            </a:r>
            <a:r>
              <a:rPr lang="zh-CN" altLang="en-US" dirty="0"/>
              <a:t>：续行</a:t>
            </a:r>
            <a:endParaRPr lang="zh-CN" altLang="zh-CN" dirty="0"/>
          </a:p>
          <a:p>
            <a:pPr lvl="0"/>
            <a:r>
              <a:rPr lang="zh-CN" altLang="zh-CN" dirty="0"/>
              <a:t>快速输入：上下方向键和</a:t>
            </a:r>
            <a:r>
              <a:rPr lang="en-US" altLang="zh-CN" dirty="0"/>
              <a:t>Tab</a:t>
            </a:r>
            <a:r>
              <a:rPr lang="zh-CN" altLang="zh-CN" dirty="0"/>
              <a:t>键的作用</a:t>
            </a:r>
          </a:p>
          <a:p>
            <a:pPr lvl="0"/>
            <a:r>
              <a:rPr lang="zh-CN" altLang="zh-CN" dirty="0"/>
              <a:t>几个常用命令</a:t>
            </a:r>
            <a:endParaRPr lang="en-US" altLang="zh-CN" dirty="0"/>
          </a:p>
          <a:p>
            <a:pPr lvl="1"/>
            <a:r>
              <a:rPr lang="en-US" altLang="zh-CN" dirty="0" err="1"/>
              <a:t>Ctrl+C</a:t>
            </a:r>
            <a:r>
              <a:rPr lang="zh-CN" altLang="en-US" dirty="0"/>
              <a:t>：脚本运行过程中，强制脚本停止运行</a:t>
            </a:r>
            <a:endParaRPr lang="en-US" altLang="zh-CN" dirty="0"/>
          </a:p>
          <a:p>
            <a:pPr lvl="1"/>
            <a:r>
              <a:rPr lang="en-US" altLang="zh-CN" dirty="0"/>
              <a:t>Home</a:t>
            </a:r>
          </a:p>
          <a:p>
            <a:pPr lvl="1"/>
            <a:r>
              <a:rPr lang="en-US" altLang="zh-CN" dirty="0" err="1"/>
              <a:t>clc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51723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7650" y="316081"/>
            <a:ext cx="581977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onospace821BT-Roman"/>
              </a:rPr>
              <a:t>&gt;&gt;x = [4/3 1.2345e-6]</a:t>
            </a:r>
          </a:p>
          <a:p>
            <a:r>
              <a:rPr lang="en-US" altLang="zh-CN" b="1" dirty="0">
                <a:latin typeface="Monospace821BT-Roman"/>
              </a:rPr>
              <a:t>&gt;&gt; format short</a:t>
            </a:r>
          </a:p>
          <a:p>
            <a:r>
              <a:rPr lang="en-US" altLang="zh-CN" dirty="0">
                <a:latin typeface="Monospace821BT-Roman"/>
              </a:rPr>
              <a:t>   1.3333 0.0000</a:t>
            </a:r>
          </a:p>
          <a:p>
            <a:r>
              <a:rPr lang="en-US" altLang="zh-CN" b="1" dirty="0">
                <a:latin typeface="Monospace821BT-Roman"/>
              </a:rPr>
              <a:t>&gt;&gt; format short e</a:t>
            </a:r>
          </a:p>
          <a:p>
            <a:r>
              <a:rPr lang="en-US" altLang="zh-CN" dirty="0">
                <a:latin typeface="Monospace821BT-Roman"/>
              </a:rPr>
              <a:t>   1.3333e+000 1.2345e-006</a:t>
            </a:r>
          </a:p>
          <a:p>
            <a:r>
              <a:rPr lang="en-US" altLang="zh-CN" b="1" dirty="0">
                <a:latin typeface="Monospace821BT-Roman"/>
              </a:rPr>
              <a:t>&gt;&gt; format short g</a:t>
            </a:r>
          </a:p>
          <a:p>
            <a:r>
              <a:rPr lang="en-US" altLang="zh-CN" dirty="0">
                <a:latin typeface="Monospace821BT-Roman"/>
              </a:rPr>
              <a:t>   1.3333 1.2345e-006</a:t>
            </a:r>
          </a:p>
          <a:p>
            <a:r>
              <a:rPr lang="en-US" altLang="zh-CN" b="1" dirty="0">
                <a:latin typeface="Monospace821BT-Roman"/>
              </a:rPr>
              <a:t>&gt;&gt; format long</a:t>
            </a:r>
          </a:p>
          <a:p>
            <a:r>
              <a:rPr lang="en-US" altLang="zh-CN" dirty="0">
                <a:latin typeface="Monospace821BT-Roman"/>
              </a:rPr>
              <a:t>   1.33333333333333 0.00000123450000</a:t>
            </a:r>
          </a:p>
          <a:p>
            <a:r>
              <a:rPr lang="en-US" altLang="zh-CN" b="1" dirty="0">
                <a:latin typeface="Monospace821BT-Roman"/>
              </a:rPr>
              <a:t>&gt;&gt; format long e</a:t>
            </a:r>
          </a:p>
          <a:p>
            <a:r>
              <a:rPr lang="en-US" altLang="zh-CN" dirty="0">
                <a:latin typeface="Monospace821BT-Roman"/>
              </a:rPr>
              <a:t>   1.333333333333333e+000 1.234500000000000e-006</a:t>
            </a:r>
          </a:p>
          <a:p>
            <a:r>
              <a:rPr lang="en-US" altLang="zh-CN" b="1" dirty="0">
                <a:latin typeface="Monospace821BT-Roman"/>
              </a:rPr>
              <a:t>&gt;&gt; format long g</a:t>
            </a:r>
          </a:p>
          <a:p>
            <a:r>
              <a:rPr lang="en-US" altLang="zh-CN" dirty="0">
                <a:latin typeface="Monospace821BT-Roman"/>
              </a:rPr>
              <a:t>   1.33333333333333 1.2345e-006</a:t>
            </a:r>
          </a:p>
          <a:p>
            <a:r>
              <a:rPr lang="en-US" altLang="zh-CN" b="1" dirty="0">
                <a:latin typeface="Monospace821BT-Roman"/>
              </a:rPr>
              <a:t>&gt;&gt; format hex</a:t>
            </a:r>
          </a:p>
          <a:p>
            <a:r>
              <a:rPr lang="en-US" altLang="zh-CN" dirty="0">
                <a:latin typeface="Monospace821BT-Roman"/>
              </a:rPr>
              <a:t>   3ff5555555555555 3eb4b6231abfd271</a:t>
            </a:r>
            <a:endParaRPr lang="zh-CN" altLang="en-US" dirty="0"/>
          </a:p>
        </p:txBody>
      </p:sp>
      <p:graphicFrame>
        <p:nvGraphicFramePr>
          <p:cNvPr id="7" name="Group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0122497"/>
              </p:ext>
            </p:extLst>
          </p:nvPr>
        </p:nvGraphicFramePr>
        <p:xfrm>
          <a:off x="5876925" y="847725"/>
          <a:ext cx="6207761" cy="3324225"/>
        </p:xfrm>
        <a:graphic>
          <a:graphicData uri="http://schemas.openxmlformats.org/drawingml/2006/table">
            <a:tbl>
              <a:tblPr/>
              <a:tblGrid>
                <a:gridCol w="1489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format short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C4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位定点表示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format long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C4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位定点表示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format short 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C4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位浮点表示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科学计数法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format long 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C4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位浮点表示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科学计数法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format short g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C4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位定点和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位浮点中自动选择最好格式表示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70C4C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format long g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C4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位定点和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位浮点中自动选择最好格式表示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format hex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C4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进制格式表示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70C4C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format +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C4C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70C4C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0C4C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在矩阵中，用符号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C4C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和空格表示正号、负号和零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026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9900" y="954767"/>
            <a:ext cx="11260546" cy="5524409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变量的</a:t>
            </a:r>
            <a:r>
              <a:rPr lang="en-US" altLang="zh-CN" dirty="0"/>
              <a:t>2</a:t>
            </a:r>
            <a:r>
              <a:rPr lang="zh-CN" altLang="en-US" dirty="0"/>
              <a:t>个基本问题：命名、数据类型</a:t>
            </a:r>
            <a:endParaRPr lang="en-US" altLang="zh-CN" dirty="0"/>
          </a:p>
          <a:p>
            <a:r>
              <a:rPr lang="en-US" altLang="zh-CN" dirty="0" err="1"/>
              <a:t>Matlab</a:t>
            </a:r>
            <a:r>
              <a:rPr lang="zh-CN" altLang="en-US" dirty="0"/>
              <a:t>变量命名规则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FF0000"/>
                </a:solidFill>
              </a:rPr>
              <a:t>必须以字母开头</a:t>
            </a:r>
            <a:r>
              <a:rPr lang="zh-CN" altLang="en-US" dirty="0"/>
              <a:t>，可以</a:t>
            </a:r>
            <a:r>
              <a:rPr kumimoji="1" lang="zh-CN" altLang="en-US" dirty="0">
                <a:latin typeface="Times New Roman" panose="02020603050405020304" pitchFamily="18" charset="0"/>
              </a:rPr>
              <a:t>字母、数字或下划线组成；</a:t>
            </a:r>
            <a:endParaRPr kumimoji="1" lang="en-US" altLang="zh-CN" dirty="0">
              <a:latin typeface="Times New Roman" panose="02020603050405020304" pitchFamily="18" charset="0"/>
            </a:endParaRPr>
          </a:p>
          <a:p>
            <a:pPr lvl="1"/>
            <a:r>
              <a:rPr kumimoji="1" lang="zh-CN" altLang="en-US" dirty="0">
                <a:latin typeface="Times New Roman" panose="02020603050405020304" pitchFamily="18" charset="0"/>
              </a:rPr>
              <a:t>（</a:t>
            </a:r>
            <a:r>
              <a:rPr kumimoji="1" lang="en-US" altLang="zh-CN" dirty="0">
                <a:latin typeface="Times New Roman" panose="02020603050405020304" pitchFamily="18" charset="0"/>
              </a:rPr>
              <a:t>2</a:t>
            </a:r>
            <a:r>
              <a:rPr kumimoji="1" lang="zh-CN" altLang="en-US" dirty="0">
                <a:latin typeface="Times New Roman" panose="02020603050405020304" pitchFamily="18" charset="0"/>
              </a:rPr>
              <a:t>）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区分大小写</a:t>
            </a:r>
            <a:r>
              <a:rPr kumimoji="1" lang="zh-CN" altLang="en-US" dirty="0">
                <a:latin typeface="Times New Roman" panose="02020603050405020304" pitchFamily="18" charset="0"/>
              </a:rPr>
              <a:t>：比如</a:t>
            </a:r>
            <a:r>
              <a:rPr kumimoji="1" lang="en-US" altLang="zh-CN" dirty="0">
                <a:latin typeface="Times New Roman" panose="02020603050405020304" pitchFamily="18" charset="0"/>
              </a:rPr>
              <a:t>A</a:t>
            </a:r>
            <a:r>
              <a:rPr kumimoji="1" lang="zh-CN" altLang="en-US" dirty="0">
                <a:latin typeface="Times New Roman" panose="02020603050405020304" pitchFamily="18" charset="0"/>
              </a:rPr>
              <a:t>和</a:t>
            </a:r>
            <a:r>
              <a:rPr kumimoji="1" lang="en-US" altLang="zh-CN" dirty="0">
                <a:latin typeface="Times New Roman" panose="02020603050405020304" pitchFamily="18" charset="0"/>
              </a:rPr>
              <a:t>a</a:t>
            </a:r>
            <a:r>
              <a:rPr kumimoji="1" lang="zh-CN" altLang="en-US" dirty="0">
                <a:latin typeface="Times New Roman" panose="02020603050405020304" pitchFamily="18" charset="0"/>
              </a:rPr>
              <a:t>是不同的变量；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）变量名的长度不能超过</a:t>
            </a:r>
            <a:r>
              <a:rPr lang="en-US" altLang="zh-CN" dirty="0"/>
              <a:t>63</a:t>
            </a:r>
            <a:r>
              <a:rPr lang="zh-CN" altLang="en-US" dirty="0"/>
              <a:t>个字符</a:t>
            </a:r>
            <a:endParaRPr lang="en-US" altLang="zh-CN" dirty="0"/>
          </a:p>
          <a:p>
            <a:r>
              <a:rPr lang="zh-CN" altLang="en-US" dirty="0"/>
              <a:t>数据类型（</a:t>
            </a:r>
            <a:r>
              <a:rPr lang="en-US" altLang="zh-CN" b="1" dirty="0"/>
              <a:t>Class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整数</a:t>
            </a:r>
            <a:endParaRPr lang="en-US" altLang="zh-CN" dirty="0"/>
          </a:p>
          <a:p>
            <a:pPr lvl="1"/>
            <a:r>
              <a:rPr lang="zh-CN" altLang="en-US" dirty="0"/>
              <a:t>字符、字符串</a:t>
            </a:r>
            <a:endParaRPr lang="en-US" altLang="zh-CN" dirty="0"/>
          </a:p>
          <a:p>
            <a:pPr lvl="1"/>
            <a:r>
              <a:rPr lang="zh-CN" altLang="en-US" dirty="0"/>
              <a:t>浮点数：单精度（</a:t>
            </a:r>
            <a:r>
              <a:rPr lang="en-US" altLang="zh-CN" dirty="0"/>
              <a:t>single</a:t>
            </a:r>
            <a:r>
              <a:rPr lang="zh-CN" altLang="en-US" dirty="0"/>
              <a:t>）、双精度（</a:t>
            </a:r>
            <a:r>
              <a:rPr lang="en-US" altLang="zh-CN" dirty="0"/>
              <a:t>double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复数</a:t>
            </a:r>
            <a:r>
              <a:rPr lang="zh-CN" altLang="en-US" dirty="0"/>
              <a:t>：</a:t>
            </a:r>
            <a:r>
              <a:rPr lang="en-US" altLang="zh-CN" dirty="0" err="1"/>
              <a:t>matlab</a:t>
            </a:r>
            <a:r>
              <a:rPr lang="zh-CN" altLang="en-US" dirty="0"/>
              <a:t>内部直接支持复数的运算</a:t>
            </a:r>
            <a:endParaRPr lang="en-US" altLang="zh-CN" dirty="0"/>
          </a:p>
          <a:p>
            <a:pPr lvl="1"/>
            <a:r>
              <a:rPr lang="zh-CN" altLang="en-US" dirty="0"/>
              <a:t>自定义的复杂数据类型：</a:t>
            </a:r>
            <a:r>
              <a:rPr lang="en-US" altLang="zh-CN" dirty="0" err="1"/>
              <a:t>struct</a:t>
            </a:r>
            <a:r>
              <a:rPr lang="zh-CN" altLang="en-US" dirty="0"/>
              <a:t>、</a:t>
            </a:r>
            <a:r>
              <a:rPr lang="en-US" altLang="zh-CN" dirty="0"/>
              <a:t>cell array</a:t>
            </a:r>
            <a:r>
              <a:rPr lang="zh-CN" altLang="en-US" dirty="0"/>
              <a:t>、</a:t>
            </a:r>
            <a:r>
              <a:rPr lang="en-US" altLang="zh-CN" dirty="0"/>
              <a:t>table</a:t>
            </a:r>
          </a:p>
          <a:p>
            <a:r>
              <a:rPr lang="zh-CN" altLang="en-US" dirty="0"/>
              <a:t>重要的</a:t>
            </a:r>
            <a:r>
              <a:rPr lang="en-US" altLang="zh-CN" dirty="0"/>
              <a:t>2</a:t>
            </a:r>
            <a:r>
              <a:rPr lang="zh-CN" altLang="en-US" dirty="0"/>
              <a:t>点：</a:t>
            </a:r>
            <a:endParaRPr lang="en-US" altLang="zh-CN" dirty="0"/>
          </a:p>
          <a:p>
            <a:pPr lvl="1"/>
            <a:r>
              <a:rPr lang="en-US" altLang="zh-CN" b="1" dirty="0" err="1">
                <a:solidFill>
                  <a:srgbClr val="FF0000"/>
                </a:solidFill>
              </a:rPr>
              <a:t>Matlab</a:t>
            </a:r>
            <a:r>
              <a:rPr lang="zh-CN" altLang="en-US" b="1" dirty="0">
                <a:solidFill>
                  <a:srgbClr val="FF0000"/>
                </a:solidFill>
              </a:rPr>
              <a:t>创建变量时，可以不用指定数据类型；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en-US" altLang="zh-CN" b="1" dirty="0" err="1">
                <a:solidFill>
                  <a:srgbClr val="FF0000"/>
                </a:solidFill>
              </a:rPr>
              <a:t>Matlab</a:t>
            </a:r>
            <a:r>
              <a:rPr lang="zh-CN" altLang="en-US" b="1" dirty="0">
                <a:solidFill>
                  <a:srgbClr val="FF0000"/>
                </a:solidFill>
              </a:rPr>
              <a:t>变量的默认数据类型是双精度（如果你没有指定数据类型）</a:t>
            </a:r>
            <a:endParaRPr lang="en-US" altLang="zh-CN" dirty="0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69900" y="174625"/>
            <a:ext cx="6934200" cy="57467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、变量（</a:t>
            </a:r>
            <a:r>
              <a:rPr lang="en-US" altLang="zh-CN" dirty="0"/>
              <a:t>variable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3611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2566851" cy="34897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变量命名规则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2" y="835470"/>
            <a:ext cx="6467475" cy="4048125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87019" y="5179971"/>
            <a:ext cx="10581277" cy="144009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zh-CN" altLang="en-US" sz="2400" dirty="0">
                <a:solidFill>
                  <a:srgbClr val="FF0000"/>
                </a:solidFill>
              </a:rPr>
              <a:t>必须以字母开头</a:t>
            </a:r>
            <a:r>
              <a:rPr lang="zh-CN" altLang="en-US" sz="2400" dirty="0"/>
              <a:t>，可以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字母、数字或下划线组成；</a:t>
            </a:r>
            <a:endParaRPr kumimoji="1" lang="en-US" altLang="zh-CN" sz="2400" dirty="0">
              <a:latin typeface="Times New Roman" panose="02020603050405020304" pitchFamily="18" charset="0"/>
            </a:endParaRPr>
          </a:p>
          <a:p>
            <a:r>
              <a:rPr kumimoji="1" lang="zh-CN" altLang="en-US" sz="2400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）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区分大小写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：比如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A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和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a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是不同的变量；</a:t>
            </a:r>
            <a:endParaRPr lang="en-US" altLang="zh-CN" sz="2400" dirty="0"/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）变量名的长度不能超过</a:t>
            </a:r>
            <a:r>
              <a:rPr lang="en-US" altLang="zh-CN" sz="2400" dirty="0"/>
              <a:t>63</a:t>
            </a:r>
            <a:r>
              <a:rPr lang="zh-CN" altLang="en-US" sz="2400" dirty="0"/>
              <a:t>个字符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176188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633" y="78649"/>
            <a:ext cx="3057525" cy="66484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83308" y="926854"/>
            <a:ext cx="912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/>
                </a:solidFill>
              </a:rPr>
              <a:t>✔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65891" y="1709254"/>
            <a:ext cx="511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/>
                </a:solidFill>
              </a:rPr>
              <a:t>✔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290152" y="3935690"/>
            <a:ext cx="912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/>
                </a:solidFill>
              </a:rPr>
              <a:t>✔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129042" y="4614008"/>
            <a:ext cx="912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6"/>
                </a:solidFill>
              </a:rPr>
              <a:t>✔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154839" y="5408943"/>
            <a:ext cx="510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✘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410288" y="3192572"/>
            <a:ext cx="934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✘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320512" y="2481059"/>
            <a:ext cx="530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✘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383308" y="233747"/>
            <a:ext cx="934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✘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154839" y="6078127"/>
            <a:ext cx="510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✘</a:t>
            </a:r>
          </a:p>
        </p:txBody>
      </p:sp>
    </p:spTree>
    <p:extLst>
      <p:ext uri="{BB962C8B-B14F-4D97-AF65-F5344CB8AC3E}">
        <p14:creationId xmlns:p14="http://schemas.microsoft.com/office/powerpoint/2010/main" val="73081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391523" y="946059"/>
            <a:ext cx="7655197" cy="2493827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整数</a:t>
            </a:r>
            <a:endParaRPr lang="en-US" altLang="zh-CN" dirty="0"/>
          </a:p>
          <a:p>
            <a:pPr lvl="1"/>
            <a:r>
              <a:rPr lang="zh-CN" altLang="en-US" dirty="0"/>
              <a:t>字符、字符串</a:t>
            </a:r>
            <a:endParaRPr lang="en-US" altLang="zh-CN" dirty="0"/>
          </a:p>
          <a:p>
            <a:pPr lvl="1"/>
            <a:r>
              <a:rPr lang="zh-CN" altLang="en-US" dirty="0"/>
              <a:t>逻辑类型（</a:t>
            </a:r>
            <a:r>
              <a:rPr lang="en-US" altLang="zh-CN" dirty="0"/>
              <a:t>logical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浮点数：单精度（</a:t>
            </a:r>
            <a:r>
              <a:rPr lang="en-US" altLang="zh-CN" dirty="0"/>
              <a:t>single</a:t>
            </a:r>
            <a:r>
              <a:rPr lang="zh-CN" altLang="en-US" dirty="0"/>
              <a:t>）、双精度（</a:t>
            </a:r>
            <a:r>
              <a:rPr lang="en-US" altLang="zh-CN" dirty="0"/>
              <a:t>double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复数</a:t>
            </a:r>
            <a:r>
              <a:rPr lang="zh-CN" altLang="en-US" dirty="0"/>
              <a:t>：</a:t>
            </a:r>
            <a:r>
              <a:rPr lang="en-US" altLang="zh-CN" dirty="0" err="1"/>
              <a:t>matlab</a:t>
            </a:r>
            <a:r>
              <a:rPr lang="zh-CN" altLang="en-US" dirty="0"/>
              <a:t>内部直接支持复数的运算</a:t>
            </a:r>
            <a:endParaRPr lang="en-US" altLang="zh-CN" dirty="0"/>
          </a:p>
          <a:p>
            <a:pPr lvl="1"/>
            <a:r>
              <a:rPr lang="zh-CN" altLang="en-US" dirty="0"/>
              <a:t>自定义的复杂数据类型：</a:t>
            </a:r>
            <a:r>
              <a:rPr lang="en-US" altLang="zh-CN" dirty="0" err="1"/>
              <a:t>struct</a:t>
            </a:r>
            <a:r>
              <a:rPr lang="zh-CN" altLang="en-US" dirty="0"/>
              <a:t>、</a:t>
            </a:r>
            <a:r>
              <a:rPr lang="en-US" altLang="zh-CN" dirty="0"/>
              <a:t>cell array</a:t>
            </a:r>
            <a:r>
              <a:rPr lang="zh-CN" altLang="en-US" dirty="0"/>
              <a:t>、</a:t>
            </a:r>
            <a:r>
              <a:rPr lang="en-US" altLang="zh-CN" dirty="0"/>
              <a:t>table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2566851" cy="348978"/>
          </a:xfrm>
        </p:spPr>
        <p:txBody>
          <a:bodyPr>
            <a:normAutofit fontScale="90000"/>
          </a:bodyPr>
          <a:lstStyle/>
          <a:p>
            <a:r>
              <a:rPr lang="zh-CN" altLang="en-US" sz="2800" dirty="0"/>
              <a:t>数据类型（</a:t>
            </a:r>
            <a:r>
              <a:rPr lang="en-US" altLang="zh-CN" sz="2800" b="1" dirty="0"/>
              <a:t>Class</a:t>
            </a:r>
            <a:r>
              <a:rPr lang="zh-CN" altLang="en-US" sz="2800" dirty="0"/>
              <a:t>）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49765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829550" y="1992093"/>
            <a:ext cx="39565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class </a:t>
            </a:r>
            <a:r>
              <a:rPr lang="zh-CN" altLang="en-US" dirty="0"/>
              <a:t>在</a:t>
            </a:r>
            <a:r>
              <a:rPr lang="en-US" altLang="zh-CN" dirty="0" err="1"/>
              <a:t>Matlab</a:t>
            </a:r>
            <a:r>
              <a:rPr lang="zh-CN" altLang="en-US" dirty="0"/>
              <a:t>中是数据类型的意思，</a:t>
            </a:r>
            <a:endParaRPr lang="en-US" altLang="zh-CN" dirty="0"/>
          </a:p>
          <a:p>
            <a:r>
              <a:rPr lang="zh-CN" altLang="en-US" dirty="0"/>
              <a:t>（注：</a:t>
            </a:r>
            <a:r>
              <a:rPr lang="en-US" altLang="zh-CN" dirty="0"/>
              <a:t>class</a:t>
            </a:r>
            <a:r>
              <a:rPr lang="zh-CN" altLang="en-US" dirty="0"/>
              <a:t>在</a:t>
            </a:r>
            <a:r>
              <a:rPr lang="en-US" altLang="zh-CN" dirty="0" err="1"/>
              <a:t>c++</a:t>
            </a:r>
            <a:r>
              <a:rPr lang="zh-CN" altLang="en-US" dirty="0"/>
              <a:t>中是“类”的意思）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121" y="2557463"/>
            <a:ext cx="7178129" cy="336341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96" y="1919834"/>
            <a:ext cx="4181475" cy="38385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21300" y="466725"/>
            <a:ext cx="3536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/>
              <a:t>Matlab</a:t>
            </a:r>
            <a:r>
              <a:rPr lang="zh-CN" altLang="en-US" sz="2400" dirty="0"/>
              <a:t>中的数据类型示例</a:t>
            </a:r>
          </a:p>
        </p:txBody>
      </p:sp>
    </p:spTree>
    <p:extLst>
      <p:ext uri="{BB962C8B-B14F-4D97-AF65-F5344CB8AC3E}">
        <p14:creationId xmlns:p14="http://schemas.microsoft.com/office/powerpoint/2010/main" val="1031752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4372" y="203381"/>
            <a:ext cx="3844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/>
              <a:t>Matlab</a:t>
            </a:r>
            <a:r>
              <a:rPr lang="zh-CN" altLang="en-US" sz="2400" dirty="0"/>
              <a:t>中的一些</a:t>
            </a:r>
            <a:r>
              <a:rPr lang="zh-CN" altLang="en-US" sz="2400" dirty="0">
                <a:solidFill>
                  <a:srgbClr val="FF0000"/>
                </a:solidFill>
              </a:rPr>
              <a:t>特殊常量</a:t>
            </a:r>
            <a:r>
              <a:rPr lang="zh-CN" altLang="en-US" sz="2400" dirty="0"/>
              <a:t>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35" y="902562"/>
            <a:ext cx="6534150" cy="453467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614195" y="66504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特殊常量的名字情况：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195" y="1034378"/>
            <a:ext cx="215265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37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469900" y="954768"/>
            <a:ext cx="11260546" cy="1710056"/>
          </a:xfrm>
        </p:spPr>
        <p:txBody>
          <a:bodyPr>
            <a:normAutofit/>
          </a:bodyPr>
          <a:lstStyle/>
          <a:p>
            <a:r>
              <a:rPr lang="zh-CN" altLang="en-US" dirty="0"/>
              <a:t>重要的</a:t>
            </a:r>
            <a:r>
              <a:rPr lang="en-US" altLang="zh-CN" dirty="0"/>
              <a:t>2</a:t>
            </a:r>
            <a:r>
              <a:rPr lang="zh-CN" altLang="en-US" dirty="0"/>
              <a:t>点：</a:t>
            </a:r>
            <a:endParaRPr lang="en-US" altLang="zh-CN" dirty="0"/>
          </a:p>
          <a:p>
            <a:pPr lvl="1"/>
            <a:r>
              <a:rPr lang="en-US" altLang="zh-CN" b="1" dirty="0" err="1">
                <a:solidFill>
                  <a:srgbClr val="FF0000"/>
                </a:solidFill>
              </a:rPr>
              <a:t>Matlab</a:t>
            </a:r>
            <a:r>
              <a:rPr lang="zh-CN" altLang="en-US" b="1" dirty="0">
                <a:solidFill>
                  <a:srgbClr val="FF0000"/>
                </a:solidFill>
              </a:rPr>
              <a:t>创建变量时，可以不用指定数据类型；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en-US" altLang="zh-CN" b="1" dirty="0" err="1">
                <a:solidFill>
                  <a:srgbClr val="FF0000"/>
                </a:solidFill>
              </a:rPr>
              <a:t>Matlab</a:t>
            </a:r>
            <a:r>
              <a:rPr lang="zh-CN" altLang="en-US" b="1" dirty="0">
                <a:solidFill>
                  <a:srgbClr val="FF0000"/>
                </a:solidFill>
              </a:rPr>
              <a:t>变量创建时如果没有指定数据类型，其默认数据类型是双精度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2566851" cy="348978"/>
          </a:xfrm>
        </p:spPr>
        <p:txBody>
          <a:bodyPr>
            <a:normAutofit fontScale="90000"/>
          </a:bodyPr>
          <a:lstStyle/>
          <a:p>
            <a:r>
              <a:rPr lang="en-US" altLang="zh-CN" sz="2800" dirty="0"/>
              <a:t>MATLAB</a:t>
            </a:r>
            <a:r>
              <a:rPr lang="zh-CN" altLang="en-US" sz="2800" dirty="0"/>
              <a:t>变量特点：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07623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63" y="1231991"/>
            <a:ext cx="2733675" cy="40957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470263" y="1793966"/>
            <a:ext cx="3770812" cy="3770811"/>
            <a:chOff x="1820092" y="592183"/>
            <a:chExt cx="3770812" cy="3770811"/>
          </a:xfrm>
        </p:grpSpPr>
        <p:sp>
          <p:nvSpPr>
            <p:cNvPr id="4" name="矩形 3"/>
            <p:cNvSpPr/>
            <p:nvPr/>
          </p:nvSpPr>
          <p:spPr>
            <a:xfrm>
              <a:off x="1820092" y="592183"/>
              <a:ext cx="3770812" cy="377081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2656114" y="896983"/>
              <a:ext cx="2599509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ans = double</a:t>
              </a:r>
              <a:endPara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2656114" y="1770380"/>
              <a:ext cx="259951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ans = char</a:t>
              </a:r>
              <a:endPara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2669176" y="2643777"/>
              <a:ext cx="2586447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ans = single</a:t>
              </a:r>
              <a:endPara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2656114" y="3517174"/>
              <a:ext cx="2586447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ans = uint8</a:t>
              </a:r>
              <a:endPara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2031273" y="896983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(A)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2031273" y="1772194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(B)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2031273" y="2647405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(C)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2031273" y="3522617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(D)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645963" y="51980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下面的命令的输出结果是什么？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5478193" y="1246278"/>
            <a:ext cx="4152900" cy="4318499"/>
            <a:chOff x="5478193" y="1246278"/>
            <a:chExt cx="4152900" cy="4318499"/>
          </a:xfrm>
        </p:grpSpPr>
        <p:grpSp>
          <p:nvGrpSpPr>
            <p:cNvPr id="17" name="组合 16"/>
            <p:cNvGrpSpPr/>
            <p:nvPr/>
          </p:nvGrpSpPr>
          <p:grpSpPr>
            <a:xfrm>
              <a:off x="5486400" y="1793966"/>
              <a:ext cx="3770812" cy="3770811"/>
              <a:chOff x="1820092" y="592183"/>
              <a:chExt cx="3770812" cy="3770811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1820092" y="592183"/>
                <a:ext cx="3770812" cy="377081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圆角矩形 18"/>
              <p:cNvSpPr/>
              <p:nvPr/>
            </p:nvSpPr>
            <p:spPr>
              <a:xfrm>
                <a:off x="2656114" y="896983"/>
                <a:ext cx="2599509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ans = double</a:t>
                </a:r>
                <a:endParaRPr lang="zh-CN" altLang="en-US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0" name="圆角矩形 19"/>
              <p:cNvSpPr/>
              <p:nvPr/>
            </p:nvSpPr>
            <p:spPr>
              <a:xfrm>
                <a:off x="2656114" y="1770380"/>
                <a:ext cx="2599510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ans = char</a:t>
                </a:r>
                <a:endParaRPr lang="zh-CN" altLang="en-US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1" name="圆角矩形 20"/>
              <p:cNvSpPr/>
              <p:nvPr/>
            </p:nvSpPr>
            <p:spPr>
              <a:xfrm>
                <a:off x="2669176" y="2643777"/>
                <a:ext cx="2586447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ans = single</a:t>
                </a:r>
                <a:endParaRPr lang="zh-CN" altLang="en-US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2" name="圆角矩形 21"/>
              <p:cNvSpPr/>
              <p:nvPr/>
            </p:nvSpPr>
            <p:spPr>
              <a:xfrm>
                <a:off x="2656114" y="3517174"/>
                <a:ext cx="2586447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ans = uint8</a:t>
                </a:r>
                <a:endParaRPr lang="zh-CN" altLang="en-US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3" name="圆角矩形 22"/>
              <p:cNvSpPr/>
              <p:nvPr/>
            </p:nvSpPr>
            <p:spPr>
              <a:xfrm>
                <a:off x="2031273" y="896983"/>
                <a:ext cx="579120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ln w="0"/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(A)</a:t>
                </a:r>
                <a:endPara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4" name="圆角矩形 23"/>
              <p:cNvSpPr/>
              <p:nvPr/>
            </p:nvSpPr>
            <p:spPr>
              <a:xfrm>
                <a:off x="2031273" y="1772194"/>
                <a:ext cx="579120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ln w="0"/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(B)</a:t>
                </a:r>
                <a:endPara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5" name="圆角矩形 24"/>
              <p:cNvSpPr/>
              <p:nvPr/>
            </p:nvSpPr>
            <p:spPr>
              <a:xfrm>
                <a:off x="2031273" y="2647405"/>
                <a:ext cx="579120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ln w="0"/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(C)</a:t>
                </a:r>
                <a:endPara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6" name="圆角矩形 25"/>
              <p:cNvSpPr/>
              <p:nvPr/>
            </p:nvSpPr>
            <p:spPr>
              <a:xfrm>
                <a:off x="2031273" y="3522617"/>
                <a:ext cx="579120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ln w="0"/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(D)</a:t>
                </a:r>
                <a:endPara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p:grp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8193" y="1246278"/>
              <a:ext cx="4152900" cy="381000"/>
            </a:xfrm>
            <a:prstGeom prst="rect">
              <a:avLst/>
            </a:prstGeom>
          </p:spPr>
        </p:pic>
      </p:grpSp>
      <p:sp>
        <p:nvSpPr>
          <p:cNvPr id="29" name="文本框 28"/>
          <p:cNvSpPr txBox="1"/>
          <p:nvPr/>
        </p:nvSpPr>
        <p:spPr>
          <a:xfrm>
            <a:off x="3561791" y="2186597"/>
            <a:ext cx="511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8519139" y="3933391"/>
            <a:ext cx="511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175106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114697" y="2090058"/>
            <a:ext cx="3770812" cy="3770811"/>
            <a:chOff x="1820092" y="592183"/>
            <a:chExt cx="3770812" cy="3770811"/>
          </a:xfrm>
        </p:grpSpPr>
        <p:sp>
          <p:nvSpPr>
            <p:cNvPr id="6" name="矩形 5"/>
            <p:cNvSpPr/>
            <p:nvPr/>
          </p:nvSpPr>
          <p:spPr>
            <a:xfrm>
              <a:off x="1820092" y="592183"/>
              <a:ext cx="3770812" cy="377081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2656114" y="896983"/>
              <a:ext cx="2599509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ans = double</a:t>
              </a:r>
              <a:endPara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2656114" y="1770380"/>
              <a:ext cx="259951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ans = char</a:t>
              </a:r>
              <a:endPara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2669176" y="2643777"/>
              <a:ext cx="2586447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ans = single</a:t>
              </a:r>
              <a:endPara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2656114" y="3517174"/>
              <a:ext cx="2586447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ans = uint8</a:t>
              </a:r>
              <a:endPara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2031273" y="896983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(A)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2031273" y="1772194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(B)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2031273" y="2647405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(C)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2031273" y="3522617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(D)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4206225" y="2482689"/>
            <a:ext cx="511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✔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697" y="225335"/>
            <a:ext cx="2552700" cy="17335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452" y="1003119"/>
            <a:ext cx="2543175" cy="7239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6287452" y="2090058"/>
            <a:ext cx="3770812" cy="3770811"/>
            <a:chOff x="1820092" y="592183"/>
            <a:chExt cx="3770812" cy="3770811"/>
          </a:xfrm>
        </p:grpSpPr>
        <p:sp>
          <p:nvSpPr>
            <p:cNvPr id="19" name="矩形 18"/>
            <p:cNvSpPr/>
            <p:nvPr/>
          </p:nvSpPr>
          <p:spPr>
            <a:xfrm>
              <a:off x="1820092" y="592183"/>
              <a:ext cx="3770812" cy="377081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2656114" y="896983"/>
              <a:ext cx="2599509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 = 0</a:t>
              </a:r>
              <a:endPara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2656114" y="1770380"/>
              <a:ext cx="259951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 = 200</a:t>
              </a:r>
              <a:endPara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2669176" y="2643777"/>
              <a:ext cx="2586447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 = 127</a:t>
              </a:r>
              <a:endPara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2656114" y="3517174"/>
              <a:ext cx="2586447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 = -128</a:t>
              </a:r>
              <a:endPara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2031273" y="896983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(A)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2031273" y="1772194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(B)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2031273" y="2647405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(C)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2031273" y="3522617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(D)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9123159" y="4202260"/>
            <a:ext cx="511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40093" y="5948700"/>
            <a:ext cx="4520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/>
              <a:t>Matlab</a:t>
            </a:r>
            <a:r>
              <a:rPr lang="zh-CN" altLang="en-US" sz="2000" b="1" dirty="0"/>
              <a:t>中变量的数据类型可以被改变，</a:t>
            </a:r>
            <a:endParaRPr lang="en-US" altLang="zh-CN" sz="2000" b="1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注：</a:t>
            </a:r>
            <a:r>
              <a:rPr lang="en-US" altLang="zh-CN" sz="2000" b="1" dirty="0">
                <a:solidFill>
                  <a:srgbClr val="FF0000"/>
                </a:solidFill>
              </a:rPr>
              <a:t>C</a:t>
            </a:r>
            <a:r>
              <a:rPr lang="zh-CN" altLang="en-US" sz="2000" b="1" dirty="0">
                <a:solidFill>
                  <a:srgbClr val="FF0000"/>
                </a:solidFill>
              </a:rPr>
              <a:t>语言中是不行的</a:t>
            </a:r>
          </a:p>
        </p:txBody>
      </p:sp>
    </p:spTree>
    <p:extLst>
      <p:ext uri="{BB962C8B-B14F-4D97-AF65-F5344CB8AC3E}">
        <p14:creationId xmlns:p14="http://schemas.microsoft.com/office/powerpoint/2010/main" val="421064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8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83771" y="1071160"/>
            <a:ext cx="3770812" cy="3770811"/>
            <a:chOff x="1820092" y="592183"/>
            <a:chExt cx="3770812" cy="3770811"/>
          </a:xfrm>
        </p:grpSpPr>
        <p:sp>
          <p:nvSpPr>
            <p:cNvPr id="5" name="矩形 4"/>
            <p:cNvSpPr/>
            <p:nvPr/>
          </p:nvSpPr>
          <p:spPr>
            <a:xfrm>
              <a:off x="1820092" y="592183"/>
              <a:ext cx="3770812" cy="377081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2656114" y="896983"/>
              <a:ext cx="2599509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 = 3</a:t>
              </a:r>
              <a:endPara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2656114" y="1770380"/>
              <a:ext cx="259951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没有任何输出</a:t>
              </a: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2669176" y="2499360"/>
              <a:ext cx="2586447" cy="86214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A=1</a:t>
              </a:r>
            </a:p>
            <a:p>
              <a:pPr algn="ctr"/>
              <a:r>
                <a:rPr lang="en-US" altLang="zh-CN" sz="20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B=2</a:t>
              </a:r>
            </a:p>
            <a:p>
              <a:pPr algn="ctr"/>
              <a:r>
                <a:rPr lang="en-US" altLang="zh-CN" sz="20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C=3</a:t>
              </a:r>
              <a:endParaRPr lang="zh-CN" alt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2656114" y="3517174"/>
              <a:ext cx="2586447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输出错误信息</a:t>
              </a: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2031273" y="896983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(A)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2031273" y="1772194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(B)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2031273" y="2647405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(C)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2031273" y="3522617"/>
              <a:ext cx="579120" cy="58347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(D)</a:t>
              </a:r>
              <a:endParaRPr lang="zh-CN" alt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71" y="646889"/>
            <a:ext cx="3257550" cy="32385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5951900" y="356785"/>
            <a:ext cx="3770812" cy="4506957"/>
            <a:chOff x="5951900" y="356785"/>
            <a:chExt cx="3770812" cy="4506957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1900" y="356785"/>
              <a:ext cx="2447925" cy="714375"/>
            </a:xfrm>
            <a:prstGeom prst="rect">
              <a:avLst/>
            </a:prstGeom>
          </p:spPr>
        </p:pic>
        <p:grpSp>
          <p:nvGrpSpPr>
            <p:cNvPr id="16" name="组合 15"/>
            <p:cNvGrpSpPr/>
            <p:nvPr/>
          </p:nvGrpSpPr>
          <p:grpSpPr>
            <a:xfrm>
              <a:off x="5951900" y="1092931"/>
              <a:ext cx="3770812" cy="3770811"/>
              <a:chOff x="1820092" y="592183"/>
              <a:chExt cx="3770812" cy="3770811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1820092" y="592183"/>
                <a:ext cx="3770812" cy="377081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圆角矩形 17"/>
              <p:cNvSpPr/>
              <p:nvPr/>
            </p:nvSpPr>
            <p:spPr>
              <a:xfrm>
                <a:off x="2656114" y="896983"/>
                <a:ext cx="2599509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C = 0</a:t>
                </a:r>
                <a:endParaRPr lang="zh-CN" altLang="en-US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9" name="圆角矩形 18"/>
              <p:cNvSpPr/>
              <p:nvPr/>
            </p:nvSpPr>
            <p:spPr>
              <a:xfrm>
                <a:off x="2656114" y="1770380"/>
                <a:ext cx="2599510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没有任何输出</a:t>
                </a:r>
              </a:p>
            </p:txBody>
          </p:sp>
          <p:sp>
            <p:nvSpPr>
              <p:cNvPr id="20" name="圆角矩形 19"/>
              <p:cNvSpPr/>
              <p:nvPr/>
            </p:nvSpPr>
            <p:spPr>
              <a:xfrm>
                <a:off x="2669176" y="2499360"/>
                <a:ext cx="2586447" cy="86214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A=1</a:t>
                </a:r>
              </a:p>
              <a:p>
                <a:pPr algn="ctr"/>
                <a:r>
                  <a:rPr lang="en-US" altLang="zh-CN" sz="20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B=2</a:t>
                </a:r>
              </a:p>
              <a:p>
                <a:pPr algn="ctr"/>
                <a:r>
                  <a:rPr lang="en-US" altLang="zh-CN" sz="20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C=0</a:t>
                </a:r>
                <a:endParaRPr lang="zh-CN" altLang="en-US" sz="20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1" name="圆角矩形 20"/>
              <p:cNvSpPr/>
              <p:nvPr/>
            </p:nvSpPr>
            <p:spPr>
              <a:xfrm>
                <a:off x="2656114" y="3517174"/>
                <a:ext cx="2586447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输出错误信息</a:t>
                </a:r>
              </a:p>
            </p:txBody>
          </p:sp>
          <p:sp>
            <p:nvSpPr>
              <p:cNvPr id="22" name="圆角矩形 21"/>
              <p:cNvSpPr/>
              <p:nvPr/>
            </p:nvSpPr>
            <p:spPr>
              <a:xfrm>
                <a:off x="2031273" y="896983"/>
                <a:ext cx="579120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ln w="0"/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(A)</a:t>
                </a:r>
                <a:endPara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3" name="圆角矩形 22"/>
              <p:cNvSpPr/>
              <p:nvPr/>
            </p:nvSpPr>
            <p:spPr>
              <a:xfrm>
                <a:off x="2031273" y="1772194"/>
                <a:ext cx="579120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ln w="0"/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(B)</a:t>
                </a:r>
                <a:endPara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4" name="圆角矩形 23"/>
              <p:cNvSpPr/>
              <p:nvPr/>
            </p:nvSpPr>
            <p:spPr>
              <a:xfrm>
                <a:off x="2031273" y="2647405"/>
                <a:ext cx="579120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ln w="0"/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(C)</a:t>
                </a:r>
                <a:endPara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5" name="圆角矩形 24"/>
              <p:cNvSpPr/>
              <p:nvPr/>
            </p:nvSpPr>
            <p:spPr>
              <a:xfrm>
                <a:off x="2031273" y="3522617"/>
                <a:ext cx="579120" cy="5834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l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ln w="0"/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(D)</a:t>
                </a:r>
                <a:endPara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p:grp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055" y="5312687"/>
            <a:ext cx="6429375" cy="71437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3529678" y="1397731"/>
            <a:ext cx="511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989539" y="4056405"/>
            <a:ext cx="511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18685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4457700" cy="714738"/>
          </a:xfrm>
        </p:spPr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、基本数学函数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98905"/>
            <a:ext cx="2932611" cy="3033758"/>
          </a:xfrm>
        </p:spPr>
        <p:txBody>
          <a:bodyPr/>
          <a:lstStyle/>
          <a:p>
            <a:r>
              <a:rPr lang="zh-CN" altLang="zh-CN" dirty="0"/>
              <a:t>三角函数</a:t>
            </a:r>
          </a:p>
          <a:p>
            <a:r>
              <a:rPr lang="zh-CN" altLang="zh-CN" dirty="0"/>
              <a:t>数值函数</a:t>
            </a:r>
          </a:p>
          <a:p>
            <a:r>
              <a:rPr lang="zh-CN" altLang="zh-CN" dirty="0"/>
              <a:t>复数函数</a:t>
            </a:r>
          </a:p>
          <a:p>
            <a:r>
              <a:rPr lang="zh-CN" altLang="zh-CN" dirty="0"/>
              <a:t>指数和对数函数</a:t>
            </a:r>
          </a:p>
          <a:p>
            <a:r>
              <a:rPr lang="zh-CN" altLang="zh-CN" dirty="0"/>
              <a:t>坐标变换函数</a:t>
            </a:r>
          </a:p>
          <a:p>
            <a:r>
              <a:rPr lang="zh-CN" altLang="zh-CN" dirty="0"/>
              <a:t>特殊函数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7085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240" y="451757"/>
            <a:ext cx="1076325" cy="24193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208" y="507546"/>
            <a:ext cx="1133475" cy="23812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051" y="337457"/>
            <a:ext cx="1085850" cy="3162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4258" y="3268662"/>
            <a:ext cx="981075" cy="2400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326" y="566057"/>
            <a:ext cx="981075" cy="2400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5152" y="3268662"/>
            <a:ext cx="952500" cy="23717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8031" y="3635374"/>
            <a:ext cx="1181100" cy="16668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737405" y="586422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三角函数</a:t>
            </a:r>
          </a:p>
        </p:txBody>
      </p:sp>
    </p:spTree>
    <p:extLst>
      <p:ext uri="{BB962C8B-B14F-4D97-AF65-F5344CB8AC3E}">
        <p14:creationId xmlns:p14="http://schemas.microsoft.com/office/powerpoint/2010/main" val="2352328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104775"/>
            <a:ext cx="5395971" cy="31718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28126" y="3276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复数函数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6" y="4821601"/>
            <a:ext cx="5395971" cy="112199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97294" y="606023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坐标变换函数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712" y="104775"/>
            <a:ext cx="5395971" cy="323302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783889" y="333780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指数和对数函数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784" y="4032256"/>
            <a:ext cx="5395971" cy="191134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783889" y="606023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基本数值函数</a:t>
            </a:r>
          </a:p>
        </p:txBody>
      </p:sp>
    </p:spTree>
    <p:extLst>
      <p:ext uri="{BB962C8B-B14F-4D97-AF65-F5344CB8AC3E}">
        <p14:creationId xmlns:p14="http://schemas.microsoft.com/office/powerpoint/2010/main" val="2138781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765782"/>
              </p:ext>
            </p:extLst>
          </p:nvPr>
        </p:nvGraphicFramePr>
        <p:xfrm>
          <a:off x="1494242" y="203999"/>
          <a:ext cx="4536215" cy="58711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951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4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 dirty="0">
                          <a:effectLst/>
                          <a:hlinkClick r:id="rId2" action="ppaction://hlinkfile"/>
                        </a:rPr>
                        <a:t>airy</a:t>
                      </a:r>
                      <a:endParaRPr lang="en-US" sz="1200" dirty="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Airy Functions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4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3" action="ppaction://hlinkfile"/>
                        </a:rPr>
                        <a:t>besselh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Bessel function of third kind (Hankel function)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4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4" action="ppaction://hlinkfile"/>
                        </a:rPr>
                        <a:t>besseli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Modified Bessel function of first kind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5" action="ppaction://hlinkfile"/>
                        </a:rPr>
                        <a:t>besselj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Bessel function of first kind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4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6" action="ppaction://hlinkfile"/>
                        </a:rPr>
                        <a:t>besselk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Modified Bessel function of second kind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7" action="ppaction://hlinkfile"/>
                        </a:rPr>
                        <a:t>bessely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Bessel function of second kind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8" action="ppaction://hlinkfile"/>
                        </a:rPr>
                        <a:t>beta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Beta function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9" action="ppaction://hlinkfile"/>
                        </a:rPr>
                        <a:t>betainc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Incomplete beta function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94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10" action="ppaction://hlinkfile"/>
                        </a:rPr>
                        <a:t>betaincinv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Beta inverse cumulative distribution function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11" action="ppaction://hlinkfile"/>
                        </a:rPr>
                        <a:t>betaln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Logarithm of beta function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12" action="ppaction://hlinkfile"/>
                        </a:rPr>
                        <a:t>ellipj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Jacobi elliptic functions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558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13" action="ppaction://hlinkfile"/>
                        </a:rPr>
                        <a:t>ellipke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Complete elliptic integrals of first and second kind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14" action="ppaction://hlinkfile"/>
                        </a:rPr>
                        <a:t>erf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Error function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15" action="ppaction://hlinkfile"/>
                        </a:rPr>
                        <a:t>erfc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Complementary error function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7894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16" action="ppaction://hlinkfile"/>
                        </a:rPr>
                        <a:t>erfcinv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Inverse complementary error function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17" action="ppaction://hlinkfile"/>
                        </a:rPr>
                        <a:t>erfcx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Scaled complementary error function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18" action="ppaction://hlinkfile"/>
                        </a:rPr>
                        <a:t>erfinv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Inverse error function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19" action="ppaction://hlinkfile"/>
                        </a:rPr>
                        <a:t>expint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Exponential integral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20" action="ppaction://hlinkfile"/>
                        </a:rPr>
                        <a:t>gamma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Gamma function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21" action="ppaction://hlinkfile"/>
                        </a:rPr>
                        <a:t>gammainc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Incomplete gamma function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4051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22" action="ppaction://hlinkfile"/>
                        </a:rPr>
                        <a:t>gammaincinv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Inverse incomplete gamma function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23" action="ppaction://hlinkfile"/>
                        </a:rPr>
                        <a:t>gammaln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Logarithm of gamma function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24" action="ppaction://hlinkfile"/>
                        </a:rPr>
                        <a:t>legendre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</a:rPr>
                        <a:t>Associated Legendre functions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8953">
                <a:tc>
                  <a:txBody>
                    <a:bodyPr/>
                    <a:lstStyle/>
                    <a:p>
                      <a:pPr algn="l" fontAlgn="t" latinLnBrk="1"/>
                      <a:r>
                        <a:rPr lang="en-US" sz="1200" u="none" strike="noStrike">
                          <a:effectLst/>
                          <a:hlinkClick r:id="rId25" action="ppaction://hlinkfile"/>
                        </a:rPr>
                        <a:t>psi</a:t>
                      </a:r>
                      <a:endParaRPr lang="en-US" sz="1200"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20417" marR="20417" marT="12250" marB="122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Psi (</a:t>
                      </a:r>
                      <a:r>
                        <a:rPr lang="en-US" sz="1200" dirty="0" err="1">
                          <a:effectLst/>
                        </a:rPr>
                        <a:t>polygamma</a:t>
                      </a:r>
                      <a:r>
                        <a:rPr lang="en-US" sz="1200" dirty="0">
                          <a:effectLst/>
                        </a:rPr>
                        <a:t>) function</a:t>
                      </a:r>
                    </a:p>
                  </a:txBody>
                  <a:tcPr marL="20417" marR="20417" marT="12250" marB="1225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287844" y="616501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特殊函数</a:t>
            </a:r>
          </a:p>
        </p:txBody>
      </p:sp>
    </p:spTree>
    <p:extLst>
      <p:ext uri="{BB962C8B-B14F-4D97-AF65-F5344CB8AC3E}">
        <p14:creationId xmlns:p14="http://schemas.microsoft.com/office/powerpoint/2010/main" val="1064625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325" y="193676"/>
            <a:ext cx="8667750" cy="714738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6</a:t>
            </a:r>
            <a:r>
              <a:rPr lang="zh-CN" altLang="en-US" sz="4000" dirty="0"/>
              <a:t>、</a:t>
            </a:r>
            <a:r>
              <a:rPr lang="en-US" altLang="zh-CN" sz="4000" dirty="0"/>
              <a:t>M</a:t>
            </a:r>
            <a:r>
              <a:rPr lang="zh-CN" altLang="en-US" sz="4000" dirty="0"/>
              <a:t>脚本文件（</a:t>
            </a:r>
            <a:r>
              <a:rPr lang="en-US" altLang="zh-CN" sz="4000" dirty="0"/>
              <a:t>Script M-file</a:t>
            </a:r>
            <a:r>
              <a:rPr lang="zh-CN" altLang="en-US" sz="4000" dirty="0"/>
              <a:t>）</a:t>
            </a:r>
          </a:p>
        </p:txBody>
      </p:sp>
      <p:sp>
        <p:nvSpPr>
          <p:cNvPr id="3" name="内容占位符 4"/>
          <p:cNvSpPr>
            <a:spLocks noGrp="1"/>
          </p:cNvSpPr>
          <p:nvPr>
            <p:ph idx="1"/>
          </p:nvPr>
        </p:nvSpPr>
        <p:spPr>
          <a:xfrm>
            <a:off x="469900" y="954767"/>
            <a:ext cx="11260546" cy="16926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6.1</a:t>
            </a:r>
            <a:r>
              <a:rPr lang="zh-CN" altLang="en-US" dirty="0"/>
              <a:t>概念：</a:t>
            </a:r>
            <a:endParaRPr lang="en-US" altLang="zh-CN" dirty="0"/>
          </a:p>
          <a:p>
            <a:pPr lvl="1"/>
            <a:r>
              <a:rPr lang="zh-CN" altLang="en-US" dirty="0"/>
              <a:t>将多个命令放在一个文件里</a:t>
            </a:r>
            <a:endParaRPr lang="en-US" altLang="zh-CN" dirty="0"/>
          </a:p>
          <a:p>
            <a:pPr lvl="1"/>
            <a:r>
              <a:rPr lang="zh-CN" altLang="en-US" dirty="0"/>
              <a:t>以“</a:t>
            </a:r>
            <a:r>
              <a:rPr lang="en-US" altLang="zh-CN" dirty="0"/>
              <a:t>.m</a:t>
            </a:r>
            <a:r>
              <a:rPr lang="zh-CN" altLang="en-US" dirty="0"/>
              <a:t>”作为文件后缀名</a:t>
            </a:r>
            <a:endParaRPr lang="en-US" altLang="zh-CN" dirty="0"/>
          </a:p>
          <a:p>
            <a:pPr lvl="1"/>
            <a:r>
              <a:rPr lang="zh-CN" altLang="en-US" dirty="0"/>
              <a:t>然后这个文件可以直接运行（依次运行文件中的命令）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0820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9662"/>
            <a:ext cx="10515600" cy="645069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6.2 </a:t>
            </a:r>
            <a:r>
              <a:rPr lang="zh-CN" altLang="en-US" sz="3200" dirty="0"/>
              <a:t>创建脚本</a:t>
            </a:r>
          </a:p>
        </p:txBody>
      </p:sp>
      <p:sp>
        <p:nvSpPr>
          <p:cNvPr id="4" name="内容占位符 4"/>
          <p:cNvSpPr txBox="1">
            <a:spLocks/>
          </p:cNvSpPr>
          <p:nvPr/>
        </p:nvSpPr>
        <p:spPr>
          <a:xfrm>
            <a:off x="838200" y="899565"/>
            <a:ext cx="9037320" cy="170134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先启动</a:t>
            </a:r>
            <a:r>
              <a:rPr lang="en-US" altLang="zh-CN" dirty="0"/>
              <a:t>EDITOR</a:t>
            </a:r>
            <a:r>
              <a:rPr lang="zh-CN" altLang="en-US" dirty="0"/>
              <a:t>编辑器（</a:t>
            </a:r>
            <a:r>
              <a:rPr lang="en-US" altLang="zh-CN" dirty="0"/>
              <a:t>2</a:t>
            </a:r>
            <a:r>
              <a:rPr lang="zh-CN" altLang="en-US" dirty="0"/>
              <a:t>种方式）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在命令行中输入</a:t>
            </a:r>
            <a:r>
              <a:rPr lang="en-US" altLang="zh-CN" dirty="0"/>
              <a:t>edit</a:t>
            </a:r>
            <a:r>
              <a:rPr lang="zh-CN" altLang="en-US" dirty="0"/>
              <a:t>命令（比如：</a:t>
            </a:r>
            <a:r>
              <a:rPr lang="en-US" altLang="zh-CN" dirty="0"/>
              <a:t>&gt;&gt;edit </a:t>
            </a:r>
            <a:r>
              <a:rPr lang="en-US" altLang="zh-CN" dirty="0" err="1"/>
              <a:t>myfirstmatlab.m</a:t>
            </a:r>
            <a:r>
              <a:rPr lang="zh-CN" altLang="en-US" dirty="0"/>
              <a:t>）；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点击工具栏上的“</a:t>
            </a:r>
            <a:r>
              <a:rPr lang="en-US" altLang="zh-CN" dirty="0" err="1"/>
              <a:t>NewScript</a:t>
            </a:r>
            <a:r>
              <a:rPr lang="zh-CN" altLang="en-US" dirty="0"/>
              <a:t>”按钮；</a:t>
            </a:r>
            <a:endParaRPr lang="en-US" altLang="zh-CN" dirty="0"/>
          </a:p>
          <a:p>
            <a:pPr marL="514350" indent="-514350">
              <a:buFont typeface="+mj-ea"/>
              <a:buAutoNum type="arabicPeriod"/>
            </a:pPr>
            <a:r>
              <a:rPr lang="zh-CN" altLang="en-US" dirty="0"/>
              <a:t>输入脚本代码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092" y="1672089"/>
            <a:ext cx="304800" cy="6762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869" r="1284" b="2642"/>
          <a:stretch/>
        </p:blipFill>
        <p:spPr>
          <a:xfrm>
            <a:off x="2058762" y="2600912"/>
            <a:ext cx="6257924" cy="382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08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4"/>
          <p:cNvSpPr txBox="1">
            <a:spLocks/>
          </p:cNvSpPr>
          <p:nvPr/>
        </p:nvSpPr>
        <p:spPr>
          <a:xfrm>
            <a:off x="931454" y="1225186"/>
            <a:ext cx="11260546" cy="3982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运行脚本的</a:t>
            </a:r>
            <a:r>
              <a:rPr lang="en-US" altLang="zh-CN" dirty="0"/>
              <a:t>2</a:t>
            </a:r>
            <a:r>
              <a:rPr lang="zh-CN" altLang="en-US" dirty="0"/>
              <a:t>种方式：</a:t>
            </a:r>
            <a:endParaRPr lang="en-US" altLang="zh-CN" dirty="0"/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dirty="0"/>
              <a:t>在命令窗口中输入脚本文件的名字</a:t>
            </a:r>
            <a:r>
              <a:rPr lang="zh-CN" altLang="en-US" sz="1800" dirty="0">
                <a:solidFill>
                  <a:srgbClr val="FF0000"/>
                </a:solidFill>
              </a:rPr>
              <a:t>（注意：后缀</a:t>
            </a:r>
            <a:r>
              <a:rPr lang="en-US" altLang="zh-CN" sz="1800" dirty="0">
                <a:solidFill>
                  <a:srgbClr val="FF0000"/>
                </a:solidFill>
              </a:rPr>
              <a:t>”.m”</a:t>
            </a:r>
            <a:r>
              <a:rPr lang="zh-CN" altLang="en-US" sz="1800" dirty="0">
                <a:solidFill>
                  <a:srgbClr val="FF0000"/>
                </a:solidFill>
              </a:rPr>
              <a:t>不要输入）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marL="914400" lvl="1" indent="-457200">
              <a:buFont typeface="+mj-ea"/>
              <a:buAutoNum type="circleNumDbPlain"/>
            </a:pPr>
            <a:endParaRPr lang="en-US" altLang="zh-CN" sz="1800" dirty="0">
              <a:solidFill>
                <a:srgbClr val="FF0000"/>
              </a:solidFill>
            </a:endParaRPr>
          </a:p>
          <a:p>
            <a:pPr marL="914400" lvl="1" indent="-457200">
              <a:buFont typeface="+mj-ea"/>
              <a:buAutoNum type="circleNumDbPlain"/>
            </a:pPr>
            <a:endParaRPr lang="en-US" altLang="zh-CN" sz="1800" dirty="0">
              <a:solidFill>
                <a:srgbClr val="FF0000"/>
              </a:solidFill>
            </a:endParaRPr>
          </a:p>
          <a:p>
            <a:pPr marL="914400" lvl="1" indent="-457200">
              <a:buFont typeface="+mj-ea"/>
              <a:buAutoNum type="circleNumDbPlain"/>
            </a:pPr>
            <a:r>
              <a:rPr lang="zh-CN" altLang="en-US" dirty="0"/>
              <a:t>点击工具栏上的运行按钮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199662"/>
            <a:ext cx="10515600" cy="645069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6.2 </a:t>
            </a:r>
            <a:r>
              <a:rPr lang="zh-CN" altLang="en-US" sz="3200" dirty="0"/>
              <a:t>运行脚本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45" y="3357698"/>
            <a:ext cx="6848475" cy="1257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506" y="2072367"/>
            <a:ext cx="292417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088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44475"/>
            <a:ext cx="10515600" cy="460375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个屏幕输入输出的函数：</a:t>
            </a:r>
            <a:r>
              <a:rPr lang="en-US" altLang="zh-CN" dirty="0"/>
              <a:t>input</a:t>
            </a:r>
            <a:r>
              <a:rPr lang="zh-CN" altLang="en-US" dirty="0"/>
              <a:t>和</a:t>
            </a:r>
            <a:r>
              <a:rPr lang="en-US" altLang="zh-CN" dirty="0" err="1"/>
              <a:t>disp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823912"/>
            <a:ext cx="4207056" cy="286217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657" y="823912"/>
            <a:ext cx="5991113" cy="32244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657" y="4275909"/>
            <a:ext cx="591502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205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4286"/>
          <a:stretch/>
        </p:blipFill>
        <p:spPr>
          <a:xfrm>
            <a:off x="357050" y="139337"/>
            <a:ext cx="3045007" cy="2057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709" y="304799"/>
            <a:ext cx="4206583" cy="283028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57050" y="3413760"/>
            <a:ext cx="114430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 err="1"/>
              <a:t>disp</a:t>
            </a:r>
            <a:r>
              <a:rPr lang="zh-CN" altLang="en-US" sz="3200" dirty="0"/>
              <a:t>函数只显示变量的值，</a:t>
            </a:r>
            <a:r>
              <a:rPr lang="zh-CN" altLang="en-US" sz="3200" b="1" dirty="0">
                <a:solidFill>
                  <a:srgbClr val="FF0000"/>
                </a:solidFill>
              </a:rPr>
              <a:t>不显示变量的名字</a:t>
            </a:r>
            <a:r>
              <a:rPr lang="zh-CN" altLang="en-US" sz="3200" dirty="0"/>
              <a:t>（如上图）；</a:t>
            </a:r>
            <a:endParaRPr lang="en-US" altLang="zh-C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/>
              <a:t>在命令上输出显示一个变量的值，另外一种方法是直接输入变量的名字。但会同时输出“变量名</a:t>
            </a:r>
            <a:r>
              <a:rPr lang="en-US" altLang="zh-CN" sz="3200" dirty="0"/>
              <a:t>=</a:t>
            </a:r>
            <a:r>
              <a:rPr lang="zh-CN" altLang="en-US" sz="3200" dirty="0"/>
              <a:t>”。这种方式有时候有局限性。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40634310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56120"/>
            <a:ext cx="1373777" cy="418646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示例：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3806" y="722811"/>
            <a:ext cx="46746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</a:t>
            </a:r>
            <a:r>
              <a:rPr lang="zh-CN" altLang="en-US" sz="2000" dirty="0"/>
              <a:t>、输出显示当个变量的值</a:t>
            </a:r>
            <a:endParaRPr lang="en-US" altLang="zh-CN" sz="2000" dirty="0"/>
          </a:p>
          <a:p>
            <a:r>
              <a:rPr lang="en-US" altLang="zh-CN" sz="2000" dirty="0"/>
              <a:t>2</a:t>
            </a:r>
            <a:r>
              <a:rPr lang="zh-CN" altLang="en-US" sz="2000" dirty="0"/>
              <a:t>、输出显示矩阵的同时给每列加上标题</a:t>
            </a:r>
            <a:endParaRPr lang="en-US" altLang="zh-CN" sz="2000" dirty="0"/>
          </a:p>
          <a:p>
            <a:r>
              <a:rPr lang="en-US" altLang="zh-CN" sz="2000" dirty="0"/>
              <a:t>3</a:t>
            </a:r>
            <a:r>
              <a:rPr lang="zh-CN" altLang="en-US" sz="2000" dirty="0"/>
              <a:t>、在命令窗口中显示超链接</a:t>
            </a:r>
            <a:endParaRPr lang="en-US" altLang="zh-CN" sz="2000" dirty="0"/>
          </a:p>
          <a:p>
            <a:r>
              <a:rPr lang="en-US" altLang="zh-CN" sz="2000" dirty="0"/>
              <a:t>4</a:t>
            </a:r>
            <a:r>
              <a:rPr lang="zh-CN" altLang="en-US" sz="2000" dirty="0"/>
              <a:t>、在同一行中输出多个变量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595" y="2272673"/>
            <a:ext cx="4152263" cy="2482207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3464842" y="4981303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输出显示当个变量的值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651563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34" y="4524102"/>
            <a:ext cx="11593150" cy="98590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97" y="496124"/>
            <a:ext cx="8696325" cy="28194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094561" y="3365815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输出显示矩阵的同时给每列加上标题</a:t>
            </a:r>
          </a:p>
        </p:txBody>
      </p:sp>
      <p:sp>
        <p:nvSpPr>
          <p:cNvPr id="7" name="矩形 6"/>
          <p:cNvSpPr/>
          <p:nvPr/>
        </p:nvSpPr>
        <p:spPr>
          <a:xfrm>
            <a:off x="3671641" y="5578232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在命令窗口中显示超链接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4660443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207" y="2751464"/>
            <a:ext cx="9439275" cy="1771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207" y="434984"/>
            <a:ext cx="9629775" cy="17716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652739" y="4883278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在同一行中输出多个变量</a:t>
            </a:r>
          </a:p>
        </p:txBody>
      </p:sp>
    </p:spTree>
    <p:extLst>
      <p:ext uri="{BB962C8B-B14F-4D97-AF65-F5344CB8AC3E}">
        <p14:creationId xmlns:p14="http://schemas.microsoft.com/office/powerpoint/2010/main" val="1832796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45623"/>
            <a:ext cx="10515600" cy="47313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“当前目录”（</a:t>
            </a:r>
            <a:r>
              <a:rPr lang="en-US" altLang="zh-CN" dirty="0"/>
              <a:t>Current Folder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就是</a:t>
            </a:r>
            <a:r>
              <a:rPr lang="en-US" altLang="zh-CN" dirty="0" err="1"/>
              <a:t>matlab</a:t>
            </a:r>
            <a:r>
              <a:rPr lang="zh-CN" altLang="en-US" dirty="0"/>
              <a:t>当前文件读取和存储的默认路径；</a:t>
            </a:r>
            <a:br>
              <a:rPr lang="zh-CN" altLang="en-US" dirty="0"/>
            </a:br>
            <a:r>
              <a:rPr lang="zh-CN" altLang="en-US" dirty="0"/>
              <a:t>你建立一个</a:t>
            </a:r>
            <a:r>
              <a:rPr lang="en-US" altLang="zh-CN" dirty="0"/>
              <a:t>.m</a:t>
            </a:r>
            <a:r>
              <a:rPr lang="zh-CN" altLang="en-US" dirty="0"/>
              <a:t>文件或者其他格式文件都默认放在这个目录里；</a:t>
            </a:r>
            <a:br>
              <a:rPr lang="zh-CN" altLang="en-US" dirty="0"/>
            </a:br>
            <a:r>
              <a:rPr lang="zh-CN" altLang="en-US" dirty="0"/>
              <a:t>同样，你需要读取的文件也是默认放在这里，譬如</a:t>
            </a:r>
            <a:r>
              <a:rPr lang="en-US" altLang="zh-CN" dirty="0"/>
              <a:t>x = load(data.txt); </a:t>
            </a:r>
            <a:r>
              <a:rPr lang="zh-CN" altLang="en-US" dirty="0"/>
              <a:t>这个</a:t>
            </a:r>
            <a:r>
              <a:rPr lang="en-US" altLang="zh-CN" dirty="0"/>
              <a:t>data.txt</a:t>
            </a:r>
            <a:r>
              <a:rPr lang="zh-CN" altLang="en-US" dirty="0"/>
              <a:t>文件必须放在当前工作目录下程序才能找到它；</a:t>
            </a:r>
            <a:endParaRPr lang="en-US" altLang="zh-CN" dirty="0"/>
          </a:p>
          <a:p>
            <a:r>
              <a:rPr lang="zh-CN" altLang="en-US" dirty="0"/>
              <a:t>当前工作目录可以改的。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cd</a:t>
            </a:r>
            <a:r>
              <a:rPr lang="zh-CN" altLang="en-US" dirty="0"/>
              <a:t>命令</a:t>
            </a:r>
            <a:endParaRPr lang="en-US" altLang="zh-CN" dirty="0"/>
          </a:p>
          <a:p>
            <a:pPr lvl="1"/>
            <a:r>
              <a:rPr lang="zh-CN" altLang="en-US" dirty="0"/>
              <a:t>或者在“当面目录窗口”里修改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530737" cy="645069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6</a:t>
            </a:r>
            <a:r>
              <a:rPr lang="zh-CN" altLang="en-US" sz="4000" dirty="0"/>
              <a:t>、“当前目录”和“搜索路径”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752" y="3638278"/>
            <a:ext cx="614362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6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“搜索路径”（</a:t>
            </a:r>
            <a:r>
              <a:rPr lang="en-US" altLang="zh-CN" dirty="0"/>
              <a:t>search path</a:t>
            </a:r>
            <a:r>
              <a:rPr lang="zh-CN" altLang="en-US" dirty="0"/>
              <a:t>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49531" y="1690688"/>
            <a:ext cx="526458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、概念和作用？（</a:t>
            </a:r>
            <a:r>
              <a:rPr lang="zh-CN" altLang="en-US" sz="2400" dirty="0">
                <a:solidFill>
                  <a:srgbClr val="FF0000"/>
                </a:solidFill>
              </a:rPr>
              <a:t>做演示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、如何显示当前的搜索路径是哪些？</a:t>
            </a:r>
            <a:endParaRPr lang="en-US" altLang="zh-C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path</a:t>
            </a:r>
            <a:r>
              <a:rPr lang="zh-CN" altLang="en-US" sz="2400" dirty="0"/>
              <a:t>命令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、如何编辑修改搜索路径？</a:t>
            </a:r>
            <a:endParaRPr lang="en-US" altLang="zh-C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pathtool</a:t>
            </a:r>
            <a:r>
              <a:rPr lang="zh-CN" altLang="en-US" sz="2400" dirty="0"/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2973455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38" y="2047468"/>
            <a:ext cx="8425271" cy="320459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902207" y="1056586"/>
            <a:ext cx="66436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path</a:t>
            </a:r>
            <a:r>
              <a:rPr lang="zh-CN" altLang="en-US" dirty="0"/>
              <a:t>命令：显示当前</a:t>
            </a:r>
            <a:r>
              <a:rPr lang="en-US" altLang="zh-CN" dirty="0" err="1"/>
              <a:t>Matlab</a:t>
            </a:r>
            <a:r>
              <a:rPr lang="zh-CN" altLang="en-US" dirty="0"/>
              <a:t>系统中所有的搜索路径</a:t>
            </a:r>
          </a:p>
        </p:txBody>
      </p:sp>
      <p:sp>
        <p:nvSpPr>
          <p:cNvPr id="5" name="矩形 4"/>
          <p:cNvSpPr/>
          <p:nvPr/>
        </p:nvSpPr>
        <p:spPr>
          <a:xfrm>
            <a:off x="902207" y="376479"/>
            <a:ext cx="51475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如何显示当前的搜索路径是哪些？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742065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815" y="2418577"/>
            <a:ext cx="7743825" cy="36671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93371" y="1445623"/>
            <a:ext cx="46670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在命令行中输入</a:t>
            </a:r>
            <a:r>
              <a:rPr lang="en-US" altLang="zh-CN" sz="2000" dirty="0" err="1"/>
              <a:t>pathtool</a:t>
            </a:r>
            <a:r>
              <a:rPr lang="zh-CN" altLang="en-US" sz="2000" dirty="0"/>
              <a:t>命令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或者点击工具栏上的“</a:t>
            </a:r>
            <a:r>
              <a:rPr lang="en-US" altLang="zh-CN" sz="2000" dirty="0"/>
              <a:t>Set Path</a:t>
            </a:r>
            <a:r>
              <a:rPr lang="zh-CN" altLang="en-US" sz="2000" dirty="0"/>
              <a:t>”按钮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067" y="1808275"/>
            <a:ext cx="704850" cy="2476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02207" y="376479"/>
            <a:ext cx="3916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如何编辑修改搜索路径？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548359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1705</TotalTime>
  <Words>1513</Words>
  <Application>Microsoft Office PowerPoint</Application>
  <PresentationFormat>宽屏</PresentationFormat>
  <Paragraphs>291</Paragraphs>
  <Slides>37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Monospace821BT-Roman</vt:lpstr>
      <vt:lpstr>Arial</vt:lpstr>
      <vt:lpstr>Calibri</vt:lpstr>
      <vt:lpstr>Calibri Light</vt:lpstr>
      <vt:lpstr>Courier New</vt:lpstr>
      <vt:lpstr>Times New Roman</vt:lpstr>
      <vt:lpstr>Wingdings</vt:lpstr>
      <vt:lpstr>Office 主题</vt:lpstr>
      <vt:lpstr>公式</vt:lpstr>
      <vt:lpstr>Matlab基础</vt:lpstr>
      <vt:lpstr>大纲</vt:lpstr>
      <vt:lpstr>1、Matlab Desktop（桌面）</vt:lpstr>
      <vt:lpstr>PowerPoint 演示文稿</vt:lpstr>
      <vt:lpstr>PowerPoint 演示文稿</vt:lpstr>
      <vt:lpstr>2、Workspace（工作区）</vt:lpstr>
      <vt:lpstr>PowerPoint 演示文稿</vt:lpstr>
      <vt:lpstr>PowerPoint 演示文稿</vt:lpstr>
      <vt:lpstr>PowerPoint 演示文稿</vt:lpstr>
      <vt:lpstr>3、命令行</vt:lpstr>
      <vt:lpstr>PowerPoint 演示文稿</vt:lpstr>
      <vt:lpstr>4、变量（variable）</vt:lpstr>
      <vt:lpstr>变量命名规则</vt:lpstr>
      <vt:lpstr>PowerPoint 演示文稿</vt:lpstr>
      <vt:lpstr>数据类型（Class）</vt:lpstr>
      <vt:lpstr>PowerPoint 演示文稿</vt:lpstr>
      <vt:lpstr>PowerPoint 演示文稿</vt:lpstr>
      <vt:lpstr>MATLAB变量特点：</vt:lpstr>
      <vt:lpstr>PowerPoint 演示文稿</vt:lpstr>
      <vt:lpstr>PowerPoint 演示文稿</vt:lpstr>
      <vt:lpstr>PowerPoint 演示文稿</vt:lpstr>
      <vt:lpstr>5、基本数学函数</vt:lpstr>
      <vt:lpstr>PowerPoint 演示文稿</vt:lpstr>
      <vt:lpstr>PowerPoint 演示文稿</vt:lpstr>
      <vt:lpstr>PowerPoint 演示文稿</vt:lpstr>
      <vt:lpstr>6、M脚本文件（Script M-file）</vt:lpstr>
      <vt:lpstr>6.2 创建脚本</vt:lpstr>
      <vt:lpstr>6.2 运行脚本</vt:lpstr>
      <vt:lpstr>PowerPoint 演示文稿</vt:lpstr>
      <vt:lpstr>PowerPoint 演示文稿</vt:lpstr>
      <vt:lpstr>示例：</vt:lpstr>
      <vt:lpstr>PowerPoint 演示文稿</vt:lpstr>
      <vt:lpstr>PowerPoint 演示文稿</vt:lpstr>
      <vt:lpstr>6、“当前目录”和“搜索路径”</vt:lpstr>
      <vt:lpstr>“搜索路径”（search path）</vt:lpstr>
      <vt:lpstr>PowerPoint 演示文稿</vt:lpstr>
      <vt:lpstr>PowerPoint 演示文稿</vt:lpstr>
    </vt:vector>
  </TitlesOfParts>
  <Company>cugb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Matlab矩阵及其操作</dc:title>
  <dc:creator>HP</dc:creator>
  <cp:lastModifiedBy>妮唛 朴</cp:lastModifiedBy>
  <cp:revision>86</cp:revision>
  <dcterms:created xsi:type="dcterms:W3CDTF">2016-02-24T15:05:55Z</dcterms:created>
  <dcterms:modified xsi:type="dcterms:W3CDTF">2021-01-24T13:28:17Z</dcterms:modified>
</cp:coreProperties>
</file>