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5"/>
  </p:notesMasterIdLst>
  <p:sldIdLst>
    <p:sldId id="256" r:id="rId2"/>
    <p:sldId id="258" r:id="rId3"/>
    <p:sldId id="341" r:id="rId4"/>
    <p:sldId id="366" r:id="rId5"/>
    <p:sldId id="281" r:id="rId6"/>
    <p:sldId id="344" r:id="rId7"/>
    <p:sldId id="284" r:id="rId8"/>
    <p:sldId id="282" r:id="rId9"/>
    <p:sldId id="283" r:id="rId10"/>
    <p:sldId id="363" r:id="rId11"/>
    <p:sldId id="259" r:id="rId12"/>
    <p:sldId id="260" r:id="rId13"/>
    <p:sldId id="346" r:id="rId14"/>
    <p:sldId id="348" r:id="rId15"/>
    <p:sldId id="347" r:id="rId16"/>
    <p:sldId id="349" r:id="rId17"/>
    <p:sldId id="350" r:id="rId18"/>
    <p:sldId id="261" r:id="rId19"/>
    <p:sldId id="343" r:id="rId20"/>
    <p:sldId id="351" r:id="rId21"/>
    <p:sldId id="264" r:id="rId22"/>
    <p:sldId id="265" r:id="rId23"/>
    <p:sldId id="337" r:id="rId24"/>
    <p:sldId id="338" r:id="rId25"/>
    <p:sldId id="266" r:id="rId26"/>
    <p:sldId id="352" r:id="rId27"/>
    <p:sldId id="354" r:id="rId28"/>
    <p:sldId id="267" r:id="rId29"/>
    <p:sldId id="358" r:id="rId30"/>
    <p:sldId id="355" r:id="rId31"/>
    <p:sldId id="356" r:id="rId32"/>
    <p:sldId id="357" r:id="rId33"/>
    <p:sldId id="268" r:id="rId34"/>
    <p:sldId id="359" r:id="rId35"/>
    <p:sldId id="360" r:id="rId36"/>
    <p:sldId id="361" r:id="rId37"/>
    <p:sldId id="271" r:id="rId38"/>
    <p:sldId id="334" r:id="rId39"/>
    <p:sldId id="402" r:id="rId40"/>
    <p:sldId id="335" r:id="rId41"/>
    <p:sldId id="336" r:id="rId42"/>
    <p:sldId id="339" r:id="rId43"/>
    <p:sldId id="340" r:id="rId44"/>
    <p:sldId id="367" r:id="rId45"/>
    <p:sldId id="368" r:id="rId46"/>
    <p:sldId id="362" r:id="rId47"/>
    <p:sldId id="378" r:id="rId48"/>
    <p:sldId id="379" r:id="rId49"/>
    <p:sldId id="272" r:id="rId50"/>
    <p:sldId id="273" r:id="rId51"/>
    <p:sldId id="274" r:id="rId52"/>
    <p:sldId id="369" r:id="rId53"/>
    <p:sldId id="275" r:id="rId54"/>
    <p:sldId id="370" r:id="rId55"/>
    <p:sldId id="371" r:id="rId56"/>
    <p:sldId id="372" r:id="rId57"/>
    <p:sldId id="373" r:id="rId58"/>
    <p:sldId id="374" r:id="rId59"/>
    <p:sldId id="375" r:id="rId60"/>
    <p:sldId id="376" r:id="rId61"/>
    <p:sldId id="377" r:id="rId62"/>
    <p:sldId id="380" r:id="rId63"/>
    <p:sldId id="277" r:id="rId64"/>
    <p:sldId id="278" r:id="rId65"/>
    <p:sldId id="342" r:id="rId66"/>
    <p:sldId id="387" r:id="rId67"/>
    <p:sldId id="279" r:id="rId68"/>
    <p:sldId id="381" r:id="rId69"/>
    <p:sldId id="382" r:id="rId70"/>
    <p:sldId id="285" r:id="rId71"/>
    <p:sldId id="383" r:id="rId72"/>
    <p:sldId id="384" r:id="rId73"/>
    <p:sldId id="403" r:id="rId74"/>
    <p:sldId id="404" r:id="rId75"/>
    <p:sldId id="405" r:id="rId76"/>
    <p:sldId id="406" r:id="rId77"/>
    <p:sldId id="407" r:id="rId78"/>
    <p:sldId id="408" r:id="rId79"/>
    <p:sldId id="385" r:id="rId80"/>
    <p:sldId id="386" r:id="rId81"/>
    <p:sldId id="390" r:id="rId82"/>
    <p:sldId id="391" r:id="rId83"/>
    <p:sldId id="388" r:id="rId84"/>
    <p:sldId id="392" r:id="rId85"/>
    <p:sldId id="389" r:id="rId86"/>
    <p:sldId id="393" r:id="rId87"/>
    <p:sldId id="286" r:id="rId88"/>
    <p:sldId id="289" r:id="rId89"/>
    <p:sldId id="394" r:id="rId90"/>
    <p:sldId id="290" r:id="rId91"/>
    <p:sldId id="395" r:id="rId92"/>
    <p:sldId id="396" r:id="rId93"/>
    <p:sldId id="399" r:id="rId94"/>
    <p:sldId id="400" r:id="rId95"/>
    <p:sldId id="401" r:id="rId96"/>
    <p:sldId id="291" r:id="rId97"/>
    <p:sldId id="296" r:id="rId98"/>
    <p:sldId id="297" r:id="rId99"/>
    <p:sldId id="287" r:id="rId100"/>
    <p:sldId id="397" r:id="rId101"/>
    <p:sldId id="398" r:id="rId102"/>
    <p:sldId id="293" r:id="rId103"/>
    <p:sldId id="295" r:id="rId10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8E8074-BC7B-45DF-8922-793CDB816654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A3B5F-3B70-4DB9-8C60-A6C9A75593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838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4A3B5F-3B70-4DB9-8C60-A6C9A7559316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809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4A3B5F-3B70-4DB9-8C60-A6C9A7559316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654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29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57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619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595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46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636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479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8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88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87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17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40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file:///D:\Program%20Files\MATLAB\R2015b\help\matlab\ref\randn.html" TargetMode="External"/><Relationship Id="rId2" Type="http://schemas.openxmlformats.org/officeDocument/2006/relationships/hyperlink" Target="file:///D:\Program%20Files\MATLAB\R2015b\help\matlab\ref\rand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file:///D:\Program%20Files\MATLAB\R2015b\help\matlab\ref\randperm.html" TargetMode="External"/><Relationship Id="rId4" Type="http://schemas.openxmlformats.org/officeDocument/2006/relationships/hyperlink" Target="file:///D:\Program%20Files\MATLAB\R2015b\help\matlab\ref\randi.html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3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1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4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7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185.png"/><Relationship Id="rId3" Type="http://schemas.openxmlformats.org/officeDocument/2006/relationships/image" Target="../media/image175.png"/><Relationship Id="rId7" Type="http://schemas.openxmlformats.org/officeDocument/2006/relationships/image" Target="../media/image179.png"/><Relationship Id="rId12" Type="http://schemas.openxmlformats.org/officeDocument/2006/relationships/image" Target="../media/image184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png"/><Relationship Id="rId11" Type="http://schemas.openxmlformats.org/officeDocument/2006/relationships/image" Target="../media/image183.png"/><Relationship Id="rId5" Type="http://schemas.openxmlformats.org/officeDocument/2006/relationships/image" Target="../media/image177.png"/><Relationship Id="rId15" Type="http://schemas.openxmlformats.org/officeDocument/2006/relationships/image" Target="../media/image187.png"/><Relationship Id="rId10" Type="http://schemas.openxmlformats.org/officeDocument/2006/relationships/image" Target="../media/image182.png"/><Relationship Id="rId4" Type="http://schemas.openxmlformats.org/officeDocument/2006/relationships/image" Target="../media/image176.png"/><Relationship Id="rId9" Type="http://schemas.openxmlformats.org/officeDocument/2006/relationships/image" Target="../media/image181.png"/><Relationship Id="rId14" Type="http://schemas.openxmlformats.org/officeDocument/2006/relationships/image" Target="../media/image186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176.png"/><Relationship Id="rId7" Type="http://schemas.openxmlformats.org/officeDocument/2006/relationships/image" Target="../media/image190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121824"/>
            <a:ext cx="9144000" cy="2387600"/>
          </a:xfrm>
        </p:spPr>
        <p:txBody>
          <a:bodyPr/>
          <a:lstStyle/>
          <a:p>
            <a:r>
              <a:rPr lang="zh-CN" altLang="en-US" b="1" dirty="0"/>
              <a:t>矩阵和数组</a:t>
            </a:r>
            <a:br>
              <a:rPr lang="en-US" altLang="zh-CN" b="1" dirty="0"/>
            </a:br>
            <a:r>
              <a:rPr lang="zh-CN" altLang="en-US" b="1" dirty="0"/>
              <a:t>的创建与索引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3521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3068" y="182246"/>
            <a:ext cx="1661161" cy="557984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大纲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3067" y="998310"/>
            <a:ext cx="7626533" cy="5254443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数组</a:t>
            </a:r>
            <a:r>
              <a:rPr lang="en-US" altLang="zh-CN" dirty="0"/>
              <a:t>/</a:t>
            </a:r>
            <a:r>
              <a:rPr lang="zh-CN" altLang="en-US" dirty="0"/>
              <a:t>矩阵概念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创建向量（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vector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）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创建矩阵（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Matrix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）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chemeClr val="accent2"/>
                </a:solidFill>
              </a:rPr>
              <a:t>数组的基本信息获取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矩阵的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索引访问</a:t>
            </a:r>
            <a:r>
              <a:rPr lang="zh-CN" altLang="en-US" dirty="0"/>
              <a:t>（</a:t>
            </a:r>
            <a:r>
              <a:rPr lang="en-US" altLang="zh-CN" dirty="0"/>
              <a:t>Indexing</a:t>
            </a:r>
            <a:r>
              <a:rPr lang="zh-CN" altLang="en-US" dirty="0"/>
              <a:t>）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矩阵的索引赋值</a:t>
            </a:r>
            <a:r>
              <a:rPr lang="zh-CN" altLang="zh-CN" dirty="0"/>
              <a:t>（</a:t>
            </a:r>
            <a:r>
              <a:rPr lang="en-US" altLang="zh-CN" dirty="0"/>
              <a:t>indexed assignment</a:t>
            </a:r>
            <a:r>
              <a:rPr lang="zh-CN" altLang="zh-CN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修改元素的值</a:t>
            </a:r>
            <a:endParaRPr lang="en-US" altLang="zh-CN" dirty="0"/>
          </a:p>
          <a:p>
            <a:pPr lvl="1"/>
            <a:r>
              <a:rPr lang="zh-CN" altLang="en-US" dirty="0"/>
              <a:t>矩阵动态扩展</a:t>
            </a:r>
            <a:endParaRPr lang="en-US" altLang="zh-CN" dirty="0"/>
          </a:p>
          <a:p>
            <a:pPr lvl="1"/>
            <a:r>
              <a:rPr lang="zh-CN" altLang="en-US" dirty="0"/>
              <a:t>矩阵元素删除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数组</a:t>
            </a:r>
            <a:r>
              <a:rPr lang="en-US" altLang="zh-CN" dirty="0"/>
              <a:t>/</a:t>
            </a:r>
            <a:r>
              <a:rPr lang="zh-CN" altLang="en-US" dirty="0"/>
              <a:t>矩阵的合并（</a:t>
            </a:r>
            <a:r>
              <a:rPr lang="en-US" altLang="zh-CN" dirty="0"/>
              <a:t>Concatenation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使用合并符号</a:t>
            </a:r>
            <a:r>
              <a:rPr lang="en-US" altLang="zh-CN" dirty="0"/>
              <a:t>[]</a:t>
            </a:r>
          </a:p>
          <a:p>
            <a:pPr lvl="1"/>
            <a:r>
              <a:rPr lang="zh-CN" altLang="en-US" dirty="0"/>
              <a:t>使用合并函数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7674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2949" y="0"/>
            <a:ext cx="10515600" cy="920750"/>
          </a:xfrm>
        </p:spPr>
        <p:txBody>
          <a:bodyPr/>
          <a:lstStyle/>
          <a:p>
            <a:r>
              <a:rPr lang="zh-CN" altLang="en-US" dirty="0"/>
              <a:t>一、数组</a:t>
            </a:r>
            <a:r>
              <a:rPr lang="en-US" altLang="zh-CN" dirty="0"/>
              <a:t>/</a:t>
            </a:r>
            <a:r>
              <a:rPr lang="zh-CN" altLang="en-US" dirty="0"/>
              <a:t>矩阵概念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2949" y="920749"/>
            <a:ext cx="10906125" cy="5641975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数组（</a:t>
            </a:r>
            <a:r>
              <a:rPr lang="en-US" altLang="zh-CN" sz="3600" dirty="0"/>
              <a:t>Array</a:t>
            </a:r>
            <a:r>
              <a:rPr lang="zh-CN" altLang="en-US" sz="3600" dirty="0"/>
              <a:t>）是</a:t>
            </a:r>
            <a:r>
              <a:rPr lang="en-US" altLang="zh-CN" sz="3600" dirty="0"/>
              <a:t>MATLAB</a:t>
            </a:r>
            <a:r>
              <a:rPr lang="zh-CN" altLang="en-US" sz="3600" dirty="0"/>
              <a:t>的核心基础。</a:t>
            </a:r>
            <a:endParaRPr lang="en-US" altLang="zh-CN" sz="3600" dirty="0"/>
          </a:p>
          <a:p>
            <a:pPr lvl="1"/>
            <a:r>
              <a:rPr lang="zh-CN" altLang="en-US" sz="3200" dirty="0"/>
              <a:t>在</a:t>
            </a:r>
            <a:r>
              <a:rPr lang="en-US" altLang="zh-CN" sz="3200" dirty="0"/>
              <a:t>MATLAB</a:t>
            </a:r>
            <a:r>
              <a:rPr lang="zh-CN" altLang="en-US" sz="3200" dirty="0"/>
              <a:t>中，所有的数据均以二维、三维或高维矩阵的形式存储，每个矩阵的单元可以是数值类型、逻辑类型、字符类型或者其他任何数据类型</a:t>
            </a:r>
            <a:endParaRPr lang="en-US" altLang="zh-CN" sz="3200" dirty="0"/>
          </a:p>
          <a:p>
            <a:pPr lvl="1"/>
            <a:r>
              <a:rPr lang="en-US" altLang="zh-CN" sz="3200" dirty="0"/>
              <a:t>MATLAB</a:t>
            </a:r>
            <a:r>
              <a:rPr lang="zh-CN" altLang="en-US" sz="3200" dirty="0"/>
              <a:t>内部的运算都是数组进行的</a:t>
            </a:r>
            <a:endParaRPr lang="en-US" altLang="zh-CN" sz="3200" dirty="0"/>
          </a:p>
          <a:p>
            <a:r>
              <a:rPr lang="zh-CN" altLang="en-US" sz="3600" dirty="0"/>
              <a:t>数组的维度：</a:t>
            </a:r>
            <a:endParaRPr lang="en-US" altLang="zh-CN" sz="3600" dirty="0"/>
          </a:p>
          <a:p>
            <a:pPr lvl="1"/>
            <a:r>
              <a:rPr lang="en-US" altLang="zh-CN" sz="3200" dirty="0"/>
              <a:t>0</a:t>
            </a:r>
            <a:r>
              <a:rPr lang="zh-CN" altLang="en-US" sz="3200" dirty="0"/>
              <a:t>维数组：标量（</a:t>
            </a:r>
            <a:r>
              <a:rPr lang="en-US" altLang="zh-CN" sz="3200" dirty="0"/>
              <a:t>scalar</a:t>
            </a:r>
            <a:r>
              <a:rPr lang="zh-CN" altLang="en-US" sz="3200" dirty="0"/>
              <a:t>）：</a:t>
            </a:r>
            <a:r>
              <a:rPr lang="en-US" altLang="zh-CN" sz="3200" dirty="0"/>
              <a:t>1×1</a:t>
            </a:r>
          </a:p>
          <a:p>
            <a:pPr lvl="1"/>
            <a:r>
              <a:rPr lang="en-US" altLang="zh-CN" sz="3200" dirty="0"/>
              <a:t>1</a:t>
            </a:r>
            <a:r>
              <a:rPr lang="zh-CN" altLang="en-US" sz="3200" dirty="0"/>
              <a:t>维数组：向量（</a:t>
            </a:r>
            <a:r>
              <a:rPr lang="en-US" altLang="zh-CN" sz="3200" dirty="0"/>
              <a:t>vector</a:t>
            </a:r>
            <a:r>
              <a:rPr lang="zh-CN" altLang="en-US" sz="3200" dirty="0"/>
              <a:t>）</a:t>
            </a:r>
            <a:endParaRPr lang="en-US" altLang="zh-CN" sz="3200" dirty="0"/>
          </a:p>
          <a:p>
            <a:pPr lvl="2"/>
            <a:r>
              <a:rPr lang="zh-CN" altLang="en-US" sz="2800" dirty="0"/>
              <a:t>行向量（</a:t>
            </a:r>
            <a:r>
              <a:rPr lang="en-US" altLang="zh-CN" sz="2800" dirty="0"/>
              <a:t>row vector</a:t>
            </a:r>
            <a:r>
              <a:rPr lang="zh-CN" altLang="en-US" sz="2800" dirty="0"/>
              <a:t>）：</a:t>
            </a:r>
            <a:r>
              <a:rPr lang="en-US" altLang="zh-CN" sz="2800" dirty="0"/>
              <a:t>1×n</a:t>
            </a:r>
          </a:p>
          <a:p>
            <a:pPr lvl="2"/>
            <a:r>
              <a:rPr lang="zh-CN" altLang="en-US" sz="2800" dirty="0"/>
              <a:t>列向量（</a:t>
            </a:r>
            <a:r>
              <a:rPr lang="en-US" altLang="zh-CN" sz="2800" dirty="0"/>
              <a:t>column vector</a:t>
            </a:r>
            <a:r>
              <a:rPr lang="zh-CN" altLang="en-US" sz="2800" dirty="0"/>
              <a:t>）：</a:t>
            </a:r>
            <a:r>
              <a:rPr lang="en-US" altLang="zh-CN" sz="2800" dirty="0"/>
              <a:t>n×1</a:t>
            </a:r>
          </a:p>
          <a:p>
            <a:pPr lvl="1"/>
            <a:r>
              <a:rPr lang="en-US" altLang="zh-CN" sz="3200" dirty="0"/>
              <a:t>2</a:t>
            </a:r>
            <a:r>
              <a:rPr lang="zh-CN" altLang="en-US" sz="3200" dirty="0"/>
              <a:t>维数组：矩阵：</a:t>
            </a:r>
            <a:r>
              <a:rPr lang="en-US" altLang="zh-CN" sz="3200" dirty="0" err="1"/>
              <a:t>m×n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49662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数组相关基础内容：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8629650" cy="1965325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创建</a:t>
            </a:r>
            <a:endParaRPr lang="en-US" altLang="zh-CN" sz="3200" dirty="0"/>
          </a:p>
          <a:p>
            <a:r>
              <a:rPr lang="zh-CN" altLang="en-US" sz="3200" dirty="0"/>
              <a:t>寻址（读取数组元素、修改数组元素）</a:t>
            </a:r>
            <a:endParaRPr lang="en-US" altLang="zh-CN" sz="3200" dirty="0"/>
          </a:p>
          <a:p>
            <a:r>
              <a:rPr lang="zh-CN" altLang="en-US" sz="3200" dirty="0"/>
              <a:t>操作</a:t>
            </a:r>
          </a:p>
        </p:txBody>
      </p:sp>
    </p:spTree>
    <p:extLst>
      <p:ext uri="{BB962C8B-B14F-4D97-AF65-F5344CB8AC3E}">
        <p14:creationId xmlns:p14="http://schemas.microsoft.com/office/powerpoint/2010/main" val="3591372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1480" y="199662"/>
            <a:ext cx="10515600" cy="723447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二、向量的创建（行向量、列向量）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716" y="808809"/>
            <a:ext cx="8487127" cy="592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727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种方法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6680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符号法（数值直接输入）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冒号表达法（步长生成）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linspace</a:t>
            </a:r>
            <a:r>
              <a:rPr lang="zh-CN" altLang="en-US" dirty="0"/>
              <a:t>函数法（线性等间距）</a:t>
            </a:r>
          </a:p>
        </p:txBody>
      </p:sp>
    </p:spTree>
    <p:extLst>
      <p:ext uri="{BB962C8B-B14F-4D97-AF65-F5344CB8AC3E}">
        <p14:creationId xmlns:p14="http://schemas.microsoft.com/office/powerpoint/2010/main" val="3792641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74" y="344030"/>
            <a:ext cx="41921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/>
              <a:t>2.1  </a:t>
            </a:r>
            <a:r>
              <a:rPr lang="zh-CN" altLang="en-US" sz="3200" b="1" dirty="0"/>
              <a:t>符号法创建向量：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71575" y="1466850"/>
            <a:ext cx="59531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3200" dirty="0"/>
              <a:t>创建符：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   ]</a:t>
            </a:r>
            <a:endParaRPr lang="en-US" altLang="zh-CN" sz="32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3200" dirty="0"/>
              <a:t>元素的数值需要手动输入</a:t>
            </a:r>
            <a:endParaRPr lang="en-US" altLang="zh-CN" sz="3200" dirty="0"/>
          </a:p>
          <a:p>
            <a:pPr marL="342900" indent="-342900">
              <a:buFont typeface="+mj-lt"/>
              <a:buAutoNum type="arabicPeriod"/>
            </a:pP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31059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74" y="805694"/>
            <a:ext cx="11597909" cy="900507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89874" y="344030"/>
            <a:ext cx="27943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a</a:t>
            </a:r>
            <a:r>
              <a:rPr lang="zh-CN" altLang="en-US" sz="2400" dirty="0"/>
              <a:t>）行向量的创建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68541" y="2037958"/>
            <a:ext cx="11378157" cy="713268"/>
            <a:chOff x="389874" y="2287537"/>
            <a:chExt cx="11378157" cy="71326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9874" y="2287537"/>
              <a:ext cx="11378157" cy="701697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7291417" y="2631473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用</a:t>
              </a:r>
              <a:r>
                <a:rPr lang="zh-CN" altLang="en-US" dirty="0">
                  <a:solidFill>
                    <a:srgbClr val="FF0000"/>
                  </a:solidFill>
                </a:rPr>
                <a:t>逗号</a:t>
              </a:r>
              <a:r>
                <a:rPr lang="zh-CN" altLang="en-US" dirty="0"/>
                <a:t>分割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47210" y="3153441"/>
            <a:ext cx="11378157" cy="734996"/>
            <a:chOff x="389874" y="3523175"/>
            <a:chExt cx="11378157" cy="734996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874" y="3523175"/>
              <a:ext cx="11378157" cy="666689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7217394" y="3888839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用</a:t>
              </a:r>
              <a:r>
                <a:rPr lang="zh-CN" altLang="en-US" dirty="0">
                  <a:solidFill>
                    <a:srgbClr val="FF0000"/>
                  </a:solidFill>
                </a:rPr>
                <a:t>空格</a:t>
              </a:r>
              <a:r>
                <a:rPr lang="zh-CN" altLang="en-US" dirty="0"/>
                <a:t>分割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89874" y="4220193"/>
            <a:ext cx="11447825" cy="711699"/>
            <a:chOff x="389874" y="4403307"/>
            <a:chExt cx="11447825" cy="71169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9874" y="4403307"/>
              <a:ext cx="11447825" cy="672347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7326302" y="4745674"/>
              <a:ext cx="36471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分割符：逗号和空格可以同时使用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89874" y="5289097"/>
            <a:ext cx="11378157" cy="753993"/>
            <a:chOff x="389874" y="5289097"/>
            <a:chExt cx="11378157" cy="753993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9874" y="5289097"/>
              <a:ext cx="11378157" cy="700457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7217394" y="5673758"/>
              <a:ext cx="43396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用</a:t>
              </a:r>
              <a:r>
                <a:rPr lang="zh-CN" altLang="en-US" dirty="0">
                  <a:solidFill>
                    <a:srgbClr val="FF0000"/>
                  </a:solidFill>
                </a:rPr>
                <a:t>空格</a:t>
              </a:r>
              <a:r>
                <a:rPr lang="zh-CN" altLang="en-US" dirty="0"/>
                <a:t>分割时，空格可以有连续多个空格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004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08" y="1018222"/>
            <a:ext cx="972096" cy="56763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1" y="1440091"/>
            <a:ext cx="10075818" cy="54283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386062" y="2286101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用</a:t>
            </a:r>
            <a:r>
              <a:rPr lang="zh-CN" altLang="en-US" dirty="0">
                <a:solidFill>
                  <a:srgbClr val="FF0000"/>
                </a:solidFill>
              </a:rPr>
              <a:t>分号“；”</a:t>
            </a:r>
            <a:r>
              <a:rPr lang="zh-CN" altLang="en-US" dirty="0"/>
              <a:t>进行行之间的分割</a:t>
            </a:r>
          </a:p>
        </p:txBody>
      </p:sp>
      <p:sp>
        <p:nvSpPr>
          <p:cNvPr id="7" name="矩形 6"/>
          <p:cNvSpPr/>
          <p:nvPr/>
        </p:nvSpPr>
        <p:spPr>
          <a:xfrm>
            <a:off x="389874" y="344030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b</a:t>
            </a:r>
            <a:r>
              <a:rPr lang="zh-CN" altLang="en-US" sz="2400" dirty="0"/>
              <a:t>）列向量的创建</a:t>
            </a:r>
          </a:p>
        </p:txBody>
      </p:sp>
    </p:spTree>
    <p:extLst>
      <p:ext uri="{BB962C8B-B14F-4D97-AF65-F5344CB8AC3E}">
        <p14:creationId xmlns:p14="http://schemas.microsoft.com/office/powerpoint/2010/main" val="3168989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向量的符号法创建总结：</a:t>
            </a:r>
          </a:p>
        </p:txBody>
      </p:sp>
      <p:sp>
        <p:nvSpPr>
          <p:cNvPr id="4" name="内容占位符 3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789172" cy="13460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2400" dirty="0"/>
              <a:t>创建行向量：用逗号（</a:t>
            </a:r>
            <a:r>
              <a:rPr lang="en-US" altLang="zh-CN" sz="2400" dirty="0"/>
              <a:t>comma</a:t>
            </a:r>
            <a:r>
              <a:rPr lang="zh-CN" altLang="en-US" sz="2400" dirty="0"/>
              <a:t>）或者空格（</a:t>
            </a:r>
            <a:r>
              <a:rPr lang="en-US" altLang="zh-CN" sz="2400" dirty="0"/>
              <a:t>space</a:t>
            </a:r>
            <a:r>
              <a:rPr lang="zh-CN" altLang="en-US" sz="2400" dirty="0"/>
              <a:t>）分割不同列之间的元素；</a:t>
            </a:r>
            <a:endParaRPr lang="en-US" altLang="zh-CN" sz="2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/>
              <a:t>创建列向量：用分号（</a:t>
            </a:r>
            <a:r>
              <a:rPr lang="en-US" altLang="zh-CN" sz="2400" dirty="0"/>
              <a:t>semicolon</a:t>
            </a:r>
            <a:r>
              <a:rPr lang="zh-CN" altLang="en-US" sz="2400" dirty="0"/>
              <a:t>）分割不同行之间的元素；</a:t>
            </a:r>
            <a:endParaRPr lang="en-US" altLang="zh-CN" sz="2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/>
              <a:t>用中括号</a:t>
            </a:r>
            <a:r>
              <a:rPr lang="en-US" altLang="zh-CN" sz="2400" dirty="0"/>
              <a:t>[ ]</a:t>
            </a:r>
            <a:r>
              <a:rPr lang="zh-CN" altLang="en-US" sz="2400" dirty="0"/>
              <a:t>（</a:t>
            </a:r>
            <a:r>
              <a:rPr lang="en-US" altLang="zh-CN" sz="2400" dirty="0"/>
              <a:t>square brackets</a:t>
            </a:r>
            <a:r>
              <a:rPr lang="zh-CN" altLang="en-US" sz="2400" dirty="0"/>
              <a:t>）将所有元素连接起来。</a:t>
            </a:r>
          </a:p>
        </p:txBody>
      </p:sp>
    </p:spTree>
    <p:extLst>
      <p:ext uri="{BB962C8B-B14F-4D97-AF65-F5344CB8AC3E}">
        <p14:creationId xmlns:p14="http://schemas.microsoft.com/office/powerpoint/2010/main" val="3595161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817" y="1124630"/>
            <a:ext cx="7681227" cy="333415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879324" y="3797966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66" y="695053"/>
            <a:ext cx="1579925" cy="415294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01452" y="233388"/>
            <a:ext cx="6912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创建下面的</a:t>
            </a:r>
            <a:r>
              <a:rPr lang="en-US" altLang="zh-CN" sz="2400" dirty="0"/>
              <a:t>time</a:t>
            </a:r>
            <a:r>
              <a:rPr lang="zh-CN" altLang="en-US" sz="2400" dirty="0"/>
              <a:t>变量，下面的哪个命令是正确的：</a:t>
            </a:r>
          </a:p>
        </p:txBody>
      </p:sp>
    </p:spTree>
    <p:extLst>
      <p:ext uri="{BB962C8B-B14F-4D97-AF65-F5344CB8AC3E}">
        <p14:creationId xmlns:p14="http://schemas.microsoft.com/office/powerpoint/2010/main" val="156655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262" y="1581014"/>
            <a:ext cx="4269456" cy="167993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89874" y="176118"/>
            <a:ext cx="11129201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3200" b="1" dirty="0"/>
              <a:t>2.2</a:t>
            </a:r>
            <a:r>
              <a:rPr lang="en-US" altLang="zh-CN" sz="3200" dirty="0"/>
              <a:t> </a:t>
            </a:r>
            <a:r>
              <a:rPr lang="zh-CN" altLang="en-US" sz="3200" dirty="0"/>
              <a:t>用冒号表达法（</a:t>
            </a:r>
            <a:r>
              <a:rPr lang="en-US" altLang="zh-CN" sz="3200" dirty="0"/>
              <a:t>Colon Notation</a:t>
            </a:r>
            <a:r>
              <a:rPr lang="zh-CN" altLang="en-US" sz="3200" dirty="0"/>
              <a:t>）创建</a:t>
            </a:r>
            <a:r>
              <a:rPr lang="zh-CN" altLang="en-US" sz="3200" dirty="0">
                <a:solidFill>
                  <a:srgbClr val="FF0000"/>
                </a:solidFill>
              </a:rPr>
              <a:t>等间隔分布的</a:t>
            </a:r>
            <a:r>
              <a:rPr lang="zh-CN" altLang="en-US" sz="3200" dirty="0"/>
              <a:t>行向量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b="93092"/>
          <a:stretch/>
        </p:blipFill>
        <p:spPr>
          <a:xfrm>
            <a:off x="562865" y="2108291"/>
            <a:ext cx="5301195" cy="31269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74" y="805695"/>
            <a:ext cx="11335493" cy="88013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580" y="3476451"/>
            <a:ext cx="11334750" cy="876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875" y="4468857"/>
            <a:ext cx="3293852" cy="27652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7559" y="4360469"/>
            <a:ext cx="406717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8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67" y="452573"/>
            <a:ext cx="2276475" cy="36195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487680" y="1297577"/>
            <a:ext cx="3431177" cy="5059680"/>
            <a:chOff x="487680" y="1297577"/>
            <a:chExt cx="3431177" cy="5059680"/>
          </a:xfrm>
        </p:grpSpPr>
        <p:sp>
          <p:nvSpPr>
            <p:cNvPr id="4" name="矩形 3"/>
            <p:cNvSpPr/>
            <p:nvPr/>
          </p:nvSpPr>
          <p:spPr>
            <a:xfrm>
              <a:off x="487680" y="1297577"/>
              <a:ext cx="3431177" cy="505968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515292" y="2347229"/>
              <a:ext cx="1045028" cy="200297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 11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12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13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14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15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853439" y="1528895"/>
              <a:ext cx="2612571" cy="6183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10  11  12  13  14  15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801187" y="4506683"/>
              <a:ext cx="2612571" cy="6183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10   15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569720" y="5222963"/>
              <a:ext cx="936172" cy="8816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15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370" y="452573"/>
            <a:ext cx="2809875" cy="381000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4441370" y="1297577"/>
            <a:ext cx="3431177" cy="5059680"/>
            <a:chOff x="5455920" y="1297577"/>
            <a:chExt cx="3431177" cy="5059680"/>
          </a:xfrm>
        </p:grpSpPr>
        <p:sp>
          <p:nvSpPr>
            <p:cNvPr id="13" name="矩形 12"/>
            <p:cNvSpPr/>
            <p:nvPr/>
          </p:nvSpPr>
          <p:spPr>
            <a:xfrm>
              <a:off x="5455920" y="1297577"/>
              <a:ext cx="3431177" cy="505968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6483532" y="2347229"/>
              <a:ext cx="1045028" cy="200297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-2.5  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-1.5  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-0.5 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 0.5  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1.5  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2.5 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5614170" y="1516373"/>
              <a:ext cx="3137944" cy="6183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-2.5  -1.5  -0.5  0.5  1.5  2.5 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5769427" y="4506683"/>
              <a:ext cx="2612571" cy="6183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-2.5  0  2.5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6537960" y="5222963"/>
              <a:ext cx="936172" cy="8816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-2.5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2.5</a:t>
              </a: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869" y="452573"/>
            <a:ext cx="2847975" cy="40005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8299267" y="1258386"/>
            <a:ext cx="3431177" cy="5059680"/>
            <a:chOff x="5455920" y="1297577"/>
            <a:chExt cx="3431177" cy="5059680"/>
          </a:xfrm>
        </p:grpSpPr>
        <p:sp>
          <p:nvSpPr>
            <p:cNvPr id="23" name="矩形 22"/>
            <p:cNvSpPr/>
            <p:nvPr/>
          </p:nvSpPr>
          <p:spPr>
            <a:xfrm>
              <a:off x="5455920" y="1297577"/>
              <a:ext cx="3431177" cy="505968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6553198" y="3207213"/>
              <a:ext cx="1045028" cy="200297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  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2  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3 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4  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5</a:t>
              </a:r>
            </a:p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6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5614170" y="1516373"/>
              <a:ext cx="3137944" cy="6183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1  2  3  4  5  6.3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5747522" y="2332135"/>
              <a:ext cx="2612571" cy="6183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1  2  3  4  5  6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5769427" y="5451566"/>
              <a:ext cx="2612571" cy="6530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1  6.3</a:t>
              </a: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3098840" y="151637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173702" y="174154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0741217" y="2248155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163347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3309255" y="1184365"/>
            <a:ext cx="4362996" cy="4432664"/>
            <a:chOff x="3309255" y="1184365"/>
            <a:chExt cx="4362996" cy="4432664"/>
          </a:xfrm>
        </p:grpSpPr>
        <p:sp>
          <p:nvSpPr>
            <p:cNvPr id="6" name="矩形 5"/>
            <p:cNvSpPr/>
            <p:nvPr/>
          </p:nvSpPr>
          <p:spPr>
            <a:xfrm>
              <a:off x="3309255" y="1184365"/>
              <a:ext cx="4362996" cy="443266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44411" y="2400048"/>
              <a:ext cx="1328831" cy="69155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accent1">
                      <a:lumMod val="75000"/>
                    </a:schemeClr>
                  </a:solidFill>
                </a:rPr>
                <a:t>5 1</a:t>
              </a:r>
              <a:endParaRPr lang="zh-CN" altLang="en-US" sz="2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3467505" y="1403160"/>
              <a:ext cx="3990128" cy="79877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accent1">
                      <a:lumMod val="75000"/>
                    </a:schemeClr>
                  </a:solidFill>
                </a:rPr>
                <a:t>1  2  3  4  5</a:t>
              </a:r>
              <a:endParaRPr lang="zh-CN" altLang="en-US" sz="2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3596638" y="3211421"/>
              <a:ext cx="3322078" cy="79877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accent1">
                      <a:lumMod val="75000"/>
                    </a:schemeClr>
                  </a:solidFill>
                </a:rPr>
                <a:t>5  4  3  2  1</a:t>
              </a:r>
              <a:endParaRPr lang="zh-CN" altLang="en-US" sz="2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4015737" y="4296050"/>
              <a:ext cx="2344831" cy="7727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accent1">
                      <a:lumMod val="75000"/>
                    </a:schemeClr>
                  </a:solidFill>
                </a:rPr>
                <a:t>Empty matrix</a:t>
              </a: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155" y="626464"/>
            <a:ext cx="1857375" cy="3238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221089" y="4311796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235914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99" y="142875"/>
            <a:ext cx="1983331" cy="53666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00" y="736689"/>
            <a:ext cx="6876454" cy="85806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98" y="1788318"/>
            <a:ext cx="2064973" cy="4524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00" y="2346380"/>
            <a:ext cx="6876454" cy="85806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298" y="3507835"/>
            <a:ext cx="2790470" cy="56047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298" y="4068314"/>
            <a:ext cx="8991268" cy="85575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298" y="4974718"/>
            <a:ext cx="2798125" cy="50982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298" y="5484545"/>
            <a:ext cx="6654128" cy="811479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1171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80987"/>
            <a:ext cx="2262074" cy="50958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49" y="933449"/>
            <a:ext cx="7477405" cy="8858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48" y="2271712"/>
            <a:ext cx="2886077" cy="5857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73" y="2857499"/>
            <a:ext cx="5580063" cy="90487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783478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667" y="523876"/>
            <a:ext cx="1881414" cy="647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32" y="1938338"/>
            <a:ext cx="2066549" cy="6040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30" y="3314700"/>
            <a:ext cx="2095851" cy="54437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912" y="4667250"/>
            <a:ext cx="2085169" cy="561392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3012519" y="523876"/>
            <a:ext cx="6455331" cy="647700"/>
            <a:chOff x="3012519" y="523876"/>
            <a:chExt cx="6455331" cy="6477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81450" y="523876"/>
              <a:ext cx="5486400" cy="64770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12" name="右箭头 11"/>
            <p:cNvSpPr/>
            <p:nvPr/>
          </p:nvSpPr>
          <p:spPr>
            <a:xfrm>
              <a:off x="3012519" y="781050"/>
              <a:ext cx="787956" cy="20955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012519" y="1604963"/>
            <a:ext cx="2064306" cy="1333500"/>
            <a:chOff x="3012519" y="1604963"/>
            <a:chExt cx="2064306" cy="133350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81450" y="1604963"/>
              <a:ext cx="1095375" cy="133350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13" name="右箭头 12"/>
            <p:cNvSpPr/>
            <p:nvPr/>
          </p:nvSpPr>
          <p:spPr>
            <a:xfrm>
              <a:off x="3012519" y="2166938"/>
              <a:ext cx="787956" cy="20955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986262" y="3390899"/>
            <a:ext cx="3204988" cy="647700"/>
            <a:chOff x="2986262" y="3390899"/>
            <a:chExt cx="3204988" cy="64770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62400" y="3390899"/>
              <a:ext cx="2228850" cy="64770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14" name="右箭头 13"/>
            <p:cNvSpPr/>
            <p:nvPr/>
          </p:nvSpPr>
          <p:spPr>
            <a:xfrm>
              <a:off x="2986262" y="3500439"/>
              <a:ext cx="787956" cy="20955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986262" y="4619624"/>
            <a:ext cx="6443488" cy="666750"/>
            <a:chOff x="2986262" y="4619624"/>
            <a:chExt cx="6443488" cy="666750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962400" y="4619624"/>
              <a:ext cx="5467350" cy="66675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15" name="右箭头 14"/>
            <p:cNvSpPr/>
            <p:nvPr/>
          </p:nvSpPr>
          <p:spPr>
            <a:xfrm>
              <a:off x="2986262" y="4947946"/>
              <a:ext cx="787956" cy="20955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112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579" y="1504541"/>
            <a:ext cx="3990975" cy="233362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25656" y="4820059"/>
            <a:ext cx="9044397" cy="1066800"/>
            <a:chOff x="372835" y="3678419"/>
            <a:chExt cx="9044397" cy="10668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2835" y="3794760"/>
              <a:ext cx="5916059" cy="83411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0182" y="3678419"/>
              <a:ext cx="3067050" cy="1066800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69" y="2066516"/>
            <a:ext cx="6743700" cy="17716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32237" y="304800"/>
            <a:ext cx="7956024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3200" b="1"/>
            </a:lvl1pPr>
          </a:lstStyle>
          <a:p>
            <a:r>
              <a:rPr lang="en-US" altLang="zh-CN" dirty="0"/>
              <a:t>2.3 </a:t>
            </a:r>
            <a:r>
              <a:rPr lang="zh-CN" altLang="en-US" dirty="0"/>
              <a:t>用</a:t>
            </a:r>
            <a:r>
              <a:rPr lang="en-US" altLang="zh-CN" dirty="0" err="1"/>
              <a:t>linspace</a:t>
            </a:r>
            <a:r>
              <a:rPr lang="zh-CN" altLang="en-US" dirty="0"/>
              <a:t>函数创建</a:t>
            </a:r>
            <a:r>
              <a:rPr lang="zh-CN" altLang="en-US" dirty="0">
                <a:solidFill>
                  <a:srgbClr val="FF0000"/>
                </a:solidFill>
              </a:rPr>
              <a:t>等间隔分布的</a:t>
            </a:r>
            <a:r>
              <a:rPr lang="zh-CN" altLang="en-US" dirty="0"/>
              <a:t>行向量</a:t>
            </a:r>
          </a:p>
        </p:txBody>
      </p:sp>
    </p:spTree>
    <p:extLst>
      <p:ext uri="{BB962C8B-B14F-4D97-AF65-F5344CB8AC3E}">
        <p14:creationId xmlns:p14="http://schemas.microsoft.com/office/powerpoint/2010/main" val="3634987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91274"/>
          <a:stretch/>
        </p:blipFill>
        <p:spPr>
          <a:xfrm>
            <a:off x="1189130" y="139338"/>
            <a:ext cx="635742" cy="65836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525486" y="714103"/>
            <a:ext cx="67409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用冒号表达法和</a:t>
            </a:r>
            <a:r>
              <a:rPr lang="en-US" altLang="zh-CN" sz="2400" dirty="0" err="1"/>
              <a:t>linspace</a:t>
            </a:r>
            <a:r>
              <a:rPr lang="zh-CN" altLang="en-US" sz="2400" dirty="0"/>
              <a:t>函数创建的都是行向量，</a:t>
            </a:r>
            <a:endParaRPr lang="en-US" altLang="zh-CN" sz="2400" dirty="0"/>
          </a:p>
          <a:p>
            <a:r>
              <a:rPr lang="zh-CN" altLang="en-US" sz="2400" dirty="0"/>
              <a:t>如何用这</a:t>
            </a:r>
            <a:r>
              <a:rPr lang="en-US" altLang="zh-CN" sz="2400" dirty="0"/>
              <a:t>2</a:t>
            </a:r>
            <a:r>
              <a:rPr lang="zh-CN" altLang="en-US" sz="2400" dirty="0"/>
              <a:t>种方法创建列向量？</a:t>
            </a:r>
            <a:endParaRPr lang="en-US" altLang="zh-CN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r="43426" b="93092"/>
          <a:stretch/>
        </p:blipFill>
        <p:spPr>
          <a:xfrm>
            <a:off x="2200077" y="1854792"/>
            <a:ext cx="4087512" cy="42617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2200077" y="2590654"/>
            <a:ext cx="6443741" cy="831468"/>
            <a:chOff x="2731300" y="2714235"/>
            <a:chExt cx="6443741" cy="831468"/>
          </a:xfrm>
        </p:grpSpPr>
        <p:sp>
          <p:nvSpPr>
            <p:cNvPr id="2" name="文本框 1"/>
            <p:cNvSpPr txBox="1"/>
            <p:nvPr/>
          </p:nvSpPr>
          <p:spPr>
            <a:xfrm>
              <a:off x="6343817" y="2837817"/>
              <a:ext cx="283122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转置（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transpose</a:t>
              </a:r>
              <a:r>
                <a:rPr lang="zh-CN" altLang="en-US" sz="2000" b="1" dirty="0"/>
                <a:t>）</a:t>
              </a:r>
              <a:endParaRPr lang="en-US" altLang="zh-CN" sz="2000" b="1" dirty="0"/>
            </a:p>
            <a:p>
              <a:r>
                <a:rPr lang="zh-CN" altLang="en-US" sz="2000" b="1" dirty="0"/>
                <a:t>通过“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’</a:t>
              </a:r>
              <a:r>
                <a:rPr lang="zh-CN" altLang="en-US" sz="2000" b="1" dirty="0"/>
                <a:t>”来创建列向量</a:t>
              </a: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31300" y="2714235"/>
              <a:ext cx="3346077" cy="647274"/>
            </a:xfrm>
            <a:prstGeom prst="rect">
              <a:avLst/>
            </a:prstGeom>
          </p:spPr>
        </p:pic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047" y="1721824"/>
            <a:ext cx="1575862" cy="488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8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三、矩阵的创建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7496175" cy="1241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dirty="0"/>
              <a:t>3.1 </a:t>
            </a:r>
            <a:r>
              <a:rPr lang="zh-CN" altLang="en-US" sz="3600" dirty="0"/>
              <a:t>符号法创建（直接输入数值）</a:t>
            </a:r>
            <a:endParaRPr lang="en-US" altLang="zh-CN" sz="3600" dirty="0"/>
          </a:p>
          <a:p>
            <a:pPr marL="0" indent="0">
              <a:buNone/>
            </a:pPr>
            <a:r>
              <a:rPr lang="en-US" altLang="zh-CN" sz="3600" dirty="0"/>
              <a:t>3.2 </a:t>
            </a:r>
            <a:r>
              <a:rPr lang="zh-CN" altLang="en-US" sz="3600" dirty="0"/>
              <a:t>使用函数创建特殊矩阵</a:t>
            </a:r>
          </a:p>
        </p:txBody>
      </p:sp>
    </p:spTree>
    <p:extLst>
      <p:ext uri="{BB962C8B-B14F-4D97-AF65-F5344CB8AC3E}">
        <p14:creationId xmlns:p14="http://schemas.microsoft.com/office/powerpoint/2010/main" val="245015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898" y="2520814"/>
            <a:ext cx="2255132" cy="2495324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11480" y="199662"/>
            <a:ext cx="4134394" cy="723447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3.1 </a:t>
            </a:r>
            <a:r>
              <a:rPr lang="zh-CN" altLang="en-US" sz="3600" b="1" dirty="0"/>
              <a:t>符号法创建矩阵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27561" y="1187111"/>
            <a:ext cx="64803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用中括号</a:t>
            </a:r>
            <a:r>
              <a:rPr lang="en-US" altLang="zh-CN" sz="2400" dirty="0"/>
              <a:t>[ ]</a:t>
            </a:r>
            <a:r>
              <a:rPr lang="zh-CN" altLang="en-US" sz="2400" dirty="0"/>
              <a:t>（</a:t>
            </a:r>
            <a:r>
              <a:rPr lang="en-US" altLang="zh-CN" sz="2400" dirty="0"/>
              <a:t>square brackets</a:t>
            </a:r>
            <a:r>
              <a:rPr lang="zh-CN" altLang="en-US" sz="2400" dirty="0"/>
              <a:t>）连接所有元素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用逗号（</a:t>
            </a:r>
            <a:r>
              <a:rPr lang="en-US" altLang="zh-CN" sz="2400" dirty="0"/>
              <a:t>comma</a:t>
            </a:r>
            <a:r>
              <a:rPr lang="zh-CN" altLang="en-US" sz="2400" dirty="0"/>
              <a:t>）或者空格（</a:t>
            </a:r>
            <a:r>
              <a:rPr lang="en-US" altLang="zh-CN" sz="2400" dirty="0"/>
              <a:t>space</a:t>
            </a:r>
            <a:r>
              <a:rPr lang="zh-CN" altLang="en-US" sz="2400" dirty="0"/>
              <a:t>）分割列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用分号（</a:t>
            </a:r>
            <a:r>
              <a:rPr lang="en-US" altLang="zh-CN" sz="2400" dirty="0"/>
              <a:t>semicolon</a:t>
            </a:r>
            <a:r>
              <a:rPr lang="zh-CN" altLang="en-US" sz="2400" dirty="0"/>
              <a:t>）分割行</a:t>
            </a: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023" y="5282886"/>
            <a:ext cx="740092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843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746" y="99944"/>
            <a:ext cx="4176571" cy="223034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240" y="2853628"/>
            <a:ext cx="7508025" cy="35123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33748" y="3026499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32867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97" y="796698"/>
            <a:ext cx="1774644" cy="429174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1" y="1032398"/>
            <a:ext cx="8058026" cy="380956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510992" y="224476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304690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2194150"/>
            <a:ext cx="3469792" cy="344135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244" y="839017"/>
            <a:ext cx="8641801" cy="98107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96983" y="430230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607" y="2194151"/>
            <a:ext cx="3384233" cy="344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2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" y="146004"/>
            <a:ext cx="6383398" cy="89031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47" y="1036320"/>
            <a:ext cx="2625770" cy="466803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079982" y="496258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✔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312" y="3116368"/>
            <a:ext cx="5705366" cy="209472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5312" y="1350236"/>
            <a:ext cx="5819775" cy="10572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BADEB7D-B319-49E3-A0DD-CE2B92B8D416}"/>
              </a:ext>
            </a:extLst>
          </p:cNvPr>
          <p:cNvSpPr txBox="1"/>
          <p:nvPr/>
        </p:nvSpPr>
        <p:spPr>
          <a:xfrm>
            <a:off x="4405312" y="2496468"/>
            <a:ext cx="5436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矩阵的行数和列数必须一致</a:t>
            </a:r>
          </a:p>
        </p:txBody>
      </p:sp>
    </p:spTree>
    <p:extLst>
      <p:ext uri="{BB962C8B-B14F-4D97-AF65-F5344CB8AC3E}">
        <p14:creationId xmlns:p14="http://schemas.microsoft.com/office/powerpoint/2010/main" val="42027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11479" y="199662"/>
            <a:ext cx="5255895" cy="723447"/>
          </a:xfrm>
        </p:spPr>
        <p:txBody>
          <a:bodyPr>
            <a:normAutofit fontScale="90000"/>
          </a:bodyPr>
          <a:lstStyle/>
          <a:p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 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调用函数创建特殊矩阵</a:t>
            </a: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219199"/>
            <a:ext cx="1078136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0331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382587"/>
            <a:ext cx="10426550" cy="570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1624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4" y="76200"/>
            <a:ext cx="11800553" cy="563880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2324100" y="5924550"/>
            <a:ext cx="6351419" cy="461665"/>
            <a:chOff x="2324100" y="5924550"/>
            <a:chExt cx="6351419" cy="461665"/>
          </a:xfrm>
        </p:grpSpPr>
        <p:sp>
          <p:nvSpPr>
            <p:cNvPr id="3" name="文本框 2"/>
            <p:cNvSpPr txBox="1"/>
            <p:nvPr/>
          </p:nvSpPr>
          <p:spPr>
            <a:xfrm>
              <a:off x="2324100" y="5924550"/>
              <a:ext cx="63514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/>
                <a:t>学会使用         查找相关主题的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函数列表</a:t>
              </a:r>
              <a:r>
                <a:rPr lang="zh-CN" altLang="en-US" sz="2400" dirty="0"/>
                <a:t>及帮助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3"/>
            <a:srcRect l="9091"/>
            <a:stretch/>
          </p:blipFill>
          <p:spPr>
            <a:xfrm>
              <a:off x="3781425" y="5924550"/>
              <a:ext cx="381000" cy="409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3417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ones,zeros,eye,rand,randn</a:t>
            </a:r>
            <a:r>
              <a:rPr lang="zh-CN" altLang="en-US" dirty="0"/>
              <a:t>函数调用方式：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284" y="2338891"/>
            <a:ext cx="5505450" cy="638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34" y="2310316"/>
            <a:ext cx="4924425" cy="5810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3114675"/>
            <a:ext cx="3390900" cy="30099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275" y="3038475"/>
            <a:ext cx="348615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446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19150"/>
            <a:ext cx="3371850" cy="35433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530" y="819150"/>
            <a:ext cx="3314700" cy="28765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160" y="372970"/>
            <a:ext cx="4410075" cy="557212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669354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523875"/>
            <a:ext cx="75819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4819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" y="347662"/>
            <a:ext cx="3976084" cy="21288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699" y="347662"/>
            <a:ext cx="5157215" cy="245268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048" y="2881311"/>
            <a:ext cx="5943601" cy="268683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67074" y="5824537"/>
            <a:ext cx="5205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Magic</a:t>
            </a:r>
            <a:r>
              <a:rPr lang="zh-CN" altLang="en-US" sz="2800" dirty="0"/>
              <a:t>魔方矩阵：</a:t>
            </a:r>
            <a:r>
              <a:rPr lang="en-US" altLang="zh-CN" sz="2800" dirty="0"/>
              <a:t>3</a:t>
            </a:r>
            <a:r>
              <a:rPr lang="zh-CN" altLang="en-US" sz="2800" dirty="0"/>
              <a:t>阶、</a:t>
            </a:r>
            <a:r>
              <a:rPr lang="en-US" altLang="zh-CN" sz="2800" dirty="0"/>
              <a:t>4</a:t>
            </a:r>
            <a:r>
              <a:rPr lang="zh-CN" altLang="en-US" sz="2800" dirty="0"/>
              <a:t>阶、</a:t>
            </a:r>
            <a:r>
              <a:rPr lang="en-US" altLang="zh-CN" sz="2800" dirty="0"/>
              <a:t>5</a:t>
            </a:r>
            <a:r>
              <a:rPr lang="zh-CN" altLang="en-US" sz="2800" dirty="0"/>
              <a:t>阶</a:t>
            </a:r>
          </a:p>
        </p:txBody>
      </p:sp>
    </p:spTree>
    <p:extLst>
      <p:ext uri="{BB962C8B-B14F-4D97-AF65-F5344CB8AC3E}">
        <p14:creationId xmlns:p14="http://schemas.microsoft.com/office/powerpoint/2010/main" val="1507610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23100"/>
              </p:ext>
            </p:extLst>
          </p:nvPr>
        </p:nvGraphicFramePr>
        <p:xfrm>
          <a:off x="946353" y="1526972"/>
          <a:ext cx="10201827" cy="2667000"/>
        </p:xfrm>
        <a:graphic>
          <a:graphicData uri="http://schemas.openxmlformats.org/drawingml/2006/table">
            <a:tbl>
              <a:tblPr/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8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4000" b="1" dirty="0"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4000" b="1" u="none" strike="noStrike" dirty="0">
                          <a:solidFill>
                            <a:srgbClr val="005695"/>
                          </a:solidFill>
                          <a:effectLst/>
                          <a:latin typeface="Courier New" panose="02070309020205020404" pitchFamily="49" charset="0"/>
                          <a:hlinkClick r:id="rId2" action="ppaction://hlinkfile"/>
                        </a:rPr>
                        <a:t>rand</a:t>
                      </a:r>
                      <a:endParaRPr lang="en-US" sz="4000" b="1" dirty="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4000" b="1" dirty="0">
                          <a:effectLst/>
                        </a:rPr>
                        <a:t>(0</a:t>
                      </a:r>
                      <a:r>
                        <a:rPr lang="en-US" altLang="zh-CN" sz="4000" b="1" dirty="0">
                          <a:effectLst/>
                        </a:rPr>
                        <a:t>~1)</a:t>
                      </a:r>
                      <a:r>
                        <a:rPr lang="zh-CN" altLang="en-US" sz="4000" b="1" dirty="0">
                          <a:effectLst/>
                        </a:rPr>
                        <a:t>均匀分布的随机浮点数</a:t>
                      </a:r>
                      <a:endParaRPr lang="en-US" sz="4000" b="1" dirty="0">
                        <a:effectLst/>
                      </a:endParaRP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4000" b="1" dirty="0"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4000" b="1" u="none" strike="noStrike">
                          <a:solidFill>
                            <a:srgbClr val="005695"/>
                          </a:solidFill>
                          <a:effectLst/>
                          <a:latin typeface="Courier New" panose="02070309020205020404" pitchFamily="49" charset="0"/>
                          <a:hlinkClick r:id="rId3" action="ppaction://hlinkfile"/>
                        </a:rPr>
                        <a:t>randn</a:t>
                      </a:r>
                      <a:endParaRPr lang="en-US" sz="4000" b="1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4000" b="1" dirty="0">
                          <a:effectLst/>
                        </a:rPr>
                        <a:t>标准正态分布的随机浮点数</a:t>
                      </a:r>
                      <a:endParaRPr lang="en-US" sz="4000" b="1" dirty="0">
                        <a:effectLst/>
                      </a:endParaRP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4000" b="1" dirty="0"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4000" b="1" u="none" strike="noStrike" dirty="0">
                          <a:solidFill>
                            <a:srgbClr val="005695"/>
                          </a:solidFill>
                          <a:effectLst/>
                          <a:latin typeface="Courier New" panose="02070309020205020404" pitchFamily="49" charset="0"/>
                          <a:hlinkClick r:id="rId4" action="ppaction://hlinkfile"/>
                        </a:rPr>
                        <a:t>randi</a:t>
                      </a:r>
                      <a:endParaRPr lang="en-US" sz="4000" b="1" dirty="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4000" b="1" dirty="0">
                          <a:effectLst/>
                        </a:rPr>
                        <a:t>标准正态分布的随机</a:t>
                      </a:r>
                      <a:r>
                        <a:rPr lang="zh-CN" altLang="en-US" sz="4000" b="1" dirty="0">
                          <a:solidFill>
                            <a:srgbClr val="FF0000"/>
                          </a:solidFill>
                          <a:effectLst/>
                        </a:rPr>
                        <a:t>整数</a:t>
                      </a:r>
                      <a:endParaRPr lang="en-US" altLang="zh-CN" sz="4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4000" b="1" dirty="0">
                          <a:effectLst/>
                          <a:latin typeface="Courier New" panose="02070309020205020404" pitchFamily="49" charset="0"/>
                        </a:rPr>
                        <a:t>4</a:t>
                      </a: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4000" b="1" u="none" strike="noStrike" dirty="0">
                          <a:solidFill>
                            <a:srgbClr val="005695"/>
                          </a:solidFill>
                          <a:effectLst/>
                          <a:latin typeface="Courier New" panose="02070309020205020404" pitchFamily="49" charset="0"/>
                          <a:hlinkClick r:id="rId5" action="ppaction://hlinkfile"/>
                        </a:rPr>
                        <a:t>randperm</a:t>
                      </a:r>
                      <a:endParaRPr lang="en-US" sz="4000" b="1" dirty="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4000" b="1" dirty="0">
                          <a:effectLst/>
                        </a:rPr>
                        <a:t>1</a:t>
                      </a:r>
                      <a:r>
                        <a:rPr lang="en-US" altLang="zh-CN" sz="4000" b="1" dirty="0">
                          <a:effectLst/>
                        </a:rPr>
                        <a:t>~n</a:t>
                      </a:r>
                      <a:r>
                        <a:rPr lang="zh-CN" altLang="en-US" sz="4000" b="1" dirty="0">
                          <a:effectLst/>
                        </a:rPr>
                        <a:t>之间的随机排列</a:t>
                      </a:r>
                      <a:endParaRPr lang="en-US" sz="4000" b="1" dirty="0">
                        <a:effectLst/>
                      </a:endParaRP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946353" y="652717"/>
            <a:ext cx="94051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C45400"/>
                </a:solidFill>
                <a:latin typeface="Arial" panose="020B0604020202020204" pitchFamily="34" charset="0"/>
              </a:rPr>
              <a:t>Random Number Generation</a:t>
            </a:r>
            <a:r>
              <a:rPr lang="zh-CN" altLang="en-US" sz="2800" b="1" dirty="0">
                <a:solidFill>
                  <a:srgbClr val="C45400"/>
                </a:solidFill>
                <a:latin typeface="Arial" panose="020B0604020202020204" pitchFamily="34" charset="0"/>
              </a:rPr>
              <a:t>（产生随机数矩阵的函数）</a:t>
            </a:r>
            <a:endParaRPr lang="en-US" altLang="zh-CN" sz="2800" b="1" i="0" dirty="0">
              <a:solidFill>
                <a:srgbClr val="C454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5967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31" y="638854"/>
            <a:ext cx="5505450" cy="140017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492" y="2371044"/>
            <a:ext cx="5457825" cy="14192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832" y="4051799"/>
            <a:ext cx="5514975" cy="14192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1781991" y="5732554"/>
            <a:ext cx="8424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随机数函数，每次调用生成不同数值的随机数</a:t>
            </a:r>
          </a:p>
        </p:txBody>
      </p:sp>
    </p:spTree>
    <p:extLst>
      <p:ext uri="{BB962C8B-B14F-4D97-AF65-F5344CB8AC3E}">
        <p14:creationId xmlns:p14="http://schemas.microsoft.com/office/powerpoint/2010/main" val="37630405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200191"/>
              </p:ext>
            </p:extLst>
          </p:nvPr>
        </p:nvGraphicFramePr>
        <p:xfrm>
          <a:off x="149505" y="719364"/>
          <a:ext cx="11499570" cy="5786211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3025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6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9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语法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产生的随机整数数值范围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产生的随机数的数目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example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randi(imax)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r>
                        <a:rPr lang="en-US" altLang="zh-CN" sz="2400" b="1" dirty="0"/>
                        <a:t>1~imax</a:t>
                      </a:r>
                      <a:r>
                        <a:rPr lang="zh-CN" altLang="en-US" sz="2400" b="1" dirty="0"/>
                        <a:t>之间的</a:t>
                      </a:r>
                      <a:endParaRPr lang="en-US" altLang="zh-CN" sz="2400" b="1" dirty="0"/>
                    </a:p>
                    <a:p>
                      <a:r>
                        <a:rPr lang="zh-CN" altLang="en-US" sz="2400" b="1" dirty="0"/>
                        <a:t>随机整数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1</a:t>
                      </a:r>
                      <a:r>
                        <a:rPr lang="zh-CN" altLang="en-US" sz="2400" b="1" dirty="0"/>
                        <a:t>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randi(10)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randi(imax,</a:t>
                      </a: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zh-CN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</a:t>
                      </a: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zh-CN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5695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err="1"/>
                        <a:t>n×n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randi(10,3)</a:t>
                      </a:r>
                      <a:r>
                        <a:rPr lang="en-US" altLang="zh-CN" sz="2400" b="1" dirty="0">
                          <a:sym typeface="Wingdings" panose="05000000000000000000" pitchFamily="2" charset="2"/>
                        </a:rPr>
                        <a:t>3x3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5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randi(imax,</a:t>
                      </a: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zh-CN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sz1,...,szN)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5695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sz="2400" b="1" dirty="0"/>
                        <a:t>Sz1×sz2×…×</a:t>
                      </a:r>
                      <a:r>
                        <a:rPr lang="en-US" altLang="zh-CN" sz="2400" b="1" dirty="0" err="1"/>
                        <a:t>szN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zh-CN" sz="2400" b="1" dirty="0"/>
                        <a:t>randi(10,3,2)</a:t>
                      </a:r>
                      <a:r>
                        <a:rPr lang="en-US" altLang="zh-CN" sz="2400" b="1" dirty="0">
                          <a:sym typeface="Wingdings" panose="05000000000000000000" pitchFamily="2" charset="2"/>
                        </a:rPr>
                        <a:t>3x2</a:t>
                      </a:r>
                      <a:endParaRPr lang="en-US" altLang="zh-CN" sz="2400" b="1" dirty="0"/>
                    </a:p>
                    <a:p>
                      <a:r>
                        <a:rPr lang="en-US" altLang="zh-CN" sz="2400" b="1" dirty="0" err="1"/>
                        <a:t>randi</a:t>
                      </a:r>
                      <a:r>
                        <a:rPr lang="en-US" altLang="zh-CN" sz="2400" b="1" dirty="0"/>
                        <a:t>(10,2,3,4)</a:t>
                      </a:r>
                      <a:r>
                        <a:rPr lang="en-US" altLang="zh-CN" sz="2400" b="1" dirty="0">
                          <a:sym typeface="Wingdings" panose="05000000000000000000" pitchFamily="2" charset="2"/>
                        </a:rPr>
                        <a:t>2x3x4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444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randi(imax,</a:t>
                      </a: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zh-CN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sz)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Arial Unicode MS" panose="020B0604020202020204" pitchFamily="34" charset="-122"/>
                        <a:ea typeface="Menlo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68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Arial Unicode MS" panose="020B0604020202020204" pitchFamily="34" charset="-122"/>
                        <a:ea typeface="Menlo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行向量</a:t>
                      </a:r>
                      <a:r>
                        <a:rPr lang="en-US" altLang="zh-CN" sz="2400" b="1" dirty="0" err="1"/>
                        <a:t>sz</a:t>
                      </a:r>
                      <a:r>
                        <a:rPr lang="zh-CN" altLang="en-US" sz="2400" b="1" dirty="0"/>
                        <a:t>指定的大小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randi(10,[2 3])</a:t>
                      </a:r>
                      <a:r>
                        <a:rPr lang="en-US" altLang="zh-CN" sz="2400" b="1" dirty="0">
                          <a:sym typeface="Wingdings" panose="05000000000000000000" pitchFamily="2" charset="2"/>
                        </a:rPr>
                        <a:t>2x3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 err="1"/>
                        <a:t>randi</a:t>
                      </a:r>
                      <a:r>
                        <a:rPr lang="en-US" altLang="zh-CN" sz="2400" b="1" dirty="0"/>
                        <a:t>(10,[2 3 4])</a:t>
                      </a:r>
                      <a:r>
                        <a:rPr lang="en-US" altLang="zh-CN" sz="2400" b="1" dirty="0">
                          <a:sym typeface="Wingdings" panose="05000000000000000000" pitchFamily="2" charset="2"/>
                        </a:rPr>
                        <a:t>2x3x4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29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400" b="1" dirty="0"/>
                        <a:t>randi(</a:t>
                      </a:r>
                      <a:r>
                        <a:rPr lang="en-US" altLang="zh-CN" sz="2400" b="1" dirty="0"/>
                        <a:t> </a:t>
                      </a:r>
                      <a:r>
                        <a:rPr lang="zh-CN" altLang="zh-CN" sz="2400" b="1" dirty="0"/>
                        <a:t>[imin,imax],</a:t>
                      </a:r>
                      <a:r>
                        <a:rPr lang="en-US" altLang="zh-CN" sz="2400" b="1" dirty="0"/>
                        <a:t> </a:t>
                      </a:r>
                      <a:r>
                        <a:rPr lang="zh-CN" altLang="zh-CN" sz="1400" b="1" dirty="0"/>
                        <a:t>___</a:t>
                      </a:r>
                      <a:r>
                        <a:rPr lang="en-US" altLang="zh-CN" sz="1400" b="1" dirty="0"/>
                        <a:t> </a:t>
                      </a:r>
                      <a:r>
                        <a:rPr lang="zh-CN" altLang="zh-CN" sz="2400" b="1" dirty="0"/>
                        <a:t>)</a:t>
                      </a:r>
                      <a:endParaRPr kumimoji="0" lang="zh-CN" altLang="zh-CN" sz="4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err="1"/>
                        <a:t>imin~imax</a:t>
                      </a:r>
                      <a:r>
                        <a:rPr lang="zh-CN" altLang="en-US" sz="2400" b="1" dirty="0"/>
                        <a:t>之间的随机整数</a:t>
                      </a:r>
                    </a:p>
                    <a:p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 err="1"/>
                        <a:t>randi</a:t>
                      </a:r>
                      <a:r>
                        <a:rPr lang="en-US" altLang="zh-CN" sz="2400" b="1" dirty="0"/>
                        <a:t>(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[-10,10]</a:t>
                      </a:r>
                      <a:r>
                        <a:rPr lang="en-US" altLang="zh-CN" sz="2400" b="1" dirty="0"/>
                        <a:t>)</a:t>
                      </a:r>
                      <a:endParaRPr lang="zh-CN" altLang="en-US" sz="2400" b="1" dirty="0"/>
                    </a:p>
                    <a:p>
                      <a:r>
                        <a:rPr lang="en-US" altLang="zh-CN" sz="2400" b="1" dirty="0" err="1"/>
                        <a:t>randi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([-10,10]</a:t>
                      </a:r>
                      <a:r>
                        <a:rPr lang="en-US" altLang="zh-CN" sz="2400" b="1" dirty="0"/>
                        <a:t>, 3)</a:t>
                      </a:r>
                    </a:p>
                    <a:p>
                      <a:r>
                        <a:rPr lang="en-US" altLang="zh-CN" sz="2400" b="1" dirty="0" err="1"/>
                        <a:t>randi</a:t>
                      </a:r>
                      <a:r>
                        <a:rPr lang="en-US" altLang="zh-CN" sz="2400" b="1" dirty="0"/>
                        <a:t>(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[-10,10]</a:t>
                      </a:r>
                      <a:r>
                        <a:rPr lang="en-US" altLang="zh-CN" sz="2400" b="1" dirty="0"/>
                        <a:t>, 3,2)</a:t>
                      </a:r>
                    </a:p>
                    <a:p>
                      <a:r>
                        <a:rPr lang="en-US" altLang="zh-CN" sz="2400" b="1" dirty="0" err="1"/>
                        <a:t>randi</a:t>
                      </a:r>
                      <a:r>
                        <a:rPr lang="en-US" altLang="zh-CN" sz="2400" b="1" dirty="0"/>
                        <a:t>(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[-10,10]</a:t>
                      </a:r>
                      <a:r>
                        <a:rPr lang="en-US" altLang="zh-CN" sz="2400" b="1" dirty="0"/>
                        <a:t>, 2,3,4)</a:t>
                      </a:r>
                    </a:p>
                    <a:p>
                      <a:r>
                        <a:rPr lang="en-US" altLang="zh-CN" sz="2400" b="1" dirty="0" err="1"/>
                        <a:t>randi</a:t>
                      </a:r>
                      <a:r>
                        <a:rPr lang="en-US" altLang="zh-CN" sz="2400" b="1" dirty="0"/>
                        <a:t>(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[-10,10]</a:t>
                      </a:r>
                      <a:r>
                        <a:rPr lang="en-US" altLang="zh-CN" sz="2400" b="1" dirty="0"/>
                        <a:t>, [2 3]) </a:t>
                      </a:r>
                    </a:p>
                    <a:p>
                      <a:r>
                        <a:rPr lang="en-US" altLang="zh-CN" sz="2400" b="1" dirty="0" err="1"/>
                        <a:t>randi</a:t>
                      </a:r>
                      <a:r>
                        <a:rPr lang="en-US" altLang="zh-CN" sz="2400" b="1" dirty="0"/>
                        <a:t>(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[-10,10]</a:t>
                      </a:r>
                      <a:r>
                        <a:rPr lang="en-US" altLang="zh-CN" sz="2400" b="1" dirty="0"/>
                        <a:t>, [2 3 4])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366948" y="0"/>
            <a:ext cx="427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randi  </a:t>
            </a:r>
            <a:r>
              <a:rPr lang="en-US" altLang="zh-CN" sz="3200" dirty="0">
                <a:sym typeface="Wingdings" panose="05000000000000000000" pitchFamily="2" charset="2"/>
              </a:rPr>
              <a:t></a:t>
            </a:r>
            <a:r>
              <a:rPr lang="en-US" altLang="zh-CN" sz="3200" dirty="0"/>
              <a:t>  </a:t>
            </a:r>
            <a:r>
              <a:rPr lang="zh-CN" altLang="en-US" sz="3200" dirty="0"/>
              <a:t>产生随机</a:t>
            </a:r>
            <a:r>
              <a:rPr lang="zh-CN" altLang="en-US" sz="3200" dirty="0">
                <a:solidFill>
                  <a:srgbClr val="FF0000"/>
                </a:solidFill>
              </a:rPr>
              <a:t>整数</a:t>
            </a:r>
          </a:p>
        </p:txBody>
      </p:sp>
    </p:spTree>
    <p:extLst>
      <p:ext uri="{BB962C8B-B14F-4D97-AF65-F5344CB8AC3E}">
        <p14:creationId xmlns:p14="http://schemas.microsoft.com/office/powerpoint/2010/main" val="2026546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6948" y="0"/>
            <a:ext cx="48461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randperm</a:t>
            </a:r>
            <a:r>
              <a:rPr lang="en-US" altLang="zh-CN" sz="3200" dirty="0">
                <a:sym typeface="Wingdings" panose="05000000000000000000" pitchFamily="2" charset="2"/>
              </a:rPr>
              <a:t></a:t>
            </a:r>
            <a:r>
              <a:rPr lang="zh-CN" altLang="en-US" sz="3200" dirty="0"/>
              <a:t>产生随机排列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758068"/>
              </p:ext>
            </p:extLst>
          </p:nvPr>
        </p:nvGraphicFramePr>
        <p:xfrm>
          <a:off x="366948" y="719364"/>
          <a:ext cx="11444052" cy="4709141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708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5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语法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example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4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Arial Unicode MS" panose="020B0604020202020204" pitchFamily="34" charset="-122"/>
                          <a:ea typeface="Menlo"/>
                          <a:cs typeface="Arial" panose="020B0604020202020204" pitchFamily="34" charset="0"/>
                        </a:rPr>
                        <a:t>randperm(n)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dirty="0"/>
                        <a:t>产生</a:t>
                      </a:r>
                      <a:r>
                        <a:rPr lang="en-US" altLang="zh-CN" sz="2400" dirty="0"/>
                        <a:t>[1~n]</a:t>
                      </a:r>
                      <a:r>
                        <a:rPr lang="zh-CN" altLang="en-US" sz="2400" dirty="0"/>
                        <a:t>之间的</a:t>
                      </a:r>
                      <a:r>
                        <a:rPr lang="en-US" altLang="zh-CN" sz="2400" dirty="0"/>
                        <a:t>n</a:t>
                      </a:r>
                      <a:r>
                        <a:rPr lang="zh-CN" altLang="en-US" sz="2400" dirty="0"/>
                        <a:t>个随机排列；</a:t>
                      </a:r>
                      <a:endParaRPr lang="en-US" altLang="zh-CN" sz="24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dirty="0"/>
                        <a:t>该随机排列是一个行向量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Arial Unicode MS" panose="020B0604020202020204" pitchFamily="34" charset="-122"/>
                          <a:ea typeface="Menlo"/>
                          <a:cs typeface="Arial" panose="020B0604020202020204" pitchFamily="34" charset="0"/>
                        </a:rPr>
                        <a:t>A=randperm(10)</a:t>
                      </a:r>
                    </a:p>
                    <a:p>
                      <a:r>
                        <a:rPr lang="en-US" altLang="zh-CN" sz="2400" dirty="0"/>
                        <a:t>A=[1    5    2    8   10    6    4    7    3    9]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2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randperm(n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，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k)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dirty="0"/>
                        <a:t>产生</a:t>
                      </a:r>
                      <a:r>
                        <a:rPr lang="en-US" altLang="zh-CN" sz="2400" dirty="0"/>
                        <a:t>[1~n]</a:t>
                      </a:r>
                      <a:r>
                        <a:rPr lang="zh-CN" altLang="en-US" sz="2400" dirty="0"/>
                        <a:t>之间的</a:t>
                      </a:r>
                      <a:r>
                        <a:rPr lang="en-US" altLang="zh-CN" sz="2400" dirty="0"/>
                        <a:t>k</a:t>
                      </a:r>
                      <a:r>
                        <a:rPr lang="zh-CN" altLang="en-US" sz="2400" dirty="0"/>
                        <a:t>个随机排列；</a:t>
                      </a:r>
                      <a:endParaRPr lang="en-US" altLang="zh-CN" sz="24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dirty="0"/>
                        <a:t>这</a:t>
                      </a:r>
                      <a:r>
                        <a:rPr lang="en-US" altLang="zh-CN" sz="2400" dirty="0"/>
                        <a:t>k</a:t>
                      </a:r>
                      <a:r>
                        <a:rPr lang="zh-CN" altLang="en-US" sz="2400" dirty="0"/>
                        <a:t>个随机排列的数值是唯一的，不会重复；</a:t>
                      </a:r>
                      <a:endParaRPr lang="en-US" altLang="zh-CN" sz="24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dirty="0"/>
                        <a:t>该随机排列是一个行向量；</a:t>
                      </a:r>
                      <a:endParaRPr lang="en-US" altLang="zh-CN" sz="24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dirty="0">
                          <a:solidFill>
                            <a:srgbClr val="FF0000"/>
                          </a:solidFill>
                        </a:rPr>
                        <a:t>参数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k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</a:rPr>
                        <a:t>必须小于或等于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zh-CN" altLang="en-US" sz="2400" dirty="0"/>
                    </a:p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Arial Unicode MS" panose="020B0604020202020204" pitchFamily="34" charset="-122"/>
                          <a:ea typeface="Menlo"/>
                          <a:cs typeface="Arial" panose="020B0604020202020204" pitchFamily="34" charset="0"/>
                        </a:rPr>
                        <a:t>A=randperm(10,5)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Arial Unicode MS" panose="020B0604020202020204" pitchFamily="34" charset="-122"/>
                          <a:ea typeface="Menlo"/>
                          <a:cs typeface="Arial" panose="020B0604020202020204" pitchFamily="34" charset="0"/>
                        </a:rPr>
                        <a:t>A =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Arial Unicode MS" panose="020B0604020202020204" pitchFamily="34" charset="-122"/>
                          <a:ea typeface="Menlo"/>
                          <a:cs typeface="Arial" panose="020B0604020202020204" pitchFamily="34" charset="0"/>
                        </a:rPr>
                        <a:t>     8     7     9    10     5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Arial Unicode MS" panose="020B0604020202020204" pitchFamily="34" charset="-122"/>
                        <a:ea typeface="Menlo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213" y="4343400"/>
            <a:ext cx="473486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467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651782" y="661044"/>
            <a:ext cx="3189514" cy="742950"/>
            <a:chOff x="7254240" y="3958471"/>
            <a:chExt cx="3189514" cy="742950"/>
          </a:xfrm>
        </p:grpSpPr>
        <p:sp>
          <p:nvSpPr>
            <p:cNvPr id="2" name="文本框 1"/>
            <p:cNvSpPr txBox="1"/>
            <p:nvPr/>
          </p:nvSpPr>
          <p:spPr>
            <a:xfrm>
              <a:off x="7254240" y="4099113"/>
              <a:ext cx="22108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/>
                <a:t>1</a:t>
              </a:r>
              <a:r>
                <a:rPr lang="zh-CN" altLang="en-US" sz="2400" b="1" dirty="0"/>
                <a:t>、创建</a:t>
              </a:r>
              <a:r>
                <a:rPr lang="en-US" altLang="zh-CN" sz="2400" b="1" dirty="0"/>
                <a:t>A</a:t>
              </a:r>
              <a:r>
                <a:rPr lang="zh-CN" altLang="en-US" sz="2400" b="1" dirty="0"/>
                <a:t>矩阵</a:t>
              </a:r>
              <a:r>
                <a:rPr lang="en-US" altLang="zh-CN" sz="2400" b="1" dirty="0"/>
                <a:t>=</a:t>
              </a:r>
              <a:endParaRPr lang="zh-CN" altLang="en-US" sz="2400" b="1" dirty="0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6954" y="3958471"/>
              <a:ext cx="1066800" cy="742950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/>
        </p:nvGrpSpPr>
        <p:grpSpPr>
          <a:xfrm>
            <a:off x="599776" y="1728822"/>
            <a:ext cx="3456214" cy="676275"/>
            <a:chOff x="7254240" y="4900341"/>
            <a:chExt cx="3456214" cy="676275"/>
          </a:xfrm>
        </p:grpSpPr>
        <p:sp>
          <p:nvSpPr>
            <p:cNvPr id="13" name="文本框 12"/>
            <p:cNvSpPr txBox="1"/>
            <p:nvPr/>
          </p:nvSpPr>
          <p:spPr>
            <a:xfrm>
              <a:off x="7254240" y="4990963"/>
              <a:ext cx="22108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/>
                <a:t>2</a:t>
              </a:r>
              <a:r>
                <a:rPr lang="zh-CN" altLang="en-US" sz="2400" b="1" dirty="0"/>
                <a:t>、创建</a:t>
              </a:r>
              <a:r>
                <a:rPr lang="en-US" altLang="zh-CN" sz="2400" b="1" dirty="0"/>
                <a:t>B</a:t>
              </a:r>
              <a:r>
                <a:rPr lang="zh-CN" altLang="en-US" sz="2400" b="1" dirty="0"/>
                <a:t>矩阵</a:t>
              </a:r>
              <a:r>
                <a:rPr lang="en-US" altLang="zh-CN" sz="2400" b="1" dirty="0"/>
                <a:t>=</a:t>
              </a:r>
              <a:endParaRPr lang="zh-CN" altLang="en-US" sz="2400" b="1" dirty="0"/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76954" y="4900341"/>
              <a:ext cx="1333500" cy="676275"/>
            </a:xfrm>
            <a:prstGeom prst="rect">
              <a:avLst/>
            </a:prstGeom>
          </p:spPr>
        </p:pic>
      </p:grpSp>
      <p:sp>
        <p:nvSpPr>
          <p:cNvPr id="14" name="文本框 13"/>
          <p:cNvSpPr txBox="1"/>
          <p:nvPr/>
        </p:nvSpPr>
        <p:spPr>
          <a:xfrm>
            <a:off x="598252" y="2811882"/>
            <a:ext cx="4200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3</a:t>
            </a:r>
            <a:r>
              <a:rPr lang="zh-CN" altLang="en-US" sz="2400" b="1" dirty="0"/>
              <a:t>、创建</a:t>
            </a:r>
            <a:r>
              <a:rPr lang="en-US" altLang="zh-CN" sz="2400" b="1" dirty="0"/>
              <a:t>5×2</a:t>
            </a:r>
            <a:r>
              <a:rPr lang="zh-CN" altLang="en-US" sz="2400" b="1" dirty="0"/>
              <a:t>的均匀随机矩阵</a:t>
            </a:r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651782" y="3634515"/>
            <a:ext cx="3320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4</a:t>
            </a:r>
            <a:r>
              <a:rPr lang="zh-CN" altLang="en-US" sz="2400" b="1" dirty="0"/>
              <a:t>、创建</a:t>
            </a:r>
            <a:r>
              <a:rPr lang="en-US" altLang="zh-CN" sz="2400" b="1" dirty="0"/>
              <a:t>4×4</a:t>
            </a:r>
            <a:r>
              <a:rPr lang="zh-CN" altLang="en-US" sz="2400" b="1" dirty="0"/>
              <a:t>的零矩阵</a:t>
            </a:r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25" name="文本框 24"/>
          <p:cNvSpPr txBox="1"/>
          <p:nvPr/>
        </p:nvSpPr>
        <p:spPr>
          <a:xfrm>
            <a:off x="966783" y="112799"/>
            <a:ext cx="1731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现场练习：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4438393" y="842018"/>
            <a:ext cx="4009753" cy="381000"/>
            <a:chOff x="4537166" y="1403994"/>
            <a:chExt cx="4009753" cy="381000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13219" y="1403994"/>
              <a:ext cx="2933700" cy="381000"/>
            </a:xfrm>
            <a:prstGeom prst="rect">
              <a:avLst/>
            </a:prstGeom>
          </p:spPr>
        </p:pic>
        <p:sp>
          <p:nvSpPr>
            <p:cNvPr id="26" name="右箭头 25"/>
            <p:cNvSpPr/>
            <p:nvPr/>
          </p:nvSpPr>
          <p:spPr>
            <a:xfrm>
              <a:off x="4537166" y="1524000"/>
              <a:ext cx="836023" cy="18288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438393" y="1734895"/>
            <a:ext cx="4290468" cy="390525"/>
            <a:chOff x="4537166" y="2340020"/>
            <a:chExt cx="4290468" cy="390525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41509" y="2340020"/>
              <a:ext cx="3286125" cy="390525"/>
            </a:xfrm>
            <a:prstGeom prst="rect">
              <a:avLst/>
            </a:prstGeom>
          </p:spPr>
        </p:pic>
        <p:sp>
          <p:nvSpPr>
            <p:cNvPr id="27" name="右箭头 26"/>
            <p:cNvSpPr/>
            <p:nvPr/>
          </p:nvSpPr>
          <p:spPr>
            <a:xfrm>
              <a:off x="4537166" y="2478594"/>
              <a:ext cx="836023" cy="18288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798441" y="2784914"/>
            <a:ext cx="3714478" cy="438150"/>
            <a:chOff x="4537166" y="3530835"/>
            <a:chExt cx="3714478" cy="438150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13219" y="3530835"/>
              <a:ext cx="2638425" cy="438150"/>
            </a:xfrm>
            <a:prstGeom prst="rect">
              <a:avLst/>
            </a:prstGeom>
          </p:spPr>
        </p:pic>
        <p:sp>
          <p:nvSpPr>
            <p:cNvPr id="28" name="右箭头 27"/>
            <p:cNvSpPr/>
            <p:nvPr/>
          </p:nvSpPr>
          <p:spPr>
            <a:xfrm>
              <a:off x="4537166" y="3711129"/>
              <a:ext cx="836023" cy="18288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562218" y="3529725"/>
            <a:ext cx="3762104" cy="831997"/>
            <a:chOff x="4537165" y="4547041"/>
            <a:chExt cx="3762104" cy="831997"/>
          </a:xfrm>
        </p:grpSpPr>
        <p:grpSp>
          <p:nvGrpSpPr>
            <p:cNvPr id="24" name="组合 23"/>
            <p:cNvGrpSpPr/>
            <p:nvPr/>
          </p:nvGrpSpPr>
          <p:grpSpPr>
            <a:xfrm>
              <a:off x="5613219" y="4547041"/>
              <a:ext cx="2686050" cy="831997"/>
              <a:chOff x="5613219" y="4076779"/>
              <a:chExt cx="2686050" cy="831997"/>
            </a:xfrm>
          </p:grpSpPr>
          <p:pic>
            <p:nvPicPr>
              <p:cNvPr id="21" name="图片 2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13219" y="4076779"/>
                <a:ext cx="2390775" cy="41910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13219" y="4575401"/>
                <a:ext cx="2686050" cy="333375"/>
              </a:xfrm>
              <a:prstGeom prst="rect">
                <a:avLst/>
              </a:prstGeom>
            </p:spPr>
          </p:pic>
        </p:grpSp>
        <p:sp>
          <p:nvSpPr>
            <p:cNvPr id="29" name="右箭头 28"/>
            <p:cNvSpPr/>
            <p:nvPr/>
          </p:nvSpPr>
          <p:spPr>
            <a:xfrm>
              <a:off x="4537165" y="4814830"/>
              <a:ext cx="836023" cy="18288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598252" y="4522264"/>
            <a:ext cx="37850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5</a:t>
            </a:r>
            <a:r>
              <a:rPr lang="zh-CN" altLang="en-US" sz="2400" b="1" dirty="0"/>
              <a:t>、创建</a:t>
            </a:r>
            <a:r>
              <a:rPr lang="en-US" altLang="zh-CN" sz="2400" b="1" dirty="0"/>
              <a:t>3×2</a:t>
            </a:r>
            <a:r>
              <a:rPr lang="zh-CN" altLang="en-US" sz="2400" b="1" dirty="0"/>
              <a:t>的</a:t>
            </a:r>
            <a:r>
              <a:rPr lang="en-US" altLang="zh-CN" sz="2400" b="1" dirty="0"/>
              <a:t>[-5,5]</a:t>
            </a:r>
            <a:r>
              <a:rPr lang="zh-CN" altLang="en-US" sz="2400" b="1" dirty="0"/>
              <a:t>之间的</a:t>
            </a:r>
            <a:endParaRPr lang="en-US" altLang="zh-CN" sz="2400" b="1" dirty="0"/>
          </a:p>
          <a:p>
            <a:r>
              <a:rPr lang="en-US" altLang="zh-CN" sz="2400" b="1" dirty="0"/>
              <a:t>       </a:t>
            </a:r>
            <a:r>
              <a:rPr lang="zh-CN" altLang="en-US" sz="2400" b="1" dirty="0"/>
              <a:t>随机整数矩阵</a:t>
            </a:r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651782" y="5445061"/>
            <a:ext cx="4682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6</a:t>
            </a:r>
            <a:r>
              <a:rPr lang="zh-CN" altLang="en-US" sz="2400" b="1" dirty="0"/>
              <a:t>、创建</a:t>
            </a:r>
            <a:r>
              <a:rPr lang="en-US" altLang="zh-CN" sz="2400" b="1" dirty="0"/>
              <a:t> [1,15]</a:t>
            </a:r>
            <a:r>
              <a:rPr lang="zh-CN" altLang="en-US" sz="2400" b="1" dirty="0"/>
              <a:t>之间的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个不重复的</a:t>
            </a:r>
            <a:endParaRPr lang="en-US" altLang="zh-CN" sz="2400" b="1" dirty="0"/>
          </a:p>
          <a:p>
            <a:r>
              <a:rPr lang="en-US" altLang="zh-CN" sz="2400" b="1" dirty="0"/>
              <a:t>       </a:t>
            </a:r>
            <a:r>
              <a:rPr lang="zh-CN" altLang="en-US" sz="2400" b="1" dirty="0"/>
              <a:t>随机排列行向量</a:t>
            </a:r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grpSp>
        <p:nvGrpSpPr>
          <p:cNvPr id="38" name="组合 37"/>
          <p:cNvGrpSpPr/>
          <p:nvPr/>
        </p:nvGrpSpPr>
        <p:grpSpPr>
          <a:xfrm>
            <a:off x="5398241" y="5676983"/>
            <a:ext cx="4474029" cy="361950"/>
            <a:chOff x="5398241" y="5676983"/>
            <a:chExt cx="4474029" cy="36195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443270" y="5676983"/>
              <a:ext cx="3429000" cy="361950"/>
            </a:xfrm>
            <a:prstGeom prst="rect">
              <a:avLst/>
            </a:prstGeom>
          </p:spPr>
        </p:pic>
        <p:sp>
          <p:nvSpPr>
            <p:cNvPr id="37" name="右箭头 36"/>
            <p:cNvSpPr/>
            <p:nvPr/>
          </p:nvSpPr>
          <p:spPr>
            <a:xfrm>
              <a:off x="5398241" y="5751493"/>
              <a:ext cx="836023" cy="18288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216452" y="4579339"/>
            <a:ext cx="5361212" cy="822454"/>
            <a:chOff x="5216452" y="4579339"/>
            <a:chExt cx="5361212" cy="822454"/>
          </a:xfrm>
        </p:grpSpPr>
        <p:sp>
          <p:nvSpPr>
            <p:cNvPr id="39" name="右箭头 38"/>
            <p:cNvSpPr/>
            <p:nvPr/>
          </p:nvSpPr>
          <p:spPr>
            <a:xfrm>
              <a:off x="5216452" y="4844925"/>
              <a:ext cx="836023" cy="18288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34264" y="4579339"/>
              <a:ext cx="4343400" cy="400050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267209" y="4992218"/>
              <a:ext cx="4000500" cy="409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868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4032" y="284916"/>
            <a:ext cx="5360068" cy="686634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四、数组的基本信息获取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80456" y="1053737"/>
            <a:ext cx="581732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有如下函数：</a:t>
            </a: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 err="1"/>
              <a:t>numel</a:t>
            </a: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 err="1"/>
              <a:t>ndims</a:t>
            </a: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is</a:t>
            </a:r>
            <a:r>
              <a:rPr lang="zh-CN" altLang="en-US" sz="2800" dirty="0"/>
              <a:t>系列函数</a:t>
            </a:r>
            <a:endParaRPr lang="en-US" altLang="zh-CN" sz="28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2800" dirty="0" err="1"/>
              <a:t>isempty</a:t>
            </a:r>
            <a:endParaRPr lang="en-US" altLang="zh-CN" sz="28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2800" dirty="0" err="1"/>
              <a:t>isscalar</a:t>
            </a:r>
            <a:endParaRPr lang="en-US" altLang="zh-CN" sz="28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2800" dirty="0" err="1"/>
              <a:t>isvector</a:t>
            </a:r>
            <a:endParaRPr lang="en-US" altLang="zh-CN" sz="28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2800" dirty="0" err="1"/>
              <a:t>iscolumn</a:t>
            </a:r>
            <a:endParaRPr lang="en-US" altLang="zh-CN" sz="28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2800" dirty="0" err="1"/>
              <a:t>isrow</a:t>
            </a:r>
            <a:endParaRPr lang="en-US" altLang="zh-CN" sz="28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2800" dirty="0" err="1"/>
              <a:t>ismatrix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560949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4032" y="284916"/>
            <a:ext cx="5360068" cy="686634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四、数组的基本信息获取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817503"/>
              </p:ext>
            </p:extLst>
          </p:nvPr>
        </p:nvGraphicFramePr>
        <p:xfrm>
          <a:off x="509647" y="1436562"/>
          <a:ext cx="11044370" cy="36423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570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4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3200" b="1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numel</a:t>
                      </a:r>
                      <a:endParaRPr lang="en-US" sz="32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 anchor="ctr" anchorCtr="1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3200" dirty="0">
                          <a:effectLst/>
                        </a:rPr>
                        <a:t>数组的所有元素的个数</a:t>
                      </a:r>
                      <a:endParaRPr lang="en-US" sz="3200" dirty="0">
                        <a:effectLst/>
                      </a:endParaRPr>
                    </a:p>
                  </a:txBody>
                  <a:tcPr marL="47625" marR="47625" marT="28575" marB="285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3200" b="1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length</a:t>
                      </a:r>
                      <a:endParaRPr lang="en-US" sz="32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 anchor="ctr" anchorCtr="1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3200" dirty="0">
                          <a:effectLst/>
                        </a:rPr>
                        <a:t>每个维度上元素数目的最大值（</a:t>
                      </a:r>
                      <a:r>
                        <a:rPr lang="en-US" altLang="zh-CN" sz="3200" dirty="0">
                          <a:effectLst/>
                        </a:rPr>
                        <a:t>Length of largest array dimension</a:t>
                      </a:r>
                      <a:r>
                        <a:rPr lang="zh-CN" altLang="en-US" sz="3200" dirty="0">
                          <a:effectLst/>
                        </a:rPr>
                        <a:t>）</a:t>
                      </a:r>
                      <a:endParaRPr lang="en-US" sz="3200" dirty="0">
                        <a:effectLst/>
                      </a:endParaRPr>
                    </a:p>
                  </a:txBody>
                  <a:tcPr marL="47625" marR="47625" marT="28575" marB="28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3200" b="1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size</a:t>
                      </a:r>
                      <a:endParaRPr lang="en-US" sz="32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 anchor="ctr" anchorCtr="1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3200" dirty="0">
                          <a:effectLst/>
                        </a:rPr>
                        <a:t>数组的大小，即每个维度上元素的个数（</a:t>
                      </a:r>
                      <a:r>
                        <a:rPr lang="en-US" altLang="zh-CN" sz="3200" dirty="0">
                          <a:effectLst/>
                        </a:rPr>
                        <a:t>Array dimensions</a:t>
                      </a:r>
                      <a:r>
                        <a:rPr lang="zh-CN" altLang="en-US" sz="3200" dirty="0">
                          <a:effectLst/>
                        </a:rPr>
                        <a:t>），返回值是一个行向量</a:t>
                      </a:r>
                      <a:r>
                        <a:rPr lang="en-US" altLang="zh-CN" sz="3200" dirty="0">
                          <a:effectLst/>
                        </a:rPr>
                        <a:t>【</a:t>
                      </a:r>
                      <a:r>
                        <a:rPr lang="zh-CN" altLang="en-US" sz="3200" dirty="0">
                          <a:effectLst/>
                        </a:rPr>
                        <a:t>？</a:t>
                      </a:r>
                      <a:r>
                        <a:rPr lang="en-US" altLang="zh-CN" sz="3200" dirty="0">
                          <a:effectLst/>
                        </a:rPr>
                        <a:t>】</a:t>
                      </a:r>
                      <a:endParaRPr lang="en-US" sz="3200" dirty="0">
                        <a:effectLst/>
                      </a:endParaRPr>
                    </a:p>
                  </a:txBody>
                  <a:tcPr marL="47625" marR="47625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3200" b="1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ndims</a:t>
                      </a:r>
                      <a:endParaRPr lang="en-US" sz="32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 anchor="ctr" anchorCtr="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dirty="0">
                          <a:effectLst/>
                        </a:rPr>
                        <a:t>数组的维度的数目（</a:t>
                      </a:r>
                      <a:r>
                        <a:rPr lang="en-US" altLang="zh-CN" sz="3200" dirty="0">
                          <a:effectLst/>
                        </a:rPr>
                        <a:t>Number of array dimensions</a:t>
                      </a:r>
                      <a:r>
                        <a:rPr lang="zh-CN" altLang="en-US" sz="3200" dirty="0">
                          <a:effectLst/>
                        </a:rPr>
                        <a:t>），</a:t>
                      </a:r>
                      <a:r>
                        <a:rPr lang="zh-CN" altLang="en-US" sz="3200" dirty="0">
                          <a:solidFill>
                            <a:srgbClr val="FF0000"/>
                          </a:solidFill>
                          <a:effectLst/>
                        </a:rPr>
                        <a:t>总是</a:t>
                      </a:r>
                      <a:r>
                        <a:rPr lang="en-US" altLang="zh-CN" sz="3200" dirty="0">
                          <a:solidFill>
                            <a:srgbClr val="FF0000"/>
                          </a:solidFill>
                          <a:effectLst/>
                        </a:rPr>
                        <a:t>&gt;=2</a:t>
                      </a:r>
                      <a:endParaRPr lang="en-US" sz="32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7625" marR="47625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5698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035661"/>
              </p:ext>
            </p:extLst>
          </p:nvPr>
        </p:nvGraphicFramePr>
        <p:xfrm>
          <a:off x="629700" y="788261"/>
          <a:ext cx="8348837" cy="363474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191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3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isempty</a:t>
                      </a:r>
                      <a:endParaRPr lang="en-US" sz="3600" b="1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3600" dirty="0">
                          <a:effectLst/>
                        </a:rPr>
                        <a:t>判断数组是否为空</a:t>
                      </a:r>
                      <a:endParaRPr lang="en-US" sz="3600" dirty="0">
                        <a:effectLst/>
                      </a:endParaRPr>
                    </a:p>
                  </a:txBody>
                  <a:tcPr marL="47625" marR="47625" marT="28575" marB="285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3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isscalar</a:t>
                      </a:r>
                      <a:endParaRPr lang="en-US" sz="3600" b="1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3600" dirty="0">
                          <a:effectLst/>
                        </a:rPr>
                        <a:t>判断输入是否为标量</a:t>
                      </a:r>
                      <a:endParaRPr lang="en-US" sz="3600" dirty="0">
                        <a:effectLst/>
                      </a:endParaRPr>
                    </a:p>
                  </a:txBody>
                  <a:tcPr marL="47625" marR="47625" marT="28575" marB="28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3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isvector</a:t>
                      </a:r>
                      <a:endParaRPr lang="en-US" sz="3600" b="1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effectLst/>
                        </a:rPr>
                        <a:t>判断输入是否为向量</a:t>
                      </a:r>
                      <a:endParaRPr lang="en-US" altLang="zh-CN" sz="3600" dirty="0">
                        <a:effectLst/>
                      </a:endParaRPr>
                    </a:p>
                  </a:txBody>
                  <a:tcPr marL="47625" marR="47625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3600" u="none" dirty="0">
                          <a:solidFill>
                            <a:srgbClr val="0070C0"/>
                          </a:solidFill>
                          <a:effectLst/>
                        </a:rPr>
                        <a:t>iscolumn</a:t>
                      </a:r>
                      <a:endParaRPr lang="en-US" sz="3600" b="1" u="none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effectLst/>
                        </a:rPr>
                        <a:t>判断输入是否为列向量</a:t>
                      </a:r>
                      <a:endParaRPr lang="en-US" altLang="zh-CN" sz="3600" dirty="0">
                        <a:effectLst/>
                      </a:endParaRPr>
                    </a:p>
                  </a:txBody>
                  <a:tcPr marL="47625" marR="47625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3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isrow</a:t>
                      </a:r>
                      <a:endParaRPr lang="en-US" sz="3600" b="1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effectLst/>
                        </a:rPr>
                        <a:t>判断输入是否为行向量</a:t>
                      </a:r>
                      <a:endParaRPr lang="en-US" altLang="zh-CN" sz="3600" dirty="0">
                        <a:effectLst/>
                      </a:endParaRPr>
                    </a:p>
                  </a:txBody>
                  <a:tcPr marL="47625" marR="47625" marT="28575" marB="285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3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ismatrix</a:t>
                      </a:r>
                      <a:endParaRPr lang="en-US" sz="3600" b="1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effectLst/>
                        </a:rPr>
                        <a:t>判断输入是否为矩阵</a:t>
                      </a:r>
                      <a:endParaRPr lang="en-US" altLang="zh-CN" sz="3600" dirty="0">
                        <a:effectLst/>
                      </a:endParaRPr>
                    </a:p>
                  </a:txBody>
                  <a:tcPr marL="47625" marR="47625" marT="28575" marB="285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40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824" y="323283"/>
            <a:ext cx="4209087" cy="137488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24" y="2160543"/>
            <a:ext cx="2214168" cy="316039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185" y="2160544"/>
            <a:ext cx="2176948" cy="316039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247" y="2139587"/>
            <a:ext cx="3305175" cy="31813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269" y="138657"/>
            <a:ext cx="1782400" cy="157270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8771" y="2160543"/>
            <a:ext cx="2114550" cy="319087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2566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05692" y="776960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404040"/>
                </a:solidFill>
                <a:latin typeface="Menlo"/>
              </a:rPr>
              <a:t>d = size(X)</a:t>
            </a:r>
            <a:endParaRPr lang="en-US" altLang="zh-CN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404040"/>
                </a:solidFill>
                <a:latin typeface="Menlo"/>
              </a:rPr>
              <a:t>[</a:t>
            </a:r>
            <a:r>
              <a:rPr lang="en-US" altLang="zh-CN" sz="2800" b="1" dirty="0" err="1">
                <a:solidFill>
                  <a:srgbClr val="404040"/>
                </a:solidFill>
                <a:latin typeface="Menlo"/>
              </a:rPr>
              <a:t>m,n</a:t>
            </a:r>
            <a:r>
              <a:rPr lang="en-US" altLang="zh-CN" sz="2800" b="1" dirty="0">
                <a:solidFill>
                  <a:srgbClr val="404040"/>
                </a:solidFill>
                <a:latin typeface="Menlo"/>
              </a:rPr>
              <a:t>] = size(X)</a:t>
            </a:r>
            <a:endParaRPr lang="en-US" altLang="zh-CN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404040"/>
                </a:solidFill>
                <a:latin typeface="Menlo"/>
              </a:rPr>
              <a:t>m = size(</a:t>
            </a:r>
            <a:r>
              <a:rPr lang="en-US" altLang="zh-CN" sz="2800" b="1" dirty="0" err="1">
                <a:solidFill>
                  <a:srgbClr val="404040"/>
                </a:solidFill>
                <a:latin typeface="Menlo"/>
              </a:rPr>
              <a:t>X,dim</a:t>
            </a:r>
            <a:r>
              <a:rPr lang="en-US" altLang="zh-CN" sz="2800" b="1" dirty="0">
                <a:solidFill>
                  <a:srgbClr val="404040"/>
                </a:solidFill>
                <a:latin typeface="Menlo"/>
              </a:rPr>
              <a:t>)</a:t>
            </a:r>
            <a:endParaRPr lang="en-US" altLang="zh-CN" sz="2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027612" y="130629"/>
            <a:ext cx="31815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size</a:t>
            </a:r>
            <a:r>
              <a:rPr lang="zh-CN" altLang="en-US" sz="3600" dirty="0"/>
              <a:t>函数的语法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20" y="2388514"/>
            <a:ext cx="4000701" cy="5952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20" y="3473783"/>
            <a:ext cx="3026442" cy="13856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852" y="3473783"/>
            <a:ext cx="3538279" cy="216937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0821" y="3473783"/>
            <a:ext cx="3352800" cy="269859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72954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00" y="509631"/>
            <a:ext cx="2996725" cy="396657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703" y="509631"/>
            <a:ext cx="3130876" cy="405366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957" y="694915"/>
            <a:ext cx="4053411" cy="331102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62299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405731"/>
            <a:ext cx="2786372" cy="105171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70360" y="2552700"/>
            <a:ext cx="189346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+mj-lt"/>
              <a:buAutoNum type="alphaUcPeriod"/>
            </a:pPr>
            <a:r>
              <a:rPr lang="en-US" altLang="zh-CN" sz="4000" dirty="0"/>
              <a:t> 1</a:t>
            </a:r>
          </a:p>
          <a:p>
            <a:pPr marL="342900" indent="-342900">
              <a:buClr>
                <a:srgbClr val="FF0000"/>
              </a:buClr>
              <a:buFont typeface="+mj-lt"/>
              <a:buAutoNum type="alphaUcPeriod"/>
            </a:pPr>
            <a:r>
              <a:rPr lang="en-US" altLang="zh-CN" sz="4000" dirty="0"/>
              <a:t> 2</a:t>
            </a:r>
          </a:p>
          <a:p>
            <a:pPr marL="342900" indent="-342900">
              <a:buClr>
                <a:srgbClr val="FF0000"/>
              </a:buClr>
              <a:buFont typeface="+mj-lt"/>
              <a:buAutoNum type="alphaUcPeriod"/>
            </a:pPr>
            <a:r>
              <a:rPr lang="en-US" altLang="zh-CN" sz="4000" dirty="0"/>
              <a:t> 3</a:t>
            </a:r>
          </a:p>
          <a:p>
            <a:pPr marL="342900" indent="-342900">
              <a:buClr>
                <a:srgbClr val="FF0000"/>
              </a:buClr>
              <a:buFont typeface="+mj-lt"/>
              <a:buAutoNum type="alphaUcPeriod"/>
            </a:pPr>
            <a:r>
              <a:rPr lang="en-US" altLang="zh-CN" sz="4000" dirty="0"/>
              <a:t> 1 ×1</a:t>
            </a:r>
            <a:endParaRPr lang="zh-CN" altLang="en-US" sz="4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4510087" y="1405731"/>
            <a:ext cx="2518898" cy="3701514"/>
            <a:chOff x="4510087" y="1405731"/>
            <a:chExt cx="2518898" cy="370151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0087" y="1405731"/>
              <a:ext cx="2518898" cy="985044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510087" y="2552700"/>
              <a:ext cx="1893467" cy="2554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1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2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3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1 ×1</a:t>
              </a:r>
              <a:endParaRPr lang="zh-CN" altLang="en-US" sz="4000" dirty="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015287" y="1405731"/>
            <a:ext cx="3421031" cy="3701514"/>
            <a:chOff x="8015287" y="1405731"/>
            <a:chExt cx="3421031" cy="370151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15287" y="1405731"/>
              <a:ext cx="3421031" cy="985044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8196262" y="2552700"/>
              <a:ext cx="1778051" cy="2554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6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2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3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2×3</a:t>
              </a:r>
              <a:endParaRPr lang="zh-CN" altLang="en-US" sz="4000" dirty="0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917093" y="3122086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403554" y="439935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159108" y="255270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14477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649679" y="1148556"/>
            <a:ext cx="3168114" cy="3701514"/>
            <a:chOff x="640154" y="558006"/>
            <a:chExt cx="3168114" cy="370151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0154" y="558006"/>
              <a:ext cx="3168114" cy="985044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801289" y="1704975"/>
              <a:ext cx="1893467" cy="2554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3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2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3 ×2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2 ×3</a:t>
              </a:r>
              <a:endParaRPr lang="zh-CN" altLang="en-US" sz="4000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471987" y="1148556"/>
            <a:ext cx="3111529" cy="3701513"/>
            <a:chOff x="4462462" y="558006"/>
            <a:chExt cx="3111529" cy="3701513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62462" y="558006"/>
              <a:ext cx="3111529" cy="1070769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4582714" y="1704974"/>
              <a:ext cx="1893467" cy="2554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1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2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3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2 ×3</a:t>
              </a:r>
              <a:endParaRPr lang="zh-CN" altLang="en-US" sz="4000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237710" y="1150540"/>
            <a:ext cx="2960745" cy="3699529"/>
            <a:chOff x="8228185" y="559990"/>
            <a:chExt cx="2960745" cy="369952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8185" y="559990"/>
              <a:ext cx="2960745" cy="983060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8364139" y="1704974"/>
              <a:ext cx="1893467" cy="2554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6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2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3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/>
                <a:t> 2 ×3</a:t>
              </a:r>
              <a:endParaRPr lang="zh-CN" altLang="en-US" sz="4000" dirty="0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884922" y="2295524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38972" y="286491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313454" y="344036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160101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五、向量和矩阵的索引访问（读取）</a:t>
            </a:r>
            <a:r>
              <a:rPr lang="en-US" altLang="zh-CN" sz="4000" dirty="0"/>
              <a:t>Indexing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35149"/>
            <a:ext cx="10515600" cy="4121513"/>
          </a:xfrm>
        </p:spPr>
        <p:txBody>
          <a:bodyPr>
            <a:normAutofit/>
          </a:bodyPr>
          <a:lstStyle/>
          <a:p>
            <a:r>
              <a:rPr lang="en-US" altLang="zh-CN" dirty="0"/>
              <a:t>5.1</a:t>
            </a:r>
            <a:r>
              <a:rPr lang="zh-CN" altLang="en-US" dirty="0"/>
              <a:t>单个元素的索引读取</a:t>
            </a:r>
            <a:endParaRPr lang="en-US" altLang="zh-CN" dirty="0"/>
          </a:p>
          <a:p>
            <a:pPr lvl="1"/>
            <a:r>
              <a:rPr lang="en-US" altLang="zh-CN" dirty="0"/>
              <a:t>5.1.1 </a:t>
            </a:r>
            <a:r>
              <a:rPr lang="zh-CN" altLang="en-US" dirty="0"/>
              <a:t>向量：</a:t>
            </a:r>
            <a:r>
              <a:rPr lang="en-US" altLang="zh-CN" dirty="0"/>
              <a:t>A</a:t>
            </a:r>
            <a:r>
              <a:rPr lang="zh-CN" altLang="en-US" dirty="0"/>
              <a:t> （</a:t>
            </a:r>
            <a:r>
              <a:rPr lang="en-US" altLang="zh-CN" dirty="0"/>
              <a:t>k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5.1.2</a:t>
            </a:r>
            <a:r>
              <a:rPr lang="zh-CN" altLang="en-US" dirty="0"/>
              <a:t>矩阵（有</a:t>
            </a:r>
            <a:r>
              <a:rPr lang="en-US" altLang="zh-CN" dirty="0"/>
              <a:t>2</a:t>
            </a:r>
            <a:r>
              <a:rPr lang="zh-CN" altLang="en-US" dirty="0"/>
              <a:t>种方式）</a:t>
            </a:r>
            <a:endParaRPr lang="en-US" altLang="zh-CN" dirty="0"/>
          </a:p>
          <a:p>
            <a:pPr lvl="2"/>
            <a:r>
              <a:rPr lang="en-US" altLang="zh-CN" dirty="0"/>
              <a:t>5.1.2.a </a:t>
            </a:r>
            <a:r>
              <a:rPr lang="zh-CN" altLang="en-US" dirty="0"/>
              <a:t>行列索引（</a:t>
            </a:r>
            <a:r>
              <a:rPr lang="en-US" altLang="zh-CN" dirty="0"/>
              <a:t>row column Indexing</a:t>
            </a:r>
            <a:r>
              <a:rPr lang="zh-CN" altLang="en-US" dirty="0"/>
              <a:t>）：</a:t>
            </a:r>
            <a:r>
              <a:rPr lang="en-US" altLang="zh-CN" dirty="0"/>
              <a:t>A</a:t>
            </a:r>
            <a:r>
              <a:rPr lang="zh-CN" altLang="en-US" dirty="0"/>
              <a:t>（</a:t>
            </a:r>
            <a:r>
              <a:rPr lang="en-US" altLang="zh-CN" dirty="0"/>
              <a:t>r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en-US" altLang="zh-CN" dirty="0"/>
              <a:t>5.1.2.b </a:t>
            </a:r>
            <a:r>
              <a:rPr lang="zh-CN" altLang="en-US" dirty="0"/>
              <a:t>线性索引（</a:t>
            </a:r>
            <a:r>
              <a:rPr lang="en-US" altLang="zh-CN" dirty="0"/>
              <a:t>linear indexing</a:t>
            </a:r>
            <a:r>
              <a:rPr lang="zh-CN" altLang="en-US" dirty="0"/>
              <a:t>）：</a:t>
            </a:r>
            <a:r>
              <a:rPr lang="en-US" altLang="zh-CN" dirty="0"/>
              <a:t>A</a:t>
            </a:r>
            <a:r>
              <a:rPr lang="zh-CN" altLang="en-US" dirty="0"/>
              <a:t>（</a:t>
            </a:r>
            <a:r>
              <a:rPr lang="en-US" altLang="zh-CN" dirty="0"/>
              <a:t>k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5.2 </a:t>
            </a:r>
            <a:r>
              <a:rPr lang="zh-CN" altLang="en-US" dirty="0"/>
              <a:t>批量元素的索引提取</a:t>
            </a:r>
            <a:endParaRPr lang="en-US" altLang="zh-CN" dirty="0"/>
          </a:p>
          <a:p>
            <a:pPr lvl="1"/>
            <a:r>
              <a:rPr lang="en-US" altLang="zh-CN" dirty="0"/>
              <a:t>5.2.1 </a:t>
            </a:r>
            <a:r>
              <a:rPr lang="zh-CN" altLang="en-US" dirty="0"/>
              <a:t>向量</a:t>
            </a:r>
            <a:endParaRPr lang="en-US" altLang="zh-CN" dirty="0"/>
          </a:p>
          <a:p>
            <a:pPr lvl="1"/>
            <a:r>
              <a:rPr lang="en-US" altLang="zh-CN" dirty="0"/>
              <a:t>5.2.2 </a:t>
            </a:r>
            <a:r>
              <a:rPr lang="zh-CN" altLang="en-US" dirty="0"/>
              <a:t>矩阵</a:t>
            </a:r>
            <a:endParaRPr lang="en-US" altLang="zh-CN" dirty="0"/>
          </a:p>
          <a:p>
            <a:r>
              <a:rPr lang="en-US" altLang="zh-CN" dirty="0"/>
              <a:t>5.3 </a:t>
            </a:r>
            <a:r>
              <a:rPr lang="zh-CN" altLang="en-US" dirty="0"/>
              <a:t>逻辑索引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228596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3450" y="1301750"/>
            <a:ext cx="7409361" cy="517525"/>
          </a:xfrm>
        </p:spPr>
        <p:txBody>
          <a:bodyPr>
            <a:norm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（</a:t>
            </a:r>
            <a:r>
              <a:rPr lang="en-US" altLang="zh-CN" dirty="0"/>
              <a:t>index</a:t>
            </a:r>
            <a:r>
              <a:rPr lang="zh-CN" altLang="en-US" dirty="0"/>
              <a:t>） 注意：</a:t>
            </a:r>
            <a:r>
              <a:rPr lang="zh-CN" altLang="en-US" b="1" u="sng" dirty="0"/>
              <a:t>索引顺序从</a:t>
            </a:r>
            <a:r>
              <a:rPr lang="en-US" altLang="zh-CN" b="1" u="sng" dirty="0"/>
              <a:t>1</a:t>
            </a:r>
            <a:r>
              <a:rPr lang="zh-CN" altLang="en-US" b="1" u="sng" dirty="0"/>
              <a:t>开始！！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1650"/>
          </a:xfrm>
        </p:spPr>
        <p:txBody>
          <a:bodyPr>
            <a:normAutofit fontScale="90000"/>
          </a:bodyPr>
          <a:lstStyle/>
          <a:p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5.1.1  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向量的单个元素的索引访问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432284"/>
              </p:ext>
            </p:extLst>
          </p:nvPr>
        </p:nvGraphicFramePr>
        <p:xfrm>
          <a:off x="950796" y="1986491"/>
          <a:ext cx="10726853" cy="43332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516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9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命令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结果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说明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行向量</a:t>
                      </a:r>
                      <a:endParaRPr lang="en-US" altLang="zh-CN" sz="24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sz="2400" b="1" dirty="0"/>
                        <a:t>&gt;&gt; A=randi(10,1,5)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2400" b="1" dirty="0"/>
                        <a:t>A =</a:t>
                      </a:r>
                    </a:p>
                    <a:p>
                      <a:r>
                        <a:rPr lang="pt-BR" altLang="zh-CN" sz="2400" b="1" dirty="0"/>
                        <a:t>     9    10     2    10     7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生成数值在</a:t>
                      </a:r>
                      <a:r>
                        <a:rPr lang="en-US" altLang="zh-CN" b="1" dirty="0"/>
                        <a:t>1~10</a:t>
                      </a:r>
                      <a:r>
                        <a:rPr lang="zh-CN" altLang="en-US" b="1" dirty="0"/>
                        <a:t>之间的</a:t>
                      </a:r>
                      <a:r>
                        <a:rPr lang="en-US" altLang="zh-CN" b="1" dirty="0"/>
                        <a:t>1</a:t>
                      </a:r>
                      <a:r>
                        <a:rPr lang="zh-CN" altLang="en-US" b="1" dirty="0"/>
                        <a:t>行</a:t>
                      </a:r>
                      <a:r>
                        <a:rPr lang="en-US" altLang="zh-CN" b="1" dirty="0"/>
                        <a:t>5</a:t>
                      </a:r>
                      <a:r>
                        <a:rPr lang="zh-CN" altLang="en-US" b="1" dirty="0"/>
                        <a:t>列（即</a:t>
                      </a:r>
                      <a:r>
                        <a:rPr lang="en-US" altLang="zh-CN" b="1" dirty="0"/>
                        <a:t>5</a:t>
                      </a:r>
                      <a:r>
                        <a:rPr lang="zh-CN" altLang="en-US" b="1" dirty="0"/>
                        <a:t>个）的随机整数；得到一个行向量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&gt;&gt; A(1)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   9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取得向量的第</a:t>
                      </a:r>
                      <a:r>
                        <a:rPr lang="en-US" altLang="zh-CN" b="1" dirty="0"/>
                        <a:t>1</a:t>
                      </a:r>
                      <a:r>
                        <a:rPr lang="zh-CN" altLang="en-US" b="1" dirty="0"/>
                        <a:t>个元素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&gt;&gt; A(3)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   2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取得向量的第</a:t>
                      </a:r>
                      <a:r>
                        <a:rPr lang="en-US" altLang="zh-CN" b="1" dirty="0"/>
                        <a:t>3</a:t>
                      </a:r>
                      <a:r>
                        <a:rPr lang="zh-CN" altLang="en-US" b="1" dirty="0"/>
                        <a:t>个元素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&gt;&gt; A(end)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   7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取得向量的最后一个元素。</a:t>
                      </a:r>
                      <a:endParaRPr lang="en-US" altLang="zh-CN" sz="1800" b="1" dirty="0"/>
                    </a:p>
                    <a:p>
                      <a:r>
                        <a:rPr lang="en-US" altLang="zh-CN" sz="1800" b="1" dirty="0"/>
                        <a:t>end</a:t>
                      </a:r>
                      <a:r>
                        <a:rPr lang="zh-CN" altLang="en-US" sz="1800" b="1" dirty="0"/>
                        <a:t>关键字：在向量索引中，表示最后一个元素（</a:t>
                      </a:r>
                      <a:r>
                        <a:rPr lang="en-US" altLang="zh-CN" sz="1800" b="1" dirty="0"/>
                        <a:t>last index</a:t>
                      </a:r>
                      <a:r>
                        <a:rPr lang="zh-CN" altLang="en-US" sz="1800" b="1" dirty="0"/>
                        <a:t>）。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&gt;&gt; A(end-1)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  10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取得倒数第</a:t>
                      </a:r>
                      <a:r>
                        <a:rPr lang="en-US" altLang="zh-CN" sz="1800" b="1" dirty="0"/>
                        <a:t>2</a:t>
                      </a:r>
                      <a:r>
                        <a:rPr lang="zh-CN" altLang="en-US" sz="1800" b="1" dirty="0"/>
                        <a:t>个元素。</a:t>
                      </a:r>
                      <a:endParaRPr lang="en-US" altLang="zh-CN" sz="1800" b="1" dirty="0"/>
                    </a:p>
                    <a:p>
                      <a:r>
                        <a:rPr lang="zh-CN" altLang="en-US" sz="1800" b="1" dirty="0"/>
                        <a:t>注：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end</a:t>
                      </a:r>
                      <a:r>
                        <a:rPr lang="zh-CN" altLang="en-US" sz="1800" b="1" dirty="0">
                          <a:solidFill>
                            <a:srgbClr val="FF0000"/>
                          </a:solidFill>
                        </a:rPr>
                        <a:t>可以进行减操作，当做索引号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&gt;&gt; A(6)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MATLAB</a:t>
                      </a:r>
                      <a:r>
                        <a:rPr lang="zh-CN" altLang="en-US" b="1" dirty="0"/>
                        <a:t>返回错误。输出如下错误信息：</a:t>
                      </a:r>
                      <a:endParaRPr lang="en-US" altLang="zh-CN" b="1" dirty="0"/>
                    </a:p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Index exceeds matrix dimensions.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索引值不能超出向量的元素个数范围</a:t>
                      </a:r>
                      <a:r>
                        <a:rPr lang="zh-CN" altLang="en-US" b="1" dirty="0"/>
                        <a:t>。否则出错。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8272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298224"/>
              </p:ext>
            </p:extLst>
          </p:nvPr>
        </p:nvGraphicFramePr>
        <p:xfrm>
          <a:off x="2712921" y="652991"/>
          <a:ext cx="6347702" cy="51562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201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5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命令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结果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列向量</a:t>
                      </a:r>
                      <a:endParaRPr lang="en-US" altLang="zh-CN" sz="24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sz="2400" b="1" dirty="0"/>
                        <a:t>&gt;&gt; B=(1:5)'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l-PL" altLang="zh-CN" sz="2400" b="1" dirty="0"/>
                        <a:t>B =</a:t>
                      </a:r>
                    </a:p>
                    <a:p>
                      <a:r>
                        <a:rPr lang="pl-PL" altLang="zh-CN" sz="2400" b="1" dirty="0"/>
                        <a:t>     1</a:t>
                      </a:r>
                    </a:p>
                    <a:p>
                      <a:r>
                        <a:rPr lang="pl-PL" altLang="zh-CN" sz="2400" b="1" dirty="0"/>
                        <a:t>     2</a:t>
                      </a:r>
                    </a:p>
                    <a:p>
                      <a:r>
                        <a:rPr lang="pl-PL" altLang="zh-CN" sz="2400" b="1" dirty="0"/>
                        <a:t>     3</a:t>
                      </a:r>
                    </a:p>
                    <a:p>
                      <a:r>
                        <a:rPr lang="pl-PL" altLang="zh-CN" sz="2400" b="1" dirty="0"/>
                        <a:t>     4</a:t>
                      </a:r>
                    </a:p>
                    <a:p>
                      <a:r>
                        <a:rPr lang="pl-PL" altLang="zh-CN" sz="2400" b="1" dirty="0"/>
                        <a:t>     5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&gt;&gt; B(1)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   1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&gt;&gt; B(3)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   3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&gt;&gt; B(end)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   5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&gt;&gt; B(end-1)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  4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&gt;&gt; B(6)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MATLAB</a:t>
                      </a:r>
                      <a:r>
                        <a:rPr lang="zh-CN" altLang="en-US" b="1" dirty="0"/>
                        <a:t>返回错误。输出如下错误信息：</a:t>
                      </a:r>
                      <a:endParaRPr lang="en-US" altLang="zh-CN" b="1" dirty="0"/>
                    </a:p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Index exceeds matrix dimensions.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20256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14350" y="5008727"/>
            <a:ext cx="80356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矩阵的索引下标（</a:t>
            </a:r>
            <a:r>
              <a:rPr lang="en-US" altLang="zh-CN" sz="2000" b="1" dirty="0"/>
              <a:t>subscript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A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i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j</a:t>
            </a:r>
            <a:r>
              <a:rPr lang="zh-CN" altLang="en-US" sz="2000" b="1" dirty="0"/>
              <a:t>）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zh-CN" altLang="en-US" sz="2000" b="1" dirty="0">
                <a:sym typeface="Wingdings" panose="05000000000000000000" pitchFamily="2" charset="2"/>
              </a:rPr>
              <a:t>用小括号“</a:t>
            </a:r>
            <a:r>
              <a:rPr lang="en-US" altLang="zh-CN" sz="2000" b="1" dirty="0">
                <a:sym typeface="Wingdings" panose="05000000000000000000" pitchFamily="2" charset="2"/>
              </a:rPr>
              <a:t>( )</a:t>
            </a:r>
            <a:r>
              <a:rPr lang="zh-CN" altLang="en-US" sz="2000" b="1" dirty="0">
                <a:sym typeface="Wingdings" panose="05000000000000000000" pitchFamily="2" charset="2"/>
              </a:rPr>
              <a:t>”，行索引在前，列索引在后</a:t>
            </a:r>
            <a:endParaRPr lang="en-US" altLang="zh-CN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000" b="1" dirty="0"/>
              <a:t>下标从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开始计数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200" y="174625"/>
            <a:ext cx="9220200" cy="730250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5.1.2.a 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矩阵的行列索引（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row column Indexing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032183" y="2562773"/>
            <a:ext cx="249868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A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i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j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i—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行号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j—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列号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106997"/>
              </p:ext>
            </p:extLst>
          </p:nvPr>
        </p:nvGraphicFramePr>
        <p:xfrm>
          <a:off x="2879725" y="1646096"/>
          <a:ext cx="3587750" cy="30522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7411"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1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2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3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7411"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4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5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6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411"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7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8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9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2819169" y="1646096"/>
            <a:ext cx="3132617" cy="2440171"/>
            <a:chOff x="2504844" y="1338791"/>
            <a:chExt cx="3132617" cy="2440171"/>
          </a:xfrm>
        </p:grpSpPr>
        <p:sp>
          <p:nvSpPr>
            <p:cNvPr id="10" name="矩形 9"/>
            <p:cNvSpPr/>
            <p:nvPr/>
          </p:nvSpPr>
          <p:spPr>
            <a:xfrm>
              <a:off x="2504844" y="1356891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(1,1)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874107" y="1338791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(1,3)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3666231" y="1338791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(1,2)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504844" y="2395116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(2,1)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920596" y="2377016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(2,3)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712720" y="2377016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(2,2)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504844" y="3378852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(3,1)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4967085" y="3370277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(3,3)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759209" y="3370277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(3,2)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660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16271"/>
          <a:stretch/>
        </p:blipFill>
        <p:spPr>
          <a:xfrm>
            <a:off x="1766006" y="1494336"/>
            <a:ext cx="9534525" cy="4912723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646736" y="726349"/>
            <a:ext cx="3028950" cy="1598840"/>
            <a:chOff x="1646736" y="726349"/>
            <a:chExt cx="3028950" cy="159884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6736" y="726349"/>
              <a:ext cx="3028950" cy="476250"/>
            </a:xfrm>
            <a:prstGeom prst="rect">
              <a:avLst/>
            </a:prstGeom>
          </p:spPr>
        </p:pic>
        <p:cxnSp>
          <p:nvCxnSpPr>
            <p:cNvPr id="7" name="直接箭头连接符 6"/>
            <p:cNvCxnSpPr/>
            <p:nvPr/>
          </p:nvCxnSpPr>
          <p:spPr>
            <a:xfrm>
              <a:off x="4180114" y="1202599"/>
              <a:ext cx="174172" cy="112259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692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968" y="598305"/>
            <a:ext cx="3741557" cy="512469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838" y="1084201"/>
            <a:ext cx="3364988" cy="424027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82070" y="3451043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61263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707" y="619669"/>
            <a:ext cx="9022864" cy="125675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502" y="2019252"/>
            <a:ext cx="2217082" cy="387507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18364" y="2217645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419254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397" y="349559"/>
            <a:ext cx="2145778" cy="44247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345" y="666455"/>
            <a:ext cx="3507664" cy="39436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987635" y="3780665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55821" y="4848225"/>
            <a:ext cx="63453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提示：</a:t>
            </a:r>
            <a:endParaRPr lang="en-US" altLang="zh-CN" sz="2400" b="1" dirty="0"/>
          </a:p>
          <a:p>
            <a:r>
              <a:rPr lang="zh-CN" altLang="en-US" sz="2400" dirty="0"/>
              <a:t>行列的索引：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除了可以用具体数值表示；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还可以用关键字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zh-CN" altLang="en-US" sz="2400" dirty="0"/>
              <a:t>表示最后的行或者列</a:t>
            </a:r>
          </a:p>
        </p:txBody>
      </p:sp>
    </p:spTree>
    <p:extLst>
      <p:ext uri="{BB962C8B-B14F-4D97-AF65-F5344CB8AC3E}">
        <p14:creationId xmlns:p14="http://schemas.microsoft.com/office/powerpoint/2010/main" val="200710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9295"/>
          <a:stretch/>
        </p:blipFill>
        <p:spPr>
          <a:xfrm>
            <a:off x="254181" y="958487"/>
            <a:ext cx="7220359" cy="479461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811" y="1653811"/>
            <a:ext cx="3734446" cy="340396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009443" y="179314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2555588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09675"/>
            <a:ext cx="10515600" cy="993775"/>
          </a:xfrm>
        </p:spPr>
        <p:txBody>
          <a:bodyPr/>
          <a:lstStyle/>
          <a:p>
            <a:r>
              <a:rPr lang="zh-CN" altLang="en-US" dirty="0"/>
              <a:t>对于矩阵</a:t>
            </a:r>
            <a:r>
              <a:rPr lang="en-US" altLang="zh-CN" dirty="0"/>
              <a:t>A</a:t>
            </a:r>
            <a:r>
              <a:rPr lang="zh-CN" altLang="en-US" dirty="0"/>
              <a:t>，线性索引访问元素的格式为</a:t>
            </a:r>
            <a:r>
              <a:rPr lang="en-US" altLang="zh-CN" dirty="0">
                <a:solidFill>
                  <a:srgbClr val="FF0000"/>
                </a:solidFill>
              </a:rPr>
              <a:t>A(k)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通常这样的引用用于行向量或列向量，但也可用于二维矩阵；</a:t>
            </a:r>
            <a:endParaRPr lang="en-US" altLang="zh-CN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117475"/>
            <a:ext cx="8305800" cy="1177925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5.1.2.b 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矩阵的线性索引（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linear Indexing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052512" y="2276475"/>
            <a:ext cx="4905375" cy="1057275"/>
            <a:chOff x="1052512" y="2276475"/>
            <a:chExt cx="4905375" cy="105727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2512" y="2276475"/>
              <a:ext cx="4905375" cy="1057275"/>
            </a:xfrm>
            <a:prstGeom prst="rect">
              <a:avLst/>
            </a:prstGeom>
          </p:spPr>
        </p:pic>
        <p:sp>
          <p:nvSpPr>
            <p:cNvPr id="9" name="右箭头 8"/>
            <p:cNvSpPr/>
            <p:nvPr/>
          </p:nvSpPr>
          <p:spPr>
            <a:xfrm rot="10800000">
              <a:off x="2838450" y="2409825"/>
              <a:ext cx="666749" cy="20955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505199" y="2314545"/>
              <a:ext cx="9589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行向量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028699" y="3443242"/>
            <a:ext cx="3599903" cy="1039858"/>
            <a:chOff x="1028699" y="3443242"/>
            <a:chExt cx="3599903" cy="103985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8699" y="3454400"/>
              <a:ext cx="1619250" cy="1028700"/>
            </a:xfrm>
            <a:prstGeom prst="rect">
              <a:avLst/>
            </a:prstGeom>
          </p:spPr>
        </p:pic>
        <p:grpSp>
          <p:nvGrpSpPr>
            <p:cNvPr id="16" name="组合 15"/>
            <p:cNvGrpSpPr/>
            <p:nvPr/>
          </p:nvGrpSpPr>
          <p:grpSpPr>
            <a:xfrm>
              <a:off x="1943100" y="3443242"/>
              <a:ext cx="2685502" cy="400110"/>
              <a:chOff x="1943100" y="3443242"/>
              <a:chExt cx="2685502" cy="400110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943100" y="3454399"/>
                <a:ext cx="704849" cy="35560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右箭头 13"/>
              <p:cNvSpPr/>
              <p:nvPr/>
            </p:nvSpPr>
            <p:spPr>
              <a:xfrm rot="10800000">
                <a:off x="2728912" y="3527424"/>
                <a:ext cx="666749" cy="209550"/>
              </a:xfrm>
              <a:prstGeom prst="right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3411602" y="3443242"/>
                <a:ext cx="12170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FF0000"/>
                    </a:solidFill>
                  </a:rPr>
                  <a:t>线性索引</a:t>
                </a: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1052512" y="4524375"/>
            <a:ext cx="3928514" cy="1047750"/>
            <a:chOff x="1052512" y="4524375"/>
            <a:chExt cx="3928514" cy="104775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2512" y="4524375"/>
              <a:ext cx="1962150" cy="1047750"/>
            </a:xfrm>
            <a:prstGeom prst="rect">
              <a:avLst/>
            </a:prstGeom>
          </p:spPr>
        </p:pic>
        <p:grpSp>
          <p:nvGrpSpPr>
            <p:cNvPr id="17" name="组合 16"/>
            <p:cNvGrpSpPr/>
            <p:nvPr/>
          </p:nvGrpSpPr>
          <p:grpSpPr>
            <a:xfrm>
              <a:off x="1943100" y="4557727"/>
              <a:ext cx="3037926" cy="400110"/>
              <a:chOff x="1590676" y="3443242"/>
              <a:chExt cx="3037926" cy="400110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1590676" y="3454399"/>
                <a:ext cx="1057273" cy="35560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右箭头 18"/>
              <p:cNvSpPr/>
              <p:nvPr/>
            </p:nvSpPr>
            <p:spPr>
              <a:xfrm rot="10800000">
                <a:off x="2728912" y="3527424"/>
                <a:ext cx="666749" cy="209550"/>
              </a:xfrm>
              <a:prstGeom prst="right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3411602" y="3443242"/>
                <a:ext cx="12170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FF0000"/>
                    </a:solidFill>
                  </a:rPr>
                  <a:t>线性索引</a:t>
                </a: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6372225" y="2220912"/>
            <a:ext cx="3660907" cy="2466975"/>
            <a:chOff x="6372225" y="2220912"/>
            <a:chExt cx="3660907" cy="2466975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72225" y="2220912"/>
              <a:ext cx="2000250" cy="2466975"/>
            </a:xfrm>
            <a:prstGeom prst="rect">
              <a:avLst/>
            </a:prstGeom>
          </p:spPr>
        </p:pic>
        <p:grpSp>
          <p:nvGrpSpPr>
            <p:cNvPr id="25" name="组合 24"/>
            <p:cNvGrpSpPr/>
            <p:nvPr/>
          </p:nvGrpSpPr>
          <p:grpSpPr>
            <a:xfrm>
              <a:off x="8407466" y="2257395"/>
              <a:ext cx="1625666" cy="400110"/>
              <a:chOff x="8407466" y="2257395"/>
              <a:chExt cx="1625666" cy="400110"/>
            </a:xfrm>
          </p:grpSpPr>
          <p:sp>
            <p:nvSpPr>
              <p:cNvPr id="23" name="右箭头 22"/>
              <p:cNvSpPr/>
              <p:nvPr/>
            </p:nvSpPr>
            <p:spPr>
              <a:xfrm rot="10800000">
                <a:off x="8407466" y="2352675"/>
                <a:ext cx="666749" cy="209550"/>
              </a:xfrm>
              <a:prstGeom prst="right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9074215" y="2257395"/>
                <a:ext cx="95891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FF0000"/>
                    </a:solidFill>
                  </a:rPr>
                  <a:t>列向量</a:t>
                </a:r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7810500" y="3851334"/>
            <a:ext cx="3628477" cy="1047750"/>
            <a:chOff x="7810500" y="3851334"/>
            <a:chExt cx="3628477" cy="1047750"/>
          </a:xfrm>
        </p:grpSpPr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10500" y="3851334"/>
              <a:ext cx="1638300" cy="1047750"/>
            </a:xfrm>
            <a:prstGeom prst="rect">
              <a:avLst/>
            </a:prstGeom>
          </p:spPr>
        </p:pic>
        <p:grpSp>
          <p:nvGrpSpPr>
            <p:cNvPr id="28" name="组合 27"/>
            <p:cNvGrpSpPr/>
            <p:nvPr/>
          </p:nvGrpSpPr>
          <p:grpSpPr>
            <a:xfrm>
              <a:off x="8753475" y="3887817"/>
              <a:ext cx="2685502" cy="400110"/>
              <a:chOff x="1943100" y="3443242"/>
              <a:chExt cx="2685502" cy="400110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943100" y="3454399"/>
                <a:ext cx="704849" cy="35560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右箭头 29"/>
              <p:cNvSpPr/>
              <p:nvPr/>
            </p:nvSpPr>
            <p:spPr>
              <a:xfrm rot="10800000">
                <a:off x="2728912" y="3527424"/>
                <a:ext cx="666749" cy="209550"/>
              </a:xfrm>
              <a:prstGeom prst="right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3411602" y="3443242"/>
                <a:ext cx="12170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FF0000"/>
                    </a:solidFill>
                  </a:rPr>
                  <a:t>线性索引</a:t>
                </a: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7877175" y="5038725"/>
            <a:ext cx="3980353" cy="1066800"/>
            <a:chOff x="7877175" y="5038725"/>
            <a:chExt cx="3980353" cy="1066800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77175" y="5038725"/>
              <a:ext cx="1981200" cy="1066800"/>
            </a:xfrm>
            <a:prstGeom prst="rect">
              <a:avLst/>
            </a:prstGeom>
          </p:spPr>
        </p:pic>
        <p:grpSp>
          <p:nvGrpSpPr>
            <p:cNvPr id="36" name="组合 35"/>
            <p:cNvGrpSpPr/>
            <p:nvPr/>
          </p:nvGrpSpPr>
          <p:grpSpPr>
            <a:xfrm>
              <a:off x="8819602" y="5072077"/>
              <a:ext cx="3037926" cy="400110"/>
              <a:chOff x="1590676" y="3443242"/>
              <a:chExt cx="3037926" cy="400110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590676" y="3454399"/>
                <a:ext cx="1057273" cy="35560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右箭头 37"/>
              <p:cNvSpPr/>
              <p:nvPr/>
            </p:nvSpPr>
            <p:spPr>
              <a:xfrm rot="10800000">
                <a:off x="2728912" y="3527424"/>
                <a:ext cx="666749" cy="209550"/>
              </a:xfrm>
              <a:prstGeom prst="right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3411602" y="3443242"/>
                <a:ext cx="12170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FF0000"/>
                    </a:solidFill>
                  </a:rPr>
                  <a:t>线性索引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900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581400" y="3981450"/>
            <a:ext cx="1088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x=</a:t>
            </a:r>
            <a:r>
              <a:rPr lang="zh-CN" altLang="en-US" sz="3600" b="1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14" name="矩形 13"/>
          <p:cNvSpPr/>
          <p:nvPr/>
        </p:nvSpPr>
        <p:spPr>
          <a:xfrm>
            <a:off x="827127" y="250667"/>
            <a:ext cx="26965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矩阵的线性索引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4" y="889492"/>
            <a:ext cx="5830611" cy="213945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224" y="3103378"/>
            <a:ext cx="2250233" cy="506597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4059105" y="3236668"/>
            <a:ext cx="4223569" cy="400110"/>
            <a:chOff x="1695451" y="3443242"/>
            <a:chExt cx="4223569" cy="400110"/>
          </a:xfrm>
        </p:grpSpPr>
        <p:sp>
          <p:nvSpPr>
            <p:cNvPr id="9" name="矩形 8"/>
            <p:cNvSpPr/>
            <p:nvPr/>
          </p:nvSpPr>
          <p:spPr>
            <a:xfrm>
              <a:off x="1695451" y="3454399"/>
              <a:ext cx="866775" cy="35560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右箭头 9"/>
            <p:cNvSpPr/>
            <p:nvPr/>
          </p:nvSpPr>
          <p:spPr>
            <a:xfrm rot="10800000">
              <a:off x="2728912" y="3527424"/>
              <a:ext cx="666749" cy="20955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411602" y="3443242"/>
              <a:ext cx="25074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二维矩阵的线性索引</a:t>
              </a: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4"/>
          <a:srcRect l="3086"/>
          <a:stretch/>
        </p:blipFill>
        <p:spPr>
          <a:xfrm>
            <a:off x="2971799" y="4757738"/>
            <a:ext cx="1698361" cy="132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51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4349" y="427018"/>
            <a:ext cx="1053465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对与矩阵：</a:t>
            </a:r>
            <a:r>
              <a:rPr lang="en-US" altLang="zh-CN" sz="2800" dirty="0"/>
              <a:t>MATLAB</a:t>
            </a:r>
            <a:r>
              <a:rPr lang="zh-CN" altLang="en-US" sz="2800" dirty="0"/>
              <a:t>内部是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按列优先排列</a:t>
            </a:r>
            <a:r>
              <a:rPr lang="zh-CN" altLang="en-US" sz="2800" dirty="0"/>
              <a:t>的方式将所有元素存储成一个长列向量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312" y="2190750"/>
            <a:ext cx="766763" cy="3810927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6067425" y="3687716"/>
            <a:ext cx="1004887" cy="27622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637" y="2312124"/>
            <a:ext cx="3903182" cy="3303634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3950387" y="1440164"/>
            <a:ext cx="809837" cy="1169686"/>
            <a:chOff x="3950387" y="630539"/>
            <a:chExt cx="809837" cy="1169686"/>
          </a:xfrm>
        </p:grpSpPr>
        <p:sp>
          <p:nvSpPr>
            <p:cNvPr id="10" name="文本框 9"/>
            <p:cNvSpPr txBox="1"/>
            <p:nvPr/>
          </p:nvSpPr>
          <p:spPr>
            <a:xfrm>
              <a:off x="3950387" y="630539"/>
              <a:ext cx="80983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A(4)</a:t>
              </a:r>
              <a:endPara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2" name="直接箭头连接符 11"/>
            <p:cNvCxnSpPr>
              <a:stCxn id="10" idx="2"/>
            </p:cNvCxnSpPr>
            <p:nvPr/>
          </p:nvCxnSpPr>
          <p:spPr>
            <a:xfrm>
              <a:off x="4355306" y="1153759"/>
              <a:ext cx="26194" cy="646466"/>
            </a:xfrm>
            <a:prstGeom prst="straightConnector1">
              <a:avLst/>
            </a:prstGeom>
            <a:ln w="28575">
              <a:prstDash val="dash"/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5159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50500"/>
              </p:ext>
            </p:extLst>
          </p:nvPr>
        </p:nvGraphicFramePr>
        <p:xfrm>
          <a:off x="793750" y="1740183"/>
          <a:ext cx="3587750" cy="30522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7411"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1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2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3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7411"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4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5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6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411"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7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8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/>
                        <a:t>9</a:t>
                      </a:r>
                      <a:endParaRPr lang="zh-CN" altLang="en-US" sz="3600" b="1" dirty="0"/>
                    </a:p>
                  </a:txBody>
                  <a:tcPr anchor="ctr" anchorCtr="1"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733194" y="1740183"/>
            <a:ext cx="3132617" cy="2440171"/>
            <a:chOff x="2504844" y="1338791"/>
            <a:chExt cx="3132617" cy="2440171"/>
          </a:xfrm>
        </p:grpSpPr>
        <p:sp>
          <p:nvSpPr>
            <p:cNvPr id="6" name="矩形 5"/>
            <p:cNvSpPr/>
            <p:nvPr/>
          </p:nvSpPr>
          <p:spPr>
            <a:xfrm>
              <a:off x="2504844" y="1356891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(1,1)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874107" y="1338791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(1,3)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666231" y="1338791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(1,2)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2504844" y="2395116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(2,1)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920596" y="2377016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(2,3)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712720" y="2377016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(2,2)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504844" y="3378852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(3,1)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967085" y="3370277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(3,3)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759209" y="3370277"/>
              <a:ext cx="670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(3,2)</a:t>
              </a:r>
              <a:endParaRPr lang="zh-CN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473209" y="2293750"/>
            <a:ext cx="2955695" cy="2498666"/>
            <a:chOff x="3244859" y="1892358"/>
            <a:chExt cx="2955695" cy="2498666"/>
          </a:xfrm>
        </p:grpSpPr>
        <p:sp>
          <p:nvSpPr>
            <p:cNvPr id="15" name="矩形 14"/>
            <p:cNvSpPr/>
            <p:nvPr/>
          </p:nvSpPr>
          <p:spPr>
            <a:xfrm>
              <a:off x="3244859" y="1892358"/>
              <a:ext cx="505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kern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  <a:sym typeface="Wingdings" panose="05000000000000000000" pitchFamily="2" charset="2"/>
                </a:rPr>
                <a:t></a:t>
              </a:r>
              <a:endParaRPr lang="zh-CN" altLang="en-US" sz="2800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3244859" y="2864907"/>
              <a:ext cx="505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kern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  <a:sym typeface="Wingdings" panose="05000000000000000000" pitchFamily="2" charset="2"/>
                </a:rPr>
                <a:t></a:t>
              </a:r>
              <a:endParaRPr lang="zh-CN" altLang="en-US" sz="2800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3244859" y="3867804"/>
              <a:ext cx="505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kern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  <a:sym typeface="Wingdings" panose="05000000000000000000" pitchFamily="2" charset="2"/>
                </a:rPr>
                <a:t></a:t>
              </a:r>
              <a:endParaRPr lang="zh-CN" altLang="en-US" sz="2800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4450005" y="1892358"/>
              <a:ext cx="505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kern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  <a:sym typeface="Wingdings" panose="05000000000000000000" pitchFamily="2" charset="2"/>
                </a:rPr>
                <a:t></a:t>
              </a:r>
              <a:endParaRPr lang="zh-CN" altLang="en-US" sz="2800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4450005" y="2864907"/>
              <a:ext cx="505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kern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  <a:sym typeface="Wingdings" panose="05000000000000000000" pitchFamily="2" charset="2"/>
                </a:rPr>
                <a:t></a:t>
              </a:r>
              <a:endParaRPr lang="zh-CN" altLang="en-US" sz="2800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4450005" y="3867804"/>
              <a:ext cx="505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kern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  <a:sym typeface="Wingdings" panose="05000000000000000000" pitchFamily="2" charset="2"/>
                </a:rPr>
                <a:t></a:t>
              </a:r>
              <a:endParaRPr lang="zh-CN" altLang="en-US" sz="2800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5695287" y="1892358"/>
              <a:ext cx="505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kern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  <a:sym typeface="Wingdings" panose="05000000000000000000" pitchFamily="2" charset="2"/>
                </a:rPr>
                <a:t></a:t>
              </a:r>
              <a:endParaRPr lang="zh-CN" altLang="en-US" sz="2800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5695287" y="2864907"/>
              <a:ext cx="505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kern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  <a:sym typeface="Wingdings" panose="05000000000000000000" pitchFamily="2" charset="2"/>
                </a:rPr>
                <a:t></a:t>
              </a:r>
              <a:endParaRPr lang="zh-CN" altLang="en-US" sz="2800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5695287" y="3867804"/>
              <a:ext cx="505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kern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  <a:sym typeface="Wingdings" panose="05000000000000000000" pitchFamily="2" charset="2"/>
                </a:rPr>
                <a:t></a:t>
              </a:r>
              <a:endParaRPr lang="zh-CN" altLang="en-US" sz="2800" dirty="0"/>
            </a:p>
          </p:txBody>
        </p:sp>
      </p:grpSp>
      <p:sp>
        <p:nvSpPr>
          <p:cNvPr id="26" name="矩形 25"/>
          <p:cNvSpPr/>
          <p:nvPr/>
        </p:nvSpPr>
        <p:spPr>
          <a:xfrm>
            <a:off x="533399" y="194934"/>
            <a:ext cx="10534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行列索引 </a:t>
            </a:r>
            <a:r>
              <a:rPr lang="en-US" altLang="zh-CN" sz="2800" dirty="0" err="1"/>
              <a:t>v.s</a:t>
            </a:r>
            <a:r>
              <a:rPr lang="en-US" altLang="zh-CN" sz="2800" dirty="0"/>
              <a:t>. </a:t>
            </a:r>
            <a:r>
              <a:rPr lang="zh-CN" altLang="en-US" sz="2800" dirty="0"/>
              <a:t>线性索引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469977" y="952596"/>
            <a:ext cx="2075872" cy="1068871"/>
            <a:chOff x="1469977" y="952596"/>
            <a:chExt cx="2075872" cy="1068871"/>
          </a:xfrm>
        </p:grpSpPr>
        <p:sp>
          <p:nvSpPr>
            <p:cNvPr id="27" name="矩形 26"/>
            <p:cNvSpPr/>
            <p:nvPr/>
          </p:nvSpPr>
          <p:spPr>
            <a:xfrm>
              <a:off x="1469977" y="959461"/>
              <a:ext cx="108555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/>
                <a:t>A(1,2)</a:t>
              </a:r>
            </a:p>
          </p:txBody>
        </p:sp>
        <p:sp>
          <p:nvSpPr>
            <p:cNvPr id="28" name="矩形 27"/>
            <p:cNvSpPr/>
            <p:nvPr/>
          </p:nvSpPr>
          <p:spPr>
            <a:xfrm>
              <a:off x="2752042" y="952596"/>
              <a:ext cx="79380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dirty="0"/>
                <a:t>A(4</a:t>
              </a:r>
              <a:r>
                <a:rPr lang="en-US" altLang="zh-CN" sz="2400" b="1" dirty="0"/>
                <a:t>)</a:t>
              </a:r>
              <a:endParaRPr lang="zh-CN" altLang="en-US" sz="2400" dirty="0"/>
            </a:p>
          </p:txBody>
        </p:sp>
        <p:cxnSp>
          <p:nvCxnSpPr>
            <p:cNvPr id="30" name="直接箭头连接符 29"/>
            <p:cNvCxnSpPr>
              <a:stCxn id="27" idx="2"/>
            </p:cNvCxnSpPr>
            <p:nvPr/>
          </p:nvCxnSpPr>
          <p:spPr>
            <a:xfrm>
              <a:off x="2012754" y="1482681"/>
              <a:ext cx="454221" cy="475657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28" idx="2"/>
            </p:cNvCxnSpPr>
            <p:nvPr/>
          </p:nvCxnSpPr>
          <p:spPr>
            <a:xfrm flipH="1">
              <a:off x="2642180" y="1475816"/>
              <a:ext cx="506766" cy="545651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60" name="组合 59"/>
          <p:cNvGrpSpPr/>
          <p:nvPr/>
        </p:nvGrpSpPr>
        <p:grpSpPr>
          <a:xfrm>
            <a:off x="7581900" y="2251165"/>
            <a:ext cx="1581150" cy="451617"/>
            <a:chOff x="7581900" y="2251165"/>
            <a:chExt cx="1581150" cy="451617"/>
          </a:xfrm>
        </p:grpSpPr>
        <p:sp>
          <p:nvSpPr>
            <p:cNvPr id="56" name="右箭头 55"/>
            <p:cNvSpPr/>
            <p:nvPr/>
          </p:nvSpPr>
          <p:spPr>
            <a:xfrm>
              <a:off x="7581900" y="2555360"/>
              <a:ext cx="1581150" cy="147422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7820334" y="2251165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sub2ind</a:t>
              </a:r>
              <a:endParaRPr lang="zh-CN" altLang="en-US" sz="2000" b="1" dirty="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7568529" y="3266299"/>
            <a:ext cx="1567972" cy="466834"/>
            <a:chOff x="7568529" y="3266299"/>
            <a:chExt cx="1567972" cy="466834"/>
          </a:xfrm>
        </p:grpSpPr>
        <p:sp>
          <p:nvSpPr>
            <p:cNvPr id="57" name="左箭头 56"/>
            <p:cNvSpPr/>
            <p:nvPr/>
          </p:nvSpPr>
          <p:spPr>
            <a:xfrm>
              <a:off x="7568529" y="3266299"/>
              <a:ext cx="1567972" cy="182205"/>
            </a:xfrm>
            <a:prstGeom prst="lef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7893283" y="3333023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ind2sub</a:t>
              </a:r>
              <a:endParaRPr lang="zh-CN" altLang="en-US" sz="2000" b="1" dirty="0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5081575" y="1940238"/>
            <a:ext cx="6609418" cy="2623320"/>
            <a:chOff x="5081575" y="1940238"/>
            <a:chExt cx="6609418" cy="2623320"/>
          </a:xfrm>
        </p:grpSpPr>
        <p:grpSp>
          <p:nvGrpSpPr>
            <p:cNvPr id="34" name="组合 33"/>
            <p:cNvGrpSpPr/>
            <p:nvPr/>
          </p:nvGrpSpPr>
          <p:grpSpPr>
            <a:xfrm>
              <a:off x="5081575" y="1940238"/>
              <a:ext cx="2361092" cy="1982971"/>
              <a:chOff x="2504844" y="1338791"/>
              <a:chExt cx="2361092" cy="1982971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2504844" y="1356891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(1,1)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4102582" y="1338791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(1,3)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3275706" y="1338791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(1,2)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2504844" y="2185566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(2,1)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4149071" y="2167466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(2,3)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3322195" y="2167466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(2,2)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2504844" y="2921652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(3,1)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4195560" y="2913077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(3,3)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3368684" y="2913077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(3,2)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9322030" y="1949308"/>
              <a:ext cx="1746020" cy="2022416"/>
              <a:chOff x="8112355" y="1939475"/>
              <a:chExt cx="1746020" cy="2022416"/>
            </a:xfrm>
          </p:grpSpPr>
          <p:sp>
            <p:nvSpPr>
              <p:cNvPr id="45" name="矩形 44"/>
              <p:cNvSpPr/>
              <p:nvPr/>
            </p:nvSpPr>
            <p:spPr>
              <a:xfrm>
                <a:off x="8112355" y="1939475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</a:t>
                </a:r>
                <a:endParaRPr lang="zh-CN" altLang="en-US" sz="2800" dirty="0"/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8112355" y="2692949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</a:t>
                </a:r>
                <a:endParaRPr lang="zh-CN" altLang="en-US" sz="2800" dirty="0"/>
              </a:p>
            </p:txBody>
          </p:sp>
          <p:sp>
            <p:nvSpPr>
              <p:cNvPr id="47" name="矩形 46"/>
              <p:cNvSpPr/>
              <p:nvPr/>
            </p:nvSpPr>
            <p:spPr>
              <a:xfrm>
                <a:off x="8112355" y="3438671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</a:t>
                </a:r>
                <a:endParaRPr lang="zh-CN" altLang="en-US" sz="2800" dirty="0"/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8803151" y="1939475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</a:t>
                </a:r>
                <a:endParaRPr lang="zh-CN" altLang="en-US" sz="2800" dirty="0"/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8803151" y="2692949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</a:t>
                </a:r>
                <a:endParaRPr lang="zh-CN" altLang="en-US" sz="2800" dirty="0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8803151" y="3438671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</a:t>
                </a:r>
                <a:endParaRPr lang="zh-CN" altLang="en-US" sz="2800" dirty="0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9353108" y="1939475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</a:t>
                </a:r>
                <a:endParaRPr lang="zh-CN" altLang="en-US" sz="2800" dirty="0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9353108" y="2692949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</a:t>
                </a:r>
                <a:endParaRPr lang="zh-CN" altLang="en-US" sz="2800" dirty="0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9353108" y="3438671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</a:t>
                </a:r>
                <a:endParaRPr lang="zh-CN" altLang="en-US" sz="2800" dirty="0"/>
              </a:p>
            </p:txBody>
          </p:sp>
        </p:grpSp>
        <p:sp>
          <p:nvSpPr>
            <p:cNvPr id="62" name="文本框 61"/>
            <p:cNvSpPr txBox="1"/>
            <p:nvPr/>
          </p:nvSpPr>
          <p:spPr>
            <a:xfrm>
              <a:off x="8991600" y="4194226"/>
              <a:ext cx="26993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线性索引（</a:t>
              </a:r>
              <a:r>
                <a:rPr lang="en-US" altLang="zh-CN" b="1" dirty="0"/>
                <a:t>linear index</a:t>
              </a:r>
              <a:r>
                <a:rPr lang="zh-CN" altLang="en-US" b="1" dirty="0"/>
                <a:t>）</a:t>
              </a: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5144207" y="4161474"/>
              <a:ext cx="2444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行列下标（</a:t>
              </a:r>
              <a:r>
                <a:rPr lang="en-US" altLang="zh-CN" b="1" dirty="0"/>
                <a:t>subscript</a:t>
              </a:r>
              <a:r>
                <a:rPr lang="zh-CN" altLang="en-US" b="1" dirty="0"/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98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709725" y="267006"/>
            <a:ext cx="6609418" cy="2623320"/>
            <a:chOff x="5081575" y="1940238"/>
            <a:chExt cx="6609418" cy="2623320"/>
          </a:xfrm>
        </p:grpSpPr>
        <p:grpSp>
          <p:nvGrpSpPr>
            <p:cNvPr id="5" name="组合 4"/>
            <p:cNvGrpSpPr/>
            <p:nvPr/>
          </p:nvGrpSpPr>
          <p:grpSpPr>
            <a:xfrm>
              <a:off x="5081575" y="1940238"/>
              <a:ext cx="2361092" cy="1982971"/>
              <a:chOff x="2504844" y="1338791"/>
              <a:chExt cx="2361092" cy="1982971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2504844" y="1356891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(1,1)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4102582" y="1338791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(1,3)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3275706" y="1338791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(1,2)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2504844" y="2185566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(2,1)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4149071" y="2167466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(2,3)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3322195" y="2167466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(2,2)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2504844" y="2921652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(3,1)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4195560" y="2913077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(3,3)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3368684" y="2913077"/>
                <a:ext cx="670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(3,2)</a:t>
                </a:r>
                <a:endParaRPr lang="zh-CN" altLang="en-US" sz="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9322030" y="1949308"/>
              <a:ext cx="1746020" cy="2022416"/>
              <a:chOff x="8112355" y="1939475"/>
              <a:chExt cx="1746020" cy="2022416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8112355" y="1939475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</a:t>
                </a:r>
                <a:endParaRPr lang="zh-CN" altLang="en-US" sz="2800" dirty="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8112355" y="2692949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</a:t>
                </a:r>
                <a:endParaRPr lang="zh-CN" altLang="en-US" sz="2800" dirty="0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8112355" y="3438671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</a:t>
                </a:r>
                <a:endParaRPr lang="zh-CN" altLang="en-US" sz="2800" dirty="0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8803151" y="1939475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</a:t>
                </a:r>
                <a:endParaRPr lang="zh-CN" altLang="en-US" sz="2800" dirty="0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8803151" y="2692949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</a:t>
                </a:r>
                <a:endParaRPr lang="zh-CN" altLang="en-US" sz="2800" dirty="0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8803151" y="3438671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</a:t>
                </a:r>
                <a:endParaRPr lang="zh-CN" altLang="en-US" sz="2800" dirty="0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9353108" y="1939475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</a:t>
                </a:r>
                <a:endParaRPr lang="zh-CN" altLang="en-US" sz="2800" dirty="0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9353108" y="2692949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</a:t>
                </a:r>
                <a:endParaRPr lang="zh-CN" altLang="en-US" sz="2800" dirty="0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9353108" y="3438671"/>
                <a:ext cx="5052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Wingdings" panose="05000000000000000000" pitchFamily="2" charset="2"/>
                  </a:rPr>
                  <a:t></a:t>
                </a:r>
                <a:endParaRPr lang="zh-CN" altLang="en-US" sz="2800" dirty="0"/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8991600" y="4194226"/>
              <a:ext cx="26993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线性索引（</a:t>
              </a:r>
              <a:r>
                <a:rPr lang="en-US" altLang="zh-CN" b="1" dirty="0"/>
                <a:t>linear index</a:t>
              </a:r>
              <a:r>
                <a:rPr lang="zh-CN" altLang="en-US" b="1" dirty="0"/>
                <a:t>）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144207" y="4161474"/>
              <a:ext cx="2444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行列下标（</a:t>
              </a:r>
              <a:r>
                <a:rPr lang="en-US" altLang="zh-CN" b="1" dirty="0"/>
                <a:t>subscript</a:t>
              </a:r>
              <a:r>
                <a:rPr lang="zh-CN" altLang="en-US" b="1" dirty="0"/>
                <a:t>）</a:t>
              </a:r>
            </a:p>
          </p:txBody>
        </p:sp>
      </p:grpSp>
      <p:sp>
        <p:nvSpPr>
          <p:cNvPr id="27" name="矩形 26"/>
          <p:cNvSpPr/>
          <p:nvPr/>
        </p:nvSpPr>
        <p:spPr>
          <a:xfrm>
            <a:off x="918042" y="3905501"/>
            <a:ext cx="315277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&gt;&gt; sub2ind(size(A),1,2)</a:t>
            </a:r>
          </a:p>
          <a:p>
            <a:r>
              <a:rPr lang="zh-CN" altLang="en-US" sz="2400" b="1" dirty="0"/>
              <a:t>ans =</a:t>
            </a:r>
          </a:p>
          <a:p>
            <a:r>
              <a:rPr lang="zh-CN" altLang="en-US" sz="2400" b="1" dirty="0"/>
              <a:t>     4</a:t>
            </a:r>
            <a:endParaRPr lang="en-US" altLang="zh-CN" sz="2400" b="1" dirty="0"/>
          </a:p>
          <a:p>
            <a:r>
              <a:rPr lang="da-DK" altLang="zh-CN" sz="2400" b="1" dirty="0"/>
              <a:t>&gt;&gt; sub2ind([3,3],3,2)</a:t>
            </a:r>
          </a:p>
          <a:p>
            <a:r>
              <a:rPr lang="da-DK" altLang="zh-CN" sz="2400" b="1" dirty="0"/>
              <a:t>ans =</a:t>
            </a:r>
          </a:p>
          <a:p>
            <a:r>
              <a:rPr lang="da-DK" altLang="zh-CN" sz="2400" b="1" dirty="0"/>
              <a:t>     6</a:t>
            </a:r>
            <a:endParaRPr lang="zh-CN" altLang="en-US" sz="2400" b="1" dirty="0"/>
          </a:p>
        </p:txBody>
      </p:sp>
      <p:sp>
        <p:nvSpPr>
          <p:cNvPr id="28" name="Rectangle 1"/>
          <p:cNvSpPr>
            <a:spLocks noChangeArrowheads="1"/>
          </p:cNvSpPr>
          <p:nvPr/>
        </p:nvSpPr>
        <p:spPr bwMode="auto">
          <a:xfrm>
            <a:off x="914981" y="3021477"/>
            <a:ext cx="5455340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b="1" dirty="0">
                <a:solidFill>
                  <a:srgbClr val="404040"/>
                </a:solidFill>
                <a:latin typeface="Arial Unicode MS" panose="020B0604020202020204" pitchFamily="34" charset="-122"/>
                <a:ea typeface="Menlo"/>
              </a:rPr>
              <a:t>函数语法：</a:t>
            </a:r>
            <a:endParaRPr kumimoji="0" lang="en-US" altLang="zh-CN" sz="2000" b="1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 Unicode MS" panose="020B0604020202020204" pitchFamily="34" charset="-122"/>
                <a:ea typeface="Menlo"/>
              </a:rPr>
              <a:t>linearInd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Menlo"/>
              </a:rPr>
              <a:t> = sub2ind(</a:t>
            </a:r>
            <a:r>
              <a:rPr kumimoji="0" lang="zh-CN" altLang="zh-CN" sz="2000" b="1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 Unicode MS" panose="020B0604020202020204" pitchFamily="34" charset="-122"/>
                <a:ea typeface="Menlo"/>
              </a:rPr>
              <a:t>matrixSize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Menlo"/>
              </a:rPr>
              <a:t>, </a:t>
            </a:r>
            <a:r>
              <a:rPr kumimoji="0" lang="zh-CN" altLang="zh-CN" sz="2000" b="1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 Unicode MS" panose="020B0604020202020204" pitchFamily="34" charset="-122"/>
                <a:ea typeface="Menlo"/>
              </a:rPr>
              <a:t>rowSub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Menlo"/>
              </a:rPr>
              <a:t>, </a:t>
            </a:r>
            <a:r>
              <a:rPr kumimoji="0" lang="zh-CN" altLang="zh-CN" sz="2000" b="1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 Unicode MS" panose="020B0604020202020204" pitchFamily="34" charset="-122"/>
                <a:ea typeface="Menlo"/>
              </a:rPr>
              <a:t>colSub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Menlo"/>
              </a:rPr>
              <a:t>)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921356" y="3006937"/>
            <a:ext cx="2589170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404040"/>
                </a:solidFill>
                <a:latin typeface="Menlo"/>
              </a:rPr>
              <a:t>函数语法</a:t>
            </a:r>
            <a:endParaRPr lang="en-US" altLang="zh-CN" sz="2000" b="1" dirty="0">
              <a:solidFill>
                <a:srgbClr val="404040"/>
              </a:solidFill>
              <a:latin typeface="Menl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i="1" dirty="0">
                <a:solidFill>
                  <a:srgbClr val="404040"/>
                </a:solidFill>
                <a:latin typeface="Arial Unicode MS" panose="020B0604020202020204" pitchFamily="34" charset="-122"/>
                <a:ea typeface="Menlo"/>
              </a:rPr>
              <a:t>[I,J] = ind2sub(</a:t>
            </a:r>
            <a:r>
              <a:rPr lang="en-US" altLang="zh-CN" b="1" i="1" dirty="0" err="1">
                <a:solidFill>
                  <a:srgbClr val="404040"/>
                </a:solidFill>
                <a:latin typeface="Arial Unicode MS" panose="020B0604020202020204" pitchFamily="34" charset="-122"/>
                <a:ea typeface="Menlo"/>
              </a:rPr>
              <a:t>siz</a:t>
            </a:r>
            <a:r>
              <a:rPr lang="en-US" altLang="zh-CN" b="1" i="1" dirty="0">
                <a:solidFill>
                  <a:srgbClr val="404040"/>
                </a:solidFill>
                <a:latin typeface="Arial Unicode MS" panose="020B0604020202020204" pitchFamily="34" charset="-122"/>
                <a:ea typeface="Menlo"/>
              </a:rPr>
              <a:t>, IND)</a:t>
            </a:r>
            <a:endParaRPr lang="zh-CN" altLang="en-US" b="1" i="1" dirty="0">
              <a:solidFill>
                <a:srgbClr val="404040"/>
              </a:solidFill>
              <a:latin typeface="Arial Unicode MS" panose="020B0604020202020204" pitchFamily="34" charset="-122"/>
              <a:ea typeface="Menlo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893609" y="3905501"/>
            <a:ext cx="461580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&gt;&gt; [r,c]=ind2sub(size(A),4)</a:t>
            </a:r>
          </a:p>
          <a:p>
            <a:r>
              <a:rPr lang="zh-CN" altLang="en-US" sz="2400" b="1" dirty="0"/>
              <a:t>r =     1</a:t>
            </a:r>
          </a:p>
          <a:p>
            <a:r>
              <a:rPr lang="zh-CN" altLang="en-US" sz="2400" b="1" dirty="0"/>
              <a:t>c =     2</a:t>
            </a:r>
          </a:p>
          <a:p>
            <a:r>
              <a:rPr lang="zh-CN" altLang="en-US" sz="2400" b="1" dirty="0"/>
              <a:t>&gt;&gt; [r,c]=ind2sub([3,3],6)</a:t>
            </a:r>
          </a:p>
          <a:p>
            <a:r>
              <a:rPr lang="zh-CN" altLang="en-US" sz="2400" b="1" dirty="0"/>
              <a:t>r =     3</a:t>
            </a:r>
          </a:p>
          <a:p>
            <a:r>
              <a:rPr lang="zh-CN" altLang="en-US" sz="2400" b="1" dirty="0"/>
              <a:t>c =     2</a:t>
            </a:r>
          </a:p>
        </p:txBody>
      </p:sp>
    </p:spTree>
    <p:extLst>
      <p:ext uri="{BB962C8B-B14F-4D97-AF65-F5344CB8AC3E}">
        <p14:creationId xmlns:p14="http://schemas.microsoft.com/office/powerpoint/2010/main" val="268292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150" y="203200"/>
            <a:ext cx="8972550" cy="511175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5.2 </a:t>
            </a:r>
            <a:r>
              <a:rPr lang="zh-CN" altLang="zh-CN" sz="3600" dirty="0"/>
              <a:t>批量元素的索引提取</a:t>
            </a:r>
            <a:r>
              <a:rPr lang="zh-CN" altLang="en-US" sz="3600" dirty="0"/>
              <a:t>（</a:t>
            </a:r>
            <a:r>
              <a:rPr lang="en-US" altLang="zh-CN" sz="3600" dirty="0"/>
              <a:t> Multiple Indices </a:t>
            </a:r>
            <a:r>
              <a:rPr lang="zh-CN" altLang="en-US" sz="3600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492250"/>
            <a:ext cx="10515600" cy="993775"/>
          </a:xfrm>
        </p:spPr>
        <p:txBody>
          <a:bodyPr/>
          <a:lstStyle/>
          <a:p>
            <a:r>
              <a:rPr lang="zh-CN" altLang="en-US" dirty="0"/>
              <a:t>对于一行或一列：可以一次性读取该行</a:t>
            </a:r>
            <a:r>
              <a:rPr lang="en-US" altLang="zh-CN" dirty="0"/>
              <a:t>/</a:t>
            </a:r>
            <a:r>
              <a:rPr lang="zh-CN" altLang="en-US" dirty="0"/>
              <a:t>该列上的多个元素；</a:t>
            </a:r>
            <a:endParaRPr lang="en-US" altLang="zh-CN" dirty="0"/>
          </a:p>
          <a:p>
            <a:r>
              <a:rPr lang="zh-CN" altLang="en-US" dirty="0"/>
              <a:t>对于一个矩阵：可以一次性读取多行</a:t>
            </a:r>
            <a:r>
              <a:rPr lang="en-US" altLang="zh-CN" dirty="0"/>
              <a:t>/</a:t>
            </a:r>
            <a:r>
              <a:rPr lang="zh-CN" altLang="en-US" dirty="0"/>
              <a:t>多列上的元素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100345" y="3054578"/>
            <a:ext cx="4801314" cy="2172136"/>
            <a:chOff x="2100345" y="3054578"/>
            <a:chExt cx="4801314" cy="2172136"/>
          </a:xfrm>
        </p:grpSpPr>
        <p:sp>
          <p:nvSpPr>
            <p:cNvPr id="5" name="矩形 4"/>
            <p:cNvSpPr/>
            <p:nvPr/>
          </p:nvSpPr>
          <p:spPr>
            <a:xfrm>
              <a:off x="2100345" y="4272607"/>
              <a:ext cx="4801314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/>
                <a:t>行列索引</a:t>
              </a:r>
              <a:endParaRPr lang="en-US" altLang="zh-CN" sz="2800" dirty="0"/>
            </a:p>
            <a:p>
              <a:r>
                <a:rPr lang="zh-CN" altLang="en-US" sz="2800" b="1" dirty="0"/>
                <a:t>&gt;&gt; VariableName(row, column)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2100345" y="3054578"/>
              <a:ext cx="3777188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/>
                <a:t>线性索引</a:t>
              </a:r>
              <a:endParaRPr lang="en-US" altLang="zh-CN" sz="2800" dirty="0"/>
            </a:p>
            <a:p>
              <a:r>
                <a:rPr lang="zh-CN" altLang="en-US" sz="2800" b="1" dirty="0"/>
                <a:t>&gt;&gt; VariableName(index)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514850" y="2863790"/>
            <a:ext cx="1475084" cy="755710"/>
            <a:chOff x="4514850" y="2863790"/>
            <a:chExt cx="1475084" cy="755710"/>
          </a:xfrm>
        </p:grpSpPr>
        <p:sp>
          <p:nvSpPr>
            <p:cNvPr id="7" name="文本框 6"/>
            <p:cNvSpPr txBox="1"/>
            <p:nvPr/>
          </p:nvSpPr>
          <p:spPr>
            <a:xfrm>
              <a:off x="4514850" y="2863790"/>
              <a:ext cx="14750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可以是向量</a:t>
              </a:r>
            </a:p>
          </p:txBody>
        </p:sp>
        <p:sp>
          <p:nvSpPr>
            <p:cNvPr id="8" name="下箭头 7"/>
            <p:cNvSpPr/>
            <p:nvPr/>
          </p:nvSpPr>
          <p:spPr>
            <a:xfrm>
              <a:off x="5143499" y="3190875"/>
              <a:ext cx="257175" cy="428625"/>
            </a:xfrm>
            <a:prstGeom prst="down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907630" y="5074893"/>
            <a:ext cx="1546225" cy="1035299"/>
            <a:chOff x="4907630" y="5074893"/>
            <a:chExt cx="1546225" cy="1035299"/>
          </a:xfrm>
        </p:grpSpPr>
        <p:sp>
          <p:nvSpPr>
            <p:cNvPr id="9" name="文本框 8"/>
            <p:cNvSpPr txBox="1"/>
            <p:nvPr/>
          </p:nvSpPr>
          <p:spPr>
            <a:xfrm>
              <a:off x="4978771" y="5710082"/>
              <a:ext cx="14750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可以是向量</a:t>
              </a:r>
            </a:p>
          </p:txBody>
        </p:sp>
        <p:sp>
          <p:nvSpPr>
            <p:cNvPr id="10" name="左箭头 9"/>
            <p:cNvSpPr/>
            <p:nvPr/>
          </p:nvSpPr>
          <p:spPr>
            <a:xfrm rot="2472285">
              <a:off x="4907630" y="5314271"/>
              <a:ext cx="676274" cy="197519"/>
            </a:xfrm>
            <a:prstGeom prst="lef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左箭头 10"/>
            <p:cNvSpPr/>
            <p:nvPr/>
          </p:nvSpPr>
          <p:spPr>
            <a:xfrm rot="7480944">
              <a:off x="5651797" y="5314270"/>
              <a:ext cx="676274" cy="197519"/>
            </a:xfrm>
            <a:prstGeom prst="lef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630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6750" y="231775"/>
            <a:ext cx="10515600" cy="47307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5.2.a </a:t>
            </a:r>
            <a:r>
              <a:rPr lang="zh-CN" altLang="en-US" dirty="0"/>
              <a:t>向量的批量索引</a:t>
            </a:r>
            <a:r>
              <a:rPr lang="en-US" altLang="zh-CN" dirty="0">
                <a:sym typeface="Wingdings" panose="05000000000000000000" pitchFamily="2" charset="2"/>
              </a:rPr>
              <a:t>A(vector)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563221"/>
              </p:ext>
            </p:extLst>
          </p:nvPr>
        </p:nvGraphicFramePr>
        <p:xfrm>
          <a:off x="593725" y="948266"/>
          <a:ext cx="11360151" cy="55219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113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3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3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命令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&gt;&gt; A=1:10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altLang="zh-CN" sz="2000" b="1" dirty="0"/>
                        <a:t>A =</a:t>
                      </a:r>
                      <a:r>
                        <a:rPr lang="pt-BR" altLang="zh-CN" sz="2000" b="1" baseline="0" dirty="0"/>
                        <a:t>  </a:t>
                      </a:r>
                      <a:r>
                        <a:rPr lang="pt-BR" altLang="zh-CN" sz="2000" b="1" dirty="0"/>
                        <a:t>1     2     3     4     5     6     7     8     9    10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&gt;&gt; A(2)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2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&gt;&gt; A(end)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10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&gt;&gt; A(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[1 5 6]</a:t>
                      </a:r>
                      <a:r>
                        <a:rPr lang="en-US" altLang="zh-CN" sz="2000" b="1" dirty="0"/>
                        <a:t>)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1     5     6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[ ]</a:t>
                      </a:r>
                      <a:r>
                        <a:rPr lang="zh-CN" altLang="en-US" b="1" dirty="0"/>
                        <a:t>不能少，</a:t>
                      </a:r>
                      <a:r>
                        <a:rPr lang="en-US" altLang="zh-CN" b="1" dirty="0"/>
                        <a:t>A(1 5 6)</a:t>
                      </a:r>
                      <a:r>
                        <a:rPr lang="zh-CN" altLang="en-US" b="1" dirty="0"/>
                        <a:t>是错误的索引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&gt;&gt; A(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1:2:10</a:t>
                      </a:r>
                      <a:r>
                        <a:rPr lang="en-US" altLang="zh-CN" sz="2000" b="1" dirty="0"/>
                        <a:t>)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1     3     5     7     9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奇数位上的元素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&gt;&gt; A(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2:2:10</a:t>
                      </a:r>
                      <a:r>
                        <a:rPr lang="en-US" altLang="zh-CN" sz="2000" b="1" dirty="0"/>
                        <a:t>)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2     4     6     8    10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偶数位上的元素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&gt;&gt; A(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6:end</a:t>
                      </a:r>
                      <a:r>
                        <a:rPr lang="en-US" altLang="zh-CN" sz="2000" b="1" dirty="0"/>
                        <a:t>)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6     7     8     9    10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6~</a:t>
                      </a:r>
                      <a:r>
                        <a:rPr lang="zh-CN" altLang="en-US" b="1" dirty="0"/>
                        <a:t>最后位之间的元素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&gt;&gt; A(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1:2:end</a:t>
                      </a:r>
                      <a:r>
                        <a:rPr lang="en-US" altLang="zh-CN" sz="2000" b="1" dirty="0"/>
                        <a:t>)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1     3     5     7     9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&gt;&gt; A(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6:end-1</a:t>
                      </a:r>
                      <a:r>
                        <a:rPr lang="en-US" altLang="zh-CN" sz="2000" b="1" dirty="0"/>
                        <a:t>)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6     7     8     9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&gt;&gt; A(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end:-1:1</a:t>
                      </a:r>
                      <a:r>
                        <a:rPr lang="en-US" altLang="zh-CN" sz="2000" b="1" dirty="0"/>
                        <a:t>)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10     9     8     7     6     5     4     3     2     1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将整个行向量颠倒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&gt;&gt; A(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[6:end 1:5]</a:t>
                      </a:r>
                      <a:r>
                        <a:rPr lang="en-US" altLang="zh-CN" sz="2000" b="1" dirty="0"/>
                        <a:t>)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6     7     8     9    10     1     2     3     4     5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将向量的前半段和后半段交换</a:t>
                      </a:r>
                      <a:endParaRPr lang="en-US" altLang="zh-CN" b="1" dirty="0"/>
                    </a:p>
                    <a:p>
                      <a:r>
                        <a:rPr lang="zh-CN" altLang="en-US" b="1" dirty="0"/>
                        <a:t>注：</a:t>
                      </a:r>
                      <a:r>
                        <a:rPr lang="en-US" altLang="zh-CN" b="1" dirty="0"/>
                        <a:t>[6:end 1:5]</a:t>
                      </a:r>
                      <a:r>
                        <a:rPr lang="zh-CN" altLang="en-US" b="1" dirty="0"/>
                        <a:t>是将</a:t>
                      </a:r>
                      <a:r>
                        <a:rPr lang="en-US" altLang="zh-CN" b="1" dirty="0"/>
                        <a:t>6:10</a:t>
                      </a:r>
                      <a:r>
                        <a:rPr lang="zh-CN" altLang="en-US" b="1" dirty="0"/>
                        <a:t>和</a:t>
                      </a:r>
                      <a:r>
                        <a:rPr lang="en-US" altLang="zh-CN" b="1" dirty="0"/>
                        <a:t>1:5</a:t>
                      </a:r>
                      <a:r>
                        <a:rPr lang="zh-CN" altLang="en-US" b="1" dirty="0"/>
                        <a:t>这</a:t>
                      </a:r>
                      <a:r>
                        <a:rPr lang="en-US" altLang="zh-CN" b="1" dirty="0"/>
                        <a:t>2</a:t>
                      </a:r>
                      <a:r>
                        <a:rPr lang="zh-CN" altLang="en-US" b="1" dirty="0"/>
                        <a:t>个向量合并在一起得到一个大的向量。后面会专门讲解如何合并矩阵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2386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5.2.b </a:t>
            </a:r>
            <a:r>
              <a:rPr lang="zh-CN" altLang="en-US" dirty="0"/>
              <a:t>矩阵的批量索引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395495" y="2216378"/>
            <a:ext cx="7782836" cy="2172136"/>
            <a:chOff x="2100345" y="3054578"/>
            <a:chExt cx="7782836" cy="2172136"/>
          </a:xfrm>
        </p:grpSpPr>
        <p:sp>
          <p:nvSpPr>
            <p:cNvPr id="6" name="矩形 5"/>
            <p:cNvSpPr/>
            <p:nvPr/>
          </p:nvSpPr>
          <p:spPr>
            <a:xfrm>
              <a:off x="2100345" y="4272607"/>
              <a:ext cx="7782836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/>
                <a:t>行列索引</a:t>
              </a:r>
              <a:endParaRPr lang="en-US" altLang="zh-CN" sz="2800" dirty="0"/>
            </a:p>
            <a:p>
              <a:r>
                <a:rPr lang="zh-CN" altLang="en-US" sz="2800" b="1" dirty="0"/>
                <a:t>&gt;&gt; </a:t>
              </a:r>
              <a:r>
                <a:rPr lang="en-US" altLang="zh-CN" sz="2800" b="1" dirty="0"/>
                <a:t>matrix</a:t>
              </a:r>
              <a:r>
                <a:rPr lang="zh-CN" altLang="en-US" sz="2800" b="1" dirty="0"/>
                <a:t>VariableName(</a:t>
              </a:r>
              <a:r>
                <a:rPr lang="en-US" altLang="zh-CN" sz="2800" b="1" dirty="0"/>
                <a:t>vector index</a:t>
              </a:r>
              <a:r>
                <a:rPr lang="zh-CN" altLang="en-US" sz="2800" b="1" dirty="0"/>
                <a:t>, </a:t>
              </a:r>
              <a:r>
                <a:rPr lang="en-US" altLang="zh-CN" sz="2800" b="1" dirty="0"/>
                <a:t>vector index</a:t>
              </a:r>
              <a:r>
                <a:rPr lang="zh-CN" altLang="en-US" sz="2800" b="1" dirty="0"/>
                <a:t>)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2100345" y="3054578"/>
              <a:ext cx="5772349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/>
                <a:t>线性索引</a:t>
              </a:r>
              <a:endParaRPr lang="en-US" altLang="zh-CN" sz="2800" dirty="0"/>
            </a:p>
            <a:p>
              <a:r>
                <a:rPr lang="zh-CN" altLang="en-US" sz="2800" b="1" dirty="0"/>
                <a:t>&gt;&gt; </a:t>
              </a:r>
              <a:r>
                <a:rPr lang="en-US" altLang="zh-CN" sz="2800" b="1" dirty="0"/>
                <a:t>matrix</a:t>
              </a:r>
              <a:r>
                <a:rPr lang="zh-CN" altLang="en-US" sz="2800" b="1" dirty="0"/>
                <a:t>VariableName(</a:t>
              </a:r>
              <a:r>
                <a:rPr lang="en-US" altLang="zh-CN" sz="2800" b="1" dirty="0"/>
                <a:t>vector </a:t>
              </a:r>
              <a:r>
                <a:rPr lang="zh-CN" altLang="en-US" sz="2800" b="1" dirty="0"/>
                <a:t>index)</a:t>
              </a:r>
            </a:p>
          </p:txBody>
        </p:sp>
      </p:grpSp>
      <p:sp>
        <p:nvSpPr>
          <p:cNvPr id="15" name="矩形 14"/>
          <p:cNvSpPr/>
          <p:nvPr/>
        </p:nvSpPr>
        <p:spPr>
          <a:xfrm>
            <a:off x="1395495" y="4652436"/>
            <a:ext cx="85379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把向量当做索引号，实现批量（多元素）索引访问矩阵的元素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464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533" y="559662"/>
            <a:ext cx="9571379" cy="580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275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821" y="197305"/>
            <a:ext cx="9568494" cy="49747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004" y="5477010"/>
            <a:ext cx="6483281" cy="48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4014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493870"/>
              </p:ext>
            </p:extLst>
          </p:nvPr>
        </p:nvGraphicFramePr>
        <p:xfrm>
          <a:off x="696490" y="1243671"/>
          <a:ext cx="10981160" cy="42976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246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2400" b="1" dirty="0">
                          <a:effectLst/>
                        </a:rPr>
                        <a:t>A( i , j )</a:t>
                      </a:r>
                      <a:endParaRPr lang="en-US" sz="2400" b="1" dirty="0">
                        <a:effectLst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800" b="0" dirty="0">
                          <a:effectLst/>
                        </a:rPr>
                        <a:t>第</a:t>
                      </a:r>
                      <a:r>
                        <a:rPr lang="en-US" sz="2800" b="0" dirty="0">
                          <a:effectLst/>
                        </a:rPr>
                        <a:t>i</a:t>
                      </a:r>
                      <a:r>
                        <a:rPr lang="zh-CN" altLang="en-US" sz="2800" b="0" dirty="0">
                          <a:effectLst/>
                        </a:rPr>
                        <a:t>行、第</a:t>
                      </a:r>
                      <a:r>
                        <a:rPr lang="en-US" sz="2800" b="0" dirty="0">
                          <a:effectLst/>
                        </a:rPr>
                        <a:t>j</a:t>
                      </a:r>
                      <a:r>
                        <a:rPr lang="zh-CN" altLang="en-US" sz="2800" b="0" dirty="0">
                          <a:effectLst/>
                        </a:rPr>
                        <a:t>列的元素。（单元素索引）</a:t>
                      </a:r>
                      <a:endParaRPr lang="en-US" sz="2800" b="0" dirty="0">
                        <a:effectLst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>
                          <a:effectLst/>
                        </a:rPr>
                        <a:t>A( : , j )</a:t>
                      </a: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800" b="0" dirty="0">
                          <a:effectLst/>
                        </a:rPr>
                        <a:t>第</a:t>
                      </a:r>
                      <a:r>
                        <a:rPr lang="en-US" altLang="zh-CN" sz="2800" b="0" dirty="0">
                          <a:effectLst/>
                        </a:rPr>
                        <a:t>j</a:t>
                      </a:r>
                      <a:r>
                        <a:rPr lang="zh-CN" altLang="en-US" sz="2800" b="0" dirty="0">
                          <a:effectLst/>
                        </a:rPr>
                        <a:t>列的全部元素</a:t>
                      </a:r>
                      <a:endParaRPr lang="en-US" sz="2800" b="0" dirty="0">
                        <a:effectLst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>
                          <a:effectLst/>
                        </a:rPr>
                        <a:t>A( i , : )</a:t>
                      </a: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800" b="0" dirty="0">
                          <a:effectLst/>
                        </a:rPr>
                        <a:t>第</a:t>
                      </a:r>
                      <a:r>
                        <a:rPr lang="en-US" altLang="zh-CN" sz="2800" b="0" dirty="0">
                          <a:effectLst/>
                        </a:rPr>
                        <a:t>i</a:t>
                      </a:r>
                      <a:r>
                        <a:rPr lang="zh-CN" altLang="en-US" sz="2800" b="0" dirty="0">
                          <a:effectLst/>
                        </a:rPr>
                        <a:t>行的全部元素</a:t>
                      </a:r>
                      <a:endParaRPr lang="en-US" sz="2800" b="0" dirty="0">
                        <a:effectLst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>
                          <a:effectLst/>
                        </a:rPr>
                        <a:t>A( : , j:k )</a:t>
                      </a: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800" b="0" dirty="0">
                          <a:effectLst/>
                        </a:rPr>
                        <a:t>第</a:t>
                      </a:r>
                      <a:r>
                        <a:rPr lang="en-US" altLang="zh-CN" sz="2800" b="0" dirty="0">
                          <a:effectLst/>
                        </a:rPr>
                        <a:t>j~k</a:t>
                      </a:r>
                      <a:r>
                        <a:rPr lang="zh-CN" altLang="en-US" sz="2800" b="0" dirty="0">
                          <a:effectLst/>
                        </a:rPr>
                        <a:t>列的所有元素。即：</a:t>
                      </a:r>
                      <a:r>
                        <a:rPr lang="en-US" sz="2800" b="0" dirty="0">
                          <a:effectLst/>
                        </a:rPr>
                        <a:t> A(:,j), A(:,j+1),...,A(:,k)</a:t>
                      </a: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>
                          <a:effectLst/>
                        </a:rPr>
                        <a:t>A( j:k ,</a:t>
                      </a:r>
                      <a:r>
                        <a:rPr lang="en-US" altLang="zh-CN" sz="2400" b="1" dirty="0">
                          <a:effectLst/>
                        </a:rPr>
                        <a:t> : </a:t>
                      </a:r>
                      <a:r>
                        <a:rPr lang="en-US" sz="2400" b="1" dirty="0">
                          <a:effectLst/>
                        </a:rPr>
                        <a:t>)</a:t>
                      </a: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800" b="0" dirty="0">
                          <a:effectLst/>
                        </a:rPr>
                        <a:t>第</a:t>
                      </a:r>
                      <a:r>
                        <a:rPr lang="en-US" altLang="zh-CN" sz="2800" b="0" dirty="0">
                          <a:effectLst/>
                        </a:rPr>
                        <a:t>j~k</a:t>
                      </a:r>
                      <a:r>
                        <a:rPr lang="zh-CN" altLang="en-US" sz="2800" b="0" dirty="0">
                          <a:effectLst/>
                        </a:rPr>
                        <a:t>行的所有元素。即：</a:t>
                      </a:r>
                      <a:r>
                        <a:rPr lang="en-US" sz="2800" b="0" dirty="0">
                          <a:effectLst/>
                        </a:rPr>
                        <a:t> A(j,:), A(j+1,:),...,A(k,:)</a:t>
                      </a: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>
                          <a:effectLst/>
                        </a:rPr>
                        <a:t>A( : , : )</a:t>
                      </a: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800" b="0" dirty="0">
                          <a:effectLst/>
                        </a:rPr>
                        <a:t>所有行、所有列的全部元素。也就是矩阵</a:t>
                      </a:r>
                      <a:r>
                        <a:rPr lang="en-US" altLang="zh-CN" sz="2800" b="0" dirty="0">
                          <a:effectLst/>
                        </a:rPr>
                        <a:t>A</a:t>
                      </a:r>
                      <a:r>
                        <a:rPr lang="zh-CN" altLang="en-US" sz="2800" b="0" dirty="0">
                          <a:effectLst/>
                        </a:rPr>
                        <a:t>本身的所有元素</a:t>
                      </a:r>
                      <a:endParaRPr lang="en-US" sz="2800" b="0" dirty="0">
                        <a:effectLst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>
                          <a:effectLst/>
                        </a:rPr>
                        <a:t>A( j:k )</a:t>
                      </a: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800" b="0" dirty="0">
                          <a:effectLst/>
                        </a:rPr>
                        <a:t>A(j), A(j+1),...,A(k).</a:t>
                      </a:r>
                      <a:r>
                        <a:rPr lang="zh-CN" altLang="en-US" sz="2800" b="0" dirty="0">
                          <a:effectLst/>
                        </a:rPr>
                        <a:t>（线性索引方式下的批量提取）</a:t>
                      </a:r>
                      <a:endParaRPr lang="en-US" sz="2800" b="0" dirty="0">
                        <a:effectLst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>
                          <a:effectLst/>
                        </a:rPr>
                        <a:t>A( : )</a:t>
                      </a: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800" b="0" dirty="0">
                          <a:effectLst/>
                        </a:rPr>
                        <a:t>得到一个</a:t>
                      </a:r>
                      <a:r>
                        <a:rPr lang="zh-CN" altLang="en-US" sz="2800" b="1" dirty="0">
                          <a:solidFill>
                            <a:srgbClr val="FF0000"/>
                          </a:solidFill>
                          <a:effectLst/>
                        </a:rPr>
                        <a:t>列向量</a:t>
                      </a:r>
                      <a:r>
                        <a:rPr lang="zh-CN" altLang="en-US" sz="2800" b="0" dirty="0">
                          <a:effectLst/>
                        </a:rPr>
                        <a:t>，该向量的元素是</a:t>
                      </a:r>
                      <a:r>
                        <a:rPr lang="en-US" altLang="zh-CN" sz="2800" b="0" dirty="0">
                          <a:effectLst/>
                        </a:rPr>
                        <a:t>A</a:t>
                      </a:r>
                      <a:r>
                        <a:rPr lang="zh-CN" altLang="en-US" sz="2800" b="0" dirty="0">
                          <a:effectLst/>
                        </a:rPr>
                        <a:t>矩阵的所有的列合并在一起后的元素</a:t>
                      </a:r>
                      <a:endParaRPr lang="en-US" sz="2800" b="0" dirty="0">
                        <a:effectLst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96490" y="405884"/>
            <a:ext cx="41520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矩阵批量索引的多种方式</a:t>
            </a:r>
          </a:p>
        </p:txBody>
      </p:sp>
    </p:spTree>
    <p:extLst>
      <p:ext uri="{BB962C8B-B14F-4D97-AF65-F5344CB8AC3E}">
        <p14:creationId xmlns:p14="http://schemas.microsoft.com/office/powerpoint/2010/main" val="3720442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439" y="752746"/>
            <a:ext cx="8453496" cy="498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731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38" y="717725"/>
            <a:ext cx="3960087" cy="48810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760" y="1389238"/>
            <a:ext cx="4073097" cy="323038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919992" y="138923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8105775" y="2335249"/>
            <a:ext cx="2697592" cy="523220"/>
            <a:chOff x="8105775" y="2097124"/>
            <a:chExt cx="2697592" cy="523220"/>
          </a:xfrm>
        </p:grpSpPr>
        <p:sp>
          <p:nvSpPr>
            <p:cNvPr id="2" name="矩形 1"/>
            <p:cNvSpPr/>
            <p:nvPr/>
          </p:nvSpPr>
          <p:spPr>
            <a:xfrm>
              <a:off x="9142335" y="2097124"/>
              <a:ext cx="166103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-1     8     3</a:t>
              </a:r>
            </a:p>
          </p:txBody>
        </p:sp>
        <p:sp>
          <p:nvSpPr>
            <p:cNvPr id="22" name="右箭头 21"/>
            <p:cNvSpPr/>
            <p:nvPr/>
          </p:nvSpPr>
          <p:spPr>
            <a:xfrm>
              <a:off x="8105775" y="2257425"/>
              <a:ext cx="918276" cy="22860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119176" y="2976825"/>
            <a:ext cx="1501074" cy="954107"/>
            <a:chOff x="8119176" y="2976825"/>
            <a:chExt cx="1501074" cy="954107"/>
          </a:xfrm>
        </p:grpSpPr>
        <p:sp>
          <p:nvSpPr>
            <p:cNvPr id="3" name="矩形 2"/>
            <p:cNvSpPr/>
            <p:nvPr/>
          </p:nvSpPr>
          <p:spPr>
            <a:xfrm>
              <a:off x="9296400" y="2976825"/>
              <a:ext cx="323850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3</a:t>
              </a:r>
              <a:endParaRPr lang="en-US" altLang="zh-CN" sz="2800" b="1" dirty="0">
                <a:solidFill>
                  <a:srgbClr val="FF0000"/>
                </a:solidFill>
              </a:endParaRPr>
            </a:p>
            <a:p>
              <a:r>
                <a:rPr lang="zh-CN" altLang="en-US" sz="28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" name="右箭头 23"/>
            <p:cNvSpPr/>
            <p:nvPr/>
          </p:nvSpPr>
          <p:spPr>
            <a:xfrm>
              <a:off x="8119176" y="3328987"/>
              <a:ext cx="918276" cy="22860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375018" y="4457700"/>
            <a:ext cx="4485202" cy="997594"/>
            <a:chOff x="5375018" y="4457700"/>
            <a:chExt cx="4485202" cy="997594"/>
          </a:xfrm>
        </p:grpSpPr>
        <p:sp>
          <p:nvSpPr>
            <p:cNvPr id="10" name="矩形 9"/>
            <p:cNvSpPr/>
            <p:nvPr/>
          </p:nvSpPr>
          <p:spPr>
            <a:xfrm>
              <a:off x="5375018" y="4993629"/>
              <a:ext cx="448520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</a:rPr>
                <a:t>Index exceeds matrix dimensions.</a:t>
              </a:r>
            </a:p>
          </p:txBody>
        </p:sp>
        <p:sp>
          <p:nvSpPr>
            <p:cNvPr id="26" name="下箭头 25"/>
            <p:cNvSpPr/>
            <p:nvPr/>
          </p:nvSpPr>
          <p:spPr>
            <a:xfrm>
              <a:off x="6496050" y="4457700"/>
              <a:ext cx="285750" cy="535929"/>
            </a:xfrm>
            <a:prstGeom prst="down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191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41" y="903243"/>
            <a:ext cx="4515759" cy="375448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016" y="1028429"/>
            <a:ext cx="2271633" cy="362783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653614" y="3957018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✔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7951131" y="1255668"/>
            <a:ext cx="2851392" cy="523220"/>
            <a:chOff x="7951131" y="1255668"/>
            <a:chExt cx="2851392" cy="523220"/>
          </a:xfrm>
        </p:grpSpPr>
        <p:sp>
          <p:nvSpPr>
            <p:cNvPr id="15" name="矩形 14"/>
            <p:cNvSpPr/>
            <p:nvPr/>
          </p:nvSpPr>
          <p:spPr>
            <a:xfrm>
              <a:off x="8545174" y="1255668"/>
              <a:ext cx="225734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zh-CN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&gt;&gt; A([1 2 3],3)</a:t>
              </a:r>
              <a:endPara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右箭头 17"/>
            <p:cNvSpPr/>
            <p:nvPr/>
          </p:nvSpPr>
          <p:spPr>
            <a:xfrm>
              <a:off x="7951131" y="1393453"/>
              <a:ext cx="594043" cy="235322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951130" y="2226486"/>
            <a:ext cx="2937119" cy="965188"/>
            <a:chOff x="7951130" y="2226486"/>
            <a:chExt cx="2937119" cy="965188"/>
          </a:xfrm>
        </p:grpSpPr>
        <p:sp>
          <p:nvSpPr>
            <p:cNvPr id="14" name="矩形 13"/>
            <p:cNvSpPr/>
            <p:nvPr/>
          </p:nvSpPr>
          <p:spPr>
            <a:xfrm>
              <a:off x="8630900" y="2226486"/>
              <a:ext cx="178606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&gt;&gt; A(1:3,3)</a:t>
              </a:r>
              <a:endPara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8630900" y="2668454"/>
              <a:ext cx="225734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&gt;&gt; A([1 2 3],3)</a:t>
              </a:r>
            </a:p>
          </p:txBody>
        </p:sp>
        <p:sp>
          <p:nvSpPr>
            <p:cNvPr id="19" name="右箭头 18"/>
            <p:cNvSpPr/>
            <p:nvPr/>
          </p:nvSpPr>
          <p:spPr>
            <a:xfrm>
              <a:off x="7951130" y="2632045"/>
              <a:ext cx="594043" cy="235322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951130" y="3372032"/>
            <a:ext cx="2532511" cy="523220"/>
            <a:chOff x="7951130" y="3372032"/>
            <a:chExt cx="2532511" cy="523220"/>
          </a:xfrm>
        </p:grpSpPr>
        <p:sp>
          <p:nvSpPr>
            <p:cNvPr id="17" name="矩形 16"/>
            <p:cNvSpPr/>
            <p:nvPr/>
          </p:nvSpPr>
          <p:spPr>
            <a:xfrm>
              <a:off x="8697575" y="3372032"/>
              <a:ext cx="178606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&gt;&gt; A(3,1:3)</a:t>
              </a:r>
            </a:p>
          </p:txBody>
        </p:sp>
        <p:sp>
          <p:nvSpPr>
            <p:cNvPr id="20" name="右箭头 19"/>
            <p:cNvSpPr/>
            <p:nvPr/>
          </p:nvSpPr>
          <p:spPr>
            <a:xfrm>
              <a:off x="7951130" y="3515981"/>
              <a:ext cx="594043" cy="235322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493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4" y="958066"/>
            <a:ext cx="4653916" cy="47308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133" y="1140990"/>
            <a:ext cx="5522738" cy="43454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439098" y="133239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252209" y="296954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601023" y="204074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949836" y="383799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787911" y="4651935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98471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650" y="739577"/>
            <a:ext cx="4300048" cy="361334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877" y="4608602"/>
            <a:ext cx="3224870" cy="63014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370" y="739577"/>
            <a:ext cx="3565094" cy="414010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007727" y="3839161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rgbClr val="FF0000"/>
                </a:solidFill>
              </a:rPr>
              <a:t>✔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875" y="5238749"/>
            <a:ext cx="582930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24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553075" y="796975"/>
            <a:ext cx="273183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/>
              <a:t>&gt;&gt; </a:t>
            </a:r>
            <a:r>
              <a:rPr lang="en-US" altLang="zh-CN" sz="4000" dirty="0"/>
              <a:t>A</a:t>
            </a:r>
            <a:r>
              <a:rPr lang="zh-CN" altLang="en-US" sz="4000" dirty="0"/>
              <a:t>(1:2:10)</a:t>
            </a:r>
          </a:p>
        </p:txBody>
      </p:sp>
      <p:sp>
        <p:nvSpPr>
          <p:cNvPr id="6" name="矩形 5"/>
          <p:cNvSpPr/>
          <p:nvPr/>
        </p:nvSpPr>
        <p:spPr>
          <a:xfrm>
            <a:off x="1152526" y="665887"/>
            <a:ext cx="398145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rgbClr val="00B0F0"/>
                </a:solidFill>
              </a:rPr>
              <a:t>&gt;&gt; A=magic(4)</a:t>
            </a:r>
          </a:p>
          <a:p>
            <a:r>
              <a:rPr lang="zh-CN" altLang="en-US" sz="4000" dirty="0">
                <a:solidFill>
                  <a:srgbClr val="00B0F0"/>
                </a:solidFill>
              </a:rPr>
              <a:t>A =</a:t>
            </a:r>
          </a:p>
          <a:p>
            <a:r>
              <a:rPr lang="zh-CN" altLang="en-US" sz="4000" dirty="0">
                <a:solidFill>
                  <a:srgbClr val="00B0F0"/>
                </a:solidFill>
              </a:rPr>
              <a:t>    16     2     3    13</a:t>
            </a:r>
          </a:p>
          <a:p>
            <a:r>
              <a:rPr lang="zh-CN" altLang="en-US" sz="4000" dirty="0">
                <a:solidFill>
                  <a:srgbClr val="00B0F0"/>
                </a:solidFill>
              </a:rPr>
              <a:t>     5    11    10     8</a:t>
            </a:r>
          </a:p>
          <a:p>
            <a:r>
              <a:rPr lang="zh-CN" altLang="en-US" sz="4000" dirty="0">
                <a:solidFill>
                  <a:srgbClr val="00B0F0"/>
                </a:solidFill>
              </a:rPr>
              <a:t>     9     7     6    12</a:t>
            </a:r>
          </a:p>
          <a:p>
            <a:r>
              <a:rPr lang="zh-CN" altLang="en-US" sz="4000" dirty="0">
                <a:solidFill>
                  <a:srgbClr val="00B0F0"/>
                </a:solidFill>
              </a:rPr>
              <a:t>     4    14    15     1</a:t>
            </a:r>
          </a:p>
        </p:txBody>
      </p:sp>
      <p:sp>
        <p:nvSpPr>
          <p:cNvPr id="7" name="矩形 6"/>
          <p:cNvSpPr/>
          <p:nvPr/>
        </p:nvSpPr>
        <p:spPr>
          <a:xfrm>
            <a:off x="5553075" y="1504861"/>
            <a:ext cx="5219700" cy="303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lphaUcPeriod"/>
            </a:pPr>
            <a:r>
              <a:rPr lang="en-US" altLang="zh-CN" sz="4400" dirty="0"/>
              <a:t> 16     9     2     7     3 </a:t>
            </a:r>
          </a:p>
          <a:p>
            <a:pPr marL="342900" indent="-342900">
              <a:spcBef>
                <a:spcPts val="600"/>
              </a:spcBef>
              <a:buFont typeface="+mj-lt"/>
              <a:buAutoNum type="alphaUcPeriod"/>
            </a:pPr>
            <a:r>
              <a:rPr lang="zh-CN" altLang="en-US" sz="4400" dirty="0"/>
              <a:t> 16     2     3    13    </a:t>
            </a:r>
            <a:r>
              <a:rPr lang="en-US" altLang="zh-CN" sz="4400" dirty="0"/>
              <a:t>5</a:t>
            </a:r>
            <a:endParaRPr lang="zh-CN" altLang="en-US" sz="4400" dirty="0"/>
          </a:p>
          <a:p>
            <a:pPr marL="342900" indent="-342900">
              <a:spcBef>
                <a:spcPts val="600"/>
              </a:spcBef>
              <a:buFont typeface="+mj-lt"/>
              <a:buAutoNum type="alphaUcPeriod"/>
            </a:pPr>
            <a:r>
              <a:rPr lang="en-US" altLang="zh-CN" sz="4400" dirty="0"/>
              <a:t> 16</a:t>
            </a:r>
            <a:r>
              <a:rPr lang="zh-CN" altLang="en-US" sz="4400" dirty="0"/>
              <a:t>     5     </a:t>
            </a:r>
            <a:r>
              <a:rPr lang="en-US" altLang="zh-CN" sz="4400" dirty="0"/>
              <a:t>9</a:t>
            </a:r>
            <a:r>
              <a:rPr lang="zh-CN" altLang="en-US" sz="4400" dirty="0"/>
              <a:t>     </a:t>
            </a:r>
            <a:r>
              <a:rPr lang="en-US" altLang="zh-CN" sz="4400" dirty="0"/>
              <a:t>4</a:t>
            </a:r>
            <a:r>
              <a:rPr lang="zh-CN" altLang="en-US" sz="4400" dirty="0"/>
              <a:t>     </a:t>
            </a:r>
            <a:r>
              <a:rPr lang="en-US" altLang="zh-CN" sz="4400" dirty="0"/>
              <a:t>2</a:t>
            </a:r>
            <a:endParaRPr lang="zh-CN" altLang="en-US" sz="4400" dirty="0"/>
          </a:p>
          <a:p>
            <a:pPr marL="342900" indent="-342900">
              <a:spcBef>
                <a:spcPts val="600"/>
              </a:spcBef>
              <a:buFont typeface="+mj-lt"/>
              <a:buAutoNum type="alphaUcPeriod"/>
            </a:pPr>
            <a:r>
              <a:rPr lang="zh-CN" altLang="en-US" sz="4400" dirty="0"/>
              <a:t> 出错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553075" y="1760608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358320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8150" y="999262"/>
            <a:ext cx="368617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00B0F0"/>
                </a:solidFill>
              </a:rPr>
              <a:t>&gt;&gt; A=1:9;</a:t>
            </a:r>
          </a:p>
          <a:p>
            <a:r>
              <a:rPr lang="zh-CN" altLang="en-US" sz="3200" dirty="0">
                <a:solidFill>
                  <a:srgbClr val="00B0F0"/>
                </a:solidFill>
              </a:rPr>
              <a:t>&gt;&gt; A=reshape(A,3,3)</a:t>
            </a:r>
          </a:p>
          <a:p>
            <a:r>
              <a:rPr lang="zh-CN" altLang="en-US" sz="3200" dirty="0">
                <a:solidFill>
                  <a:srgbClr val="00B0F0"/>
                </a:solidFill>
              </a:rPr>
              <a:t>A =</a:t>
            </a:r>
          </a:p>
          <a:p>
            <a:r>
              <a:rPr lang="zh-CN" altLang="en-US" sz="3200" dirty="0">
                <a:solidFill>
                  <a:srgbClr val="00B0F0"/>
                </a:solidFill>
              </a:rPr>
              <a:t>     1     4     7</a:t>
            </a:r>
          </a:p>
          <a:p>
            <a:r>
              <a:rPr lang="zh-CN" altLang="en-US" sz="3200" dirty="0">
                <a:solidFill>
                  <a:srgbClr val="00B0F0"/>
                </a:solidFill>
              </a:rPr>
              <a:t>     2     5     8</a:t>
            </a:r>
          </a:p>
          <a:p>
            <a:r>
              <a:rPr lang="zh-CN" altLang="en-US" sz="3200" dirty="0">
                <a:solidFill>
                  <a:srgbClr val="00B0F0"/>
                </a:solidFill>
              </a:rPr>
              <a:t>     3     6     9</a:t>
            </a:r>
          </a:p>
        </p:txBody>
      </p:sp>
      <p:sp>
        <p:nvSpPr>
          <p:cNvPr id="5" name="矩形 4"/>
          <p:cNvSpPr/>
          <p:nvPr/>
        </p:nvSpPr>
        <p:spPr>
          <a:xfrm>
            <a:off x="4352925" y="234286"/>
            <a:ext cx="12859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&gt;&gt; A(:)</a:t>
            </a:r>
          </a:p>
        </p:txBody>
      </p:sp>
      <p:sp>
        <p:nvSpPr>
          <p:cNvPr id="6" name="矩形 5"/>
          <p:cNvSpPr/>
          <p:nvPr/>
        </p:nvSpPr>
        <p:spPr>
          <a:xfrm>
            <a:off x="4352925" y="819061"/>
            <a:ext cx="7200900" cy="5832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lphaUcPeriod"/>
            </a:pPr>
            <a:r>
              <a:rPr lang="en-US" altLang="zh-CN" sz="3600" dirty="0"/>
              <a:t> 1     2     3     4     5     6     7     8     9</a:t>
            </a:r>
          </a:p>
          <a:p>
            <a:pPr marL="342900" indent="-342900">
              <a:spcBef>
                <a:spcPts val="600"/>
              </a:spcBef>
              <a:buFont typeface="+mj-lt"/>
              <a:buAutoNum type="alphaUcPeriod"/>
            </a:pPr>
            <a:r>
              <a:rPr lang="en-US" altLang="zh-CN" sz="3600" dirty="0"/>
              <a:t> 1     4     7     2     5     8     3     6     9</a:t>
            </a:r>
          </a:p>
          <a:p>
            <a:pPr marL="342900" indent="-342900">
              <a:buFont typeface="+mj-lt"/>
              <a:buAutoNum type="alphaUcPeriod"/>
            </a:pPr>
            <a:r>
              <a:rPr lang="en-US" altLang="zh-CN" sz="3600" dirty="0"/>
              <a:t> 1</a:t>
            </a:r>
            <a:br>
              <a:rPr lang="en-US" altLang="zh-CN" sz="2800" dirty="0"/>
            </a:br>
            <a:r>
              <a:rPr lang="en-US" altLang="zh-CN" sz="2800" dirty="0"/>
              <a:t>  2</a:t>
            </a:r>
            <a:br>
              <a:rPr lang="en-US" altLang="zh-CN" sz="2800" dirty="0"/>
            </a:br>
            <a:r>
              <a:rPr lang="en-US" altLang="zh-CN" sz="2800" dirty="0"/>
              <a:t>  3</a:t>
            </a:r>
            <a:br>
              <a:rPr lang="en-US" altLang="zh-CN" sz="2800" dirty="0"/>
            </a:br>
            <a:r>
              <a:rPr lang="en-US" altLang="zh-CN" sz="2800" dirty="0"/>
              <a:t>  4</a:t>
            </a:r>
            <a:br>
              <a:rPr lang="en-US" altLang="zh-CN" sz="2800" dirty="0"/>
            </a:br>
            <a:r>
              <a:rPr lang="en-US" altLang="zh-CN" sz="2800" dirty="0"/>
              <a:t>  5</a:t>
            </a:r>
            <a:br>
              <a:rPr lang="en-US" altLang="zh-CN" sz="2800" dirty="0"/>
            </a:br>
            <a:r>
              <a:rPr lang="en-US" altLang="zh-CN" sz="2800" dirty="0"/>
              <a:t>  6</a:t>
            </a:r>
            <a:br>
              <a:rPr lang="en-US" altLang="zh-CN" sz="2800" dirty="0"/>
            </a:br>
            <a:r>
              <a:rPr lang="en-US" altLang="zh-CN" sz="2800" dirty="0"/>
              <a:t>  7</a:t>
            </a:r>
            <a:br>
              <a:rPr lang="en-US" altLang="zh-CN" sz="2800" dirty="0"/>
            </a:br>
            <a:r>
              <a:rPr lang="en-US" altLang="zh-CN" sz="2800" dirty="0"/>
              <a:t>  8</a:t>
            </a:r>
            <a:br>
              <a:rPr lang="en-US" altLang="zh-CN" sz="2800" dirty="0"/>
            </a:br>
            <a:r>
              <a:rPr lang="en-US" altLang="zh-CN" sz="2800" dirty="0"/>
              <a:t>  9</a:t>
            </a:r>
          </a:p>
          <a:p>
            <a:pPr marL="342900" indent="-342900">
              <a:buFont typeface="+mj-lt"/>
              <a:buAutoNum type="alphaUcPeriod"/>
            </a:pPr>
            <a:r>
              <a:rPr lang="zh-CN" altLang="en-US" sz="3600" dirty="0"/>
              <a:t> 出错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246966" y="2304961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107871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矩阵的逻辑索引（</a:t>
            </a:r>
            <a:r>
              <a:rPr lang="en-US" altLang="zh-CN" dirty="0"/>
              <a:t>Logical indexing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31678"/>
          </a:xfrm>
        </p:spPr>
        <p:txBody>
          <a:bodyPr/>
          <a:lstStyle/>
          <a:p>
            <a:r>
              <a:rPr lang="zh-CN" altLang="en-US" dirty="0"/>
              <a:t>使用逻辑数组对矩阵进行索引访问</a:t>
            </a:r>
            <a:endParaRPr lang="en-US" altLang="zh-CN" dirty="0"/>
          </a:p>
          <a:p>
            <a:r>
              <a:rPr lang="zh-CN" altLang="en-US" dirty="0"/>
              <a:t>使用逻辑数组进行索引访问时，</a:t>
            </a:r>
            <a:r>
              <a:rPr lang="zh-CN" altLang="en-US" dirty="0">
                <a:solidFill>
                  <a:srgbClr val="FF0000"/>
                </a:solidFill>
              </a:rPr>
              <a:t>与</a:t>
            </a:r>
            <a:r>
              <a:rPr lang="en-US" altLang="zh-CN" dirty="0">
                <a:solidFill>
                  <a:srgbClr val="FF0000"/>
                </a:solidFill>
              </a:rPr>
              <a:t>True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）相对应的元素被提取出来，与</a:t>
            </a:r>
            <a:r>
              <a:rPr lang="en-US" altLang="zh-CN" dirty="0">
                <a:solidFill>
                  <a:srgbClr val="FF0000"/>
                </a:solidFill>
              </a:rPr>
              <a:t>False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）相对应的元素忽略</a:t>
            </a:r>
          </a:p>
        </p:txBody>
      </p:sp>
    </p:spTree>
    <p:extLst>
      <p:ext uri="{BB962C8B-B14F-4D97-AF65-F5344CB8AC3E}">
        <p14:creationId xmlns:p14="http://schemas.microsoft.com/office/powerpoint/2010/main" val="26693430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81143"/>
            <a:ext cx="3678773" cy="47960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先看一个例子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929953"/>
            <a:ext cx="4561115" cy="3086009"/>
          </a:xfrm>
          <a:ln>
            <a:solidFill>
              <a:srgbClr val="FF00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s-ES" altLang="zh-CN" dirty="0"/>
              <a:t>&gt;&gt; x = -3 : 3</a:t>
            </a:r>
          </a:p>
          <a:p>
            <a:pPr marL="0" indent="0">
              <a:buNone/>
            </a:pPr>
            <a:r>
              <a:rPr lang="es-ES" altLang="zh-CN" dirty="0"/>
              <a:t>x =</a:t>
            </a:r>
          </a:p>
          <a:p>
            <a:pPr marL="0" indent="0">
              <a:buNone/>
            </a:pPr>
            <a:r>
              <a:rPr lang="es-ES" altLang="zh-CN" dirty="0"/>
              <a:t>    -3    -2    -1     0     1     2     3</a:t>
            </a:r>
          </a:p>
          <a:p>
            <a:pPr marL="0" indent="0">
              <a:buNone/>
            </a:pPr>
            <a:r>
              <a:rPr lang="es-ES" altLang="zh-CN" dirty="0"/>
              <a:t>&gt;&gt; y = x( </a:t>
            </a:r>
            <a:r>
              <a:rPr lang="es-ES" altLang="zh-CN" dirty="0">
                <a:solidFill>
                  <a:srgbClr val="FF0000"/>
                </a:solidFill>
              </a:rPr>
              <a:t>abs(x)&gt;1</a:t>
            </a:r>
            <a:r>
              <a:rPr lang="es-ES" altLang="zh-CN" dirty="0"/>
              <a:t> )</a:t>
            </a:r>
          </a:p>
          <a:p>
            <a:pPr marL="0" indent="0">
              <a:buNone/>
            </a:pPr>
            <a:r>
              <a:rPr lang="es-ES" altLang="zh-CN" dirty="0"/>
              <a:t>y =</a:t>
            </a:r>
          </a:p>
          <a:p>
            <a:pPr marL="0" indent="0">
              <a:buNone/>
            </a:pPr>
            <a:r>
              <a:rPr lang="es-ES" altLang="zh-CN" dirty="0"/>
              <a:t>    -3    -2     2     3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38200" y="1374089"/>
            <a:ext cx="4503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取得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数组中绝对值大于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的元素</a:t>
            </a:r>
          </a:p>
        </p:txBody>
      </p:sp>
      <p:sp>
        <p:nvSpPr>
          <p:cNvPr id="8" name="矩形 7"/>
          <p:cNvSpPr/>
          <p:nvPr/>
        </p:nvSpPr>
        <p:spPr>
          <a:xfrm>
            <a:off x="6213562" y="1935312"/>
            <a:ext cx="457635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&gt;&gt; a=</a:t>
            </a:r>
            <a:r>
              <a:rPr lang="zh-CN" altLang="en-US" sz="2800" dirty="0">
                <a:solidFill>
                  <a:srgbClr val="FF0000"/>
                </a:solidFill>
              </a:rPr>
              <a:t>abs(x)&gt;1</a:t>
            </a:r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1     1     0     0     0     1     1</a:t>
            </a:r>
          </a:p>
          <a:p>
            <a:r>
              <a:rPr lang="zh-CN" altLang="en-US" sz="2800" dirty="0"/>
              <a:t>&gt;&gt; class(a)</a:t>
            </a:r>
          </a:p>
          <a:p>
            <a:r>
              <a:rPr lang="zh-CN" altLang="en-US" sz="2800" dirty="0"/>
              <a:t>ans =</a:t>
            </a:r>
          </a:p>
          <a:p>
            <a:r>
              <a:rPr lang="zh-CN" altLang="en-US" sz="2800" b="1" dirty="0">
                <a:solidFill>
                  <a:srgbClr val="FF0000"/>
                </a:solidFill>
              </a:rPr>
              <a:t>logical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8311731" y="1127897"/>
            <a:ext cx="2019497" cy="823394"/>
            <a:chOff x="8311731" y="1127897"/>
            <a:chExt cx="2019497" cy="823394"/>
          </a:xfrm>
        </p:grpSpPr>
        <p:sp>
          <p:nvSpPr>
            <p:cNvPr id="9" name="燕尾形箭头 8"/>
            <p:cNvSpPr/>
            <p:nvPr/>
          </p:nvSpPr>
          <p:spPr>
            <a:xfrm rot="9214746">
              <a:off x="8311731" y="1720216"/>
              <a:ext cx="1056513" cy="231075"/>
            </a:xfrm>
            <a:prstGeom prst="notch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8984384" y="1127897"/>
              <a:ext cx="13468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/>
                <a:t>逻辑表达式</a:t>
              </a:r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613467" y="4058992"/>
            <a:ext cx="3354174" cy="646331"/>
            <a:chOff x="7449583" y="1642364"/>
            <a:chExt cx="3354174" cy="646331"/>
          </a:xfrm>
        </p:grpSpPr>
        <p:sp>
          <p:nvSpPr>
            <p:cNvPr id="13" name="燕尾形箭头 12"/>
            <p:cNvSpPr/>
            <p:nvPr/>
          </p:nvSpPr>
          <p:spPr>
            <a:xfrm rot="10632647">
              <a:off x="7449583" y="1755051"/>
              <a:ext cx="1056513" cy="231075"/>
            </a:xfrm>
            <a:prstGeom prst="notch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8527172" y="1642364"/>
              <a:ext cx="227658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/>
                <a:t>a</a:t>
              </a:r>
              <a:r>
                <a:rPr lang="zh-CN" altLang="en-US" b="1" dirty="0"/>
                <a:t>是逻辑数组，</a:t>
              </a:r>
              <a:endParaRPr lang="en-US" altLang="zh-CN" b="1" dirty="0"/>
            </a:p>
            <a:p>
              <a:r>
                <a:rPr lang="zh-CN" altLang="en-US" b="1" dirty="0"/>
                <a:t>其数据类型是逻辑型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980873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MATLAB</a:t>
            </a:r>
            <a:r>
              <a:rPr lang="zh-CN" altLang="en-US" dirty="0"/>
              <a:t>关系运算符：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2966" y="1690688"/>
            <a:ext cx="5048794" cy="5605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dirty="0"/>
              <a:t>&gt; </a:t>
            </a:r>
            <a:r>
              <a:rPr lang="zh-CN" altLang="en-US" sz="3200" dirty="0"/>
              <a:t>、</a:t>
            </a:r>
            <a:r>
              <a:rPr lang="en-US" altLang="zh-CN" sz="3200" dirty="0"/>
              <a:t>&lt;</a:t>
            </a:r>
            <a:r>
              <a:rPr lang="zh-CN" altLang="en-US" sz="3200" dirty="0"/>
              <a:t>、</a:t>
            </a:r>
            <a:r>
              <a:rPr lang="en-US" altLang="zh-CN" sz="3200" dirty="0"/>
              <a:t>==</a:t>
            </a:r>
            <a:r>
              <a:rPr lang="zh-CN" altLang="en-US" sz="3200" dirty="0"/>
              <a:t>、</a:t>
            </a:r>
            <a:r>
              <a:rPr lang="en-US" altLang="zh-CN" sz="3200" dirty="0"/>
              <a:t>&gt;=</a:t>
            </a:r>
            <a:r>
              <a:rPr lang="zh-CN" altLang="en-US" sz="3200" dirty="0"/>
              <a:t>、</a:t>
            </a:r>
            <a:r>
              <a:rPr lang="en-US" altLang="zh-CN" sz="3200" dirty="0"/>
              <a:t>&lt;=</a:t>
            </a:r>
            <a:r>
              <a:rPr lang="zh-CN" altLang="en-US" sz="3200" dirty="0"/>
              <a:t>、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~=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3737" y="2717300"/>
            <a:ext cx="48855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&gt;&gt; x = -3 : 3</a:t>
            </a:r>
          </a:p>
          <a:p>
            <a:r>
              <a:rPr lang="zh-CN" altLang="en-US" sz="2800" dirty="0"/>
              <a:t>x =</a:t>
            </a:r>
          </a:p>
          <a:p>
            <a:r>
              <a:rPr lang="zh-CN" altLang="en-US" sz="2800" dirty="0"/>
              <a:t>    -3    -2    -1     0     1     2     3</a:t>
            </a:r>
          </a:p>
          <a:p>
            <a:r>
              <a:rPr lang="zh-CN" altLang="en-US" sz="2800" dirty="0"/>
              <a:t>&gt;&gt; </a:t>
            </a:r>
            <a:r>
              <a:rPr lang="zh-CN" altLang="en-US" sz="2800" dirty="0">
                <a:solidFill>
                  <a:srgbClr val="FF0000"/>
                </a:solidFill>
              </a:rPr>
              <a:t>x &gt; 1</a:t>
            </a:r>
          </a:p>
          <a:p>
            <a:r>
              <a:rPr lang="zh-CN" altLang="en-US" sz="2800" dirty="0"/>
              <a:t>ans =</a:t>
            </a:r>
          </a:p>
          <a:p>
            <a:r>
              <a:rPr lang="zh-CN" altLang="en-US" sz="2800" dirty="0"/>
              <a:t>     0     0     0     0     0     1     1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348549" y="1747142"/>
            <a:ext cx="3509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注：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中的不等于是：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!=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287897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98743" y="382564"/>
            <a:ext cx="393627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&gt;&gt; A = [1 2 3; 4 5 6; 7 8 9]</a:t>
            </a:r>
          </a:p>
          <a:p>
            <a:r>
              <a:rPr lang="zh-CN" altLang="en-US" sz="2800" b="1" dirty="0"/>
              <a:t>A =</a:t>
            </a:r>
          </a:p>
          <a:p>
            <a:r>
              <a:rPr lang="zh-CN" altLang="en-US" sz="2800" b="1" dirty="0"/>
              <a:t>     1     </a:t>
            </a:r>
            <a:r>
              <a:rPr lang="zh-CN" altLang="en-US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/>
              <a:t>     3</a:t>
            </a:r>
          </a:p>
          <a:p>
            <a:r>
              <a:rPr lang="zh-CN" altLang="en-US" sz="2800" b="1" dirty="0"/>
              <a:t>     </a:t>
            </a:r>
            <a:r>
              <a:rPr lang="zh-CN" altLang="en-US" sz="2800" b="1" dirty="0">
                <a:solidFill>
                  <a:srgbClr val="FF0000"/>
                </a:solidFill>
              </a:rPr>
              <a:t>4</a:t>
            </a:r>
            <a:r>
              <a:rPr lang="zh-CN" altLang="en-US" sz="2800" b="1" dirty="0"/>
              <a:t>     5     </a:t>
            </a:r>
            <a:r>
              <a:rPr lang="zh-CN" altLang="en-US" sz="2800" b="1" dirty="0">
                <a:solidFill>
                  <a:srgbClr val="FF0000"/>
                </a:solidFill>
              </a:rPr>
              <a:t>6</a:t>
            </a:r>
          </a:p>
          <a:p>
            <a:r>
              <a:rPr lang="zh-CN" altLang="en-US" sz="2800" b="1" dirty="0"/>
              <a:t>     7     8     </a:t>
            </a:r>
            <a:r>
              <a:rPr lang="zh-CN" altLang="en-US" sz="2800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6" name="矩形 5"/>
          <p:cNvSpPr/>
          <p:nvPr/>
        </p:nvSpPr>
        <p:spPr>
          <a:xfrm>
            <a:off x="525482" y="2690294"/>
            <a:ext cx="506838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&gt;&gt; B = </a:t>
            </a:r>
            <a:r>
              <a:rPr lang="zh-CN" altLang="en-US" sz="2800" b="1" dirty="0">
                <a:solidFill>
                  <a:srgbClr val="FF0000"/>
                </a:solidFill>
              </a:rPr>
              <a:t>logical</a:t>
            </a:r>
            <a:r>
              <a:rPr lang="zh-CN" altLang="en-US" sz="2800" b="1" dirty="0"/>
              <a:t>([0 1 0; 1 0 1; 0 0 1])</a:t>
            </a:r>
          </a:p>
          <a:p>
            <a:r>
              <a:rPr lang="zh-CN" altLang="en-US" sz="2800" b="1" dirty="0"/>
              <a:t>B =</a:t>
            </a:r>
          </a:p>
          <a:p>
            <a:r>
              <a:rPr lang="zh-CN" altLang="en-US" sz="2800" b="1" dirty="0"/>
              <a:t>     0     </a:t>
            </a:r>
            <a:r>
              <a:rPr lang="zh-CN" altLang="en-US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/>
              <a:t>     0</a:t>
            </a:r>
          </a:p>
          <a:p>
            <a:r>
              <a:rPr lang="zh-CN" altLang="en-US" sz="2800" b="1" dirty="0"/>
              <a:t>     </a:t>
            </a:r>
            <a:r>
              <a:rPr lang="zh-CN" altLang="en-US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/>
              <a:t>     0     </a:t>
            </a:r>
            <a:r>
              <a:rPr lang="zh-CN" altLang="en-US" sz="2800" b="1" dirty="0">
                <a:solidFill>
                  <a:srgbClr val="FF0000"/>
                </a:solidFill>
              </a:rPr>
              <a:t>1</a:t>
            </a:r>
          </a:p>
          <a:p>
            <a:r>
              <a:rPr lang="zh-CN" altLang="en-US" sz="2800" b="1" dirty="0"/>
              <a:t>     0     0     </a:t>
            </a:r>
            <a:r>
              <a:rPr lang="zh-CN" altLang="en-US" sz="28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矩形 6"/>
          <p:cNvSpPr/>
          <p:nvPr/>
        </p:nvSpPr>
        <p:spPr>
          <a:xfrm>
            <a:off x="6064066" y="608970"/>
            <a:ext cx="18375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&gt;&gt; A(B)</a:t>
            </a:r>
          </a:p>
          <a:p>
            <a:r>
              <a:rPr lang="zh-CN" altLang="en-US" sz="2800" b="1" dirty="0"/>
              <a:t>ans =</a:t>
            </a:r>
          </a:p>
          <a:p>
            <a:r>
              <a:rPr lang="zh-CN" altLang="en-US" sz="2800" b="1" dirty="0"/>
              <a:t>     4</a:t>
            </a:r>
          </a:p>
          <a:p>
            <a:r>
              <a:rPr lang="zh-CN" altLang="en-US" sz="2800" b="1" dirty="0"/>
              <a:t>     2</a:t>
            </a:r>
          </a:p>
          <a:p>
            <a:r>
              <a:rPr lang="zh-CN" altLang="en-US" sz="2800" b="1" dirty="0"/>
              <a:t>     6</a:t>
            </a:r>
          </a:p>
          <a:p>
            <a:r>
              <a:rPr lang="zh-CN" altLang="en-US" sz="2800" b="1" dirty="0"/>
              <a:t>     9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7357219" y="490286"/>
            <a:ext cx="3052708" cy="1015663"/>
            <a:chOff x="7696853" y="608970"/>
            <a:chExt cx="3052708" cy="1015663"/>
          </a:xfrm>
        </p:grpSpPr>
        <p:sp>
          <p:nvSpPr>
            <p:cNvPr id="8" name="燕尾形箭头 7"/>
            <p:cNvSpPr/>
            <p:nvPr/>
          </p:nvSpPr>
          <p:spPr>
            <a:xfrm rot="10800000">
              <a:off x="7696853" y="818606"/>
              <a:ext cx="978408" cy="336586"/>
            </a:xfrm>
            <a:prstGeom prst="notch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769532" y="608970"/>
              <a:ext cx="198002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/>
                <a:t>逻辑索引：</a:t>
              </a:r>
              <a:endParaRPr lang="en-US" altLang="zh-CN" sz="2000" dirty="0"/>
            </a:p>
            <a:p>
              <a:r>
                <a:rPr lang="en-US" altLang="zh-CN" sz="2000" dirty="0"/>
                <a:t>B</a:t>
              </a:r>
              <a:r>
                <a:rPr lang="zh-CN" altLang="en-US" sz="2000" dirty="0"/>
                <a:t>是逻辑数组，</a:t>
              </a:r>
              <a:endParaRPr lang="en-US" altLang="zh-CN" sz="2000" dirty="0"/>
            </a:p>
            <a:p>
              <a:r>
                <a:rPr lang="zh-CN" altLang="en-US" sz="2000" dirty="0"/>
                <a:t>作为访问的索引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843751" y="2426526"/>
            <a:ext cx="5184661" cy="1323439"/>
            <a:chOff x="6843751" y="2426526"/>
            <a:chExt cx="5184661" cy="1323439"/>
          </a:xfrm>
        </p:grpSpPr>
        <p:sp>
          <p:nvSpPr>
            <p:cNvPr id="10" name="文本框 9"/>
            <p:cNvSpPr txBox="1"/>
            <p:nvPr/>
          </p:nvSpPr>
          <p:spPr>
            <a:xfrm>
              <a:off x="7740059" y="2426526"/>
              <a:ext cx="4288353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MATLAB</a:t>
              </a:r>
              <a:r>
                <a:rPr lang="zh-CN" altLang="en-US" sz="2000" dirty="0"/>
                <a:t>内部将逻辑数组</a:t>
              </a:r>
              <a:endParaRPr lang="en-US" altLang="zh-CN" sz="2000" dirty="0"/>
            </a:p>
            <a:p>
              <a:r>
                <a:rPr lang="zh-CN" altLang="en-US" sz="2000" dirty="0"/>
                <a:t>以列方式按单一索引顺序</a:t>
              </a:r>
              <a:endParaRPr lang="en-US" altLang="zh-CN" sz="2000" dirty="0"/>
            </a:p>
            <a:p>
              <a:r>
                <a:rPr lang="zh-CN" altLang="en-US" sz="2000" dirty="0"/>
                <a:t>来提取所有为真的元素，</a:t>
              </a:r>
              <a:endParaRPr lang="en-US" altLang="zh-CN" sz="2000" dirty="0"/>
            </a:p>
            <a:p>
              <a:r>
                <a:rPr lang="zh-CN" altLang="en-US" sz="2000" dirty="0"/>
                <a:t>然后将提取的结果形成一个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列向量</a:t>
              </a:r>
              <a:r>
                <a:rPr lang="zh-CN" altLang="en-US" sz="2000" dirty="0"/>
                <a:t>。</a:t>
              </a:r>
            </a:p>
          </p:txBody>
        </p:sp>
        <p:sp>
          <p:nvSpPr>
            <p:cNvPr id="12" name="燕尾形箭头 11"/>
            <p:cNvSpPr/>
            <p:nvPr/>
          </p:nvSpPr>
          <p:spPr>
            <a:xfrm rot="12360058">
              <a:off x="6843751" y="2461040"/>
              <a:ext cx="978408" cy="336586"/>
            </a:xfrm>
            <a:prstGeom prst="notch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432859" y="3285672"/>
            <a:ext cx="5113430" cy="879545"/>
            <a:chOff x="2432859" y="3285672"/>
            <a:chExt cx="5113430" cy="879545"/>
          </a:xfrm>
        </p:grpSpPr>
        <p:sp>
          <p:nvSpPr>
            <p:cNvPr id="14" name="燕尾形箭头 13"/>
            <p:cNvSpPr/>
            <p:nvPr/>
          </p:nvSpPr>
          <p:spPr>
            <a:xfrm rot="12360058">
              <a:off x="2432859" y="3285672"/>
              <a:ext cx="978408" cy="336586"/>
            </a:xfrm>
            <a:prstGeom prst="notch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059676" y="3765107"/>
              <a:ext cx="44866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logical</a:t>
              </a:r>
              <a:r>
                <a:rPr lang="zh-CN" altLang="en-US" sz="2000" dirty="0"/>
                <a:t>函数将数字数组转换成逻辑数组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723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62446" y="687364"/>
            <a:ext cx="38666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&gt;&gt; A=rand(3)</a:t>
            </a:r>
          </a:p>
          <a:p>
            <a:r>
              <a:rPr lang="zh-CN" altLang="en-US" sz="2400" dirty="0"/>
              <a:t>A =</a:t>
            </a:r>
          </a:p>
          <a:p>
            <a:r>
              <a:rPr lang="zh-CN" altLang="en-US" sz="2400" dirty="0"/>
              <a:t>    0.7577    0.6555    0.0318</a:t>
            </a:r>
          </a:p>
          <a:p>
            <a:r>
              <a:rPr lang="zh-CN" altLang="en-US" sz="2400" dirty="0"/>
              <a:t>    0.7431    0.1712    0.2769</a:t>
            </a:r>
          </a:p>
          <a:p>
            <a:r>
              <a:rPr lang="zh-CN" altLang="en-US" sz="2400" dirty="0"/>
              <a:t>    0.3922    0.7060    0.0462</a:t>
            </a:r>
          </a:p>
        </p:txBody>
      </p:sp>
      <p:sp>
        <p:nvSpPr>
          <p:cNvPr id="5" name="矩形 4"/>
          <p:cNvSpPr/>
          <p:nvPr/>
        </p:nvSpPr>
        <p:spPr>
          <a:xfrm>
            <a:off x="1062446" y="2841654"/>
            <a:ext cx="226193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&gt;&gt; A(A&gt;0.5)</a:t>
            </a:r>
          </a:p>
          <a:p>
            <a:r>
              <a:rPr lang="zh-CN" altLang="en-US" sz="2400" dirty="0"/>
              <a:t>ans =</a:t>
            </a:r>
          </a:p>
          <a:p>
            <a:r>
              <a:rPr lang="zh-CN" altLang="en-US" sz="2400" dirty="0"/>
              <a:t>    0.7577</a:t>
            </a:r>
          </a:p>
          <a:p>
            <a:r>
              <a:rPr lang="zh-CN" altLang="en-US" sz="2400" dirty="0"/>
              <a:t>    0.7431</a:t>
            </a:r>
          </a:p>
          <a:p>
            <a:r>
              <a:rPr lang="zh-CN" altLang="en-US" sz="2400" dirty="0"/>
              <a:t>    0.6555</a:t>
            </a:r>
          </a:p>
          <a:p>
            <a:r>
              <a:rPr lang="zh-CN" altLang="en-US" sz="2400" dirty="0"/>
              <a:t>    0.7060</a:t>
            </a:r>
          </a:p>
        </p:txBody>
      </p:sp>
      <p:sp>
        <p:nvSpPr>
          <p:cNvPr id="6" name="矩形 5"/>
          <p:cNvSpPr/>
          <p:nvPr/>
        </p:nvSpPr>
        <p:spPr>
          <a:xfrm>
            <a:off x="4307992" y="2841654"/>
            <a:ext cx="409577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&gt;&gt; </a:t>
            </a:r>
            <a:r>
              <a:rPr lang="zh-CN" altLang="en-US" sz="2400" b="1" dirty="0">
                <a:solidFill>
                  <a:srgbClr val="FF0000"/>
                </a:solidFill>
              </a:rPr>
              <a:t>A(A&gt;0.5) = 0</a:t>
            </a:r>
          </a:p>
          <a:p>
            <a:r>
              <a:rPr lang="zh-CN" altLang="en-US" sz="2400" dirty="0"/>
              <a:t>A =</a:t>
            </a:r>
          </a:p>
          <a:p>
            <a:r>
              <a:rPr lang="zh-CN" altLang="en-US" sz="2400" dirty="0"/>
              <a:t>         0         0    0.0318</a:t>
            </a:r>
          </a:p>
          <a:p>
            <a:r>
              <a:rPr lang="zh-CN" altLang="en-US" sz="2400" dirty="0"/>
              <a:t>         0    0.1712    0.2769</a:t>
            </a:r>
          </a:p>
          <a:p>
            <a:r>
              <a:rPr lang="zh-CN" altLang="en-US" sz="2400" dirty="0"/>
              <a:t>    0.3922         0    0.0462</a:t>
            </a:r>
          </a:p>
        </p:txBody>
      </p:sp>
    </p:spTree>
    <p:extLst>
      <p:ext uri="{BB962C8B-B14F-4D97-AF65-F5344CB8AC3E}">
        <p14:creationId xmlns:p14="http://schemas.microsoft.com/office/powerpoint/2010/main" val="31283091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445622" y="1366554"/>
            <a:ext cx="29173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&gt;&gt; A = magic(4)</a:t>
            </a:r>
          </a:p>
          <a:p>
            <a:r>
              <a:rPr lang="zh-CN" altLang="en-US" sz="2400" dirty="0"/>
              <a:t>A =</a:t>
            </a:r>
          </a:p>
          <a:p>
            <a:r>
              <a:rPr lang="zh-CN" altLang="en-US" sz="2400" dirty="0"/>
              <a:t>    16     2     3    13</a:t>
            </a:r>
          </a:p>
          <a:p>
            <a:r>
              <a:rPr lang="zh-CN" altLang="en-US" sz="2400" dirty="0"/>
              <a:t>     5    11    10     8</a:t>
            </a:r>
          </a:p>
          <a:p>
            <a:r>
              <a:rPr lang="zh-CN" altLang="en-US" sz="2400" dirty="0"/>
              <a:t>     9     7     6    12</a:t>
            </a:r>
          </a:p>
          <a:p>
            <a:r>
              <a:rPr lang="zh-CN" altLang="en-US" sz="2400" dirty="0"/>
              <a:t>     4    14    15     1</a:t>
            </a:r>
          </a:p>
        </p:txBody>
      </p:sp>
      <p:sp>
        <p:nvSpPr>
          <p:cNvPr id="5" name="矩形 4"/>
          <p:cNvSpPr/>
          <p:nvPr/>
        </p:nvSpPr>
        <p:spPr>
          <a:xfrm>
            <a:off x="4362994" y="2176451"/>
            <a:ext cx="336884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&gt;&gt; B = </a:t>
            </a:r>
            <a:r>
              <a:rPr lang="zh-CN" altLang="en-US" sz="2400" dirty="0">
                <a:solidFill>
                  <a:srgbClr val="FF0000"/>
                </a:solidFill>
              </a:rPr>
              <a:t>isprime</a:t>
            </a:r>
            <a:r>
              <a:rPr lang="zh-CN" altLang="en-US" sz="2400" dirty="0"/>
              <a:t>(A)</a:t>
            </a:r>
          </a:p>
          <a:p>
            <a:r>
              <a:rPr lang="zh-CN" altLang="en-US" sz="2400" dirty="0"/>
              <a:t>B =</a:t>
            </a:r>
          </a:p>
          <a:p>
            <a:r>
              <a:rPr lang="zh-CN" altLang="en-US" sz="2400" dirty="0"/>
              <a:t>     0     1     1     1</a:t>
            </a:r>
          </a:p>
          <a:p>
            <a:r>
              <a:rPr lang="zh-CN" altLang="en-US" sz="2400" dirty="0"/>
              <a:t>     1     1     0     0</a:t>
            </a:r>
          </a:p>
          <a:p>
            <a:r>
              <a:rPr lang="zh-CN" altLang="en-US" sz="2400" dirty="0"/>
              <a:t>     0     1     0     0</a:t>
            </a:r>
          </a:p>
          <a:p>
            <a:r>
              <a:rPr lang="zh-CN" altLang="en-US" sz="2400" dirty="0"/>
              <a:t>     0     0     0     0</a:t>
            </a:r>
          </a:p>
        </p:txBody>
      </p:sp>
      <p:sp>
        <p:nvSpPr>
          <p:cNvPr id="6" name="矩形 5"/>
          <p:cNvSpPr/>
          <p:nvPr/>
        </p:nvSpPr>
        <p:spPr>
          <a:xfrm>
            <a:off x="7372953" y="2873137"/>
            <a:ext cx="29205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&gt;&gt;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A(~B) = 0</a:t>
            </a:r>
          </a:p>
          <a:p>
            <a:r>
              <a:rPr lang="zh-CN" altLang="en-US" sz="2400" dirty="0"/>
              <a:t>A =</a:t>
            </a:r>
          </a:p>
          <a:p>
            <a:r>
              <a:rPr lang="zh-CN" altLang="en-US" sz="2400" dirty="0"/>
              <a:t>     0     2     3    13</a:t>
            </a:r>
          </a:p>
          <a:p>
            <a:r>
              <a:rPr lang="zh-CN" altLang="en-US" sz="2400" dirty="0"/>
              <a:t>     5    11     0     0</a:t>
            </a:r>
          </a:p>
          <a:p>
            <a:r>
              <a:rPr lang="zh-CN" altLang="en-US" sz="2400" dirty="0"/>
              <a:t>     0     7     0     0</a:t>
            </a:r>
          </a:p>
          <a:p>
            <a:r>
              <a:rPr lang="zh-CN" altLang="en-US" sz="2400" dirty="0"/>
              <a:t>     0     0     0     0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901440" y="5517524"/>
            <a:ext cx="4519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将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数组中的非素数元素设置为</a:t>
            </a:r>
            <a:r>
              <a:rPr lang="en-US" altLang="zh-CN" sz="2400" b="1" dirty="0"/>
              <a:t>0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602749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3900" y="184151"/>
            <a:ext cx="10515600" cy="88265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六、</a:t>
            </a:r>
            <a:r>
              <a:rPr lang="zh-CN" altLang="zh-CN" sz="3200" dirty="0"/>
              <a:t>向量和矩阵的索引赋值（</a:t>
            </a:r>
            <a:r>
              <a:rPr lang="en-US" altLang="zh-CN" sz="3200" dirty="0"/>
              <a:t>indexed assignment</a:t>
            </a:r>
            <a:r>
              <a:rPr lang="zh-CN" altLang="zh-CN" sz="3200" dirty="0"/>
              <a:t>）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3900" y="1294402"/>
            <a:ext cx="5154386" cy="2603500"/>
          </a:xfrm>
        </p:spPr>
        <p:txBody>
          <a:bodyPr/>
          <a:lstStyle/>
          <a:p>
            <a:r>
              <a:rPr lang="zh-CN" altLang="en-US" dirty="0"/>
              <a:t>修改元素的值</a:t>
            </a:r>
            <a:endParaRPr lang="en-US" altLang="zh-CN" dirty="0"/>
          </a:p>
          <a:p>
            <a:pPr lvl="1"/>
            <a:r>
              <a:rPr lang="zh-CN" altLang="en-US" dirty="0"/>
              <a:t>单元素修改</a:t>
            </a:r>
            <a:endParaRPr lang="en-US" altLang="zh-CN" dirty="0"/>
          </a:p>
          <a:p>
            <a:pPr lvl="1"/>
            <a:r>
              <a:rPr lang="zh-CN" altLang="en-US" dirty="0"/>
              <a:t>批量元素修改</a:t>
            </a:r>
            <a:endParaRPr lang="en-US" altLang="zh-CN" dirty="0"/>
          </a:p>
          <a:p>
            <a:r>
              <a:rPr lang="zh-CN" altLang="en-US" dirty="0"/>
              <a:t>数组的动态扩展</a:t>
            </a:r>
            <a:endParaRPr lang="en-US" altLang="zh-CN" dirty="0"/>
          </a:p>
          <a:p>
            <a:r>
              <a:rPr lang="zh-CN" altLang="en-US" dirty="0"/>
              <a:t>删除数组元素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52884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0288" y="152039"/>
            <a:ext cx="8807087" cy="495661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6.1.a </a:t>
            </a:r>
            <a:r>
              <a:rPr lang="zh-CN" altLang="en-US" sz="3200" dirty="0"/>
              <a:t>修改数组元素的值</a:t>
            </a:r>
            <a:r>
              <a:rPr lang="en-US" altLang="zh-CN" sz="3200" dirty="0">
                <a:sym typeface="Wingdings" panose="05000000000000000000" pitchFamily="2" charset="2"/>
              </a:rPr>
              <a:t></a:t>
            </a:r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单元素修改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820739"/>
              </p:ext>
            </p:extLst>
          </p:nvPr>
        </p:nvGraphicFramePr>
        <p:xfrm>
          <a:off x="1559107" y="762000"/>
          <a:ext cx="8128000" cy="60096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数组类型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数组原始值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修改元素命令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修改后数组的值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916">
                <a:tc rowSpan="2">
                  <a:txBody>
                    <a:bodyPr/>
                    <a:lstStyle/>
                    <a:p>
                      <a:r>
                        <a:rPr lang="zh-CN" altLang="en-US" sz="2000" b="1" dirty="0"/>
                        <a:t>行向量</a:t>
                      </a:r>
                      <a:endParaRPr lang="en-US" altLang="zh-CN" sz="2000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zh-CN" sz="2000" b="1" dirty="0"/>
                        <a:t>&gt;&gt; A=2:2:8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pt-BR" altLang="zh-CN" sz="2000" b="1" dirty="0"/>
                        <a:t>A =</a:t>
                      </a:r>
                    </a:p>
                    <a:p>
                      <a:r>
                        <a:rPr lang="pt-BR" altLang="zh-CN" sz="2000" b="1" dirty="0"/>
                        <a:t>     2     4     6     8</a:t>
                      </a:r>
                      <a:endParaRPr lang="zh-CN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2000" b="1" dirty="0"/>
                        <a:t>&gt;&gt; </a:t>
                      </a:r>
                      <a:r>
                        <a:rPr lang="pt-BR" altLang="zh-CN" sz="2000" b="1" kern="12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A(1)=10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2000" b="1" dirty="0"/>
                        <a:t>A =</a:t>
                      </a:r>
                    </a:p>
                    <a:p>
                      <a:r>
                        <a:rPr lang="pt-BR" altLang="zh-CN" sz="2000" b="1" dirty="0"/>
                        <a:t>    </a:t>
                      </a:r>
                      <a:r>
                        <a:rPr lang="pt-BR" altLang="zh-CN" sz="2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pt-BR" altLang="zh-CN" sz="2000" b="1" dirty="0"/>
                        <a:t>     4     6     8</a:t>
                      </a:r>
                      <a:endParaRPr lang="zh-CN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2000" b="1" dirty="0"/>
                        <a:t>&gt;&gt; </a:t>
                      </a:r>
                      <a:r>
                        <a:rPr lang="en-US" altLang="zh-CN" sz="2000" b="1" kern="12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A(end)=10</a:t>
                      </a:r>
                    </a:p>
                    <a:p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A =</a:t>
                      </a:r>
                    </a:p>
                    <a:p>
                      <a:r>
                        <a:rPr lang="en-US" altLang="zh-CN" sz="2000" b="1" dirty="0"/>
                        <a:t>    2     4     6    </a:t>
                      </a:r>
                      <a:r>
                        <a:rPr lang="en-US" altLang="zh-CN" sz="2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列向量</a:t>
                      </a:r>
                      <a:endParaRPr lang="en-US" altLang="zh-CN" sz="2000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zh-CN" sz="2000" b="1" dirty="0"/>
                        <a:t>&gt;&gt; A=(2:2:8)'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2000" b="1" dirty="0"/>
                        <a:t>A =</a:t>
                      </a:r>
                    </a:p>
                    <a:p>
                      <a:r>
                        <a:rPr lang="pt-BR" altLang="zh-CN" sz="2000" b="1" dirty="0"/>
                        <a:t>     2</a:t>
                      </a:r>
                    </a:p>
                    <a:p>
                      <a:r>
                        <a:rPr lang="pt-BR" altLang="zh-CN" sz="2000" b="1" dirty="0"/>
                        <a:t>     4</a:t>
                      </a:r>
                    </a:p>
                    <a:p>
                      <a:r>
                        <a:rPr lang="pt-BR" altLang="zh-CN" sz="2000" b="1" dirty="0"/>
                        <a:t>     6</a:t>
                      </a:r>
                    </a:p>
                    <a:p>
                      <a:r>
                        <a:rPr lang="pt-BR" altLang="zh-CN" sz="2000" b="1" dirty="0"/>
                        <a:t>     8</a:t>
                      </a:r>
                      <a:endParaRPr lang="zh-CN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2000" b="1" dirty="0"/>
                        <a:t>&gt;&gt; </a:t>
                      </a:r>
                      <a:r>
                        <a:rPr lang="pt-BR" altLang="zh-CN" sz="20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A(2)=10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2000" b="1" dirty="0"/>
                        <a:t>A =</a:t>
                      </a:r>
                    </a:p>
                    <a:p>
                      <a:r>
                        <a:rPr lang="pt-BR" altLang="zh-CN" sz="2000" b="1" dirty="0"/>
                        <a:t>     2</a:t>
                      </a:r>
                    </a:p>
                    <a:p>
                      <a:r>
                        <a:rPr lang="pt-BR" altLang="zh-CN" sz="2000" b="1" dirty="0"/>
                        <a:t>    </a:t>
                      </a:r>
                      <a:r>
                        <a:rPr lang="pt-BR" altLang="zh-CN" sz="2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  <a:p>
                      <a:r>
                        <a:rPr lang="pt-BR" altLang="zh-CN" sz="2000" b="1" dirty="0"/>
                        <a:t>     6</a:t>
                      </a:r>
                    </a:p>
                    <a:p>
                      <a:r>
                        <a:rPr lang="pt-BR" altLang="zh-CN" sz="2000" b="1" dirty="0"/>
                        <a:t>     8</a:t>
                      </a:r>
                      <a:endParaRPr lang="zh-CN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 rowSpan="2">
                  <a:txBody>
                    <a:bodyPr/>
                    <a:lstStyle/>
                    <a:p>
                      <a:r>
                        <a:rPr lang="zh-CN" altLang="en-US" sz="2000" b="1" dirty="0"/>
                        <a:t>矩阵</a:t>
                      </a:r>
                      <a:endParaRPr lang="en-US" altLang="zh-CN" sz="2000" b="1" dirty="0"/>
                    </a:p>
                    <a:p>
                      <a:r>
                        <a:rPr lang="en-US" altLang="zh-CN" sz="2000" b="1" dirty="0"/>
                        <a:t>&gt;&gt; A=magic(3)</a:t>
                      </a:r>
                      <a:endParaRPr lang="zh-CN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pt-BR" altLang="zh-CN" sz="2000" b="1" dirty="0"/>
                        <a:t>A =</a:t>
                      </a:r>
                    </a:p>
                    <a:p>
                      <a:r>
                        <a:rPr lang="pt-BR" altLang="zh-CN" sz="2000" b="1" dirty="0"/>
                        <a:t>     8     1     6</a:t>
                      </a:r>
                    </a:p>
                    <a:p>
                      <a:r>
                        <a:rPr lang="pt-BR" altLang="zh-CN" sz="2000" b="1" dirty="0"/>
                        <a:t>     3     5     7</a:t>
                      </a:r>
                    </a:p>
                    <a:p>
                      <a:r>
                        <a:rPr lang="pt-BR" altLang="zh-CN" sz="2000" b="1" dirty="0"/>
                        <a:t>     4     9     2</a:t>
                      </a:r>
                      <a:endParaRPr lang="zh-CN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&gt;&gt;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A(2,2)=10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2000" b="1" dirty="0"/>
                        <a:t>A =</a:t>
                      </a:r>
                    </a:p>
                    <a:p>
                      <a:r>
                        <a:rPr lang="pt-BR" altLang="zh-CN" sz="2000" b="1" dirty="0"/>
                        <a:t>     8     1     6</a:t>
                      </a:r>
                    </a:p>
                    <a:p>
                      <a:r>
                        <a:rPr lang="pt-BR" altLang="zh-CN" sz="2000" b="1" dirty="0"/>
                        <a:t>     3    </a:t>
                      </a:r>
                      <a:r>
                        <a:rPr lang="pt-BR" altLang="zh-CN" sz="2000" b="1" dirty="0">
                          <a:solidFill>
                            <a:srgbClr val="FF0000"/>
                          </a:solidFill>
                        </a:rPr>
                        <a:t>10 </a:t>
                      </a:r>
                      <a:r>
                        <a:rPr lang="pt-BR" altLang="zh-CN" sz="2000" b="1" dirty="0"/>
                        <a:t>    7</a:t>
                      </a:r>
                    </a:p>
                    <a:p>
                      <a:r>
                        <a:rPr lang="pt-BR" altLang="zh-CN" sz="2000" b="1" dirty="0"/>
                        <a:t>     4     9     2</a:t>
                      </a:r>
                      <a:endParaRPr lang="zh-CN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&gt;&gt;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A(end)=10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2000" b="1" dirty="0"/>
                        <a:t>A =</a:t>
                      </a:r>
                    </a:p>
                    <a:p>
                      <a:r>
                        <a:rPr lang="pt-BR" altLang="zh-CN" sz="2000" b="1" dirty="0"/>
                        <a:t>     8     1     6</a:t>
                      </a:r>
                    </a:p>
                    <a:p>
                      <a:r>
                        <a:rPr lang="pt-BR" altLang="zh-CN" sz="2000" b="1" dirty="0"/>
                        <a:t>     3     5     7</a:t>
                      </a:r>
                    </a:p>
                    <a:p>
                      <a:r>
                        <a:rPr lang="pt-BR" altLang="zh-CN" sz="2000" b="1" dirty="0"/>
                        <a:t>     4     9    </a:t>
                      </a:r>
                      <a:r>
                        <a:rPr lang="pt-BR" altLang="zh-CN" sz="20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8787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863" y="199664"/>
            <a:ext cx="8588012" cy="409936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6.1.b </a:t>
            </a:r>
            <a:r>
              <a:rPr lang="zh-CN" altLang="en-US" sz="3600" dirty="0"/>
              <a:t>修改数组元素的值</a:t>
            </a:r>
            <a:r>
              <a:rPr lang="en-US" altLang="zh-CN" sz="3600" dirty="0">
                <a:sym typeface="Wingdings" panose="05000000000000000000" pitchFamily="2" charset="2"/>
              </a:rPr>
              <a:t></a:t>
            </a:r>
            <a:r>
              <a:rPr lang="zh-CN" altLang="en-US" sz="3600" b="1" dirty="0">
                <a:solidFill>
                  <a:srgbClr val="FF0000"/>
                </a:solidFill>
                <a:sym typeface="Wingdings" panose="05000000000000000000" pitchFamily="2" charset="2"/>
              </a:rPr>
              <a:t>批量元素修改</a:t>
            </a:r>
            <a:r>
              <a:rPr lang="en-US" altLang="zh-CN" sz="3600" b="1" dirty="0">
                <a:solidFill>
                  <a:srgbClr val="FF0000"/>
                </a:solidFill>
              </a:rPr>
              <a:t> 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885947"/>
              </p:ext>
            </p:extLst>
          </p:nvPr>
        </p:nvGraphicFramePr>
        <p:xfrm>
          <a:off x="698863" y="1047750"/>
          <a:ext cx="10647998" cy="3145941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740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2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7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数组类型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数组原始值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修改元素命令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修改后数组的值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916">
                <a:tc rowSpan="4">
                  <a:txBody>
                    <a:bodyPr/>
                    <a:lstStyle/>
                    <a:p>
                      <a:r>
                        <a:rPr lang="zh-CN" altLang="en-US" sz="2000" b="1" dirty="0"/>
                        <a:t>行向量</a:t>
                      </a:r>
                      <a:endParaRPr lang="en-US" altLang="zh-CN" sz="2000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zh-CN" sz="2000" b="1" dirty="0"/>
                        <a:t>&gt;&gt; A=2:2:8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r>
                        <a:rPr lang="pt-BR" altLang="zh-CN" sz="2000" b="1" dirty="0"/>
                        <a:t>A =</a:t>
                      </a:r>
                    </a:p>
                    <a:p>
                      <a:r>
                        <a:rPr lang="pt-BR" altLang="zh-CN" sz="2000" b="1" dirty="0"/>
                        <a:t>     2     4     6     8</a:t>
                      </a:r>
                      <a:endParaRPr lang="zh-CN" altLang="en-US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&gt;&gt; </a:t>
                      </a:r>
                      <a:r>
                        <a:rPr lang="pt-BR" altLang="zh-CN" sz="20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A([1 3])=10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2000" b="1" dirty="0"/>
                        <a:t>    </a:t>
                      </a:r>
                      <a:r>
                        <a:rPr lang="pt-BR" altLang="zh-CN" sz="2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pt-BR" altLang="zh-CN" sz="2000" b="1" dirty="0"/>
                        <a:t>     4     </a:t>
                      </a:r>
                      <a:r>
                        <a:rPr lang="pt-BR" altLang="zh-CN" sz="2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pt-BR" altLang="zh-CN" sz="2000" b="1" dirty="0"/>
                        <a:t>     8</a:t>
                      </a:r>
                      <a:endParaRPr lang="zh-CN" altLang="en-US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&gt;&gt;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A([1 3])=[10,20]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2000" b="1" dirty="0"/>
                        <a:t>    </a:t>
                      </a:r>
                      <a:r>
                        <a:rPr lang="pt-BR" altLang="zh-CN" sz="20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pt-BR" altLang="zh-CN" sz="2000" b="1" dirty="0"/>
                        <a:t>     4     </a:t>
                      </a:r>
                      <a:r>
                        <a:rPr lang="pt-BR" altLang="zh-CN" sz="2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r>
                        <a:rPr lang="pt-BR" altLang="zh-CN" sz="2000" b="1" dirty="0"/>
                        <a:t>     8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79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&gt;&gt; A([1,3])=[10,20,30]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✘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该命令出错</a:t>
                      </a:r>
                      <a:endParaRPr lang="en-US" altLang="zh-C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zh-CN" altLang="en-US" sz="2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赋值的元素个数要求前后要一致！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53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&gt;&gt; A(:)=10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该命令等价于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A(1:end)=10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pt-BR" altLang="zh-CN" sz="2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10    10    10    10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60495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863" y="199664"/>
            <a:ext cx="8588012" cy="409936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6.1.b </a:t>
            </a:r>
            <a:r>
              <a:rPr lang="zh-CN" altLang="en-US" sz="3600" dirty="0"/>
              <a:t>修改数组元素的值</a:t>
            </a:r>
            <a:r>
              <a:rPr lang="en-US" altLang="zh-CN" sz="3600" dirty="0">
                <a:sym typeface="Wingdings" panose="05000000000000000000" pitchFamily="2" charset="2"/>
              </a:rPr>
              <a:t></a:t>
            </a:r>
            <a:r>
              <a:rPr lang="zh-CN" altLang="en-US" sz="3600" dirty="0">
                <a:solidFill>
                  <a:srgbClr val="FF0000"/>
                </a:solidFill>
                <a:sym typeface="Wingdings" panose="05000000000000000000" pitchFamily="2" charset="2"/>
              </a:rPr>
              <a:t>批量元素修改</a:t>
            </a:r>
            <a:r>
              <a:rPr lang="en-US" altLang="zh-CN" sz="3600" dirty="0">
                <a:solidFill>
                  <a:srgbClr val="FF0000"/>
                </a:solidFill>
              </a:rPr>
              <a:t> 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485737"/>
              </p:ext>
            </p:extLst>
          </p:nvPr>
        </p:nvGraphicFramePr>
        <p:xfrm>
          <a:off x="723900" y="609600"/>
          <a:ext cx="10647998" cy="61315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740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0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9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数组类型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数组原始值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修改元素命令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修改后数组的值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 rowSpan="6">
                  <a:txBody>
                    <a:bodyPr/>
                    <a:lstStyle/>
                    <a:p>
                      <a:r>
                        <a:rPr lang="zh-CN" altLang="en-US" sz="2000" b="1" dirty="0"/>
                        <a:t>矩阵</a:t>
                      </a:r>
                      <a:endParaRPr lang="en-US" altLang="zh-CN" sz="2000" b="1" dirty="0"/>
                    </a:p>
                    <a:p>
                      <a:r>
                        <a:rPr lang="en-US" altLang="zh-CN" sz="2000" b="1" dirty="0"/>
                        <a:t>&gt;&gt; A=magic(3)</a:t>
                      </a:r>
                      <a:endParaRPr lang="zh-CN" altLang="en-US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r>
                        <a:rPr lang="pt-BR" altLang="zh-CN" sz="2000" b="1" dirty="0"/>
                        <a:t>A =</a:t>
                      </a:r>
                    </a:p>
                    <a:p>
                      <a:r>
                        <a:rPr lang="pt-BR" altLang="zh-CN" sz="2000" b="1" dirty="0"/>
                        <a:t>     8     1     6</a:t>
                      </a:r>
                    </a:p>
                    <a:p>
                      <a:r>
                        <a:rPr lang="pt-BR" altLang="zh-CN" sz="2000" b="1" dirty="0"/>
                        <a:t>     3     5     7</a:t>
                      </a:r>
                    </a:p>
                    <a:p>
                      <a:r>
                        <a:rPr lang="pt-BR" altLang="zh-CN" sz="2000" b="1" dirty="0"/>
                        <a:t>     4     9     2</a:t>
                      </a:r>
                      <a:endParaRPr lang="zh-CN" altLang="en-US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&gt;&gt; A(:,2)=10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1800" b="1" dirty="0"/>
                        <a:t>     8    </a:t>
                      </a:r>
                      <a:r>
                        <a:rPr lang="pt-BR" altLang="zh-CN" sz="18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pt-BR" altLang="zh-CN" sz="1800" b="1" dirty="0"/>
                        <a:t>     6</a:t>
                      </a:r>
                    </a:p>
                    <a:p>
                      <a:r>
                        <a:rPr lang="pt-BR" altLang="zh-CN" sz="1800" b="1" dirty="0"/>
                        <a:t>     3    </a:t>
                      </a:r>
                      <a:r>
                        <a:rPr lang="pt-BR" altLang="zh-CN" sz="1800" b="1" dirty="0">
                          <a:solidFill>
                            <a:srgbClr val="FF0000"/>
                          </a:solidFill>
                        </a:rPr>
                        <a:t>10 </a:t>
                      </a:r>
                      <a:r>
                        <a:rPr lang="pt-BR" altLang="zh-CN" sz="1800" b="1" dirty="0"/>
                        <a:t>    7</a:t>
                      </a:r>
                    </a:p>
                    <a:p>
                      <a:r>
                        <a:rPr lang="pt-BR" altLang="zh-CN" sz="1800" b="1" dirty="0"/>
                        <a:t>     4    </a:t>
                      </a:r>
                      <a:r>
                        <a:rPr lang="pt-BR" altLang="zh-CN" sz="18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pt-BR" altLang="zh-CN" sz="1800" b="1" dirty="0"/>
                        <a:t>    2</a:t>
                      </a:r>
                      <a:endParaRPr lang="zh-CN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altLang="zh-CN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&gt;&gt; A(:,2)=[1 2 3]'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1800" b="1" dirty="0"/>
                        <a:t>     8     </a:t>
                      </a:r>
                      <a:r>
                        <a:rPr lang="pt-BR" altLang="zh-CN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pt-BR" altLang="zh-CN" sz="1800" b="1" dirty="0"/>
                        <a:t>     6</a:t>
                      </a:r>
                    </a:p>
                    <a:p>
                      <a:r>
                        <a:rPr lang="pt-BR" altLang="zh-CN" sz="1800" b="1" dirty="0"/>
                        <a:t>     3     </a:t>
                      </a:r>
                      <a:r>
                        <a:rPr lang="pt-BR" altLang="zh-CN" sz="18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pt-BR" altLang="zh-CN" sz="1800" b="1" dirty="0"/>
                        <a:t>     7</a:t>
                      </a:r>
                    </a:p>
                    <a:p>
                      <a:r>
                        <a:rPr lang="pt-BR" altLang="zh-CN" sz="1800" b="1" dirty="0"/>
                        <a:t>     4     </a:t>
                      </a:r>
                      <a:r>
                        <a:rPr lang="pt-BR" altLang="zh-CN" sz="18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pt-BR" altLang="zh-CN" sz="1800" b="1" dirty="0"/>
                        <a:t>     2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altLang="zh-CN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&gt;&gt; A([1 3],[1 3])=100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100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   1  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100</a:t>
                      </a:r>
                    </a:p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   3      5     7</a:t>
                      </a:r>
                    </a:p>
                    <a:p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   100 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 9  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100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zh-CN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&gt;&gt; A([1 3],[1 3])=[10 20;30 40]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1    </a:t>
                      </a: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3      5     7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9    </a:t>
                      </a: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zh-CN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zh-CN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&gt;&gt; A([1:2:9])=10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   1   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   3     </a:t>
                      </a: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   7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10 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  3    </a:t>
                      </a: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&gt;&gt; A(:) = 10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该命令等价于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A(1:end)=10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也等价于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A(:,:)=10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但不等价于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= 10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10    10    10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   10    10    10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   10    10    10</a:t>
                      </a:r>
                      <a:endParaRPr lang="zh-CN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63331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698863" y="199664"/>
            <a:ext cx="8588012" cy="409936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6.2 </a:t>
            </a:r>
            <a:r>
              <a:rPr lang="zh-CN" altLang="en-US" sz="3600" dirty="0"/>
              <a:t>数组的动态扩展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9150" y="939909"/>
            <a:ext cx="3159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向量的动态扩展</a:t>
            </a:r>
          </a:p>
        </p:txBody>
      </p:sp>
      <p:sp>
        <p:nvSpPr>
          <p:cNvPr id="7" name="矩形 6"/>
          <p:cNvSpPr/>
          <p:nvPr/>
        </p:nvSpPr>
        <p:spPr>
          <a:xfrm>
            <a:off x="819150" y="1635889"/>
            <a:ext cx="338137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&gt;&gt; A=1:5;</a:t>
            </a:r>
          </a:p>
          <a:p>
            <a:r>
              <a:rPr lang="zh-CN" altLang="en-US" sz="2800" dirty="0"/>
              <a:t>&gt;&gt; A(8)=8</a:t>
            </a:r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1  2  3  4  5  </a:t>
            </a:r>
            <a:r>
              <a:rPr lang="zh-CN" altLang="en-US" sz="2800" dirty="0">
                <a:solidFill>
                  <a:srgbClr val="FF0000"/>
                </a:solidFill>
              </a:rPr>
              <a:t>0  0</a:t>
            </a:r>
            <a:r>
              <a:rPr lang="zh-CN" altLang="en-US" sz="2800" dirty="0"/>
              <a:t>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</a:p>
          <a:p>
            <a:r>
              <a:rPr lang="zh-CN" altLang="en-US" sz="2800" dirty="0"/>
              <a:t>&gt;&gt; numel(A)</a:t>
            </a:r>
          </a:p>
          <a:p>
            <a:r>
              <a:rPr lang="zh-CN" altLang="en-US" sz="2800" dirty="0"/>
              <a:t>ans =</a:t>
            </a:r>
          </a:p>
          <a:p>
            <a:r>
              <a:rPr lang="zh-CN" altLang="en-US" sz="2800" dirty="0"/>
              <a:t>     8</a:t>
            </a:r>
          </a:p>
        </p:txBody>
      </p:sp>
      <p:sp>
        <p:nvSpPr>
          <p:cNvPr id="8" name="矩形 7"/>
          <p:cNvSpPr/>
          <p:nvPr/>
        </p:nvSpPr>
        <p:spPr>
          <a:xfrm>
            <a:off x="4992869" y="1635889"/>
            <a:ext cx="539890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&gt;&gt; clear all</a:t>
            </a:r>
          </a:p>
          <a:p>
            <a:r>
              <a:rPr lang="zh-CN" altLang="en-US" sz="2800" dirty="0"/>
              <a:t>&gt;&gt; A(3)</a:t>
            </a:r>
          </a:p>
          <a:p>
            <a:r>
              <a:rPr lang="zh-CN" altLang="en-US" sz="2800" dirty="0">
                <a:solidFill>
                  <a:srgbClr val="FF0000"/>
                </a:solidFill>
              </a:rPr>
              <a:t>Undefined function or variable 'A'. </a:t>
            </a:r>
          </a:p>
          <a:p>
            <a:r>
              <a:rPr lang="zh-CN" altLang="en-US" sz="2800" dirty="0"/>
              <a:t>&gt;&gt; A(3)=1</a:t>
            </a:r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</a:t>
            </a:r>
            <a:r>
              <a:rPr lang="zh-CN" altLang="en-US" sz="2800" dirty="0">
                <a:solidFill>
                  <a:srgbClr val="FF0000"/>
                </a:solidFill>
              </a:rPr>
              <a:t>0     0   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6400800" y="2120771"/>
            <a:ext cx="1900022" cy="400110"/>
            <a:chOff x="6400800" y="2120771"/>
            <a:chExt cx="1900022" cy="400110"/>
          </a:xfrm>
        </p:grpSpPr>
        <p:sp>
          <p:nvSpPr>
            <p:cNvPr id="9" name="文本框 8"/>
            <p:cNvSpPr txBox="1"/>
            <p:nvPr/>
          </p:nvSpPr>
          <p:spPr>
            <a:xfrm>
              <a:off x="7083822" y="2120771"/>
              <a:ext cx="1217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索引访问</a:t>
              </a:r>
            </a:p>
          </p:txBody>
        </p:sp>
        <p:sp>
          <p:nvSpPr>
            <p:cNvPr id="11" name="左箭头 10"/>
            <p:cNvSpPr/>
            <p:nvPr/>
          </p:nvSpPr>
          <p:spPr>
            <a:xfrm>
              <a:off x="6400800" y="2216051"/>
              <a:ext cx="683022" cy="200055"/>
            </a:xfrm>
            <a:prstGeom prst="lef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599725" y="3005763"/>
            <a:ext cx="1855175" cy="400110"/>
            <a:chOff x="6599725" y="3005763"/>
            <a:chExt cx="1855175" cy="400110"/>
          </a:xfrm>
        </p:grpSpPr>
        <p:sp>
          <p:nvSpPr>
            <p:cNvPr id="10" name="文本框 9"/>
            <p:cNvSpPr txBox="1"/>
            <p:nvPr/>
          </p:nvSpPr>
          <p:spPr>
            <a:xfrm>
              <a:off x="7237900" y="3005763"/>
              <a:ext cx="1217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索引赋值</a:t>
              </a:r>
            </a:p>
          </p:txBody>
        </p:sp>
        <p:sp>
          <p:nvSpPr>
            <p:cNvPr id="13" name="左箭头 12"/>
            <p:cNvSpPr/>
            <p:nvPr/>
          </p:nvSpPr>
          <p:spPr>
            <a:xfrm>
              <a:off x="6599725" y="3101043"/>
              <a:ext cx="683022" cy="200055"/>
            </a:xfrm>
            <a:prstGeom prst="lef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000083" y="4919097"/>
            <a:ext cx="94844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索引赋值时，如果当前索引号还没有元素存在，</a:t>
            </a:r>
            <a:endParaRPr lang="en-US" altLang="zh-CN" sz="2800" dirty="0"/>
          </a:p>
          <a:p>
            <a:r>
              <a:rPr lang="en-US" altLang="zh-CN" sz="2800" dirty="0"/>
              <a:t>MATLAB</a:t>
            </a:r>
            <a:r>
              <a:rPr lang="zh-CN" altLang="en-US" sz="2800" dirty="0"/>
              <a:t>会自动进行数组扩展，并且未赋值部分自动设置为</a:t>
            </a:r>
            <a:r>
              <a:rPr lang="en-US" altLang="zh-CN" sz="2800" dirty="0"/>
              <a:t>0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891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028700" y="454134"/>
            <a:ext cx="3159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矩阵的动态扩展</a:t>
            </a:r>
          </a:p>
        </p:txBody>
      </p:sp>
      <p:sp>
        <p:nvSpPr>
          <p:cNvPr id="9" name="矩形 8"/>
          <p:cNvSpPr/>
          <p:nvPr/>
        </p:nvSpPr>
        <p:spPr>
          <a:xfrm>
            <a:off x="489306" y="977354"/>
            <a:ext cx="518759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&gt;&gt; A=randi(10,3,3)</a:t>
            </a:r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9    10     3</a:t>
            </a:r>
          </a:p>
          <a:p>
            <a:r>
              <a:rPr lang="zh-CN" altLang="en-US" sz="2800" dirty="0"/>
              <a:t>    10     7     6</a:t>
            </a:r>
          </a:p>
          <a:p>
            <a:r>
              <a:rPr lang="zh-CN" altLang="en-US" sz="2800" dirty="0"/>
              <a:t>     2     1    10</a:t>
            </a:r>
          </a:p>
        </p:txBody>
      </p:sp>
      <p:sp>
        <p:nvSpPr>
          <p:cNvPr id="10" name="矩形 9"/>
          <p:cNvSpPr/>
          <p:nvPr/>
        </p:nvSpPr>
        <p:spPr>
          <a:xfrm>
            <a:off x="6496050" y="977354"/>
            <a:ext cx="418147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&gt;&gt;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A(end+1,:)=12</a:t>
            </a:r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 9    10      3     0</a:t>
            </a:r>
          </a:p>
          <a:p>
            <a:r>
              <a:rPr lang="zh-CN" altLang="en-US" sz="2800" dirty="0"/>
              <a:t>    10      7      6     0</a:t>
            </a:r>
          </a:p>
          <a:p>
            <a:r>
              <a:rPr lang="zh-CN" altLang="en-US" sz="2800" dirty="0"/>
              <a:t>      2      1    10    11</a:t>
            </a:r>
          </a:p>
          <a:p>
            <a:r>
              <a:rPr lang="zh-CN" altLang="en-US" sz="2800" dirty="0"/>
              <a:t>    </a:t>
            </a:r>
            <a:r>
              <a:rPr lang="zh-CN" altLang="en-US" sz="2800" dirty="0">
                <a:solidFill>
                  <a:srgbClr val="FF0000"/>
                </a:solidFill>
              </a:rPr>
              <a:t>12    12    12    12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845802" y="2932756"/>
            <a:ext cx="4004202" cy="582734"/>
            <a:chOff x="1988677" y="2781300"/>
            <a:chExt cx="4004202" cy="582734"/>
          </a:xfrm>
        </p:grpSpPr>
        <p:sp>
          <p:nvSpPr>
            <p:cNvPr id="11" name="文本框 10"/>
            <p:cNvSpPr txBox="1"/>
            <p:nvPr/>
          </p:nvSpPr>
          <p:spPr>
            <a:xfrm>
              <a:off x="2711211" y="2781300"/>
              <a:ext cx="32816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索引访问，索引号超出范围</a:t>
              </a:r>
            </a:p>
          </p:txBody>
        </p:sp>
        <p:sp>
          <p:nvSpPr>
            <p:cNvPr id="12" name="左箭头 11"/>
            <p:cNvSpPr/>
            <p:nvPr/>
          </p:nvSpPr>
          <p:spPr>
            <a:xfrm rot="19790900">
              <a:off x="1988677" y="3163979"/>
              <a:ext cx="781050" cy="200055"/>
            </a:xfrm>
            <a:prstGeom prst="lef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矩形 13"/>
          <p:cNvSpPr/>
          <p:nvPr/>
        </p:nvSpPr>
        <p:spPr>
          <a:xfrm>
            <a:off x="400050" y="3327023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/>
              <a:t>&gt;&gt;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A(3,4)</a:t>
            </a:r>
          </a:p>
          <a:p>
            <a:r>
              <a:rPr lang="zh-CN" altLang="en-US" sz="2800" dirty="0">
                <a:solidFill>
                  <a:srgbClr val="FF0000"/>
                </a:solidFill>
              </a:rPr>
              <a:t>Index exceeds matrix dimensions. </a:t>
            </a:r>
          </a:p>
        </p:txBody>
      </p:sp>
      <p:sp>
        <p:nvSpPr>
          <p:cNvPr id="15" name="矩形 14"/>
          <p:cNvSpPr/>
          <p:nvPr/>
        </p:nvSpPr>
        <p:spPr>
          <a:xfrm>
            <a:off x="6486525" y="3655010"/>
            <a:ext cx="4191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&gt;&gt;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A(:,end+1)=13</a:t>
            </a:r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 9    10      3      0    </a:t>
            </a:r>
            <a:r>
              <a:rPr lang="zh-CN" altLang="en-US" sz="2800" dirty="0">
                <a:solidFill>
                  <a:srgbClr val="FF0000"/>
                </a:solidFill>
              </a:rPr>
              <a:t>13</a:t>
            </a:r>
          </a:p>
          <a:p>
            <a:r>
              <a:rPr lang="zh-CN" altLang="en-US" sz="2800" dirty="0"/>
              <a:t>    10      7      6      0    </a:t>
            </a:r>
            <a:r>
              <a:rPr lang="zh-CN" altLang="en-US" sz="2800" dirty="0">
                <a:solidFill>
                  <a:srgbClr val="FF0000"/>
                </a:solidFill>
              </a:rPr>
              <a:t>13</a:t>
            </a:r>
          </a:p>
          <a:p>
            <a:r>
              <a:rPr lang="zh-CN" altLang="en-US" sz="2800" dirty="0"/>
              <a:t>      2      1    10    11    </a:t>
            </a:r>
            <a:r>
              <a:rPr lang="zh-CN" altLang="en-US" sz="2800" dirty="0">
                <a:solidFill>
                  <a:srgbClr val="FF0000"/>
                </a:solidFill>
              </a:rPr>
              <a:t>13</a:t>
            </a:r>
          </a:p>
          <a:p>
            <a:r>
              <a:rPr lang="zh-CN" altLang="en-US" sz="2800" dirty="0"/>
              <a:t>    12    12    12    12    </a:t>
            </a:r>
            <a:r>
              <a:rPr lang="zh-CN" altLang="en-US" sz="2800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2" name="矩形 1"/>
          <p:cNvSpPr/>
          <p:nvPr/>
        </p:nvSpPr>
        <p:spPr>
          <a:xfrm>
            <a:off x="400050" y="4364938"/>
            <a:ext cx="332803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&gt;&gt;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A(3,4)=11</a:t>
            </a:r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9    10     3     </a:t>
            </a:r>
            <a:r>
              <a:rPr lang="zh-CN" altLang="en-US" sz="2800" dirty="0">
                <a:solidFill>
                  <a:srgbClr val="FF0000"/>
                </a:solidFill>
              </a:rPr>
              <a:t>0</a:t>
            </a:r>
          </a:p>
          <a:p>
            <a:r>
              <a:rPr lang="zh-CN" altLang="en-US" sz="2800" dirty="0"/>
              <a:t>    10     7     6     </a:t>
            </a:r>
            <a:r>
              <a:rPr lang="zh-CN" altLang="en-US" sz="2800" dirty="0">
                <a:solidFill>
                  <a:srgbClr val="FF0000"/>
                </a:solidFill>
              </a:rPr>
              <a:t>0</a:t>
            </a:r>
          </a:p>
          <a:p>
            <a:r>
              <a:rPr lang="zh-CN" altLang="en-US" sz="2800" dirty="0"/>
              <a:t>     2     1    10    </a:t>
            </a:r>
            <a:r>
              <a:rPr lang="zh-CN" altLang="en-US" sz="2800" b="1" dirty="0">
                <a:solidFill>
                  <a:srgbClr val="FF000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6341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5" grpId="0"/>
      <p:bldP spid="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698863" y="199664"/>
            <a:ext cx="8588012" cy="409936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6.3 </a:t>
            </a:r>
            <a:r>
              <a:rPr lang="zh-CN" altLang="en-US" sz="3600" dirty="0"/>
              <a:t>删除数组元素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28700" y="933450"/>
            <a:ext cx="29354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空矩阵：</a:t>
            </a:r>
            <a:r>
              <a:rPr lang="en-US" altLang="zh-CN" sz="2400" dirty="0"/>
              <a:t>[ 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用于删除数组元素</a:t>
            </a:r>
          </a:p>
        </p:txBody>
      </p:sp>
      <p:sp>
        <p:nvSpPr>
          <p:cNvPr id="8" name="矩形 7"/>
          <p:cNvSpPr/>
          <p:nvPr/>
        </p:nvSpPr>
        <p:spPr>
          <a:xfrm>
            <a:off x="686659" y="2012097"/>
            <a:ext cx="36195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&gt;&gt; A=1:5</a:t>
            </a:r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1     2     3     4     5</a:t>
            </a:r>
          </a:p>
          <a:p>
            <a:r>
              <a:rPr lang="zh-CN" altLang="en-US" sz="2800" dirty="0"/>
              <a:t>&gt;&gt; </a:t>
            </a:r>
            <a:r>
              <a:rPr lang="zh-CN" altLang="en-US" sz="2800" b="1" dirty="0">
                <a:solidFill>
                  <a:srgbClr val="FF0000"/>
                </a:solidFill>
              </a:rPr>
              <a:t>A(2)=[]</a:t>
            </a:r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1     3     4     5</a:t>
            </a:r>
            <a:endParaRPr lang="en-US" altLang="zh-CN" sz="2800" dirty="0"/>
          </a:p>
          <a:p>
            <a:r>
              <a:rPr lang="en-US" altLang="zh-CN" sz="2800" dirty="0"/>
              <a:t>&gt;&gt; </a:t>
            </a:r>
            <a:r>
              <a:rPr lang="en-US" altLang="zh-CN" sz="2800" b="1" dirty="0">
                <a:solidFill>
                  <a:srgbClr val="FF0000"/>
                </a:solidFill>
              </a:rPr>
              <a:t>A(1:3)=[]</a:t>
            </a:r>
          </a:p>
          <a:p>
            <a:r>
              <a:rPr lang="en-US" altLang="zh-CN" sz="2800" dirty="0"/>
              <a:t>A =</a:t>
            </a:r>
          </a:p>
          <a:p>
            <a:r>
              <a:rPr lang="en-US" altLang="zh-CN" sz="2800" dirty="0"/>
              <a:t>     5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4457700" y="404632"/>
            <a:ext cx="34671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&gt;&gt; A=[1 2 3;4 5 6;7 8 9]</a:t>
            </a:r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1     2     3</a:t>
            </a:r>
          </a:p>
          <a:p>
            <a:r>
              <a:rPr lang="zh-CN" altLang="en-US" sz="2800" dirty="0"/>
              <a:t>     4     5     6</a:t>
            </a:r>
          </a:p>
          <a:p>
            <a:r>
              <a:rPr lang="zh-CN" altLang="en-US" sz="2800" dirty="0"/>
              <a:t>     7     8     9</a:t>
            </a:r>
          </a:p>
          <a:p>
            <a:r>
              <a:rPr lang="zh-CN" altLang="en-US" sz="2800" dirty="0"/>
              <a:t>&gt;&gt; </a:t>
            </a:r>
            <a:r>
              <a:rPr lang="zh-CN" altLang="en-US" sz="2800" dirty="0">
                <a:solidFill>
                  <a:srgbClr val="FF0000"/>
                </a:solidFill>
              </a:rPr>
              <a:t>A(:,2)=[]</a:t>
            </a:r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1     3</a:t>
            </a:r>
          </a:p>
          <a:p>
            <a:r>
              <a:rPr lang="zh-CN" altLang="en-US" sz="2800" dirty="0"/>
              <a:t>     4     6</a:t>
            </a:r>
          </a:p>
          <a:p>
            <a:r>
              <a:rPr lang="zh-CN" altLang="en-US" sz="2800" dirty="0"/>
              <a:t>     7     9</a:t>
            </a:r>
            <a:endParaRPr lang="en-US" altLang="zh-CN" sz="2800" dirty="0"/>
          </a:p>
          <a:p>
            <a:r>
              <a:rPr lang="zh-CN" altLang="en-US" sz="2800" dirty="0"/>
              <a:t>&gt;&gt; </a:t>
            </a:r>
            <a:r>
              <a:rPr lang="zh-CN" altLang="en-US" sz="2800" dirty="0">
                <a:solidFill>
                  <a:srgbClr val="FF0000"/>
                </a:solidFill>
              </a:rPr>
              <a:t>A(1,:)=[]</a:t>
            </a:r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4     6</a:t>
            </a:r>
          </a:p>
          <a:p>
            <a:r>
              <a:rPr lang="zh-CN" altLang="en-US" sz="2800" dirty="0"/>
              <a:t>     7     9</a:t>
            </a:r>
          </a:p>
        </p:txBody>
      </p:sp>
      <p:sp>
        <p:nvSpPr>
          <p:cNvPr id="11" name="矩形 10"/>
          <p:cNvSpPr/>
          <p:nvPr/>
        </p:nvSpPr>
        <p:spPr>
          <a:xfrm>
            <a:off x="8418381" y="404632"/>
            <a:ext cx="280035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&gt;&gt; A=magic(3)</a:t>
            </a:r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8     1     6</a:t>
            </a:r>
          </a:p>
          <a:p>
            <a:r>
              <a:rPr lang="zh-CN" altLang="en-US" sz="2800" dirty="0"/>
              <a:t>     3     5     7</a:t>
            </a:r>
          </a:p>
          <a:p>
            <a:r>
              <a:rPr lang="zh-CN" altLang="en-US" sz="2800" dirty="0"/>
              <a:t>     4     9     2</a:t>
            </a:r>
          </a:p>
          <a:p>
            <a:r>
              <a:rPr lang="zh-CN" altLang="en-US" sz="2800" dirty="0"/>
              <a:t>&gt;&gt; </a:t>
            </a:r>
            <a:r>
              <a:rPr lang="zh-CN" altLang="en-US" sz="2800" dirty="0">
                <a:solidFill>
                  <a:srgbClr val="FF0000"/>
                </a:solidFill>
              </a:rPr>
              <a:t>A([1,2],:)=[]</a:t>
            </a:r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4     9     2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134225" y="5114925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矩阵整行整列删除</a:t>
            </a:r>
          </a:p>
        </p:txBody>
      </p:sp>
    </p:spTree>
    <p:extLst>
      <p:ext uri="{BB962C8B-B14F-4D97-AF65-F5344CB8AC3E}">
        <p14:creationId xmlns:p14="http://schemas.microsoft.com/office/powerpoint/2010/main" val="244185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09600" y="713988"/>
            <a:ext cx="3590925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&gt;&gt; A=[1 2 3;4 5 6;7 8 9]</a:t>
            </a:r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1     2     3</a:t>
            </a:r>
          </a:p>
          <a:p>
            <a:r>
              <a:rPr lang="zh-CN" altLang="en-US" sz="2800" dirty="0"/>
              <a:t>     4     5     6</a:t>
            </a:r>
          </a:p>
          <a:p>
            <a:r>
              <a:rPr lang="zh-CN" altLang="en-US" sz="2800" dirty="0"/>
              <a:t>     7     8     9</a:t>
            </a:r>
          </a:p>
          <a:p>
            <a:r>
              <a:rPr lang="zh-CN" altLang="en-US" sz="2800" dirty="0"/>
              <a:t>&gt;&gt; A(2,2)=[]  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？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81100" y="10301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思考：</a:t>
            </a:r>
          </a:p>
        </p:txBody>
      </p:sp>
      <p:sp>
        <p:nvSpPr>
          <p:cNvPr id="6" name="矩形 5"/>
          <p:cNvSpPr/>
          <p:nvPr/>
        </p:nvSpPr>
        <p:spPr>
          <a:xfrm>
            <a:off x="7296148" y="683210"/>
            <a:ext cx="3781425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800" dirty="0"/>
              <a:t>&gt;&gt; A=[1 2 3;4 5 6;7 8 9]</a:t>
            </a:r>
            <a:endParaRPr lang="en-US" altLang="zh-CN" sz="2800" dirty="0"/>
          </a:p>
          <a:p>
            <a:r>
              <a:rPr lang="zh-CN" altLang="en-US" sz="2800" dirty="0"/>
              <a:t>A =</a:t>
            </a:r>
          </a:p>
          <a:p>
            <a:r>
              <a:rPr lang="zh-CN" altLang="en-US" sz="2800" dirty="0"/>
              <a:t>     1     2     3</a:t>
            </a:r>
          </a:p>
          <a:p>
            <a:r>
              <a:rPr lang="zh-CN" altLang="en-US" sz="2800" dirty="0"/>
              <a:t>     4     </a:t>
            </a:r>
            <a:r>
              <a:rPr lang="zh-CN" altLang="en-US" sz="2800" dirty="0">
                <a:solidFill>
                  <a:srgbClr val="FF0000"/>
                </a:solidFill>
              </a:rPr>
              <a:t>5</a:t>
            </a:r>
            <a:r>
              <a:rPr lang="zh-CN" altLang="en-US" sz="2800" dirty="0"/>
              <a:t>     6</a:t>
            </a:r>
          </a:p>
          <a:p>
            <a:r>
              <a:rPr lang="zh-CN" altLang="en-US" sz="2800" dirty="0"/>
              <a:t>     7     8     9</a:t>
            </a:r>
            <a:endParaRPr lang="en-US" altLang="zh-CN" sz="2800" dirty="0"/>
          </a:p>
          <a:p>
            <a:r>
              <a:rPr lang="zh-CN" altLang="en-US" sz="2800" dirty="0"/>
              <a:t>&gt;&gt; A(5)=[]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？</a:t>
            </a:r>
            <a:r>
              <a:rPr lang="zh-CN" altLang="en-US" sz="2800" dirty="0"/>
              <a:t>  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" y="3453199"/>
            <a:ext cx="364324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null assignment can have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 one non-colon index. 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160301" y="4284196"/>
            <a:ext cx="6831049" cy="1120460"/>
            <a:chOff x="5737668" y="1797054"/>
            <a:chExt cx="6831049" cy="1120460"/>
          </a:xfrm>
        </p:grpSpPr>
        <p:sp>
          <p:nvSpPr>
            <p:cNvPr id="8" name="文本框 7"/>
            <p:cNvSpPr txBox="1"/>
            <p:nvPr/>
          </p:nvSpPr>
          <p:spPr>
            <a:xfrm>
              <a:off x="6048375" y="1990725"/>
              <a:ext cx="16483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colon index</a:t>
              </a:r>
              <a:endPara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右箭头 8"/>
            <p:cNvSpPr/>
            <p:nvPr/>
          </p:nvSpPr>
          <p:spPr>
            <a:xfrm>
              <a:off x="7701028" y="2150997"/>
              <a:ext cx="638175" cy="189161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284744" y="1797054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：</a:t>
              </a:r>
              <a:endPara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5737668" y="2447806"/>
              <a:ext cx="223824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non-colon index</a:t>
              </a:r>
              <a:endParaRPr lang="zh-CN" altLang="en-US" sz="2400" dirty="0"/>
            </a:p>
          </p:txBody>
        </p:sp>
        <p:sp>
          <p:nvSpPr>
            <p:cNvPr id="12" name="右箭头 11"/>
            <p:cNvSpPr/>
            <p:nvPr/>
          </p:nvSpPr>
          <p:spPr>
            <a:xfrm>
              <a:off x="7965656" y="2608078"/>
              <a:ext cx="638175" cy="189161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665084" y="2271183"/>
              <a:ext cx="39036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就是除了：之外的其他形式的索引，</a:t>
              </a:r>
              <a:endPara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比如：一个标量索引，一个向量索引</a:t>
              </a:r>
            </a:p>
          </p:txBody>
        </p:sp>
      </p:grpSp>
      <p:sp>
        <p:nvSpPr>
          <p:cNvPr id="15" name="矩形 14"/>
          <p:cNvSpPr/>
          <p:nvPr/>
        </p:nvSpPr>
        <p:spPr>
          <a:xfrm>
            <a:off x="7296147" y="3684032"/>
            <a:ext cx="37814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A =</a:t>
            </a:r>
          </a:p>
          <a:p>
            <a:r>
              <a:rPr lang="zh-CN" altLang="en-US" sz="2800" dirty="0">
                <a:solidFill>
                  <a:srgbClr val="FF0000"/>
                </a:solidFill>
              </a:rPr>
              <a:t>     1   4   7   2   8   3   6   9</a:t>
            </a:r>
          </a:p>
        </p:txBody>
      </p:sp>
    </p:spTree>
    <p:extLst>
      <p:ext uri="{BB962C8B-B14F-4D97-AF65-F5344CB8AC3E}">
        <p14:creationId xmlns:p14="http://schemas.microsoft.com/office/powerpoint/2010/main" val="374707617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194" y="217080"/>
            <a:ext cx="8871857" cy="357686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七、数组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矩阵合并（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Concatenation 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478" y="1149804"/>
            <a:ext cx="4929892" cy="439755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/>
          <a:srcRect r="33534"/>
          <a:stretch/>
        </p:blipFill>
        <p:spPr>
          <a:xfrm>
            <a:off x="6955972" y="1631837"/>
            <a:ext cx="4713556" cy="3514929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5771607" y="2956559"/>
            <a:ext cx="1184365" cy="322217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合并</a:t>
            </a:r>
          </a:p>
        </p:txBody>
      </p:sp>
      <p:sp>
        <p:nvSpPr>
          <p:cNvPr id="7" name="右大括号 6"/>
          <p:cNvSpPr/>
          <p:nvPr/>
        </p:nvSpPr>
        <p:spPr>
          <a:xfrm>
            <a:off x="5216434" y="1706880"/>
            <a:ext cx="357052" cy="2821577"/>
          </a:xfrm>
          <a:prstGeom prst="rightBrace">
            <a:avLst>
              <a:gd name="adj1" fmla="val 9126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266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15232" y="264388"/>
            <a:ext cx="8942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7.1 </a:t>
            </a:r>
            <a:r>
              <a:rPr lang="zh-CN" altLang="en-US" sz="2800" b="1" dirty="0"/>
              <a:t>矩阵合并操作符（</a:t>
            </a:r>
            <a:r>
              <a:rPr lang="en-US" altLang="zh-CN" sz="2800" dirty="0"/>
              <a:t>concatenation operator</a:t>
            </a:r>
            <a:r>
              <a:rPr lang="zh-CN" altLang="en-US" sz="2800" b="1" dirty="0"/>
              <a:t>）：</a:t>
            </a:r>
            <a:r>
              <a:rPr lang="en-US" altLang="zh-CN" sz="2800" b="1" dirty="0"/>
              <a:t>[  ]</a:t>
            </a:r>
            <a:endParaRPr lang="zh-CN" altLang="en-US" sz="2800" b="1" dirty="0"/>
          </a:p>
        </p:txBody>
      </p:sp>
      <p:grpSp>
        <p:nvGrpSpPr>
          <p:cNvPr id="10" name="组合 9"/>
          <p:cNvGrpSpPr/>
          <p:nvPr/>
        </p:nvGrpSpPr>
        <p:grpSpPr>
          <a:xfrm>
            <a:off x="1718638" y="1414408"/>
            <a:ext cx="9123866" cy="2320560"/>
            <a:chOff x="1492216" y="1675664"/>
            <a:chExt cx="9123866" cy="2320560"/>
          </a:xfrm>
        </p:grpSpPr>
        <p:sp>
          <p:nvSpPr>
            <p:cNvPr id="2" name="矩形 1"/>
            <p:cNvSpPr/>
            <p:nvPr/>
          </p:nvSpPr>
          <p:spPr>
            <a:xfrm>
              <a:off x="1492216" y="1675664"/>
              <a:ext cx="4020652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800" b="1" dirty="0">
                  <a:solidFill>
                    <a:srgbClr val="0070C0"/>
                  </a:solidFill>
                </a:rPr>
                <a:t>&gt;&gt; </a:t>
              </a:r>
              <a:r>
                <a:rPr lang="en-US" altLang="zh-CN" sz="4800" b="1" dirty="0">
                  <a:solidFill>
                    <a:srgbClr val="0070C0"/>
                  </a:solidFill>
                </a:rPr>
                <a:t>d = </a:t>
              </a:r>
              <a:r>
                <a:rPr lang="zh-CN" altLang="en-US" sz="4800" b="1" dirty="0">
                  <a:solidFill>
                    <a:srgbClr val="0070C0"/>
                  </a:solidFill>
                </a:rPr>
                <a:t>[a , b , c]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1492216" y="3165227"/>
              <a:ext cx="4043094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800" b="1" dirty="0">
                  <a:solidFill>
                    <a:srgbClr val="0070C0"/>
                  </a:solidFill>
                </a:rPr>
                <a:t>&gt;&gt;</a:t>
              </a:r>
              <a:r>
                <a:rPr lang="en-US" altLang="zh-CN" sz="4800" b="1" dirty="0">
                  <a:solidFill>
                    <a:srgbClr val="0070C0"/>
                  </a:solidFill>
                </a:rPr>
                <a:t>d = </a:t>
              </a:r>
              <a:r>
                <a:rPr lang="zh-CN" altLang="en-US" sz="4800" b="1" dirty="0">
                  <a:solidFill>
                    <a:srgbClr val="0070C0"/>
                  </a:solidFill>
                </a:rPr>
                <a:t> [a </a:t>
              </a:r>
              <a:r>
                <a:rPr lang="en-US" altLang="zh-CN" sz="4800" b="1" dirty="0">
                  <a:solidFill>
                    <a:srgbClr val="0070C0"/>
                  </a:solidFill>
                </a:rPr>
                <a:t>; </a:t>
              </a:r>
              <a:r>
                <a:rPr lang="zh-CN" altLang="en-US" sz="4800" b="1" dirty="0">
                  <a:solidFill>
                    <a:srgbClr val="0070C0"/>
                  </a:solidFill>
                </a:rPr>
                <a:t>b </a:t>
              </a:r>
              <a:r>
                <a:rPr lang="en-US" altLang="zh-CN" sz="4800" b="1" dirty="0">
                  <a:solidFill>
                    <a:srgbClr val="0070C0"/>
                  </a:solidFill>
                </a:rPr>
                <a:t>; </a:t>
              </a:r>
              <a:r>
                <a:rPr lang="zh-CN" altLang="en-US" sz="4800" b="1" dirty="0">
                  <a:solidFill>
                    <a:srgbClr val="0070C0"/>
                  </a:solidFill>
                </a:rPr>
                <a:t>c]</a:t>
              </a:r>
            </a:p>
          </p:txBody>
        </p:sp>
        <p:sp>
          <p:nvSpPr>
            <p:cNvPr id="3" name="矩形 2"/>
            <p:cNvSpPr/>
            <p:nvPr/>
          </p:nvSpPr>
          <p:spPr>
            <a:xfrm>
              <a:off x="5877284" y="1891107"/>
              <a:ext cx="473879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</a:rPr>
                <a:t>水平合并（</a:t>
              </a:r>
              <a:r>
                <a:rPr lang="en-US" altLang="zh-CN" sz="2000" b="1" dirty="0">
                  <a:solidFill>
                    <a:srgbClr val="404040"/>
                  </a:solidFill>
                  <a:latin typeface="Arial" panose="020B0604020202020204" pitchFamily="34" charset="0"/>
                </a:rPr>
                <a:t>horizontally concatenate</a:t>
              </a:r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</a:rPr>
                <a:t>）</a:t>
              </a:r>
              <a:endParaRPr lang="zh-CN" altLang="en-US" sz="2000" b="1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6000228" y="3380670"/>
              <a:ext cx="441018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</a:rPr>
                <a:t>垂直合并（</a:t>
              </a:r>
              <a:r>
                <a:rPr lang="en-US" altLang="zh-CN" sz="2000" b="1" dirty="0">
                  <a:solidFill>
                    <a:srgbClr val="404040"/>
                  </a:solidFill>
                  <a:latin typeface="Arial" panose="020B0604020202020204" pitchFamily="34" charset="0"/>
                </a:rPr>
                <a:t>vertically concatenate</a:t>
              </a:r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</a:rPr>
                <a:t>）</a:t>
              </a:r>
              <a:endParaRPr lang="zh-CN" altLang="en-US" sz="2000" b="1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622766" y="1550127"/>
            <a:ext cx="3841515" cy="4540876"/>
            <a:chOff x="3396344" y="1811383"/>
            <a:chExt cx="3841515" cy="4540876"/>
          </a:xfrm>
        </p:grpSpPr>
        <p:sp>
          <p:nvSpPr>
            <p:cNvPr id="11" name="圆角矩形 10"/>
            <p:cNvSpPr/>
            <p:nvPr/>
          </p:nvSpPr>
          <p:spPr>
            <a:xfrm>
              <a:off x="3396344" y="1811383"/>
              <a:ext cx="391886" cy="227293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4106265" y="1811383"/>
              <a:ext cx="391886" cy="227293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4845149" y="1811383"/>
              <a:ext cx="391886" cy="227293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左大括号 13"/>
            <p:cNvSpPr/>
            <p:nvPr/>
          </p:nvSpPr>
          <p:spPr>
            <a:xfrm rot="16200000">
              <a:off x="4083237" y="3709824"/>
              <a:ext cx="513978" cy="1375954"/>
            </a:xfrm>
            <a:prstGeom prst="leftBrace">
              <a:avLst>
                <a:gd name="adj1" fmla="val 43794"/>
                <a:gd name="adj2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513763" y="4782599"/>
              <a:ext cx="3724096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这里的</a:t>
              </a:r>
              <a:r>
                <a:rPr lang="en-US" altLang="zh-CN" sz="2400" b="1" dirty="0"/>
                <a:t>a</a:t>
              </a:r>
              <a:r>
                <a:rPr lang="zh-CN" altLang="en-US" sz="2400" b="1" dirty="0"/>
                <a:t>、</a:t>
              </a:r>
              <a:r>
                <a:rPr lang="en-US" altLang="zh-CN" sz="2400" b="1" dirty="0"/>
                <a:t>b</a:t>
              </a:r>
              <a:r>
                <a:rPr lang="zh-CN" altLang="en-US" sz="2400" b="1" dirty="0"/>
                <a:t>、</a:t>
              </a:r>
              <a:r>
                <a:rPr lang="en-US" altLang="zh-CN" sz="2400" b="1" dirty="0"/>
                <a:t>c</a:t>
              </a:r>
              <a:r>
                <a:rPr lang="zh-CN" altLang="en-US" sz="2400" b="1" dirty="0"/>
                <a:t>，可以是：</a:t>
              </a:r>
              <a:endParaRPr lang="en-US" altLang="zh-CN" sz="2400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400" b="1" dirty="0"/>
                <a:t>标量</a:t>
              </a:r>
              <a:endParaRPr lang="en-US" altLang="zh-CN" sz="2400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400" b="1" dirty="0"/>
                <a:t>向量</a:t>
              </a:r>
              <a:endParaRPr lang="en-US" altLang="zh-CN" sz="2400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400" b="1" dirty="0"/>
                <a:t>矩阵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064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396" y="426720"/>
            <a:ext cx="4933950" cy="19812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3" name="文本框 12"/>
          <p:cNvSpPr txBox="1"/>
          <p:nvPr/>
        </p:nvSpPr>
        <p:spPr>
          <a:xfrm>
            <a:off x="558624" y="141732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标量合并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58624" y="436517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向量合并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396" y="2719579"/>
            <a:ext cx="824865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97247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15" y="1332685"/>
            <a:ext cx="5427794" cy="484169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b="12387"/>
          <a:stretch/>
        </p:blipFill>
        <p:spPr>
          <a:xfrm>
            <a:off x="6244181" y="1813290"/>
            <a:ext cx="5381625" cy="38804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8523" y="1402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矩阵合并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15" y="601900"/>
            <a:ext cx="37338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2927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>
            <a:spLocks noGrp="1"/>
          </p:cNvSpPr>
          <p:nvPr>
            <p:ph type="title"/>
          </p:nvPr>
        </p:nvSpPr>
        <p:spPr>
          <a:xfrm>
            <a:off x="838200" y="448206"/>
            <a:ext cx="1051560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n-lt"/>
                <a:ea typeface="+mn-ea"/>
                <a:cs typeface="+mn-cs"/>
              </a:rPr>
              <a:t>7.2 </a:t>
            </a:r>
            <a:r>
              <a:rPr lang="zh-CN" altLang="en-US" sz="2800" b="1" dirty="0">
                <a:latin typeface="+mn-lt"/>
                <a:ea typeface="+mn-ea"/>
                <a:cs typeface="+mn-cs"/>
              </a:rPr>
              <a:t>矩阵合并函数</a:t>
            </a:r>
          </a:p>
        </p:txBody>
      </p:sp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64768"/>
            <a:ext cx="10022753" cy="391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09930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735590" y="283845"/>
            <a:ext cx="5489122" cy="1047750"/>
            <a:chOff x="890859" y="440600"/>
            <a:chExt cx="5489122" cy="10477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0859" y="440600"/>
              <a:ext cx="2276475" cy="104775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22556" y="440600"/>
              <a:ext cx="2257425" cy="1038225"/>
            </a:xfrm>
            <a:prstGeom prst="rect">
              <a:avLst/>
            </a:prstGeom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/>
          <a:srcRect b="27143"/>
          <a:stretch/>
        </p:blipFill>
        <p:spPr>
          <a:xfrm>
            <a:off x="456723" y="1296776"/>
            <a:ext cx="8696325" cy="186676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04568" y="3347217"/>
            <a:ext cx="284366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&gt;&gt; C = cat(1,A,B)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&gt;&gt; </a:t>
            </a:r>
            <a:r>
              <a:rPr lang="zh-CN" altLang="en-US" sz="2400" dirty="0"/>
              <a:t>C = </a:t>
            </a:r>
            <a:r>
              <a:rPr lang="en-US" altLang="zh-CN" sz="2400" dirty="0" err="1"/>
              <a:t>vertcat</a:t>
            </a:r>
            <a:r>
              <a:rPr lang="en-US" altLang="zh-CN" sz="2400" dirty="0"/>
              <a:t>(A,B)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&gt;&gt; </a:t>
            </a:r>
            <a:r>
              <a:rPr lang="zh-CN" altLang="en-US" sz="2400" dirty="0"/>
              <a:t>C =</a:t>
            </a:r>
            <a:r>
              <a:rPr lang="en-US" altLang="zh-CN" sz="2400" dirty="0"/>
              <a:t>[A;B]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3755880" y="3347218"/>
            <a:ext cx="289342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&gt;&gt; C = cat(2,A,B)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&gt;&gt; </a:t>
            </a:r>
            <a:r>
              <a:rPr lang="zh-CN" altLang="en-US" sz="2400" dirty="0"/>
              <a:t>C = </a:t>
            </a:r>
            <a:r>
              <a:rPr lang="en-US" altLang="zh-CN" sz="2400" dirty="0" err="1"/>
              <a:t>horzcat</a:t>
            </a:r>
            <a:r>
              <a:rPr lang="en-US" altLang="zh-CN" sz="2400" dirty="0"/>
              <a:t>(A,B)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&gt;&gt; </a:t>
            </a:r>
            <a:r>
              <a:rPr lang="zh-CN" altLang="en-US" sz="2400" dirty="0"/>
              <a:t>C = </a:t>
            </a:r>
            <a:r>
              <a:rPr lang="en-US" altLang="zh-CN" sz="2400" dirty="0"/>
              <a:t>[A B]</a:t>
            </a:r>
            <a:endParaRPr lang="zh-CN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7056949" y="3347218"/>
            <a:ext cx="4150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&gt;&gt; </a:t>
            </a:r>
            <a:r>
              <a:rPr lang="zh-CN" altLang="en-US" sz="2400" dirty="0"/>
              <a:t>C = cat(</a:t>
            </a:r>
            <a:r>
              <a:rPr lang="en-US" altLang="zh-CN" sz="2400" dirty="0"/>
              <a:t>3</a:t>
            </a:r>
            <a:r>
              <a:rPr lang="zh-CN" altLang="en-US" sz="2400" dirty="0"/>
              <a:t>,A,B)   </a:t>
            </a:r>
            <a:r>
              <a:rPr lang="en-US" altLang="zh-CN" sz="2400" dirty="0"/>
              <a:t>C</a:t>
            </a:r>
            <a:r>
              <a:rPr lang="zh-CN" altLang="en-US" sz="2400" dirty="0"/>
              <a:t>是</a:t>
            </a:r>
            <a:r>
              <a:rPr lang="en-US" altLang="zh-CN" sz="2400" dirty="0"/>
              <a:t>3</a:t>
            </a:r>
            <a:r>
              <a:rPr lang="zh-CN" altLang="en-US" sz="2400" dirty="0"/>
              <a:t>维数组</a:t>
            </a:r>
            <a:endParaRPr lang="en-US" altLang="zh-CN" sz="2400" dirty="0"/>
          </a:p>
        </p:txBody>
      </p:sp>
      <p:graphicFrame>
        <p:nvGraphicFramePr>
          <p:cNvPr id="12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3741793"/>
              </p:ext>
            </p:extLst>
          </p:nvPr>
        </p:nvGraphicFramePr>
        <p:xfrm>
          <a:off x="1173299" y="4912580"/>
          <a:ext cx="8597717" cy="1325880"/>
        </p:xfrm>
        <a:graphic>
          <a:graphicData uri="http://schemas.openxmlformats.org/drawingml/2006/table">
            <a:tbl>
              <a:tblPr/>
              <a:tblGrid>
                <a:gridCol w="1604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2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1" dirty="0">
                          <a:solidFill>
                            <a:srgbClr val="000000"/>
                          </a:solidFill>
                          <a:effectLst/>
                        </a:rPr>
                        <a:t>合并方式</a:t>
                      </a:r>
                      <a:endParaRPr lang="en-US" sz="24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1" dirty="0">
                          <a:solidFill>
                            <a:srgbClr val="000000"/>
                          </a:solidFill>
                          <a:effectLst/>
                        </a:rPr>
                        <a:t>调用方式</a:t>
                      </a:r>
                      <a:endParaRPr lang="en-US" sz="24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400" u="none" strike="noStrike" dirty="0">
                          <a:solidFill>
                            <a:srgbClr val="005695"/>
                          </a:solidFill>
                          <a:effectLst/>
                        </a:rPr>
                        <a:t>水平合并</a:t>
                      </a:r>
                      <a:endParaRPr lang="en-US" sz="2400" dirty="0">
                        <a:effectLst/>
                      </a:endParaRP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[ A</a:t>
                      </a:r>
                      <a:r>
                        <a:rPr lang="zh-CN" altLang="en-US" sz="2400" dirty="0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 </a:t>
                      </a:r>
                      <a:r>
                        <a:rPr lang="en-US" altLang="zh-CN" sz="2400" baseline="0" dirty="0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 B] </a:t>
                      </a:r>
                      <a:r>
                        <a:rPr lang="zh-CN" altLang="en-US" sz="2400" dirty="0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、</a:t>
                      </a:r>
                      <a:r>
                        <a:rPr lang="en-US" altLang="zh-CN" sz="2400" dirty="0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cat(2,A,B)</a:t>
                      </a:r>
                      <a:r>
                        <a:rPr lang="zh-CN" altLang="en-US" sz="2400" dirty="0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、</a:t>
                      </a:r>
                      <a:r>
                        <a:rPr lang="en-US" altLang="zh-CN" sz="2400" dirty="0" err="1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horzcat</a:t>
                      </a:r>
                      <a:r>
                        <a:rPr lang="en-US" altLang="zh-CN" sz="2400" dirty="0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(A,B)</a:t>
                      </a: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400" u="none" strike="noStrike" dirty="0">
                          <a:solidFill>
                            <a:srgbClr val="005695"/>
                          </a:solidFill>
                          <a:effectLst/>
                        </a:rPr>
                        <a:t>垂直合并</a:t>
                      </a:r>
                      <a:endParaRPr lang="en-US" sz="2400" dirty="0">
                        <a:effectLst/>
                      </a:endParaRP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[ A</a:t>
                      </a:r>
                      <a:r>
                        <a:rPr lang="zh-CN" altLang="en-US" sz="2400" dirty="0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; B] </a:t>
                      </a:r>
                      <a:r>
                        <a:rPr lang="zh-CN" altLang="en-US" sz="2400" dirty="0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、</a:t>
                      </a:r>
                      <a:r>
                        <a:rPr lang="en-US" altLang="zh-CN" sz="2400" dirty="0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cat(1,A,B)</a:t>
                      </a:r>
                      <a:r>
                        <a:rPr lang="zh-CN" altLang="en-US" sz="2400" dirty="0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、</a:t>
                      </a:r>
                      <a:r>
                        <a:rPr lang="en-US" altLang="zh-CN" sz="2400" dirty="0" err="1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vertcat</a:t>
                      </a:r>
                      <a:r>
                        <a:rPr lang="en-US" altLang="zh-CN" sz="2400" dirty="0">
                          <a:solidFill>
                            <a:srgbClr val="404040"/>
                          </a:solidFill>
                          <a:latin typeface="Arial Unicode MS" panose="020B0604020202020204" pitchFamily="34" charset="-122"/>
                          <a:ea typeface="Menlo"/>
                        </a:rPr>
                        <a:t>(A,B)</a:t>
                      </a: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14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6423" y="425609"/>
            <a:ext cx="424978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rgbClr val="C45400"/>
                </a:solidFill>
                <a:latin typeface="Arial" panose="020B0604020202020204" pitchFamily="34" charset="0"/>
              </a:rPr>
              <a:t>repmat</a:t>
            </a:r>
            <a:r>
              <a:rPr lang="zh-CN" altLang="en-US" sz="2800" b="1" dirty="0">
                <a:solidFill>
                  <a:srgbClr val="C45400"/>
                </a:solidFill>
                <a:latin typeface="Arial" panose="020B0604020202020204" pitchFamily="34" charset="0"/>
              </a:rPr>
              <a:t>函数：</a:t>
            </a:r>
            <a:endParaRPr lang="en-US" altLang="zh-CN" sz="2800" b="1" dirty="0">
              <a:solidFill>
                <a:srgbClr val="C45400"/>
              </a:solidFill>
              <a:latin typeface="Arial" panose="020B0604020202020204" pitchFamily="34" charset="0"/>
            </a:endParaRPr>
          </a:p>
          <a:p>
            <a:r>
              <a:rPr lang="zh-CN" altLang="en-US" sz="2800" b="1" i="0" dirty="0">
                <a:solidFill>
                  <a:srgbClr val="555651"/>
                </a:solidFill>
                <a:effectLst/>
                <a:latin typeface="futura-pt-n4"/>
              </a:rPr>
              <a:t>重复性地复制整个数组</a:t>
            </a:r>
            <a:endParaRPr lang="en-US" altLang="zh-CN" sz="2800" b="1" i="0" dirty="0">
              <a:solidFill>
                <a:srgbClr val="555651"/>
              </a:solidFill>
              <a:effectLst/>
              <a:latin typeface="futura-pt-n4"/>
            </a:endParaRPr>
          </a:p>
          <a:p>
            <a:endParaRPr lang="en-US" altLang="zh-CN" sz="2800" b="1" i="0" dirty="0">
              <a:solidFill>
                <a:srgbClr val="555651"/>
              </a:solidFill>
              <a:effectLst/>
              <a:latin typeface="futura-pt-n4"/>
            </a:endParaRPr>
          </a:p>
          <a:p>
            <a:r>
              <a:rPr lang="zh-CN" altLang="en-US" sz="2800" b="1" i="0" dirty="0">
                <a:solidFill>
                  <a:srgbClr val="555651"/>
                </a:solidFill>
                <a:effectLst/>
                <a:latin typeface="futura-pt-n4"/>
              </a:rPr>
              <a:t>语法：</a:t>
            </a:r>
            <a:endParaRPr lang="en-US" altLang="zh-CN" sz="2800" b="1" i="0" dirty="0">
              <a:solidFill>
                <a:srgbClr val="555651"/>
              </a:solidFill>
              <a:effectLst/>
              <a:latin typeface="futura-pt-n4"/>
            </a:endParaRPr>
          </a:p>
          <a:p>
            <a:r>
              <a:rPr lang="en-US" altLang="zh-CN" sz="2800" dirty="0"/>
              <a:t>B = </a:t>
            </a:r>
            <a:r>
              <a:rPr lang="en-US" altLang="zh-CN" sz="2800" dirty="0" err="1"/>
              <a:t>repmat</a:t>
            </a:r>
            <a:r>
              <a:rPr lang="en-US" altLang="zh-CN" sz="2800" dirty="0"/>
              <a:t>(</a:t>
            </a:r>
            <a:r>
              <a:rPr lang="en-US" altLang="zh-CN" sz="2800" dirty="0" err="1"/>
              <a:t>A,n</a:t>
            </a:r>
            <a:r>
              <a:rPr lang="en-US" altLang="zh-CN" sz="2800" dirty="0"/>
              <a:t>)</a:t>
            </a:r>
          </a:p>
          <a:p>
            <a:r>
              <a:rPr lang="en-US" altLang="zh-CN" sz="2800" dirty="0"/>
              <a:t>B = </a:t>
            </a:r>
            <a:r>
              <a:rPr lang="en-US" altLang="zh-CN" sz="2800" dirty="0" err="1"/>
              <a:t>repmat</a:t>
            </a:r>
            <a:r>
              <a:rPr lang="en-US" altLang="zh-CN" sz="2800" dirty="0"/>
              <a:t>(A,r1,...,</a:t>
            </a:r>
            <a:r>
              <a:rPr lang="en-US" altLang="zh-CN" sz="2800" dirty="0" err="1"/>
              <a:t>rN</a:t>
            </a:r>
            <a:r>
              <a:rPr lang="en-US" altLang="zh-CN" sz="2800" dirty="0"/>
              <a:t>)</a:t>
            </a:r>
            <a:endParaRPr lang="en-US" altLang="zh-CN" sz="2800" b="1" i="0" dirty="0">
              <a:solidFill>
                <a:srgbClr val="555651"/>
              </a:solidFill>
              <a:effectLst/>
              <a:latin typeface="futura-pt-n4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206" y="1259340"/>
            <a:ext cx="681037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65746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10" y="844459"/>
            <a:ext cx="1000125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174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58" y="651645"/>
            <a:ext cx="4514850" cy="25241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586" y="726485"/>
            <a:ext cx="458152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2353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869588" y="1991644"/>
            <a:ext cx="5553075" cy="4473109"/>
            <a:chOff x="6193291" y="1456100"/>
            <a:chExt cx="5553075" cy="4473109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3291" y="1456100"/>
              <a:ext cx="5553075" cy="409575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1934" y="5672034"/>
              <a:ext cx="3124200" cy="257175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17874" y="3863680"/>
              <a:ext cx="895350" cy="933450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844732" y="243841"/>
            <a:ext cx="4695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/>
            </a:lvl1pPr>
          </a:lstStyle>
          <a:p>
            <a:r>
              <a:rPr lang="en-US" altLang="zh-CN" dirty="0"/>
              <a:t>7.3 </a:t>
            </a:r>
            <a:r>
              <a:rPr lang="zh-CN" altLang="en-US" dirty="0"/>
              <a:t>矩阵合并时要注意的事项</a:t>
            </a:r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844732" y="1160647"/>
            <a:ext cx="46155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2400" b="1" dirty="0"/>
              <a:t>垂直合并时，列数要相同；</a:t>
            </a:r>
            <a:endParaRPr lang="en-US" altLang="zh-CN" sz="2400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 b="1" dirty="0"/>
              <a:t>水平合并时，行数要相同。</a:t>
            </a:r>
          </a:p>
        </p:txBody>
      </p:sp>
    </p:spTree>
    <p:extLst>
      <p:ext uri="{BB962C8B-B14F-4D97-AF65-F5344CB8AC3E}">
        <p14:creationId xmlns:p14="http://schemas.microsoft.com/office/powerpoint/2010/main" val="367260939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317" y="1728378"/>
            <a:ext cx="2800350" cy="1790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737778"/>
            <a:ext cx="3390900" cy="2781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350" y="3658007"/>
            <a:ext cx="893445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004" y="2414180"/>
            <a:ext cx="4118737" cy="150467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926" y="4466954"/>
            <a:ext cx="9839325" cy="1181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366" y="721587"/>
            <a:ext cx="282892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971" y="1494609"/>
            <a:ext cx="4627705" cy="206719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971" y="3561807"/>
            <a:ext cx="3519059" cy="106979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229" y="694781"/>
            <a:ext cx="2321041" cy="504868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095505" y="2528208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369017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270" y="974542"/>
            <a:ext cx="4147704" cy="161190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270" y="2715986"/>
            <a:ext cx="2599928" cy="6716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883" y="3660049"/>
            <a:ext cx="4977765" cy="5200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020" y="704306"/>
            <a:ext cx="2923909" cy="36499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223127" y="163237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102555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24" y="684422"/>
            <a:ext cx="4991149" cy="32085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758" y="742979"/>
            <a:ext cx="3394367" cy="44315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51391" y="835339"/>
            <a:ext cx="515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51391" y="1718701"/>
            <a:ext cx="515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406839" y="2608506"/>
            <a:ext cx="515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744636" y="3498311"/>
            <a:ext cx="515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351391" y="4446645"/>
            <a:ext cx="515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✘</a:t>
            </a:r>
          </a:p>
        </p:txBody>
      </p:sp>
    </p:spTree>
    <p:extLst>
      <p:ext uri="{BB962C8B-B14F-4D97-AF65-F5344CB8AC3E}">
        <p14:creationId xmlns:p14="http://schemas.microsoft.com/office/powerpoint/2010/main" val="341448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352425"/>
            <a:ext cx="2981325" cy="1047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l="2697"/>
          <a:stretch/>
        </p:blipFill>
        <p:spPr>
          <a:xfrm>
            <a:off x="228599" y="1485900"/>
            <a:ext cx="1975645" cy="119634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267" y="2850218"/>
            <a:ext cx="992660" cy="113560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028" y="4144584"/>
            <a:ext cx="3257313" cy="101089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9025" y="300038"/>
            <a:ext cx="1552575" cy="3524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3125" y="737249"/>
            <a:ext cx="3946485" cy="246315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1900" y="3290887"/>
            <a:ext cx="1504950" cy="3714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6804" y="3824287"/>
            <a:ext cx="3624121" cy="160721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7212" y="352425"/>
            <a:ext cx="1514475" cy="3524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7212" y="857250"/>
            <a:ext cx="2433638" cy="73428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4723" y="1780627"/>
            <a:ext cx="3419475" cy="6858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5299" y="2557462"/>
            <a:ext cx="2914651" cy="100326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4723" y="3623870"/>
            <a:ext cx="1762125" cy="3619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5"/>
          <a:srcRect t="17014"/>
          <a:stretch/>
        </p:blipFill>
        <p:spPr>
          <a:xfrm>
            <a:off x="8124723" y="3985820"/>
            <a:ext cx="2905227" cy="1482586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7383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2697"/>
          <a:stretch/>
        </p:blipFill>
        <p:spPr>
          <a:xfrm>
            <a:off x="1171574" y="504825"/>
            <a:ext cx="1955255" cy="118399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076" y="1904219"/>
            <a:ext cx="961125" cy="109952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4" y="3219147"/>
            <a:ext cx="3760992" cy="116720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816" y="314325"/>
            <a:ext cx="1828800" cy="3429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1761" y="3003745"/>
            <a:ext cx="2181225" cy="3524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1761" y="3450129"/>
            <a:ext cx="4927030" cy="1872444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14" name="组合 13"/>
          <p:cNvGrpSpPr/>
          <p:nvPr/>
        </p:nvGrpSpPr>
        <p:grpSpPr>
          <a:xfrm>
            <a:off x="3491690" y="5633052"/>
            <a:ext cx="3834251" cy="830997"/>
            <a:chOff x="2305667" y="5639680"/>
            <a:chExt cx="3834251" cy="830997"/>
          </a:xfrm>
        </p:grpSpPr>
        <p:sp>
          <p:nvSpPr>
            <p:cNvPr id="11" name="矩形 10"/>
            <p:cNvSpPr/>
            <p:nvPr/>
          </p:nvSpPr>
          <p:spPr>
            <a:xfrm>
              <a:off x="2305667" y="5732014"/>
              <a:ext cx="173656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dirty="0"/>
                <a:t>[[A,B];E]</a:t>
              </a:r>
              <a:endParaRPr lang="zh-CN" altLang="en-US" sz="36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4581286" y="5732014"/>
              <a:ext cx="155863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600" dirty="0"/>
                <a:t> [A,B;E]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4090446" y="5639680"/>
              <a:ext cx="490840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800" dirty="0"/>
                <a:t>=</a:t>
              </a:r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8816" y="854579"/>
            <a:ext cx="494347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0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6113</TotalTime>
  <Words>4545</Words>
  <Application>Microsoft Office PowerPoint</Application>
  <PresentationFormat>宽屏</PresentationFormat>
  <Paragraphs>890</Paragraphs>
  <Slides>103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15" baseType="lpstr">
      <vt:lpstr>Arial Unicode MS</vt:lpstr>
      <vt:lpstr>futura-pt-n4</vt:lpstr>
      <vt:lpstr>Menlo</vt:lpstr>
      <vt:lpstr>等线</vt:lpstr>
      <vt:lpstr>宋体</vt:lpstr>
      <vt:lpstr>微软雅黑</vt:lpstr>
      <vt:lpstr>Arial</vt:lpstr>
      <vt:lpstr>Calibri</vt:lpstr>
      <vt:lpstr>Calibri Light</vt:lpstr>
      <vt:lpstr>Courier New</vt:lpstr>
      <vt:lpstr>Wingdings</vt:lpstr>
      <vt:lpstr>Office 主题</vt:lpstr>
      <vt:lpstr>矩阵和数组 的创建与索引</vt:lpstr>
      <vt:lpstr>大纲</vt:lpstr>
      <vt:lpstr>一、数组/矩阵概念</vt:lpstr>
      <vt:lpstr>数组相关基础内容：</vt:lpstr>
      <vt:lpstr>二、向量的创建（行向量、列向量）</vt:lpstr>
      <vt:lpstr>3种方法</vt:lpstr>
      <vt:lpstr>PowerPoint 演示文稿</vt:lpstr>
      <vt:lpstr>PowerPoint 演示文稿</vt:lpstr>
      <vt:lpstr>PowerPoint 演示文稿</vt:lpstr>
      <vt:lpstr>向量的符号法创建总结：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三、矩阵的创建</vt:lpstr>
      <vt:lpstr>3.1 符号法创建矩阵</vt:lpstr>
      <vt:lpstr>PowerPoint 演示文稿</vt:lpstr>
      <vt:lpstr>PowerPoint 演示文稿</vt:lpstr>
      <vt:lpstr>PowerPoint 演示文稿</vt:lpstr>
      <vt:lpstr>PowerPoint 演示文稿</vt:lpstr>
      <vt:lpstr>3.2 调用函数创建特殊矩阵</vt:lpstr>
      <vt:lpstr>PowerPoint 演示文稿</vt:lpstr>
      <vt:lpstr>PowerPoint 演示文稿</vt:lpstr>
      <vt:lpstr>ones,zeros,eye,rand,randn函数调用方式：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四、数组的基本信息获取</vt:lpstr>
      <vt:lpstr>四、数组的基本信息获取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五、向量和矩阵的索引访问（读取）Indexing</vt:lpstr>
      <vt:lpstr>5.1.1  向量的单个元素的索引访问</vt:lpstr>
      <vt:lpstr>PowerPoint 演示文稿</vt:lpstr>
      <vt:lpstr>5.1.2.a 矩阵的行列索引（row column Indexing）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5.1.2.b 矩阵的线性索引（linear Indexing）</vt:lpstr>
      <vt:lpstr>PowerPoint 演示文稿</vt:lpstr>
      <vt:lpstr>PowerPoint 演示文稿</vt:lpstr>
      <vt:lpstr>PowerPoint 演示文稿</vt:lpstr>
      <vt:lpstr>PowerPoint 演示文稿</vt:lpstr>
      <vt:lpstr>5.2 批量元素的索引提取（ Multiple Indices ）</vt:lpstr>
      <vt:lpstr>5.2.a 向量的批量索引A(vector)</vt:lpstr>
      <vt:lpstr>5.2.b 矩阵的批量索引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5.3 矩阵的逻辑索引（Logical indexing）</vt:lpstr>
      <vt:lpstr>先看一个例子</vt:lpstr>
      <vt:lpstr>MATLAB关系运算符：</vt:lpstr>
      <vt:lpstr>PowerPoint 演示文稿</vt:lpstr>
      <vt:lpstr>PowerPoint 演示文稿</vt:lpstr>
      <vt:lpstr>PowerPoint 演示文稿</vt:lpstr>
      <vt:lpstr>六、向量和矩阵的索引赋值（indexed assignment）</vt:lpstr>
      <vt:lpstr>6.1.a 修改数组元素的值单元素修改 </vt:lpstr>
      <vt:lpstr>6.1.b 修改数组元素的值批量元素修改 </vt:lpstr>
      <vt:lpstr>6.1.b 修改数组元素的值批量元素修改 </vt:lpstr>
      <vt:lpstr>6.2 数组的动态扩展</vt:lpstr>
      <vt:lpstr>PowerPoint 演示文稿</vt:lpstr>
      <vt:lpstr>6.3 删除数组元素</vt:lpstr>
      <vt:lpstr>PowerPoint 演示文稿</vt:lpstr>
      <vt:lpstr>七、数组/矩阵合并（Concatenation ）</vt:lpstr>
      <vt:lpstr>PowerPoint 演示文稿</vt:lpstr>
      <vt:lpstr>PowerPoint 演示文稿</vt:lpstr>
      <vt:lpstr>PowerPoint 演示文稿</vt:lpstr>
      <vt:lpstr>7.2 矩阵合并函数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cugb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Matlab矩阵及其操作</dc:title>
  <dc:creator>HP</dc:creator>
  <cp:lastModifiedBy>妮唛 朴</cp:lastModifiedBy>
  <cp:revision>282</cp:revision>
  <dcterms:created xsi:type="dcterms:W3CDTF">2016-02-24T15:05:55Z</dcterms:created>
  <dcterms:modified xsi:type="dcterms:W3CDTF">2021-01-24T13:30:35Z</dcterms:modified>
</cp:coreProperties>
</file>