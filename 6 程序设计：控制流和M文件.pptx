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84" r:id="rId4"/>
    <p:sldId id="285" r:id="rId5"/>
    <p:sldId id="259" r:id="rId6"/>
    <p:sldId id="261" r:id="rId7"/>
    <p:sldId id="286" r:id="rId8"/>
    <p:sldId id="262" r:id="rId9"/>
    <p:sldId id="287" r:id="rId10"/>
    <p:sldId id="288" r:id="rId11"/>
    <p:sldId id="289" r:id="rId12"/>
    <p:sldId id="290" r:id="rId13"/>
    <p:sldId id="291" r:id="rId14"/>
    <p:sldId id="292" r:id="rId15"/>
    <p:sldId id="265" r:id="rId16"/>
    <p:sldId id="266" r:id="rId17"/>
    <p:sldId id="268" r:id="rId18"/>
    <p:sldId id="293" r:id="rId19"/>
    <p:sldId id="294" r:id="rId20"/>
    <p:sldId id="295" r:id="rId21"/>
    <p:sldId id="296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5652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浅色样式 2 - 强调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中度样式 1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38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729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572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5619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35958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1463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636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3479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587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882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1873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175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E826B-2291-4BE7-A135-C2FBC33E218C}" type="datetimeFigureOut">
              <a:rPr lang="zh-CN" altLang="en-US" smtClean="0"/>
              <a:t>2021/1/24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CE868-5F85-4E9F-8B2E-83C206B58C6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44099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en-US" altLang="zh-CN" b="1" dirty="0"/>
              <a:t>MATLAB</a:t>
            </a:r>
            <a:r>
              <a:rPr lang="zh-CN" altLang="en-US" b="1" dirty="0"/>
              <a:t>程序设计</a:t>
            </a:r>
            <a:br>
              <a:rPr lang="en-US" altLang="zh-CN" b="1" dirty="0"/>
            </a:br>
            <a:r>
              <a:rPr lang="zh-CN" altLang="en-US" b="1" dirty="0"/>
              <a:t>控制流和</a:t>
            </a:r>
            <a:r>
              <a:rPr lang="en-US" altLang="zh-CN" b="1" dirty="0"/>
              <a:t>M</a:t>
            </a:r>
            <a:r>
              <a:rPr lang="zh-CN" altLang="en-US" b="1" dirty="0"/>
              <a:t>文件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35219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9821" y="399960"/>
            <a:ext cx="1661161" cy="557984"/>
          </a:xfrm>
        </p:spPr>
        <p:txBody>
          <a:bodyPr>
            <a:noAutofit/>
          </a:bodyPr>
          <a:lstStyle/>
          <a:p>
            <a:r>
              <a:rPr lang="zh-CN" altLang="en-US" sz="3600" dirty="0"/>
              <a:t>大纲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9821" y="1311819"/>
            <a:ext cx="4909459" cy="3530147"/>
          </a:xfrm>
        </p:spPr>
        <p:txBody>
          <a:bodyPr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CN" altLang="en-US" sz="3600" dirty="0"/>
              <a:t>程序控制</a:t>
            </a:r>
            <a:endParaRPr lang="en-US" altLang="zh-CN" sz="3600" dirty="0"/>
          </a:p>
          <a:p>
            <a:pPr lvl="1"/>
            <a:r>
              <a:rPr lang="zh-CN" altLang="en-US" sz="3200" dirty="0"/>
              <a:t>条件控制语句</a:t>
            </a:r>
            <a:endParaRPr lang="en-US" altLang="zh-CN" sz="3200" dirty="0"/>
          </a:p>
          <a:p>
            <a:pPr lvl="1"/>
            <a:r>
              <a:rPr lang="zh-CN" altLang="en-US" sz="3200" dirty="0"/>
              <a:t>循环控制语句</a:t>
            </a:r>
            <a:endParaRPr lang="en-US" altLang="zh-CN" sz="32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3600" dirty="0"/>
              <a:t>脚本</a:t>
            </a:r>
            <a:r>
              <a:rPr lang="en-US" altLang="zh-CN" sz="3600" dirty="0"/>
              <a:t>M</a:t>
            </a:r>
            <a:r>
              <a:rPr lang="zh-CN" altLang="en-US" sz="3600" dirty="0"/>
              <a:t>文件</a:t>
            </a:r>
            <a:endParaRPr lang="en-US" altLang="zh-CN" sz="3600" dirty="0"/>
          </a:p>
          <a:p>
            <a:pPr marL="514350" indent="-514350">
              <a:buFont typeface="+mj-lt"/>
              <a:buAutoNum type="arabicPeriod"/>
            </a:pPr>
            <a:r>
              <a:rPr lang="zh-CN" altLang="en-US" sz="3600" dirty="0"/>
              <a:t>函数</a:t>
            </a:r>
            <a:r>
              <a:rPr lang="en-US" altLang="zh-CN" sz="3600" dirty="0"/>
              <a:t>M</a:t>
            </a:r>
            <a:r>
              <a:rPr lang="zh-CN" altLang="en-US" sz="3600" dirty="0"/>
              <a:t>文件及函数</a:t>
            </a:r>
            <a:endParaRPr lang="en-US" altLang="zh-CN" sz="3600" dirty="0"/>
          </a:p>
          <a:p>
            <a:pPr marL="514350" indent="-514350">
              <a:buFont typeface="+mj-lt"/>
              <a:buAutoNum type="arabicPeriod"/>
            </a:pPr>
            <a:endParaRPr lang="en-US" altLang="zh-CN" sz="3600" dirty="0"/>
          </a:p>
          <a:p>
            <a:pPr marL="514350" indent="-514350">
              <a:buFont typeface="+mj-lt"/>
              <a:buAutoNum type="arabicPeriod"/>
            </a:pP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307674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dirty="0"/>
              <a:t>一、程序控制</a:t>
            </a:r>
            <a:endParaRPr lang="zh-CN" altLang="en-US" u="sng" dirty="0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1047205" y="1782082"/>
            <a:ext cx="7870371" cy="3843655"/>
          </a:xfrm>
        </p:spPr>
        <p:txBody>
          <a:bodyPr>
            <a:noAutofit/>
          </a:bodyPr>
          <a:lstStyle/>
          <a:p>
            <a:r>
              <a:rPr lang="en-US" altLang="zh-CN" sz="3200" b="1" dirty="0">
                <a:solidFill>
                  <a:srgbClr val="E25652"/>
                </a:solidFill>
              </a:rPr>
              <a:t>Conditional Control</a:t>
            </a:r>
            <a:r>
              <a:rPr lang="zh-CN" altLang="en-US" sz="3200" b="1" dirty="0">
                <a:solidFill>
                  <a:srgbClr val="E25652"/>
                </a:solidFill>
              </a:rPr>
              <a:t>（条件控制）</a:t>
            </a:r>
            <a:endParaRPr lang="en-US" altLang="zh-CN" sz="3200" b="1" dirty="0">
              <a:solidFill>
                <a:srgbClr val="E25652"/>
              </a:solidFill>
            </a:endParaRPr>
          </a:p>
          <a:p>
            <a:pPr lvl="1"/>
            <a:r>
              <a:rPr lang="en-US" altLang="zh-CN" sz="2800" b="1" dirty="0">
                <a:solidFill>
                  <a:srgbClr val="0070C0"/>
                </a:solidFill>
              </a:rPr>
              <a:t>if</a:t>
            </a:r>
          </a:p>
          <a:p>
            <a:pPr lvl="1"/>
            <a:r>
              <a:rPr lang="en-US" altLang="zh-CN" sz="2800" b="1" dirty="0">
                <a:solidFill>
                  <a:srgbClr val="0070C0"/>
                </a:solidFill>
              </a:rPr>
              <a:t>switch</a:t>
            </a:r>
          </a:p>
          <a:p>
            <a:r>
              <a:rPr lang="en-US" altLang="zh-CN" sz="3200" b="1" dirty="0">
                <a:solidFill>
                  <a:srgbClr val="E25652"/>
                </a:solidFill>
              </a:rPr>
              <a:t>Loop Control</a:t>
            </a:r>
            <a:r>
              <a:rPr lang="zh-CN" altLang="en-US" sz="3200" b="1" dirty="0">
                <a:solidFill>
                  <a:srgbClr val="E25652"/>
                </a:solidFill>
              </a:rPr>
              <a:t>（循环控制）</a:t>
            </a:r>
            <a:endParaRPr lang="en-US" altLang="zh-CN" sz="3200" b="1" dirty="0">
              <a:solidFill>
                <a:srgbClr val="E25652"/>
              </a:solidFill>
            </a:endParaRPr>
          </a:p>
          <a:p>
            <a:pPr lvl="1"/>
            <a:r>
              <a:rPr lang="en-US" altLang="zh-CN" sz="2800" b="1" dirty="0">
                <a:solidFill>
                  <a:srgbClr val="0070C0"/>
                </a:solidFill>
              </a:rPr>
              <a:t>for</a:t>
            </a:r>
            <a:r>
              <a:rPr lang="en-US" altLang="zh-CN" sz="2800" b="1" dirty="0"/>
              <a:t>, </a:t>
            </a:r>
            <a:r>
              <a:rPr lang="en-US" altLang="zh-CN" sz="2800" b="1" dirty="0">
                <a:solidFill>
                  <a:srgbClr val="0070C0"/>
                </a:solidFill>
              </a:rPr>
              <a:t>while</a:t>
            </a:r>
            <a:r>
              <a:rPr lang="en-US" altLang="zh-CN" sz="2800" b="1" dirty="0"/>
              <a:t>, </a:t>
            </a:r>
            <a:r>
              <a:rPr lang="en-US" altLang="zh-CN" sz="2800" b="1" dirty="0">
                <a:solidFill>
                  <a:srgbClr val="0070C0"/>
                </a:solidFill>
              </a:rPr>
              <a:t>continue</a:t>
            </a:r>
            <a:r>
              <a:rPr lang="en-US" altLang="zh-CN" sz="2800" b="1" dirty="0"/>
              <a:t>, </a:t>
            </a:r>
            <a:r>
              <a:rPr lang="en-US" altLang="zh-CN" sz="2800" b="1" dirty="0">
                <a:solidFill>
                  <a:srgbClr val="0070C0"/>
                </a:solidFill>
              </a:rPr>
              <a:t>break</a:t>
            </a:r>
          </a:p>
          <a:p>
            <a:r>
              <a:rPr lang="en-US" altLang="zh-CN" sz="3200" b="1" dirty="0">
                <a:solidFill>
                  <a:srgbClr val="E25652"/>
                </a:solidFill>
              </a:rPr>
              <a:t>Program Termination</a:t>
            </a:r>
          </a:p>
          <a:p>
            <a:pPr lvl="1"/>
            <a:r>
              <a:rPr lang="en-US" altLang="zh-CN" sz="2800" b="1" dirty="0">
                <a:solidFill>
                  <a:srgbClr val="0070C0"/>
                </a:solidFill>
              </a:rPr>
              <a:t>return</a:t>
            </a:r>
          </a:p>
          <a:p>
            <a:endParaRPr lang="en-US" altLang="zh-CN" sz="3200" b="1" dirty="0"/>
          </a:p>
          <a:p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235211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9648" y="1016181"/>
            <a:ext cx="3165974" cy="353089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715" y="1016181"/>
            <a:ext cx="2643868" cy="3509559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678651" y="479842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E25652"/>
                </a:solidFill>
              </a:rPr>
              <a:t>条件控制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141794" y="4798423"/>
            <a:ext cx="1114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E25652"/>
                </a:solidFill>
              </a:rPr>
              <a:t>循环控制</a:t>
            </a:r>
          </a:p>
        </p:txBody>
      </p:sp>
    </p:spTree>
    <p:extLst>
      <p:ext uri="{BB962C8B-B14F-4D97-AF65-F5344CB8AC3E}">
        <p14:creationId xmlns:p14="http://schemas.microsoft.com/office/powerpoint/2010/main" val="3157400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807" y="728799"/>
            <a:ext cx="2456083" cy="56877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0807" y="1556461"/>
            <a:ext cx="3476625" cy="107632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310742" y="782354"/>
            <a:ext cx="42066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solidFill>
                  <a:srgbClr val="E25652"/>
                </a:solidFill>
              </a:rPr>
              <a:t>关键字不能被用户自定义使用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1406304" y="3051180"/>
            <a:ext cx="7677872" cy="2860665"/>
            <a:chOff x="1510806" y="1898469"/>
            <a:chExt cx="7677872" cy="2860665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10807" y="2868694"/>
              <a:ext cx="4292131" cy="1890440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510806" y="2267800"/>
              <a:ext cx="2050999" cy="407729"/>
            </a:xfrm>
            <a:prstGeom prst="rect">
              <a:avLst/>
            </a:prstGeom>
          </p:spPr>
        </p:pic>
        <p:sp>
          <p:nvSpPr>
            <p:cNvPr id="3" name="文本框 2"/>
            <p:cNvSpPr txBox="1"/>
            <p:nvPr/>
          </p:nvSpPr>
          <p:spPr>
            <a:xfrm>
              <a:off x="1510807" y="1898469"/>
              <a:ext cx="76778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MATLAB</a:t>
              </a:r>
              <a:r>
                <a:rPr lang="zh-CN" altLang="en-US" dirty="0"/>
                <a:t>中所有关键字如下（输入</a:t>
              </a:r>
              <a:r>
                <a:rPr lang="en-US" altLang="zh-CN" dirty="0" err="1"/>
                <a:t>iskeyword</a:t>
              </a:r>
              <a:r>
                <a:rPr lang="zh-CN" altLang="en-US" dirty="0"/>
                <a:t>命令可得到所有关键字列表）：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78073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528" y="1107620"/>
            <a:ext cx="2219112" cy="16617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1858" y="1107620"/>
            <a:ext cx="2131695" cy="290685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6828" y="1107620"/>
            <a:ext cx="2388171" cy="3621133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7299" y="1107620"/>
            <a:ext cx="2340701" cy="504151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36528" y="217714"/>
            <a:ext cx="29803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E25652"/>
                </a:solidFill>
              </a:rPr>
              <a:t>if </a:t>
            </a:r>
            <a:r>
              <a:rPr lang="zh-CN" altLang="en-US" sz="3200" b="1" dirty="0">
                <a:solidFill>
                  <a:srgbClr val="E25652"/>
                </a:solidFill>
              </a:rPr>
              <a:t>条件控制语句</a:t>
            </a:r>
          </a:p>
        </p:txBody>
      </p:sp>
    </p:spTree>
    <p:extLst>
      <p:ext uri="{BB962C8B-B14F-4D97-AF65-F5344CB8AC3E}">
        <p14:creationId xmlns:p14="http://schemas.microsoft.com/office/powerpoint/2010/main" val="4119748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017070" y="788803"/>
            <a:ext cx="3959192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dirty="0"/>
              <a:t>a = randi(100, 1);</a:t>
            </a:r>
          </a:p>
          <a:p>
            <a:endParaRPr lang="zh-CN" altLang="en-US" sz="3200" dirty="0"/>
          </a:p>
          <a:p>
            <a:r>
              <a:rPr lang="zh-CN" altLang="en-US" sz="3200" dirty="0">
                <a:solidFill>
                  <a:srgbClr val="E25652"/>
                </a:solidFill>
              </a:rPr>
              <a:t>if</a:t>
            </a:r>
            <a:r>
              <a:rPr lang="zh-CN" altLang="en-US" sz="3200" dirty="0"/>
              <a:t> a &lt; 30</a:t>
            </a:r>
          </a:p>
          <a:p>
            <a:r>
              <a:rPr lang="zh-CN" altLang="en-US" sz="3200" dirty="0"/>
              <a:t>    disp('small')</a:t>
            </a:r>
          </a:p>
          <a:p>
            <a:r>
              <a:rPr lang="zh-CN" altLang="en-US" sz="3200" b="1" dirty="0">
                <a:solidFill>
                  <a:srgbClr val="FF0000"/>
                </a:solidFill>
              </a:rPr>
              <a:t>elseif</a:t>
            </a:r>
            <a:r>
              <a:rPr lang="zh-CN" altLang="en-US" sz="3200" dirty="0"/>
              <a:t> a &lt; 80</a:t>
            </a:r>
          </a:p>
          <a:p>
            <a:r>
              <a:rPr lang="zh-CN" altLang="en-US" sz="3200" dirty="0"/>
              <a:t>    disp('medium')</a:t>
            </a:r>
          </a:p>
          <a:p>
            <a:r>
              <a:rPr lang="zh-CN" altLang="en-US" sz="3200" dirty="0">
                <a:solidFill>
                  <a:srgbClr val="E25652"/>
                </a:solidFill>
              </a:rPr>
              <a:t>else</a:t>
            </a:r>
          </a:p>
          <a:p>
            <a:r>
              <a:rPr lang="zh-CN" altLang="en-US" sz="3200" dirty="0"/>
              <a:t>    disp('large')</a:t>
            </a:r>
          </a:p>
          <a:p>
            <a:r>
              <a:rPr lang="zh-CN" altLang="en-US" sz="3200" b="1" dirty="0">
                <a:solidFill>
                  <a:srgbClr val="FF0000"/>
                </a:solidFill>
              </a:rPr>
              <a:t>end</a:t>
            </a:r>
          </a:p>
        </p:txBody>
      </p:sp>
      <p:sp>
        <p:nvSpPr>
          <p:cNvPr id="5" name="矩形 4"/>
          <p:cNvSpPr/>
          <p:nvPr/>
        </p:nvSpPr>
        <p:spPr>
          <a:xfrm>
            <a:off x="4976262" y="1927575"/>
            <a:ext cx="5753498" cy="2246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/>
              <a:t>注意：</a:t>
            </a:r>
            <a:endParaRPr lang="en-US" altLang="zh-CN" sz="2800" dirty="0"/>
          </a:p>
          <a:p>
            <a:r>
              <a:rPr lang="en-US" altLang="zh-CN" sz="2800" dirty="0"/>
              <a:t>1</a:t>
            </a:r>
            <a:r>
              <a:rPr lang="zh-CN" altLang="en-US" sz="2800" dirty="0"/>
              <a:t>、</a:t>
            </a:r>
            <a:r>
              <a:rPr lang="en-US" altLang="zh-CN" sz="2800" dirty="0" err="1"/>
              <a:t>elseif</a:t>
            </a:r>
            <a:r>
              <a:rPr lang="en-US" altLang="zh-CN" sz="2800" dirty="0"/>
              <a:t> </a:t>
            </a:r>
            <a:r>
              <a:rPr lang="zh-CN" altLang="en-US" sz="2800" dirty="0"/>
              <a:t>中间没有空格</a:t>
            </a:r>
            <a:br>
              <a:rPr lang="en-US" altLang="zh-CN" sz="2800" dirty="0"/>
            </a:br>
            <a:r>
              <a:rPr lang="en-US" altLang="zh-CN" sz="2800" dirty="0"/>
              <a:t>(C</a:t>
            </a:r>
            <a:r>
              <a:rPr lang="zh-CN" altLang="en-US" sz="2800" dirty="0"/>
              <a:t>语言中：</a:t>
            </a:r>
            <a:r>
              <a:rPr lang="en-US" altLang="zh-CN" sz="2800" dirty="0"/>
              <a:t>else if</a:t>
            </a:r>
            <a:r>
              <a:rPr lang="zh-CN" altLang="en-US" sz="2800" dirty="0"/>
              <a:t>，不能连接在一起</a:t>
            </a:r>
            <a:r>
              <a:rPr lang="en-US" altLang="zh-CN" sz="2800" dirty="0"/>
              <a:t>)</a:t>
            </a:r>
          </a:p>
          <a:p>
            <a:r>
              <a:rPr lang="en-US" altLang="zh-CN" sz="2800" dirty="0"/>
              <a:t>2</a:t>
            </a:r>
            <a:r>
              <a:rPr lang="zh-CN" altLang="en-US" sz="2800" dirty="0"/>
              <a:t>、最后要用写上</a:t>
            </a:r>
            <a:r>
              <a:rPr lang="en-US" altLang="zh-CN" sz="2800" dirty="0"/>
              <a:t>end</a:t>
            </a:r>
            <a:br>
              <a:rPr lang="en-US" altLang="zh-CN" sz="2800" dirty="0"/>
            </a:br>
            <a:r>
              <a:rPr lang="zh-CN" altLang="en-US" sz="2800" dirty="0"/>
              <a:t>（这和</a:t>
            </a:r>
            <a:r>
              <a:rPr lang="en-US" altLang="zh-CN" sz="2800" dirty="0"/>
              <a:t>C</a:t>
            </a:r>
            <a:r>
              <a:rPr lang="zh-CN" altLang="en-US" sz="2800" dirty="0"/>
              <a:t>语言不一样）</a:t>
            </a:r>
          </a:p>
        </p:txBody>
      </p:sp>
    </p:spTree>
    <p:extLst>
      <p:ext uri="{BB962C8B-B14F-4D97-AF65-F5344CB8AC3E}">
        <p14:creationId xmlns:p14="http://schemas.microsoft.com/office/powerpoint/2010/main" val="1712143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562" y="1350883"/>
            <a:ext cx="2819400" cy="29432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6443" y="1331467"/>
            <a:ext cx="2422533" cy="2896111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168951" y="1418742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✔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6038633" y="1205881"/>
            <a:ext cx="5108338" cy="4036679"/>
            <a:chOff x="6038633" y="1205881"/>
            <a:chExt cx="5108338" cy="4036679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038633" y="1205881"/>
              <a:ext cx="2742217" cy="4036679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780850" y="1331468"/>
              <a:ext cx="2366121" cy="2957652"/>
            </a:xfrm>
            <a:prstGeom prst="rect">
              <a:avLst/>
            </a:prstGeom>
          </p:spPr>
        </p:pic>
      </p:grpSp>
      <p:sp>
        <p:nvSpPr>
          <p:cNvPr id="14" name="文本框 13"/>
          <p:cNvSpPr txBox="1"/>
          <p:nvPr/>
        </p:nvSpPr>
        <p:spPr>
          <a:xfrm>
            <a:off x="9963910" y="2822495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4040777" y="5523593"/>
            <a:ext cx="546072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注：</a:t>
            </a:r>
            <a:r>
              <a:rPr lang="en-US" altLang="zh-CN" sz="2400" b="1" dirty="0"/>
              <a:t>if</a:t>
            </a:r>
            <a:r>
              <a:rPr lang="zh-CN" altLang="en-US" sz="2400" b="1" dirty="0"/>
              <a:t>后面的表达式中的</a:t>
            </a:r>
            <a:r>
              <a:rPr lang="zh-CN" altLang="en-US" sz="2400" b="1" dirty="0">
                <a:solidFill>
                  <a:srgbClr val="E25652"/>
                </a:solidFill>
              </a:rPr>
              <a:t>（）</a:t>
            </a:r>
            <a:r>
              <a:rPr lang="zh-CN" altLang="en-US" sz="2400" b="1" dirty="0"/>
              <a:t>可有可无</a:t>
            </a:r>
            <a:endParaRPr lang="en-US" altLang="zh-CN" sz="2400" b="1" dirty="0"/>
          </a:p>
          <a:p>
            <a:r>
              <a:rPr lang="zh-CN" altLang="en-US" sz="2400" b="1" dirty="0"/>
              <a:t>但是在</a:t>
            </a:r>
            <a:r>
              <a:rPr lang="en-US" altLang="zh-CN" sz="2400" b="1" dirty="0"/>
              <a:t>C/C++</a:t>
            </a:r>
            <a:r>
              <a:rPr lang="zh-CN" altLang="en-US" sz="2400" b="1" dirty="0"/>
              <a:t>语言中</a:t>
            </a:r>
            <a:r>
              <a:rPr lang="en-US" altLang="zh-CN" sz="2400" b="1" dirty="0"/>
              <a:t>if</a:t>
            </a:r>
            <a:r>
              <a:rPr lang="zh-CN" altLang="en-US" sz="2400" b="1" dirty="0"/>
              <a:t>后面必须要有</a:t>
            </a:r>
            <a:r>
              <a:rPr lang="zh-CN" altLang="en-US" sz="2400" b="1" dirty="0">
                <a:solidFill>
                  <a:srgbClr val="E25652"/>
                </a:solidFill>
              </a:rPr>
              <a:t>（）</a:t>
            </a:r>
            <a:endParaRPr lang="zh-CN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0068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4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769" y="882422"/>
            <a:ext cx="5791213" cy="557933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397809" y="2703361"/>
            <a:ext cx="74892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4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774769" y="269966"/>
            <a:ext cx="29546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哪个语法是正确的？</a:t>
            </a:r>
          </a:p>
        </p:txBody>
      </p:sp>
    </p:spTree>
    <p:extLst>
      <p:ext uri="{BB962C8B-B14F-4D97-AF65-F5344CB8AC3E}">
        <p14:creationId xmlns:p14="http://schemas.microsoft.com/office/powerpoint/2010/main" val="1400907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519" y="1301677"/>
            <a:ext cx="2162453" cy="3183238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157519" y="4545876"/>
            <a:ext cx="18758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b="1" dirty="0"/>
              <a:t>MATLAB</a:t>
            </a:r>
            <a:r>
              <a:rPr lang="zh-CN" altLang="en-US" sz="2400" b="1" dirty="0"/>
              <a:t>代码</a:t>
            </a:r>
          </a:p>
        </p:txBody>
      </p:sp>
      <p:sp>
        <p:nvSpPr>
          <p:cNvPr id="15" name="矩形 14"/>
          <p:cNvSpPr/>
          <p:nvPr/>
        </p:nvSpPr>
        <p:spPr>
          <a:xfrm>
            <a:off x="2465349" y="1127821"/>
            <a:ext cx="2873828" cy="526297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2400" b="1" i="1" dirty="0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main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(){</a:t>
            </a:r>
          </a:p>
          <a:p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7;</a:t>
            </a:r>
          </a:p>
          <a:p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&gt; 5 )</a:t>
            </a:r>
          </a:p>
          <a:p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1;</a:t>
            </a:r>
          </a:p>
          <a:p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2;</a:t>
            </a:r>
          </a:p>
          <a:p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endParaRPr lang="en-US" altLang="zh-CN" sz="24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2;</a:t>
            </a:r>
          </a:p>
          <a:p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4;</a:t>
            </a:r>
          </a:p>
          <a:p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CN" sz="2400" b="1" i="1" dirty="0">
                <a:solidFill>
                  <a:srgbClr val="216F85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</a:t>
            </a:r>
            <a:endParaRPr lang="en-US" altLang="zh-CN" sz="24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endParaRPr lang="en-US" altLang="zh-CN" sz="24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altLang="zh-CN" sz="24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algn="ctr"/>
            <a:r>
              <a:rPr lang="en-US" altLang="zh-CN" sz="24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(A)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484554" y="1127821"/>
            <a:ext cx="2934788" cy="526297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2400" b="1" i="1" dirty="0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main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(){</a:t>
            </a:r>
          </a:p>
          <a:p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7;</a:t>
            </a:r>
          </a:p>
          <a:p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&gt; 5 )</a:t>
            </a:r>
          </a:p>
          <a:p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1;</a:t>
            </a:r>
          </a:p>
          <a:p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2;</a:t>
            </a:r>
          </a:p>
          <a:p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endParaRPr lang="en-US" altLang="zh-CN" sz="24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2;</a:t>
            </a:r>
          </a:p>
          <a:p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4;</a:t>
            </a:r>
          </a:p>
          <a:p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endParaRPr lang="en-US" altLang="zh-CN" sz="24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altLang="zh-CN" sz="24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endParaRPr lang="en-US" altLang="zh-CN" sz="24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algn="ctr"/>
            <a:r>
              <a:rPr lang="en-US" altLang="zh-CN" sz="24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(B)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564719" y="1127821"/>
            <a:ext cx="2987040" cy="5262979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2400" b="1" i="1" dirty="0">
                <a:solidFill>
                  <a:srgbClr val="88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main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(){</a:t>
            </a:r>
          </a:p>
          <a:p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7,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&gt; 5)</a:t>
            </a:r>
          </a:p>
          <a:p>
            <a:r>
              <a:rPr lang="zh-CN" alt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1;</a:t>
            </a:r>
          </a:p>
          <a:p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2;</a:t>
            </a:r>
          </a:p>
          <a:p>
            <a:r>
              <a:rPr lang="zh-CN" alt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endParaRPr lang="en-US" altLang="zh-CN" sz="2400" b="1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zh-CN" alt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2;</a:t>
            </a:r>
          </a:p>
          <a:p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altLang="zh-CN" sz="2400" b="1" dirty="0">
                <a:solidFill>
                  <a:srgbClr val="000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4;</a:t>
            </a:r>
          </a:p>
          <a:p>
            <a:r>
              <a:rPr lang="zh-CN" altLang="en-US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2400" b="1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pPr algn="ctr"/>
            <a:r>
              <a:rPr lang="en-US" altLang="zh-CN" sz="2400" b="1" dirty="0">
                <a:solidFill>
                  <a:srgbClr val="FF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(C)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465349" y="326205"/>
            <a:ext cx="54617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/>
              <a:t>对应</a:t>
            </a:r>
            <a:r>
              <a:rPr lang="en-US" altLang="zh-CN" sz="2400" b="1" dirty="0"/>
              <a:t>C</a:t>
            </a:r>
            <a:r>
              <a:rPr lang="zh-CN" altLang="en-US" sz="2400" b="1" dirty="0"/>
              <a:t>语言代码，哪个是正确的</a:t>
            </a:r>
            <a:r>
              <a:rPr lang="en-US" altLang="zh-CN" sz="2400" b="1" dirty="0"/>
              <a:t>C</a:t>
            </a:r>
            <a:r>
              <a:rPr lang="zh-CN" altLang="en-US" sz="2400" b="1" dirty="0"/>
              <a:t>代码？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10320962" y="5806025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1181180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 txBox="1">
            <a:spLocks noGrp="1"/>
          </p:cNvSpPr>
          <p:nvPr>
            <p:ph type="title"/>
          </p:nvPr>
        </p:nvSpPr>
        <p:spPr>
          <a:xfrm>
            <a:off x="838200" y="368256"/>
            <a:ext cx="3691460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b="1" dirty="0">
                <a:solidFill>
                  <a:srgbClr val="E25652"/>
                </a:solidFill>
              </a:rPr>
              <a:t>switch</a:t>
            </a:r>
            <a:r>
              <a:rPr lang="zh-CN" altLang="en-US" sz="3200" b="1" dirty="0">
                <a:solidFill>
                  <a:srgbClr val="E25652"/>
                </a:solidFill>
              </a:rPr>
              <a:t>条件控制语句</a:t>
            </a:r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659781" y="1108146"/>
            <a:ext cx="2997820" cy="518815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switch</a:t>
            </a:r>
            <a:r>
              <a:rPr lang="en-US" altLang="zh-CN" dirty="0"/>
              <a:t> </a:t>
            </a:r>
            <a:r>
              <a:rPr lang="en-US" altLang="zh-C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expression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en-US" altLang="zh-CN" dirty="0">
                <a:solidFill>
                  <a:srgbClr val="FF0000"/>
                </a:solidFill>
              </a:rPr>
              <a:t>case</a:t>
            </a:r>
            <a:r>
              <a:rPr lang="en-US" altLang="zh-CN" dirty="0"/>
              <a:t> value1</a:t>
            </a:r>
          </a:p>
          <a:p>
            <a:pPr marL="0" indent="0">
              <a:buNone/>
            </a:pPr>
            <a:r>
              <a:rPr lang="en-US" altLang="zh-CN" dirty="0"/>
              <a:t>           statements</a:t>
            </a:r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en-US" altLang="zh-CN" dirty="0">
                <a:solidFill>
                  <a:srgbClr val="FF0000"/>
                </a:solidFill>
              </a:rPr>
              <a:t>case</a:t>
            </a:r>
            <a:r>
              <a:rPr lang="en-US" altLang="zh-CN" dirty="0"/>
              <a:t> value2</a:t>
            </a:r>
          </a:p>
          <a:p>
            <a:pPr marL="0" indent="0">
              <a:buNone/>
            </a:pPr>
            <a:r>
              <a:rPr lang="en-US" altLang="zh-CN" dirty="0"/>
              <a:t>          statements</a:t>
            </a:r>
          </a:p>
          <a:p>
            <a:pPr marL="914400" lvl="2" indent="0">
              <a:buNone/>
            </a:pPr>
            <a:r>
              <a:rPr lang="en-US" altLang="zh-CN" sz="1800" dirty="0"/>
              <a:t>    .</a:t>
            </a:r>
          </a:p>
          <a:p>
            <a:pPr marL="914400" lvl="2" indent="0">
              <a:buNone/>
            </a:pPr>
            <a:r>
              <a:rPr lang="en-US" altLang="zh-CN" sz="1800" dirty="0"/>
              <a:t>    .</a:t>
            </a:r>
          </a:p>
          <a:p>
            <a:pPr marL="914400" lvl="2" indent="0">
              <a:buNone/>
            </a:pPr>
            <a:r>
              <a:rPr lang="en-US" altLang="zh-CN" sz="1800" dirty="0"/>
              <a:t>    .</a:t>
            </a:r>
          </a:p>
          <a:p>
            <a:pPr marL="0" indent="0">
              <a:buNone/>
            </a:pPr>
            <a:r>
              <a:rPr lang="en-US" altLang="zh-CN" dirty="0"/>
              <a:t>   </a:t>
            </a:r>
            <a:r>
              <a:rPr lang="en-US" altLang="zh-CN" dirty="0">
                <a:solidFill>
                  <a:srgbClr val="FF0000"/>
                </a:solidFill>
              </a:rPr>
              <a:t>otherwise</a:t>
            </a:r>
          </a:p>
          <a:p>
            <a:pPr marL="0" indent="0">
              <a:buNone/>
            </a:pPr>
            <a:r>
              <a:rPr lang="en-US" altLang="zh-CN" dirty="0"/>
              <a:t>            statements</a:t>
            </a:r>
          </a:p>
          <a:p>
            <a:pPr marL="0" indent="0">
              <a:buNone/>
            </a:pPr>
            <a:r>
              <a:rPr lang="en-US" altLang="zh-CN" b="1" dirty="0">
                <a:solidFill>
                  <a:srgbClr val="FF0000"/>
                </a:solidFill>
              </a:rPr>
              <a:t>end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750423" y="1101595"/>
            <a:ext cx="9267035" cy="523220"/>
            <a:chOff x="1750423" y="1101595"/>
            <a:chExt cx="9267035" cy="523220"/>
          </a:xfrm>
        </p:grpSpPr>
        <p:sp>
          <p:nvSpPr>
            <p:cNvPr id="6" name="矩形 5"/>
            <p:cNvSpPr/>
            <p:nvPr/>
          </p:nvSpPr>
          <p:spPr>
            <a:xfrm>
              <a:off x="4317162" y="1101595"/>
              <a:ext cx="6700296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sym typeface="Wingdings" panose="05000000000000000000" pitchFamily="2" charset="2"/>
                </a:rPr>
                <a:t>必须是标量或者字符串</a:t>
              </a:r>
              <a:r>
                <a:rPr lang="en-US" altLang="zh-CN" sz="28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sym typeface="Wingdings" panose="05000000000000000000" pitchFamily="2" charset="2"/>
                </a:rPr>
                <a:t>(</a:t>
              </a:r>
              <a:r>
                <a:rPr lang="en-US" altLang="zh-CN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sym typeface="Wingdings" panose="05000000000000000000" pitchFamily="2" charset="2"/>
                </a:rPr>
                <a:t>C++</a:t>
              </a:r>
              <a:r>
                <a:rPr lang="zh-CN" altLang="en-US" sz="2800" dirty="0">
                  <a:ln w="0"/>
                  <a:solidFill>
                    <a:srgbClr val="FF0000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sym typeface="Wingdings" panose="05000000000000000000" pitchFamily="2" charset="2"/>
                </a:rPr>
                <a:t>中只能是整数</a:t>
              </a:r>
              <a:r>
                <a:rPr lang="en-US" altLang="zh-CN" sz="2800" dirty="0">
                  <a:ln w="0"/>
                  <a:solidFill>
                    <a:schemeClr val="accent1"/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sym typeface="Wingdings" panose="05000000000000000000" pitchFamily="2" charset="2"/>
                </a:rPr>
                <a:t>)</a:t>
              </a:r>
              <a:endParaRPr lang="zh-CN" altLang="en-US" sz="28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endParaRPr>
            </a:p>
          </p:txBody>
        </p:sp>
        <p:sp>
          <p:nvSpPr>
            <p:cNvPr id="7" name="燕尾形箭头 6"/>
            <p:cNvSpPr/>
            <p:nvPr/>
          </p:nvSpPr>
          <p:spPr>
            <a:xfrm rot="10800000">
              <a:off x="3481139" y="1199938"/>
              <a:ext cx="836023" cy="339635"/>
            </a:xfrm>
            <a:prstGeom prst="notched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1750423" y="1108146"/>
              <a:ext cx="1663337" cy="516669"/>
            </a:xfrm>
            <a:prstGeom prst="round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/>
        </p:nvSpPr>
        <p:spPr>
          <a:xfrm>
            <a:off x="5108660" y="2543650"/>
            <a:ext cx="548096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/>
              <a:t>思考：</a:t>
            </a:r>
            <a:endParaRPr lang="en-US" altLang="zh-CN" sz="2800" dirty="0"/>
          </a:p>
          <a:p>
            <a:r>
              <a:rPr lang="zh-CN" altLang="en-US" sz="2800" dirty="0"/>
              <a:t>和</a:t>
            </a:r>
            <a:r>
              <a:rPr lang="en-US" altLang="zh-CN" sz="2800" dirty="0"/>
              <a:t>C/C++</a:t>
            </a:r>
            <a:r>
              <a:rPr lang="zh-CN" altLang="en-US" sz="2800" dirty="0"/>
              <a:t>语言中的</a:t>
            </a:r>
            <a:r>
              <a:rPr lang="en-US" altLang="zh-CN" sz="2800" dirty="0"/>
              <a:t>switch</a:t>
            </a:r>
            <a:r>
              <a:rPr lang="zh-CN" altLang="en-US" sz="2800" dirty="0"/>
              <a:t>语法对比，</a:t>
            </a:r>
            <a:endParaRPr lang="en-US" altLang="zh-CN" sz="2800" dirty="0"/>
          </a:p>
          <a:p>
            <a:r>
              <a:rPr lang="zh-CN" altLang="en-US" sz="2800" dirty="0"/>
              <a:t>你能说出他们的不同点吗？</a:t>
            </a:r>
          </a:p>
        </p:txBody>
      </p:sp>
    </p:spTree>
    <p:extLst>
      <p:ext uri="{BB962C8B-B14F-4D97-AF65-F5344CB8AC3E}">
        <p14:creationId xmlns:p14="http://schemas.microsoft.com/office/powerpoint/2010/main" val="860153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5212" y="963194"/>
            <a:ext cx="2981325" cy="2495550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5320937" y="642653"/>
            <a:ext cx="6705600" cy="4370427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x = [12 64 24];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plottype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2000" b="1" dirty="0">
                <a:solidFill>
                  <a:srgbClr val="A020F0"/>
                </a:solidFill>
                <a:latin typeface="Consolas" panose="020B0609020204030204" pitchFamily="49" charset="0"/>
              </a:rPr>
              <a:t>'pie3'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switch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plottype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000" b="1" dirty="0">
                <a:solidFill>
                  <a:srgbClr val="A020F0"/>
                </a:solidFill>
                <a:latin typeface="Consolas" panose="020B0609020204030204" pitchFamily="49" charset="0"/>
              </a:rPr>
              <a:t>'bar'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bar(x)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title(</a:t>
            </a:r>
            <a:r>
              <a:rPr lang="en-US" altLang="zh-CN" sz="2000" b="1" dirty="0">
                <a:solidFill>
                  <a:srgbClr val="A020F0"/>
                </a:solidFill>
                <a:latin typeface="Consolas" panose="020B0609020204030204" pitchFamily="49" charset="0"/>
              </a:rPr>
              <a:t>'Bar Graph'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{</a:t>
            </a:r>
            <a:r>
              <a:rPr lang="en-US" altLang="zh-CN" sz="2000" b="1" dirty="0">
                <a:solidFill>
                  <a:srgbClr val="A020F0"/>
                </a:solidFill>
                <a:latin typeface="Consolas" panose="020B0609020204030204" pitchFamily="49" charset="0"/>
              </a:rPr>
              <a:t>'pie'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2000" b="1" dirty="0">
                <a:solidFill>
                  <a:srgbClr val="A020F0"/>
                </a:solidFill>
                <a:latin typeface="Consolas" panose="020B0609020204030204" pitchFamily="49" charset="0"/>
              </a:rPr>
              <a:t>'pie3'</a:t>
            </a:r>
            <a:r>
              <a:rPr lang="en-US" altLang="zh-CN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}</a:t>
            </a:r>
            <a:endParaRPr lang="en-US" altLang="zh-CN" sz="2000" dirty="0">
              <a:solidFill>
                <a:srgbClr val="FF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pie3(x)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title(</a:t>
            </a:r>
            <a:r>
              <a:rPr lang="en-US" altLang="zh-CN" sz="2000" b="1" dirty="0">
                <a:solidFill>
                  <a:srgbClr val="A020F0"/>
                </a:solidFill>
                <a:latin typeface="Consolas" panose="020B0609020204030204" pitchFamily="49" charset="0"/>
              </a:rPr>
              <a:t>'Pie Chart'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otherwise</a:t>
            </a:r>
            <a:endParaRPr lang="en-US" altLang="zh-CN" sz="2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warning(</a:t>
            </a:r>
            <a:r>
              <a:rPr lang="en-US" altLang="zh-CN" sz="2000" b="1" dirty="0">
                <a:solidFill>
                  <a:srgbClr val="A020F0"/>
                </a:solidFill>
                <a:latin typeface="Consolas" panose="020B0609020204030204" pitchFamily="49" charset="0"/>
              </a:rPr>
              <a:t>'Unexpected plot type. No plot  </a:t>
            </a:r>
          </a:p>
          <a:p>
            <a:r>
              <a:rPr lang="en-US" altLang="zh-CN" sz="2000" b="1" dirty="0">
                <a:solidFill>
                  <a:srgbClr val="A020F0"/>
                </a:solidFill>
                <a:latin typeface="Consolas" panose="020B0609020204030204" pitchFamily="49" charset="0"/>
              </a:rPr>
              <a:t>                 created.'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en-US" altLang="zh-CN" sz="2000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80170" y="642653"/>
            <a:ext cx="4579213" cy="3785652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n = </a:t>
            </a:r>
            <a:r>
              <a:rPr lang="en-US" altLang="zh-CN" sz="2000" b="1" dirty="0">
                <a:solidFill>
                  <a:srgbClr val="FF0000"/>
                </a:solidFill>
                <a:latin typeface="Consolas" panose="020B0609020204030204" pitchFamily="49" charset="0"/>
              </a:rPr>
              <a:t>input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b="1" dirty="0">
                <a:solidFill>
                  <a:srgbClr val="A020F0"/>
                </a:solidFill>
                <a:latin typeface="Consolas" panose="020B0609020204030204" pitchFamily="49" charset="0"/>
              </a:rPr>
              <a:t>'Enter a number: '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switch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n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-1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disp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b="1" dirty="0">
                <a:solidFill>
                  <a:srgbClr val="A020F0"/>
                </a:solidFill>
                <a:latin typeface="Consolas" panose="020B0609020204030204" pitchFamily="49" charset="0"/>
              </a:rPr>
              <a:t>'negative one'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0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disp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b="1" dirty="0">
                <a:solidFill>
                  <a:srgbClr val="A020F0"/>
                </a:solidFill>
                <a:latin typeface="Consolas" panose="020B0609020204030204" pitchFamily="49" charset="0"/>
              </a:rPr>
              <a:t>'zero'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1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disp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b="1" dirty="0">
                <a:solidFill>
                  <a:srgbClr val="A020F0"/>
                </a:solidFill>
                <a:latin typeface="Consolas" panose="020B0609020204030204" pitchFamily="49" charset="0"/>
              </a:rPr>
              <a:t>'positive one'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otherwise</a:t>
            </a:r>
            <a:endParaRPr lang="en-US" altLang="zh-CN" sz="20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20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disp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000" b="1" dirty="0">
                <a:solidFill>
                  <a:srgbClr val="A020F0"/>
                </a:solidFill>
                <a:latin typeface="Consolas" panose="020B0609020204030204" pitchFamily="49" charset="0"/>
              </a:rPr>
              <a:t>'other value'</a:t>
            </a:r>
            <a:r>
              <a:rPr lang="en-US" altLang="zh-CN" sz="20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000" b="1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en-US" altLang="zh-CN" sz="2000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7139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39634" y="1151432"/>
            <a:ext cx="5425440" cy="3046988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result = 52;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zh-CN" alt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switch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(result)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52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altLang="zh-CN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disp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A020F0"/>
                </a:solidFill>
                <a:latin typeface="Consolas" panose="020B0609020204030204" pitchFamily="49" charset="0"/>
              </a:rPr>
              <a:t>'result is 52'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{52, 78}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altLang="zh-CN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disp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A020F0"/>
                </a:solidFill>
                <a:latin typeface="Consolas" panose="020B0609020204030204" pitchFamily="49" charset="0"/>
              </a:rPr>
              <a:t>'result is 52 or 78'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en-US" altLang="zh-CN" sz="2400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23715" y="4742208"/>
            <a:ext cx="15645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result is 52</a:t>
            </a:r>
          </a:p>
        </p:txBody>
      </p:sp>
      <p:sp>
        <p:nvSpPr>
          <p:cNvPr id="6" name="矩形 5"/>
          <p:cNvSpPr/>
          <p:nvPr/>
        </p:nvSpPr>
        <p:spPr>
          <a:xfrm>
            <a:off x="6113417" y="1151432"/>
            <a:ext cx="5756365" cy="3046988"/>
          </a:xfrm>
          <a:prstGeom prst="rect">
            <a:avLst/>
          </a:prstGeom>
          <a:ln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result = 52;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zh-CN" alt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switch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(result)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{52, 78}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altLang="zh-CN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disp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A020F0"/>
                </a:solidFill>
                <a:latin typeface="Consolas" panose="020B0609020204030204" pitchFamily="49" charset="0"/>
              </a:rPr>
              <a:t>'result is 52 or 78'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case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52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altLang="zh-CN" sz="2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disp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2400" b="1" dirty="0">
                <a:solidFill>
                  <a:srgbClr val="A020F0"/>
                </a:solidFill>
                <a:latin typeface="Consolas" panose="020B0609020204030204" pitchFamily="49" charset="0"/>
              </a:rPr>
              <a:t>'result is 52'</a:t>
            </a:r>
            <a:r>
              <a:rPr lang="en-US" altLang="zh-CN" sz="24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400" b="1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en-US" altLang="zh-CN" sz="2400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567117" y="4742207"/>
            <a:ext cx="22875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/>
              <a:t>result is 52 or 78</a:t>
            </a:r>
          </a:p>
        </p:txBody>
      </p:sp>
    </p:spTree>
    <p:extLst>
      <p:ext uri="{BB962C8B-B14F-4D97-AF65-F5344CB8AC3E}">
        <p14:creationId xmlns:p14="http://schemas.microsoft.com/office/powerpoint/2010/main" val="1482129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1268956" y="256515"/>
            <a:ext cx="6911897" cy="62701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3600" dirty="0"/>
              <a:t>grade = 70;</a:t>
            </a:r>
          </a:p>
          <a:p>
            <a:pPr marL="0" indent="0">
              <a:buNone/>
            </a:pPr>
            <a:r>
              <a:rPr lang="en-US" altLang="zh-CN" sz="3600" dirty="0">
                <a:solidFill>
                  <a:srgbClr val="0070C0"/>
                </a:solidFill>
              </a:rPr>
              <a:t>switch</a:t>
            </a:r>
            <a:r>
              <a:rPr lang="en-US" altLang="zh-CN" sz="3600" dirty="0"/>
              <a:t> grade</a:t>
            </a:r>
          </a:p>
          <a:p>
            <a:pPr marL="457200" lvl="1" indent="0">
              <a:buNone/>
            </a:pPr>
            <a:r>
              <a:rPr lang="en-US" altLang="zh-CN" sz="3600" dirty="0">
                <a:solidFill>
                  <a:srgbClr val="0070C0"/>
                </a:solidFill>
              </a:rPr>
              <a:t>case</a:t>
            </a:r>
            <a:r>
              <a:rPr lang="en-US" altLang="zh-CN" sz="3600" dirty="0"/>
              <a:t> </a:t>
            </a:r>
            <a:r>
              <a:rPr lang="en-US" altLang="zh-CN" sz="3600" dirty="0">
                <a:solidFill>
                  <a:srgbClr val="E25652"/>
                </a:solidFill>
              </a:rPr>
              <a:t>grade &gt;= 90</a:t>
            </a:r>
          </a:p>
          <a:p>
            <a:pPr marL="457200" lvl="1" indent="0">
              <a:buNone/>
            </a:pPr>
            <a:r>
              <a:rPr lang="en-US" altLang="zh-CN" sz="3600" dirty="0"/>
              <a:t>	</a:t>
            </a:r>
            <a:r>
              <a:rPr lang="en-US" altLang="zh-CN" sz="3600" dirty="0" err="1"/>
              <a:t>disp</a:t>
            </a:r>
            <a:r>
              <a:rPr lang="en-US" altLang="zh-CN" sz="3600" dirty="0"/>
              <a:t>(</a:t>
            </a:r>
            <a:r>
              <a:rPr lang="en-US" altLang="zh-CN" sz="3600" dirty="0">
                <a:solidFill>
                  <a:srgbClr val="9900CC"/>
                </a:solidFill>
              </a:rPr>
              <a:t>'great'</a:t>
            </a:r>
            <a:r>
              <a:rPr lang="en-US" altLang="zh-CN" sz="3600" dirty="0"/>
              <a:t>);</a:t>
            </a:r>
          </a:p>
          <a:p>
            <a:pPr marL="457200" lvl="1" indent="0">
              <a:buNone/>
            </a:pPr>
            <a:r>
              <a:rPr lang="en-US" altLang="zh-CN" sz="3600" dirty="0">
                <a:solidFill>
                  <a:srgbClr val="0070C0"/>
                </a:solidFill>
              </a:rPr>
              <a:t>case</a:t>
            </a:r>
            <a:r>
              <a:rPr lang="en-US" altLang="zh-CN" sz="3600" dirty="0"/>
              <a:t> </a:t>
            </a:r>
            <a:r>
              <a:rPr lang="en-US" altLang="zh-CN" sz="3600" dirty="0">
                <a:solidFill>
                  <a:srgbClr val="E25652"/>
                </a:solidFill>
              </a:rPr>
              <a:t>grade &lt; 90 &amp;&amp; grade &gt;= 80</a:t>
            </a:r>
          </a:p>
          <a:p>
            <a:pPr marL="457200" lvl="1" indent="0">
              <a:buNone/>
            </a:pPr>
            <a:r>
              <a:rPr lang="en-US" altLang="zh-CN" sz="3600" dirty="0"/>
              <a:t>	</a:t>
            </a:r>
            <a:r>
              <a:rPr lang="en-US" altLang="zh-CN" sz="3600" dirty="0" err="1"/>
              <a:t>disp</a:t>
            </a:r>
            <a:r>
              <a:rPr lang="en-US" altLang="zh-CN" sz="3600" dirty="0"/>
              <a:t>(</a:t>
            </a:r>
            <a:r>
              <a:rPr lang="en-US" altLang="zh-CN" sz="3600" dirty="0">
                <a:solidFill>
                  <a:srgbClr val="9900CC"/>
                </a:solidFill>
              </a:rPr>
              <a:t>'nice'</a:t>
            </a:r>
            <a:r>
              <a:rPr lang="en-US" altLang="zh-CN" sz="3600" dirty="0"/>
              <a:t>);</a:t>
            </a:r>
          </a:p>
          <a:p>
            <a:pPr marL="457200" lvl="1" indent="0">
              <a:buNone/>
            </a:pPr>
            <a:r>
              <a:rPr lang="en-US" altLang="zh-CN" sz="3600" dirty="0">
                <a:solidFill>
                  <a:srgbClr val="0070C0"/>
                </a:solidFill>
              </a:rPr>
              <a:t>case</a:t>
            </a:r>
            <a:r>
              <a:rPr lang="en-US" altLang="zh-CN" sz="3600" dirty="0"/>
              <a:t> </a:t>
            </a:r>
            <a:r>
              <a:rPr lang="en-US" altLang="zh-CN" sz="3600" dirty="0">
                <a:solidFill>
                  <a:srgbClr val="E25652"/>
                </a:solidFill>
              </a:rPr>
              <a:t>grade &lt; 80 &amp;&amp; grade &gt;= 60</a:t>
            </a:r>
          </a:p>
          <a:p>
            <a:pPr marL="457200" lvl="1" indent="0">
              <a:buNone/>
            </a:pPr>
            <a:r>
              <a:rPr lang="en-US" altLang="zh-CN" sz="3600" dirty="0"/>
              <a:t>	</a:t>
            </a:r>
            <a:r>
              <a:rPr lang="en-US" altLang="zh-CN" sz="3600" dirty="0" err="1"/>
              <a:t>disp</a:t>
            </a:r>
            <a:r>
              <a:rPr lang="en-US" altLang="zh-CN" sz="3600" dirty="0"/>
              <a:t>(</a:t>
            </a:r>
            <a:r>
              <a:rPr lang="en-US" altLang="zh-CN" sz="3600" dirty="0">
                <a:solidFill>
                  <a:srgbClr val="9900CC"/>
                </a:solidFill>
              </a:rPr>
              <a:t>'ok'</a:t>
            </a:r>
            <a:r>
              <a:rPr lang="en-US" altLang="zh-CN" sz="3600" dirty="0"/>
              <a:t>);</a:t>
            </a:r>
          </a:p>
          <a:p>
            <a:pPr marL="457200" lvl="1" indent="0">
              <a:buNone/>
            </a:pPr>
            <a:r>
              <a:rPr lang="en-US" altLang="zh-CN" sz="3600" dirty="0">
                <a:solidFill>
                  <a:srgbClr val="0070C0"/>
                </a:solidFill>
              </a:rPr>
              <a:t>otherwise</a:t>
            </a:r>
          </a:p>
          <a:p>
            <a:pPr marL="457200" lvl="1" indent="0">
              <a:buNone/>
            </a:pPr>
            <a:r>
              <a:rPr lang="en-US" altLang="zh-CN" sz="3600" dirty="0"/>
              <a:t>	</a:t>
            </a:r>
            <a:r>
              <a:rPr lang="en-US" altLang="zh-CN" sz="3600" dirty="0" err="1"/>
              <a:t>disp</a:t>
            </a:r>
            <a:r>
              <a:rPr lang="en-US" altLang="zh-CN" sz="3600" dirty="0"/>
              <a:t>(</a:t>
            </a:r>
            <a:r>
              <a:rPr lang="en-US" altLang="zh-CN" sz="3600" dirty="0">
                <a:solidFill>
                  <a:srgbClr val="9900CC"/>
                </a:solidFill>
              </a:rPr>
              <a:t>'bad'</a:t>
            </a:r>
            <a:r>
              <a:rPr lang="en-US" altLang="zh-CN" sz="3600" dirty="0"/>
              <a:t>);</a:t>
            </a:r>
          </a:p>
          <a:p>
            <a:pPr marL="0" indent="0">
              <a:buNone/>
            </a:pPr>
            <a:r>
              <a:rPr lang="en-US" altLang="zh-CN" sz="3600" dirty="0">
                <a:solidFill>
                  <a:srgbClr val="0070C0"/>
                </a:solidFill>
              </a:rPr>
              <a:t>end</a:t>
            </a:r>
            <a:endParaRPr lang="zh-CN" altLang="en-US" sz="3600" dirty="0">
              <a:solidFill>
                <a:srgbClr val="0070C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7355947" y="986147"/>
            <a:ext cx="164981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b="1" dirty="0"/>
              <a:t>输出bad</a:t>
            </a:r>
            <a:endParaRPr lang="en-US" altLang="zh-CN" sz="32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7297783" y="374469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思考题：</a:t>
            </a:r>
          </a:p>
        </p:txBody>
      </p:sp>
      <p:grpSp>
        <p:nvGrpSpPr>
          <p:cNvPr id="19" name="组合 18"/>
          <p:cNvGrpSpPr/>
          <p:nvPr/>
        </p:nvGrpSpPr>
        <p:grpSpPr>
          <a:xfrm>
            <a:off x="4955177" y="1733006"/>
            <a:ext cx="5462184" cy="2072640"/>
            <a:chOff x="4955177" y="1733006"/>
            <a:chExt cx="5462184" cy="2072640"/>
          </a:xfrm>
        </p:grpSpPr>
        <p:sp>
          <p:nvSpPr>
            <p:cNvPr id="9" name="文本框 8"/>
            <p:cNvSpPr txBox="1"/>
            <p:nvPr/>
          </p:nvSpPr>
          <p:spPr>
            <a:xfrm>
              <a:off x="8180851" y="2028191"/>
              <a:ext cx="2236510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0B050"/>
                  </a:solidFill>
                </a:rPr>
                <a:t>都是逻辑表达式，</a:t>
              </a:r>
              <a:endParaRPr lang="en-US" altLang="zh-CN" sz="2000" b="1" dirty="0">
                <a:solidFill>
                  <a:srgbClr val="00B050"/>
                </a:solidFill>
              </a:endParaRPr>
            </a:p>
            <a:p>
              <a:r>
                <a:rPr lang="zh-CN" altLang="en-US" sz="2000" b="1" dirty="0">
                  <a:solidFill>
                    <a:srgbClr val="00B050"/>
                  </a:solidFill>
                </a:rPr>
                <a:t>表达式的值都是</a:t>
              </a:r>
              <a:endParaRPr lang="en-US" altLang="zh-CN" sz="2000" b="1" dirty="0">
                <a:solidFill>
                  <a:srgbClr val="00B050"/>
                </a:solidFill>
              </a:endParaRPr>
            </a:p>
            <a:p>
              <a:r>
                <a:rPr lang="zh-CN" altLang="en-US" sz="2000" b="1" dirty="0">
                  <a:solidFill>
                    <a:srgbClr val="00B050"/>
                  </a:solidFill>
                </a:rPr>
                <a:t>逻辑值</a:t>
              </a:r>
              <a:r>
                <a:rPr lang="en-US" altLang="zh-CN" sz="2000" b="1" dirty="0">
                  <a:solidFill>
                    <a:srgbClr val="00B050"/>
                  </a:solidFill>
                </a:rPr>
                <a:t>0</a:t>
              </a:r>
              <a:r>
                <a:rPr lang="zh-CN" altLang="en-US" sz="2000" b="1" dirty="0">
                  <a:solidFill>
                    <a:srgbClr val="00B050"/>
                  </a:solidFill>
                </a:rPr>
                <a:t>或</a:t>
              </a:r>
              <a:r>
                <a:rPr lang="en-US" altLang="zh-CN" sz="2000" b="1" dirty="0">
                  <a:solidFill>
                    <a:srgbClr val="00B050"/>
                  </a:solidFill>
                </a:rPr>
                <a:t>1</a:t>
              </a:r>
              <a:endParaRPr lang="zh-CN" altLang="en-US" sz="2000" b="1" dirty="0">
                <a:solidFill>
                  <a:srgbClr val="00B050"/>
                </a:solidFill>
              </a:endParaRPr>
            </a:p>
          </p:txBody>
        </p:sp>
        <p:cxnSp>
          <p:nvCxnSpPr>
            <p:cNvPr id="11" name="直接箭头连接符 10"/>
            <p:cNvCxnSpPr/>
            <p:nvPr/>
          </p:nvCxnSpPr>
          <p:spPr>
            <a:xfrm flipH="1" flipV="1">
              <a:off x="4955177" y="1733006"/>
              <a:ext cx="3225675" cy="766354"/>
            </a:xfrm>
            <a:prstGeom prst="straightConnector1">
              <a:avLst/>
            </a:prstGeom>
            <a:ln w="38100">
              <a:solidFill>
                <a:srgbClr val="00B05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>
              <a:stCxn id="9" idx="1"/>
            </p:cNvCxnSpPr>
            <p:nvPr/>
          </p:nvCxnSpPr>
          <p:spPr>
            <a:xfrm flipH="1">
              <a:off x="7707085" y="2536023"/>
              <a:ext cx="473766" cy="249280"/>
            </a:xfrm>
            <a:prstGeom prst="straightConnector1">
              <a:avLst/>
            </a:prstGeom>
            <a:ln w="38100">
              <a:solidFill>
                <a:srgbClr val="00B05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/>
            <p:cNvCxnSpPr/>
            <p:nvPr/>
          </p:nvCxnSpPr>
          <p:spPr>
            <a:xfrm flipH="1">
              <a:off x="7593873" y="2536023"/>
              <a:ext cx="586978" cy="1269623"/>
            </a:xfrm>
            <a:prstGeom prst="straightConnector1">
              <a:avLst/>
            </a:prstGeom>
            <a:ln w="38100">
              <a:solidFill>
                <a:srgbClr val="00B050"/>
              </a:solidFill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矩形 9">
            <a:extLst>
              <a:ext uri="{FF2B5EF4-FFF2-40B4-BE49-F238E27FC236}">
                <a16:creationId xmlns:a16="http://schemas.microsoft.com/office/drawing/2014/main" id="{26D57D37-8680-49DD-981C-65C10ED47DC4}"/>
              </a:ext>
            </a:extLst>
          </p:cNvPr>
          <p:cNvSpPr/>
          <p:nvPr/>
        </p:nvSpPr>
        <p:spPr>
          <a:xfrm>
            <a:off x="8767551" y="4579837"/>
            <a:ext cx="318847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FF0000"/>
                </a:solidFill>
              </a:rPr>
              <a:t>不能使用</a:t>
            </a:r>
            <a:r>
              <a:rPr lang="en-US" altLang="zh-CN" sz="3200" b="1" dirty="0">
                <a:solidFill>
                  <a:srgbClr val="FF0000"/>
                </a:solidFill>
              </a:rPr>
              <a:t>switch</a:t>
            </a:r>
            <a:r>
              <a:rPr lang="zh-CN" altLang="en-US" sz="3200" b="1" dirty="0">
                <a:solidFill>
                  <a:srgbClr val="FF0000"/>
                </a:solidFill>
              </a:rPr>
              <a:t>来计算成绩分级，而是用</a:t>
            </a:r>
            <a:r>
              <a:rPr lang="en-US" altLang="zh-CN" sz="3200" b="1" dirty="0">
                <a:solidFill>
                  <a:srgbClr val="FF0000"/>
                </a:solidFill>
              </a:rPr>
              <a:t>if</a:t>
            </a:r>
            <a:r>
              <a:rPr lang="zh-CN" altLang="en-US" sz="3200" b="1" dirty="0">
                <a:solidFill>
                  <a:srgbClr val="FF0000"/>
                </a:solidFill>
              </a:rPr>
              <a:t>语句</a:t>
            </a:r>
            <a:endParaRPr lang="en-US" altLang="zh-CN" sz="32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886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45873"/>
            <a:ext cx="4938403" cy="535531"/>
          </a:xfrm>
          <a:noFill/>
        </p:spPr>
        <p:txBody>
          <a:bodyPr vert="horz" wrap="none" lIns="91440" tIns="45720" rIns="91440" bIns="45720" rtlCol="0" anchor="ctr">
            <a:spAutoFit/>
          </a:bodyPr>
          <a:lstStyle/>
          <a:p>
            <a:r>
              <a:rPr lang="zh-CN" altLang="en-US" sz="3200" b="1" dirty="0">
                <a:solidFill>
                  <a:srgbClr val="E25652"/>
                </a:solidFill>
              </a:rPr>
              <a:t>循环（</a:t>
            </a:r>
            <a:r>
              <a:rPr lang="en-US" altLang="zh-CN" sz="3200" b="1" dirty="0">
                <a:solidFill>
                  <a:srgbClr val="E25652"/>
                </a:solidFill>
              </a:rPr>
              <a:t>Loops</a:t>
            </a:r>
            <a:r>
              <a:rPr lang="zh-CN" altLang="en-US" sz="3200" b="1" dirty="0">
                <a:solidFill>
                  <a:srgbClr val="E25652"/>
                </a:solidFill>
              </a:rPr>
              <a:t>）：</a:t>
            </a:r>
            <a:r>
              <a:rPr lang="en-US" altLang="zh-CN" sz="3200" b="1" dirty="0">
                <a:solidFill>
                  <a:srgbClr val="E25652"/>
                </a:solidFill>
              </a:rPr>
              <a:t>for</a:t>
            </a:r>
            <a:r>
              <a:rPr lang="zh-CN" altLang="en-US" sz="3200" b="1" dirty="0">
                <a:solidFill>
                  <a:srgbClr val="E25652"/>
                </a:solidFill>
              </a:rPr>
              <a:t>、</a:t>
            </a:r>
            <a:r>
              <a:rPr lang="en-US" altLang="zh-CN" sz="3200" b="1" dirty="0">
                <a:solidFill>
                  <a:srgbClr val="E25652"/>
                </a:solidFill>
              </a:rPr>
              <a:t>while</a:t>
            </a:r>
            <a:endParaRPr lang="zh-CN" altLang="en-US" sz="3200" b="1" dirty="0">
              <a:solidFill>
                <a:srgbClr val="E25652"/>
              </a:solidFill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62012" y="1155632"/>
            <a:ext cx="3881176" cy="190978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241707" y="3452263"/>
            <a:ext cx="26910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Vector</a:t>
            </a:r>
            <a:r>
              <a:rPr lang="zh-CN" altLang="en-US" sz="2400" dirty="0"/>
              <a:t>的</a:t>
            </a:r>
            <a:r>
              <a:rPr lang="en-US" altLang="zh-CN" sz="2400" dirty="0"/>
              <a:t>3</a:t>
            </a:r>
            <a:r>
              <a:rPr lang="zh-CN" altLang="en-US" sz="2400" dirty="0"/>
              <a:t>种形式：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7148" y="1155632"/>
            <a:ext cx="2974433" cy="2052229"/>
          </a:xfrm>
          <a:prstGeom prst="rect">
            <a:avLst/>
          </a:prstGeom>
        </p:spPr>
      </p:pic>
      <p:grpSp>
        <p:nvGrpSpPr>
          <p:cNvPr id="13" name="组合 12"/>
          <p:cNvGrpSpPr/>
          <p:nvPr/>
        </p:nvGrpSpPr>
        <p:grpSpPr>
          <a:xfrm>
            <a:off x="1238250" y="3948197"/>
            <a:ext cx="2694515" cy="1729792"/>
            <a:chOff x="1238250" y="3948197"/>
            <a:chExt cx="2694515" cy="1729792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38250" y="3948197"/>
              <a:ext cx="2685730" cy="1729792"/>
            </a:xfrm>
            <a:prstGeom prst="rect">
              <a:avLst/>
            </a:prstGeom>
          </p:spPr>
        </p:pic>
        <p:sp>
          <p:nvSpPr>
            <p:cNvPr id="3" name="圆角矩形 2"/>
            <p:cNvSpPr/>
            <p:nvPr/>
          </p:nvSpPr>
          <p:spPr>
            <a:xfrm>
              <a:off x="1898469" y="3948197"/>
              <a:ext cx="2034296" cy="414797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237035" y="3913928"/>
            <a:ext cx="2179538" cy="1764061"/>
            <a:chOff x="4237035" y="3913928"/>
            <a:chExt cx="2179538" cy="1764061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237035" y="3948197"/>
              <a:ext cx="2179538" cy="1729792"/>
            </a:xfrm>
            <a:prstGeom prst="rect">
              <a:avLst/>
            </a:prstGeom>
          </p:spPr>
        </p:pic>
        <p:sp>
          <p:nvSpPr>
            <p:cNvPr id="11" name="圆角矩形 10"/>
            <p:cNvSpPr/>
            <p:nvPr/>
          </p:nvSpPr>
          <p:spPr>
            <a:xfrm>
              <a:off x="4950824" y="3913928"/>
              <a:ext cx="1465749" cy="414797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6818131" y="3913927"/>
            <a:ext cx="2449571" cy="1764062"/>
            <a:chOff x="6818131" y="3913927"/>
            <a:chExt cx="2449571" cy="1764062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18131" y="3948197"/>
              <a:ext cx="2449571" cy="1729792"/>
            </a:xfrm>
            <a:prstGeom prst="rect">
              <a:avLst/>
            </a:prstGeom>
          </p:spPr>
        </p:pic>
        <p:sp>
          <p:nvSpPr>
            <p:cNvPr id="12" name="圆角矩形 11"/>
            <p:cNvSpPr/>
            <p:nvPr/>
          </p:nvSpPr>
          <p:spPr>
            <a:xfrm>
              <a:off x="7550333" y="3913927"/>
              <a:ext cx="1717369" cy="414797"/>
            </a:xfrm>
            <a:prstGeom prst="roundRect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374157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1090747" y="1256614"/>
            <a:ext cx="4169230" cy="2174563"/>
            <a:chOff x="1169125" y="1256614"/>
            <a:chExt cx="3848100" cy="1889358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69125" y="1256614"/>
              <a:ext cx="2886075" cy="400050"/>
            </a:xfrm>
            <a:prstGeom prst="rect">
              <a:avLst/>
            </a:prstGeom>
          </p:spPr>
        </p:pic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9125" y="1669597"/>
              <a:ext cx="3848100" cy="1476375"/>
            </a:xfrm>
            <a:prstGeom prst="rect">
              <a:avLst/>
            </a:prstGeom>
          </p:spPr>
        </p:pic>
      </p:grpSp>
      <p:grpSp>
        <p:nvGrpSpPr>
          <p:cNvPr id="3" name="组合 2"/>
          <p:cNvGrpSpPr/>
          <p:nvPr/>
        </p:nvGrpSpPr>
        <p:grpSpPr>
          <a:xfrm>
            <a:off x="5889986" y="1256614"/>
            <a:ext cx="4107453" cy="2035226"/>
            <a:chOff x="5445850" y="1270901"/>
            <a:chExt cx="3894228" cy="1851258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45850" y="1270901"/>
              <a:ext cx="3390900" cy="371475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558653" y="1693409"/>
              <a:ext cx="3781425" cy="1428750"/>
            </a:xfrm>
            <a:prstGeom prst="rect">
              <a:avLst/>
            </a:prstGeom>
          </p:spPr>
        </p:pic>
      </p:grpSp>
      <p:pic>
        <p:nvPicPr>
          <p:cNvPr id="8" name="图片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3175" y="3973149"/>
            <a:ext cx="4540193" cy="182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932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881052" y="759547"/>
            <a:ext cx="5843451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s = 10;</a:t>
            </a:r>
            <a:endParaRPr lang="en-US" altLang="zh-CN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H = zeros(s);</a:t>
            </a:r>
            <a:endParaRPr lang="en-US" altLang="zh-CN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zh-CN" altLang="en-US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c = 1:s</a:t>
            </a:r>
            <a:endParaRPr lang="en-US" altLang="zh-CN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r = 1:s</a:t>
            </a:r>
            <a:endParaRPr lang="en-US" altLang="zh-CN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    H(</a:t>
            </a:r>
            <a:r>
              <a:rPr lang="en-US" altLang="zh-CN" sz="28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r,c</a:t>
            </a:r>
            <a:r>
              <a:rPr lang="en-US" altLang="zh-CN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) = 1/(r+c-1);</a:t>
            </a:r>
            <a:endParaRPr lang="en-US" altLang="zh-CN" sz="2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28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en-US" altLang="zh-CN" sz="28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r>
              <a:rPr lang="en-US" altLang="zh-CN" sz="2800" b="1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en-US" altLang="zh-CN" sz="2800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86465" y="4415246"/>
            <a:ext cx="44326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双重循环，创建</a:t>
            </a:r>
            <a:r>
              <a:rPr lang="en-US" altLang="zh-CN" sz="2400" dirty="0"/>
              <a:t>10</a:t>
            </a:r>
            <a:r>
              <a:rPr lang="zh-CN" altLang="en-US" sz="2400" dirty="0"/>
              <a:t>阶</a:t>
            </a:r>
            <a:r>
              <a:rPr lang="en-US" altLang="zh-CN" sz="2400" dirty="0"/>
              <a:t>Hilbert</a:t>
            </a:r>
            <a:r>
              <a:rPr lang="zh-CN" altLang="en-US" sz="2400" dirty="0"/>
              <a:t>矩阵</a:t>
            </a:r>
          </a:p>
        </p:txBody>
      </p:sp>
    </p:spTree>
    <p:extLst>
      <p:ext uri="{BB962C8B-B14F-4D97-AF65-F5344CB8AC3E}">
        <p14:creationId xmlns:p14="http://schemas.microsoft.com/office/powerpoint/2010/main" val="3020695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75360" y="433979"/>
            <a:ext cx="744583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 I = eye(4,3)</a:t>
            </a:r>
            <a:endParaRPr lang="en-US" altLang="zh-CN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3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disp</a:t>
            </a:r>
            <a:r>
              <a:rPr lang="en-US" altLang="zh-CN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3200" b="1" dirty="0">
                <a:solidFill>
                  <a:srgbClr val="A020F0"/>
                </a:solidFill>
                <a:latin typeface="Consolas" panose="020B0609020204030204" pitchFamily="49" charset="0"/>
              </a:rPr>
              <a:t>'Current unit vector:'</a:t>
            </a:r>
            <a:r>
              <a:rPr lang="en-US" altLang="zh-CN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zh-CN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3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disp</a:t>
            </a:r>
            <a:r>
              <a:rPr lang="en-US" altLang="zh-CN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(I)</a:t>
            </a:r>
            <a:endParaRPr lang="en-US" altLang="zh-CN" sz="3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3200" b="1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en-US" altLang="zh-CN" sz="3200" dirty="0">
              <a:solidFill>
                <a:srgbClr val="0000FF"/>
              </a:solidFill>
              <a:latin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991498" y="1830262"/>
            <a:ext cx="2865120" cy="4801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A020F0"/>
                </a:solidFill>
                <a:latin typeface="Consolas" panose="020B0609020204030204" pitchFamily="49" charset="0"/>
              </a:rPr>
              <a:t>Current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A020F0"/>
                </a:solidFill>
                <a:latin typeface="Consolas" panose="020B0609020204030204" pitchFamily="49" charset="0"/>
              </a:rPr>
              <a:t>unit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A020F0"/>
                </a:solidFill>
                <a:latin typeface="Consolas" panose="020B0609020204030204" pitchFamily="49" charset="0"/>
              </a:rPr>
              <a:t>vector:</a:t>
            </a:r>
            <a:endParaRPr lang="en-US" altLang="zh-CN" dirty="0">
              <a:solidFill>
                <a:srgbClr val="A020F0"/>
              </a:solidFill>
              <a:latin typeface="Consolas" panose="020B0609020204030204" pitchFamily="49" charset="0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b="1" dirty="0">
                <a:solidFill>
                  <a:srgbClr val="A020F0"/>
                </a:solidFill>
                <a:latin typeface="Consolas" panose="020B0609020204030204" pitchFamily="49" charset="0"/>
              </a:rPr>
              <a:t>Current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A020F0"/>
                </a:solidFill>
                <a:latin typeface="Consolas" panose="020B0609020204030204" pitchFamily="49" charset="0"/>
              </a:rPr>
              <a:t>unit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A020F0"/>
                </a:solidFill>
                <a:latin typeface="Consolas" panose="020B0609020204030204" pitchFamily="49" charset="0"/>
              </a:rPr>
              <a:t>vector:</a:t>
            </a:r>
            <a:endParaRPr lang="en-US" altLang="zh-CN" dirty="0">
              <a:solidFill>
                <a:srgbClr val="A020F0"/>
              </a:solidFill>
              <a:latin typeface="Consolas" panose="020B0609020204030204" pitchFamily="49" charset="0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b="1" dirty="0">
                <a:solidFill>
                  <a:srgbClr val="A020F0"/>
                </a:solidFill>
                <a:latin typeface="Consolas" panose="020B0609020204030204" pitchFamily="49" charset="0"/>
              </a:rPr>
              <a:t>Current unit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A020F0"/>
                </a:solidFill>
                <a:latin typeface="Consolas" panose="020B0609020204030204" pitchFamily="49" charset="0"/>
              </a:rPr>
              <a:t>vector:</a:t>
            </a:r>
            <a:endParaRPr lang="en-US" altLang="zh-CN" dirty="0">
              <a:solidFill>
                <a:srgbClr val="A020F0"/>
              </a:solidFill>
              <a:latin typeface="Consolas" panose="020B0609020204030204" pitchFamily="49" charset="0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b="1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0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48639" y="2953647"/>
            <a:ext cx="442395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I =</a:t>
            </a:r>
          </a:p>
          <a:p>
            <a:r>
              <a:rPr lang="zh-CN" alt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1     0     0</a:t>
            </a:r>
          </a:p>
          <a:p>
            <a:r>
              <a:rPr lang="zh-CN" alt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0     1     0</a:t>
            </a:r>
          </a:p>
          <a:p>
            <a:r>
              <a:rPr lang="zh-CN" alt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0     0     1</a:t>
            </a:r>
          </a:p>
          <a:p>
            <a:r>
              <a:rPr lang="zh-CN" altLang="en-US" sz="3200" b="1" dirty="0">
                <a:solidFill>
                  <a:srgbClr val="000000"/>
                </a:solidFill>
                <a:latin typeface="Consolas" panose="020B0609020204030204" pitchFamily="49" charset="0"/>
              </a:rPr>
              <a:t>     0     0     0</a:t>
            </a:r>
          </a:p>
        </p:txBody>
      </p:sp>
    </p:spTree>
    <p:extLst>
      <p:ext uri="{BB962C8B-B14F-4D97-AF65-F5344CB8AC3E}">
        <p14:creationId xmlns:p14="http://schemas.microsoft.com/office/powerpoint/2010/main" val="1055382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MATLAB M-Files</a:t>
            </a:r>
            <a:r>
              <a:rPr lang="zh-CN" altLang="en-US" dirty="0"/>
              <a:t>（</a:t>
            </a:r>
            <a:r>
              <a:rPr lang="en-US" altLang="zh-CN" dirty="0"/>
              <a:t>M</a:t>
            </a:r>
            <a:r>
              <a:rPr lang="zh-CN" altLang="en-US" dirty="0"/>
              <a:t>文件）</a:t>
            </a:r>
          </a:p>
        </p:txBody>
      </p:sp>
      <p:sp>
        <p:nvSpPr>
          <p:cNvPr id="4" name="矩形 3"/>
          <p:cNvSpPr/>
          <p:nvPr/>
        </p:nvSpPr>
        <p:spPr>
          <a:xfrm>
            <a:off x="239346" y="2864021"/>
            <a:ext cx="1763624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/>
              <a:t>MATLAB</a:t>
            </a:r>
          </a:p>
          <a:p>
            <a:r>
              <a:rPr lang="en-US" altLang="zh-CN" sz="2800" b="1" dirty="0"/>
              <a:t>2</a:t>
            </a:r>
            <a:r>
              <a:rPr lang="zh-CN" altLang="en-US" sz="2800" b="1" dirty="0"/>
              <a:t>种</a:t>
            </a:r>
            <a:r>
              <a:rPr lang="en-US" altLang="zh-CN" sz="2800" b="1" dirty="0"/>
              <a:t>M</a:t>
            </a:r>
            <a:r>
              <a:rPr lang="zh-CN" altLang="en-US" sz="2800" b="1" dirty="0"/>
              <a:t>文件</a:t>
            </a:r>
          </a:p>
        </p:txBody>
      </p:sp>
      <p:sp>
        <p:nvSpPr>
          <p:cNvPr id="5" name="左大括号 4"/>
          <p:cNvSpPr/>
          <p:nvPr/>
        </p:nvSpPr>
        <p:spPr>
          <a:xfrm>
            <a:off x="1854925" y="2222024"/>
            <a:ext cx="296091" cy="2238103"/>
          </a:xfrm>
          <a:prstGeom prst="leftBrace">
            <a:avLst>
              <a:gd name="adj1" fmla="val 65429"/>
              <a:gd name="adj2" fmla="val 49611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2238102" y="2046521"/>
            <a:ext cx="198342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00B0F0"/>
                </a:solidFill>
              </a:rPr>
              <a:t>脚本</a:t>
            </a:r>
            <a:r>
              <a:rPr lang="en-US" altLang="zh-CN" sz="2800" b="1" dirty="0">
                <a:solidFill>
                  <a:srgbClr val="00B0F0"/>
                </a:solidFill>
              </a:rPr>
              <a:t>(Script)</a:t>
            </a:r>
          </a:p>
          <a:p>
            <a:r>
              <a:rPr lang="en-US" altLang="zh-CN" sz="2800" b="1" dirty="0">
                <a:solidFill>
                  <a:srgbClr val="00B0F0"/>
                </a:solidFill>
              </a:rPr>
              <a:t>M</a:t>
            </a:r>
            <a:r>
              <a:rPr lang="zh-CN" altLang="en-US" sz="2800" b="1" dirty="0">
                <a:solidFill>
                  <a:srgbClr val="00B0F0"/>
                </a:solidFill>
              </a:rPr>
              <a:t>文件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2151016" y="4037356"/>
            <a:ext cx="2377574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solidFill>
                  <a:srgbClr val="E25652"/>
                </a:solidFill>
              </a:rPr>
              <a:t>函数</a:t>
            </a:r>
            <a:r>
              <a:rPr lang="en-US" altLang="zh-CN" sz="2800" b="1" dirty="0">
                <a:solidFill>
                  <a:srgbClr val="E25652"/>
                </a:solidFill>
              </a:rPr>
              <a:t>(function)</a:t>
            </a:r>
          </a:p>
          <a:p>
            <a:r>
              <a:rPr lang="en-US" altLang="zh-CN" sz="2800" b="1" dirty="0">
                <a:solidFill>
                  <a:srgbClr val="E25652"/>
                </a:solidFill>
              </a:rPr>
              <a:t>M</a:t>
            </a:r>
            <a:r>
              <a:rPr lang="zh-CN" altLang="en-US" sz="2800" b="1" dirty="0">
                <a:solidFill>
                  <a:srgbClr val="E25652"/>
                </a:solidFill>
              </a:rPr>
              <a:t>文件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4284617" y="1554078"/>
            <a:ext cx="7806182" cy="1938992"/>
            <a:chOff x="4284617" y="1554078"/>
            <a:chExt cx="7806182" cy="1938992"/>
          </a:xfrm>
        </p:grpSpPr>
        <p:sp>
          <p:nvSpPr>
            <p:cNvPr id="8" name="文本框 7"/>
            <p:cNvSpPr txBox="1"/>
            <p:nvPr/>
          </p:nvSpPr>
          <p:spPr>
            <a:xfrm>
              <a:off x="5112607" y="1554078"/>
              <a:ext cx="6978192" cy="19389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457200" indent="-457200">
                <a:buFont typeface="+mj-lt"/>
                <a:buAutoNum type="arabicPeriod"/>
              </a:pPr>
              <a:r>
                <a:rPr lang="zh-CN" altLang="en-US" sz="2400" b="1" dirty="0">
                  <a:solidFill>
                    <a:srgbClr val="00B0F0"/>
                  </a:solidFill>
                </a:rPr>
                <a:t>文件里面是一系列</a:t>
              </a:r>
              <a:r>
                <a:rPr lang="en-US" altLang="zh-CN" sz="2400" b="1" dirty="0">
                  <a:solidFill>
                    <a:srgbClr val="00B0F0"/>
                  </a:solidFill>
                </a:rPr>
                <a:t>MATLAB</a:t>
              </a:r>
              <a:r>
                <a:rPr lang="zh-CN" altLang="en-US" sz="2400" b="1" dirty="0">
                  <a:solidFill>
                    <a:srgbClr val="00B0F0"/>
                  </a:solidFill>
                </a:rPr>
                <a:t>命令，组织在一起，</a:t>
              </a:r>
              <a:br>
                <a:rPr lang="en-US" altLang="zh-CN" sz="2400" b="1" dirty="0">
                  <a:solidFill>
                    <a:srgbClr val="00B0F0"/>
                  </a:solidFill>
                </a:rPr>
              </a:br>
              <a:r>
                <a:rPr lang="zh-CN" altLang="en-US" sz="2400" b="1" dirty="0">
                  <a:solidFill>
                    <a:srgbClr val="00B0F0"/>
                  </a:solidFill>
                </a:rPr>
                <a:t>方便批量运行</a:t>
              </a:r>
              <a:endParaRPr lang="en-US" altLang="zh-CN" sz="2400" b="1" dirty="0">
                <a:solidFill>
                  <a:srgbClr val="00B0F0"/>
                </a:solidFill>
              </a:endParaRPr>
            </a:p>
            <a:p>
              <a:pPr marL="457200" indent="-457200">
                <a:buFont typeface="+mj-lt"/>
                <a:buAutoNum type="arabicPeriod"/>
              </a:pPr>
              <a:r>
                <a:rPr lang="zh-CN" altLang="en-US" sz="2400" b="1" dirty="0">
                  <a:solidFill>
                    <a:srgbClr val="00B0F0"/>
                  </a:solidFill>
                </a:rPr>
                <a:t>没有输入和输出</a:t>
              </a:r>
              <a:endParaRPr lang="en-US" altLang="zh-CN" sz="2400" b="1" dirty="0">
                <a:solidFill>
                  <a:srgbClr val="00B0F0"/>
                </a:solidFill>
              </a:endParaRPr>
            </a:p>
            <a:p>
              <a:pPr marL="457200" indent="-457200">
                <a:buFont typeface="+mj-lt"/>
                <a:buAutoNum type="arabicPeriod"/>
              </a:pPr>
              <a:r>
                <a:rPr lang="zh-CN" altLang="en-US" sz="2400" b="1" dirty="0">
                  <a:solidFill>
                    <a:srgbClr val="00B0F0"/>
                  </a:solidFill>
                </a:rPr>
                <a:t>将运行过程中的变量保存在全局</a:t>
              </a:r>
              <a:r>
                <a:rPr lang="en-US" altLang="zh-CN" sz="2400" b="1" dirty="0" err="1">
                  <a:solidFill>
                    <a:srgbClr val="00B0F0"/>
                  </a:solidFill>
                </a:rPr>
                <a:t>worspace</a:t>
              </a:r>
              <a:r>
                <a:rPr lang="zh-CN" altLang="en-US" sz="2400" b="1" dirty="0">
                  <a:solidFill>
                    <a:srgbClr val="00B0F0"/>
                  </a:solidFill>
                </a:rPr>
                <a:t>中，</a:t>
              </a:r>
              <a:br>
                <a:rPr lang="en-US" altLang="zh-CN" sz="2400" b="1" dirty="0">
                  <a:solidFill>
                    <a:srgbClr val="00B0F0"/>
                  </a:solidFill>
                </a:rPr>
              </a:br>
              <a:r>
                <a:rPr lang="zh-CN" altLang="en-US" sz="2400" b="1" dirty="0">
                  <a:solidFill>
                    <a:srgbClr val="00B0F0"/>
                  </a:solidFill>
                </a:rPr>
                <a:t>可和别的脚本文件共享</a:t>
              </a:r>
              <a:r>
                <a:rPr lang="en-US" altLang="zh-CN" sz="2400" b="1" dirty="0">
                  <a:solidFill>
                    <a:srgbClr val="00B0F0"/>
                  </a:solidFill>
                  <a:sym typeface="Wingdings" panose="05000000000000000000" pitchFamily="2" charset="2"/>
                </a:rPr>
                <a:t></a:t>
              </a:r>
              <a:r>
                <a:rPr lang="zh-CN" altLang="en-US" sz="2400" b="1" dirty="0">
                  <a:solidFill>
                    <a:srgbClr val="00B0F0"/>
                  </a:solidFill>
                  <a:sym typeface="Wingdings" panose="05000000000000000000" pitchFamily="2" charset="2"/>
                </a:rPr>
                <a:t>（全局变量）</a:t>
              </a:r>
              <a:endParaRPr lang="zh-CN" altLang="en-US" sz="2400" b="1" dirty="0">
                <a:solidFill>
                  <a:srgbClr val="00B0F0"/>
                </a:solidFill>
              </a:endParaRPr>
            </a:p>
          </p:txBody>
        </p:sp>
        <p:sp>
          <p:nvSpPr>
            <p:cNvPr id="10" name="燕尾形箭头 9"/>
            <p:cNvSpPr/>
            <p:nvPr/>
          </p:nvSpPr>
          <p:spPr>
            <a:xfrm>
              <a:off x="4284617" y="2307771"/>
              <a:ext cx="731520" cy="357052"/>
            </a:xfrm>
            <a:prstGeom prst="notched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4381086" y="3944581"/>
            <a:ext cx="8027685" cy="1938992"/>
            <a:chOff x="4381086" y="3944581"/>
            <a:chExt cx="8027685" cy="1938992"/>
          </a:xfrm>
        </p:grpSpPr>
        <p:sp>
          <p:nvSpPr>
            <p:cNvPr id="9" name="文本框 8"/>
            <p:cNvSpPr txBox="1"/>
            <p:nvPr/>
          </p:nvSpPr>
          <p:spPr>
            <a:xfrm>
              <a:off x="5112606" y="3944581"/>
              <a:ext cx="7296165" cy="193899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457200" indent="-457200">
                <a:buFont typeface="+mj-lt"/>
                <a:buAutoNum type="arabicPeriod"/>
              </a:pPr>
              <a:r>
                <a:rPr lang="zh-CN" altLang="en-US" sz="2400" b="1" dirty="0">
                  <a:solidFill>
                    <a:srgbClr val="E25652"/>
                  </a:solidFill>
                </a:rPr>
                <a:t>文件里面是定义的函数（类似</a:t>
              </a:r>
              <a:r>
                <a:rPr lang="en-US" altLang="zh-CN" sz="2400" b="1" dirty="0">
                  <a:solidFill>
                    <a:srgbClr val="E25652"/>
                  </a:solidFill>
                </a:rPr>
                <a:t>C/C++</a:t>
              </a:r>
              <a:r>
                <a:rPr lang="zh-CN" altLang="en-US" sz="2400" b="1" dirty="0">
                  <a:solidFill>
                    <a:srgbClr val="E25652"/>
                  </a:solidFill>
                </a:rPr>
                <a:t>中的函数）；</a:t>
              </a:r>
              <a:endParaRPr lang="en-US" altLang="zh-CN" sz="2400" b="1" dirty="0">
                <a:solidFill>
                  <a:srgbClr val="E25652"/>
                </a:solidFill>
              </a:endParaRPr>
            </a:p>
            <a:p>
              <a:pPr marL="457200" indent="-457200">
                <a:buFont typeface="+mj-lt"/>
                <a:buAutoNum type="arabicPeriod"/>
              </a:pPr>
              <a:r>
                <a:rPr lang="zh-CN" altLang="en-US" sz="2400" b="1" dirty="0">
                  <a:solidFill>
                    <a:srgbClr val="E25652"/>
                  </a:solidFill>
                </a:rPr>
                <a:t>函数具有功能封装性，用来构建大的应用程序；</a:t>
              </a:r>
              <a:endParaRPr lang="en-US" altLang="zh-CN" sz="2400" b="1" dirty="0">
                <a:solidFill>
                  <a:srgbClr val="E25652"/>
                </a:solidFill>
              </a:endParaRPr>
            </a:p>
            <a:p>
              <a:pPr marL="457200" indent="-457200">
                <a:buFont typeface="+mj-lt"/>
                <a:buAutoNum type="arabicPeriod"/>
              </a:pPr>
              <a:r>
                <a:rPr lang="zh-CN" altLang="en-US" sz="2400" b="1" dirty="0">
                  <a:solidFill>
                    <a:srgbClr val="E25652"/>
                  </a:solidFill>
                </a:rPr>
                <a:t>可以有输入和输出</a:t>
              </a:r>
              <a:endParaRPr lang="en-US" altLang="zh-CN" sz="2400" b="1" dirty="0">
                <a:solidFill>
                  <a:srgbClr val="E25652"/>
                </a:solidFill>
              </a:endParaRPr>
            </a:p>
            <a:p>
              <a:pPr marL="457200" indent="-457200">
                <a:buFont typeface="+mj-lt"/>
                <a:buAutoNum type="arabicPeriod"/>
              </a:pPr>
              <a:r>
                <a:rPr lang="zh-CN" altLang="en-US" sz="2400" b="1" dirty="0">
                  <a:solidFill>
                    <a:srgbClr val="E25652"/>
                  </a:solidFill>
                </a:rPr>
                <a:t>将运行过程中的变量保存在函数局部空间中，</a:t>
              </a:r>
              <a:br>
                <a:rPr lang="en-US" altLang="zh-CN" sz="2400" b="1" dirty="0">
                  <a:solidFill>
                    <a:srgbClr val="E25652"/>
                  </a:solidFill>
                </a:rPr>
              </a:br>
              <a:r>
                <a:rPr lang="zh-CN" altLang="en-US" sz="2400" b="1" dirty="0">
                  <a:solidFill>
                    <a:srgbClr val="E25652"/>
                  </a:solidFill>
                </a:rPr>
                <a:t>不能与别的函数或脚本共享</a:t>
              </a:r>
              <a:r>
                <a:rPr lang="en-US" altLang="zh-CN" sz="2400" b="1" dirty="0">
                  <a:solidFill>
                    <a:srgbClr val="E25652"/>
                  </a:solidFill>
                  <a:sym typeface="Wingdings" panose="05000000000000000000" pitchFamily="2" charset="2"/>
                </a:rPr>
                <a:t></a:t>
              </a:r>
              <a:r>
                <a:rPr lang="zh-CN" altLang="en-US" sz="2400" b="1" dirty="0">
                  <a:solidFill>
                    <a:srgbClr val="E25652"/>
                  </a:solidFill>
                </a:rPr>
                <a:t>（局部变量）</a:t>
              </a:r>
            </a:p>
          </p:txBody>
        </p:sp>
        <p:sp>
          <p:nvSpPr>
            <p:cNvPr id="11" name="燕尾形箭头 10"/>
            <p:cNvSpPr/>
            <p:nvPr/>
          </p:nvSpPr>
          <p:spPr>
            <a:xfrm>
              <a:off x="4381086" y="4460127"/>
              <a:ext cx="731520" cy="357052"/>
            </a:xfrm>
            <a:prstGeom prst="notched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31517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二、</a:t>
            </a:r>
            <a:r>
              <a:rPr lang="en-US" altLang="zh-CN" dirty="0"/>
              <a:t> </a:t>
            </a:r>
            <a:r>
              <a:rPr lang="zh-CN" altLang="en-US" dirty="0"/>
              <a:t>脚本</a:t>
            </a:r>
            <a:r>
              <a:rPr lang="en-US" altLang="zh-CN" dirty="0"/>
              <a:t>M</a:t>
            </a:r>
            <a:r>
              <a:rPr lang="zh-CN" altLang="en-US" dirty="0"/>
              <a:t>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4"/>
            <a:ext cx="2410097" cy="1892935"/>
          </a:xfrm>
        </p:spPr>
        <p:txBody>
          <a:bodyPr>
            <a:normAutofit/>
          </a:bodyPr>
          <a:lstStyle/>
          <a:p>
            <a:r>
              <a:rPr lang="zh-CN" altLang="en-US" dirty="0"/>
              <a:t>如何创建？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1870632" y="2459061"/>
            <a:ext cx="314945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&gt;&gt; edit myWhaleCall.m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905" y="301806"/>
            <a:ext cx="4657725" cy="5505450"/>
          </a:xfrm>
          <a:prstGeom prst="rect">
            <a:avLst/>
          </a:prstGeom>
        </p:spPr>
      </p:pic>
      <p:sp>
        <p:nvSpPr>
          <p:cNvPr id="7" name="燕尾形箭头 6"/>
          <p:cNvSpPr/>
          <p:nvPr/>
        </p:nvSpPr>
        <p:spPr>
          <a:xfrm>
            <a:off x="5094514" y="2574476"/>
            <a:ext cx="1149532" cy="346250"/>
          </a:xfrm>
          <a:prstGeom prst="notched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7222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2"/>
          <p:cNvSpPr>
            <a:spLocks noGrp="1"/>
          </p:cNvSpPr>
          <p:nvPr>
            <p:ph idx="1"/>
          </p:nvPr>
        </p:nvSpPr>
        <p:spPr>
          <a:xfrm>
            <a:off x="768531" y="1233442"/>
            <a:ext cx="2410097" cy="551816"/>
          </a:xfrm>
        </p:spPr>
        <p:txBody>
          <a:bodyPr>
            <a:normAutofit/>
          </a:bodyPr>
          <a:lstStyle/>
          <a:p>
            <a:r>
              <a:rPr lang="zh-CN" altLang="en-US" dirty="0"/>
              <a:t>如何运行？</a:t>
            </a:r>
          </a:p>
        </p:txBody>
      </p:sp>
      <p:sp>
        <p:nvSpPr>
          <p:cNvPr id="5" name="矩形 4"/>
          <p:cNvSpPr/>
          <p:nvPr/>
        </p:nvSpPr>
        <p:spPr>
          <a:xfrm>
            <a:off x="2135823" y="2011707"/>
            <a:ext cx="22453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&gt;&gt; myWhaleCall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4807131" y="165088"/>
            <a:ext cx="5653608" cy="3775302"/>
            <a:chOff x="3178628" y="108722"/>
            <a:chExt cx="5653608" cy="3775302"/>
          </a:xfrm>
        </p:grpSpPr>
        <p:sp>
          <p:nvSpPr>
            <p:cNvPr id="6" name="燕尾形箭头 5"/>
            <p:cNvSpPr/>
            <p:nvPr/>
          </p:nvSpPr>
          <p:spPr>
            <a:xfrm>
              <a:off x="3178628" y="2045543"/>
              <a:ext cx="1149532" cy="346250"/>
            </a:xfrm>
            <a:prstGeom prst="notched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47384" y="108722"/>
              <a:ext cx="4184852" cy="3775302"/>
            </a:xfrm>
            <a:prstGeom prst="rect">
              <a:avLst/>
            </a:prstGeom>
          </p:spPr>
        </p:pic>
      </p:grpSp>
      <p:sp>
        <p:nvSpPr>
          <p:cNvPr id="9" name="文本框 8"/>
          <p:cNvSpPr txBox="1"/>
          <p:nvPr/>
        </p:nvSpPr>
        <p:spPr>
          <a:xfrm>
            <a:off x="1037770" y="5042262"/>
            <a:ext cx="46496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运行过程中的变量保存在全局</a:t>
            </a:r>
            <a:r>
              <a:rPr lang="en-US" altLang="zh-CN" b="1" dirty="0"/>
              <a:t>workspace</a:t>
            </a:r>
            <a:r>
              <a:rPr lang="zh-CN" altLang="en-US" b="1" dirty="0"/>
              <a:t>中，</a:t>
            </a:r>
            <a:endParaRPr lang="en-US" altLang="zh-CN" b="1" dirty="0"/>
          </a:p>
          <a:p>
            <a:r>
              <a:rPr lang="zh-CN" altLang="en-US" b="1" dirty="0"/>
              <a:t>在</a:t>
            </a:r>
            <a:r>
              <a:rPr lang="en-US" altLang="zh-CN" b="1" dirty="0"/>
              <a:t>Command</a:t>
            </a:r>
            <a:r>
              <a:rPr lang="zh-CN" altLang="en-US" b="1" dirty="0"/>
              <a:t>窗口中可以直接访问到这些变量</a:t>
            </a:r>
          </a:p>
        </p:txBody>
      </p:sp>
      <p:grpSp>
        <p:nvGrpSpPr>
          <p:cNvPr id="12" name="组合 11"/>
          <p:cNvGrpSpPr/>
          <p:nvPr/>
        </p:nvGrpSpPr>
        <p:grpSpPr>
          <a:xfrm>
            <a:off x="5583500" y="3128554"/>
            <a:ext cx="5930213" cy="3352800"/>
            <a:chOff x="5583500" y="3128554"/>
            <a:chExt cx="5930213" cy="3352800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36888" y="3128554"/>
              <a:ext cx="5076825" cy="3352800"/>
            </a:xfrm>
            <a:prstGeom prst="rect">
              <a:avLst/>
            </a:prstGeom>
          </p:spPr>
        </p:pic>
        <p:sp>
          <p:nvSpPr>
            <p:cNvPr id="10" name="燕尾形箭头 9"/>
            <p:cNvSpPr/>
            <p:nvPr/>
          </p:nvSpPr>
          <p:spPr>
            <a:xfrm>
              <a:off x="5583500" y="5131342"/>
              <a:ext cx="730213" cy="346250"/>
            </a:xfrm>
            <a:prstGeom prst="notched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矩形 12"/>
          <p:cNvSpPr/>
          <p:nvPr/>
        </p:nvSpPr>
        <p:spPr>
          <a:xfrm>
            <a:off x="2090384" y="2562528"/>
            <a:ext cx="25266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000" b="1" dirty="0">
                <a:solidFill>
                  <a:srgbClr val="E25652"/>
                </a:solidFill>
              </a:rPr>
              <a:t>注意：</a:t>
            </a:r>
            <a:r>
              <a:rPr lang="zh-CN" altLang="en-US" sz="2000" b="1" u="sng" dirty="0">
                <a:solidFill>
                  <a:srgbClr val="E25652"/>
                </a:solidFill>
              </a:rPr>
              <a:t>不要带“</a:t>
            </a:r>
            <a:r>
              <a:rPr lang="en-US" altLang="zh-CN" sz="2000" b="1" u="sng" dirty="0">
                <a:solidFill>
                  <a:srgbClr val="E25652"/>
                </a:solidFill>
              </a:rPr>
              <a:t>.m</a:t>
            </a:r>
            <a:r>
              <a:rPr lang="zh-CN" altLang="en-US" sz="2000" b="1" u="sng" dirty="0">
                <a:solidFill>
                  <a:srgbClr val="E25652"/>
                </a:solidFill>
              </a:rPr>
              <a:t>”</a:t>
            </a:r>
            <a:endParaRPr lang="zh-CN" altLang="en-US" sz="2000" b="1" dirty="0">
              <a:solidFill>
                <a:srgbClr val="E25652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85" y="3032576"/>
            <a:ext cx="5819775" cy="104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171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三、</a:t>
            </a:r>
            <a:r>
              <a:rPr lang="en-US" altLang="zh-CN" dirty="0"/>
              <a:t> </a:t>
            </a:r>
            <a:r>
              <a:rPr lang="zh-CN" altLang="en-US" dirty="0"/>
              <a:t>函数（</a:t>
            </a:r>
            <a:r>
              <a:rPr lang="en-US" altLang="zh-CN" dirty="0"/>
              <a:t>Functions</a:t>
            </a:r>
            <a:r>
              <a:rPr lang="zh-CN" altLang="en-US" dirty="0"/>
              <a:t>）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58198" y="1268360"/>
            <a:ext cx="5469259" cy="558963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043" y="2449013"/>
            <a:ext cx="3048000" cy="1733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5655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95" y="222339"/>
            <a:ext cx="3752850" cy="28670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433" y="1655851"/>
            <a:ext cx="3716383" cy="487775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3822" y="1655851"/>
            <a:ext cx="3283811" cy="4789985"/>
          </a:xfrm>
          <a:prstGeom prst="rect">
            <a:avLst/>
          </a:prstGeom>
        </p:spPr>
      </p:pic>
      <p:sp>
        <p:nvSpPr>
          <p:cNvPr id="10" name="上弧形箭头 9"/>
          <p:cNvSpPr/>
          <p:nvPr/>
        </p:nvSpPr>
        <p:spPr>
          <a:xfrm rot="536038">
            <a:off x="3762104" y="1217794"/>
            <a:ext cx="1628503" cy="313509"/>
          </a:xfrm>
          <a:prstGeom prst="curvedDownArrow">
            <a:avLst>
              <a:gd name="adj1" fmla="val 3125"/>
              <a:gd name="adj2" fmla="val 50000"/>
              <a:gd name="adj3" fmla="val 25000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上弧形箭头 10"/>
          <p:cNvSpPr/>
          <p:nvPr/>
        </p:nvSpPr>
        <p:spPr>
          <a:xfrm>
            <a:off x="6649770" y="1217793"/>
            <a:ext cx="1628503" cy="313509"/>
          </a:xfrm>
          <a:prstGeom prst="curvedDownArrow">
            <a:avLst>
              <a:gd name="adj1" fmla="val 3125"/>
              <a:gd name="adj2" fmla="val 50000"/>
              <a:gd name="adj3" fmla="val 25000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11375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135461" y="1534477"/>
            <a:ext cx="4972050" cy="29337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937" y="1658302"/>
            <a:ext cx="3790950" cy="28098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88291" y="4545875"/>
            <a:ext cx="304923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函数</a:t>
            </a:r>
            <a:r>
              <a:rPr lang="en-US" altLang="zh-CN" sz="2800" dirty="0">
                <a:sym typeface="Wingdings" panose="05000000000000000000" pitchFamily="2" charset="2"/>
              </a:rPr>
              <a:t></a:t>
            </a:r>
            <a:r>
              <a:rPr lang="zh-CN" altLang="en-US" sz="2800" dirty="0"/>
              <a:t>“黑盒子”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5820806" y="3097417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2800"/>
            </a:lvl1pPr>
          </a:lstStyle>
          <a:p>
            <a:r>
              <a:rPr lang="zh-CN" altLang="en-US" dirty="0"/>
              <a:t>参数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1132114" y="4615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函数的基本概念</a:t>
            </a:r>
          </a:p>
        </p:txBody>
      </p:sp>
    </p:spTree>
    <p:extLst>
      <p:ext uri="{BB962C8B-B14F-4D97-AF65-F5344CB8AC3E}">
        <p14:creationId xmlns:p14="http://schemas.microsoft.com/office/powerpoint/2010/main" val="4372844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8863" y="174172"/>
            <a:ext cx="2627811" cy="627018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函数语法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59943" y="801190"/>
            <a:ext cx="7787371" cy="11788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3200" dirty="0">
                <a:solidFill>
                  <a:schemeClr val="accent1"/>
                </a:solidFill>
              </a:rPr>
              <a:t>       function</a:t>
            </a:r>
            <a:r>
              <a:rPr lang="en-US" altLang="zh-CN" sz="3200" dirty="0"/>
              <a:t>     [y1,...,yN] = myfun(x1,...,xM)</a:t>
            </a:r>
          </a:p>
          <a:p>
            <a:pPr marL="0" indent="0">
              <a:buNone/>
            </a:pPr>
            <a:r>
              <a:rPr lang="zh-CN" altLang="en-US" sz="2000" dirty="0"/>
              <a:t>关键字</a:t>
            </a:r>
            <a:r>
              <a:rPr lang="en-US" altLang="zh-CN" sz="2000" dirty="0"/>
              <a:t>function</a:t>
            </a:r>
            <a:r>
              <a:rPr lang="zh-CN" altLang="en-US" sz="2000" dirty="0"/>
              <a:t>开头       返回值             </a:t>
            </a:r>
            <a:r>
              <a:rPr lang="en-US" altLang="zh-CN" sz="3200" dirty="0">
                <a:solidFill>
                  <a:prstClr val="black"/>
                </a:solidFill>
              </a:rPr>
              <a:t>=</a:t>
            </a:r>
            <a:r>
              <a:rPr lang="en-US" altLang="zh-CN" sz="2000" dirty="0"/>
              <a:t>     </a:t>
            </a:r>
            <a:r>
              <a:rPr lang="zh-CN" altLang="en-US" sz="2000" dirty="0"/>
              <a:t>函数名字</a:t>
            </a:r>
            <a:r>
              <a:rPr lang="en-US" altLang="zh-CN" sz="2000" dirty="0"/>
              <a:t>(   </a:t>
            </a:r>
            <a:r>
              <a:rPr lang="zh-CN" altLang="en-US" sz="2000" dirty="0"/>
              <a:t>参数  </a:t>
            </a:r>
            <a:r>
              <a:rPr lang="en-US" altLang="zh-CN" sz="2000" dirty="0"/>
              <a:t>)</a:t>
            </a:r>
          </a:p>
          <a:p>
            <a:pPr marL="0" indent="0">
              <a:buNone/>
            </a:pPr>
            <a:endParaRPr lang="en-US" altLang="zh-CN" sz="2000" dirty="0"/>
          </a:p>
        </p:txBody>
      </p:sp>
      <p:sp>
        <p:nvSpPr>
          <p:cNvPr id="4" name="矩形 3"/>
          <p:cNvSpPr/>
          <p:nvPr/>
        </p:nvSpPr>
        <p:spPr>
          <a:xfrm>
            <a:off x="6125163" y="2607040"/>
            <a:ext cx="5243743" cy="31085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返回值：</a:t>
            </a:r>
            <a:endParaRPr lang="en-US" altLang="zh-CN" sz="24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2400" dirty="0"/>
              <a:t>可以有多个，也可以没有返回值</a:t>
            </a:r>
            <a:endParaRPr lang="en-US" altLang="zh-CN" sz="24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2400" dirty="0"/>
              <a:t>用</a:t>
            </a:r>
            <a:r>
              <a:rPr lang="en-US" altLang="zh-CN" sz="2400" b="1" dirty="0">
                <a:solidFill>
                  <a:srgbClr val="E25652"/>
                </a:solidFill>
              </a:rPr>
              <a:t>[    ]</a:t>
            </a:r>
            <a:r>
              <a:rPr lang="en-US" altLang="zh-CN" sz="2400" b="1" dirty="0"/>
              <a:t> </a:t>
            </a:r>
            <a:r>
              <a:rPr lang="zh-CN" altLang="en-US" sz="2400" dirty="0"/>
              <a:t>表示</a:t>
            </a:r>
            <a:endParaRPr lang="en-US" altLang="zh-CN" sz="2400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zh-CN" altLang="en-US" sz="2400" dirty="0"/>
              <a:t>是函数的输出（</a:t>
            </a:r>
            <a:r>
              <a:rPr lang="en-US" altLang="zh-CN" sz="2400" dirty="0"/>
              <a:t>outputs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/>
              <a:t>参数：</a:t>
            </a:r>
            <a:endParaRPr lang="en-US" altLang="zh-CN" sz="24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sz="2400" dirty="0"/>
              <a:t>可以有多个，也可以没有参数</a:t>
            </a:r>
            <a:endParaRPr lang="en-US" altLang="zh-CN" sz="24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sz="2400" dirty="0"/>
              <a:t>用</a:t>
            </a:r>
            <a:r>
              <a:rPr lang="zh-CN" altLang="en-US" sz="2400" b="1" dirty="0">
                <a:solidFill>
                  <a:srgbClr val="E25652"/>
                </a:solidFill>
              </a:rPr>
              <a:t>（ ）</a:t>
            </a:r>
            <a:r>
              <a:rPr lang="zh-CN" altLang="en-US" sz="2400" dirty="0"/>
              <a:t>表示</a:t>
            </a:r>
            <a:endParaRPr lang="en-US" altLang="zh-CN" sz="24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zh-CN" altLang="en-US" sz="2800" dirty="0"/>
              <a:t>是函数的输入（</a:t>
            </a:r>
            <a:r>
              <a:rPr lang="en-US" altLang="zh-CN" sz="2800" dirty="0"/>
              <a:t>inputs</a:t>
            </a:r>
            <a:r>
              <a:rPr lang="zh-CN" altLang="en-US" sz="2800" dirty="0"/>
              <a:t>）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863" y="3787849"/>
            <a:ext cx="3886200" cy="60007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863" y="2545312"/>
            <a:ext cx="2495550" cy="9334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863" y="4678345"/>
            <a:ext cx="4943475" cy="1000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262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06" y="949237"/>
            <a:ext cx="6632704" cy="311793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42903" y="184512"/>
            <a:ext cx="75713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/>
              <a:t>判断以下函数声明的语法是否正确：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4072" y="2646503"/>
            <a:ext cx="6408512" cy="3735247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528788" y="1218927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5528788" y="1872675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561185" y="2604671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650267" y="3363069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8742243" y="2778294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10162333" y="3482400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9141861" y="4953187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8916688" y="5727015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10862788" y="4296994"/>
            <a:ext cx="59503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</a:rPr>
              <a:t>✘</a:t>
            </a:r>
          </a:p>
        </p:txBody>
      </p:sp>
    </p:spTree>
    <p:extLst>
      <p:ext uri="{BB962C8B-B14F-4D97-AF65-F5344CB8AC3E}">
        <p14:creationId xmlns:p14="http://schemas.microsoft.com/office/powerpoint/2010/main" val="6030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99" y="652462"/>
            <a:ext cx="9083191" cy="110013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9337" y="1966912"/>
            <a:ext cx="5400300" cy="399573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855757" y="5073075"/>
            <a:ext cx="863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rgbClr val="FF0000"/>
                </a:solidFill>
              </a:rPr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2330091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Creating Functions</a:t>
            </a:r>
            <a:endParaRPr lang="zh-CN" altLang="en-US" dirty="0"/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2521" y="1520825"/>
            <a:ext cx="5750258" cy="4351338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7852" y="823913"/>
            <a:ext cx="3820074" cy="2309812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7547852" y="4998176"/>
            <a:ext cx="379783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在命令窗口中输入函数名字运行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7852" y="4043362"/>
            <a:ext cx="3781425" cy="80962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628775" y="6029325"/>
            <a:ext cx="50433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函数</a:t>
            </a:r>
            <a:r>
              <a:rPr lang="en-US" altLang="zh-CN" b="1" dirty="0"/>
              <a:t>.m</a:t>
            </a:r>
            <a:r>
              <a:rPr lang="zh-CN" altLang="en-US" b="1" dirty="0"/>
              <a:t>文件的名字要和函数的名字保持一致！！</a:t>
            </a:r>
          </a:p>
        </p:txBody>
      </p:sp>
    </p:spTree>
    <p:extLst>
      <p:ext uri="{BB962C8B-B14F-4D97-AF65-F5344CB8AC3E}">
        <p14:creationId xmlns:p14="http://schemas.microsoft.com/office/powerpoint/2010/main" val="82988295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5148262" y="5367334"/>
            <a:ext cx="50577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在命令窗口中运行：输入函数名字，带参数</a:t>
            </a: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166687"/>
            <a:ext cx="4381500" cy="39624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9748" y="166687"/>
            <a:ext cx="4324350" cy="374332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262" y="4092177"/>
            <a:ext cx="3533775" cy="1095375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3866606" y="1927521"/>
            <a:ext cx="2221986" cy="667633"/>
            <a:chOff x="3866606" y="1927521"/>
            <a:chExt cx="2221986" cy="667633"/>
          </a:xfrm>
        </p:grpSpPr>
        <p:sp>
          <p:nvSpPr>
            <p:cNvPr id="2" name="燕尾形箭头 1"/>
            <p:cNvSpPr/>
            <p:nvPr/>
          </p:nvSpPr>
          <p:spPr>
            <a:xfrm>
              <a:off x="3866606" y="2203269"/>
              <a:ext cx="1994263" cy="391885"/>
            </a:xfrm>
            <a:prstGeom prst="notched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" name="文本框 2"/>
            <p:cNvSpPr txBox="1"/>
            <p:nvPr/>
          </p:nvSpPr>
          <p:spPr>
            <a:xfrm>
              <a:off x="4100547" y="1927521"/>
              <a:ext cx="198804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E25652"/>
                  </a:solidFill>
                </a:rPr>
                <a:t>设计把</a:t>
              </a:r>
              <a:r>
                <a:rPr lang="en-US" altLang="zh-CN" dirty="0">
                  <a:solidFill>
                    <a:srgbClr val="E25652"/>
                  </a:solidFill>
                </a:rPr>
                <a:t>f0</a:t>
              </a:r>
              <a:r>
                <a:rPr lang="zh-CN" altLang="en-US" dirty="0">
                  <a:solidFill>
                    <a:srgbClr val="E25652"/>
                  </a:solidFill>
                </a:rPr>
                <a:t>作为参数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30038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9290" y="2959009"/>
            <a:ext cx="3629025" cy="10096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190" y="2230346"/>
            <a:ext cx="5276850" cy="4286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411084" y="717030"/>
            <a:ext cx="2343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E25652"/>
                </a:solidFill>
              </a:rPr>
              <a:t>设计把</a:t>
            </a:r>
            <a:r>
              <a:rPr lang="en-US" altLang="zh-CN" dirty="0">
                <a:solidFill>
                  <a:srgbClr val="E25652"/>
                </a:solidFill>
              </a:rPr>
              <a:t>call</a:t>
            </a:r>
            <a:r>
              <a:rPr lang="zh-CN" altLang="en-US" dirty="0">
                <a:solidFill>
                  <a:srgbClr val="E25652"/>
                </a:solidFill>
              </a:rPr>
              <a:t>作为返回值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556" y="1254034"/>
            <a:ext cx="4305300" cy="44196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5661979" y="4217943"/>
            <a:ext cx="56044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只有</a:t>
            </a:r>
            <a:r>
              <a:rPr lang="en-US" altLang="zh-CN" sz="2000" b="1" dirty="0"/>
              <a:t>signal</a:t>
            </a:r>
            <a:r>
              <a:rPr lang="zh-CN" altLang="en-US" sz="2000" b="1" dirty="0"/>
              <a:t>变量在全局</a:t>
            </a:r>
            <a:r>
              <a:rPr lang="en-US" altLang="zh-CN" sz="2000" b="1" dirty="0"/>
              <a:t>workspace</a:t>
            </a:r>
            <a:r>
              <a:rPr lang="zh-CN" altLang="en-US" sz="2000" b="1" dirty="0"/>
              <a:t>中，</a:t>
            </a:r>
            <a:endParaRPr lang="en-US" altLang="zh-CN" sz="2000" b="1" dirty="0"/>
          </a:p>
          <a:p>
            <a:r>
              <a:rPr lang="zh-CN" altLang="en-US" sz="2000" b="1" dirty="0"/>
              <a:t>函数内部的局部变量在函数运行结束后，消失了</a:t>
            </a:r>
          </a:p>
        </p:txBody>
      </p:sp>
    </p:spTree>
    <p:extLst>
      <p:ext uri="{BB962C8B-B14F-4D97-AF65-F5344CB8AC3E}">
        <p14:creationId xmlns:p14="http://schemas.microsoft.com/office/powerpoint/2010/main" val="4219407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237" y="571500"/>
            <a:ext cx="4352925" cy="37909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351" y="564900"/>
            <a:ext cx="4619625" cy="35528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812" y="4471987"/>
            <a:ext cx="7458075" cy="4095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2924" y="5036343"/>
            <a:ext cx="3590925" cy="1181100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3365647" y="1726032"/>
            <a:ext cx="2727029" cy="720055"/>
            <a:chOff x="3365647" y="1726032"/>
            <a:chExt cx="2727029" cy="720055"/>
          </a:xfrm>
        </p:grpSpPr>
        <p:sp>
          <p:nvSpPr>
            <p:cNvPr id="8" name="文本框 7"/>
            <p:cNvSpPr txBox="1"/>
            <p:nvPr/>
          </p:nvSpPr>
          <p:spPr>
            <a:xfrm>
              <a:off x="3365647" y="1726032"/>
              <a:ext cx="27270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rgbClr val="E25652"/>
                  </a:solidFill>
                </a:rPr>
                <a:t>设计</a:t>
              </a:r>
              <a:r>
                <a:rPr lang="en-US" altLang="zh-CN" dirty="0">
                  <a:solidFill>
                    <a:srgbClr val="E25652"/>
                  </a:solidFill>
                </a:rPr>
                <a:t>2</a:t>
              </a:r>
              <a:r>
                <a:rPr lang="zh-CN" altLang="en-US" dirty="0">
                  <a:solidFill>
                    <a:srgbClr val="E25652"/>
                  </a:solidFill>
                </a:rPr>
                <a:t>个参数，</a:t>
              </a:r>
              <a:r>
                <a:rPr lang="en-US" altLang="zh-CN" dirty="0">
                  <a:solidFill>
                    <a:srgbClr val="E25652"/>
                  </a:solidFill>
                </a:rPr>
                <a:t>2</a:t>
              </a:r>
              <a:r>
                <a:rPr lang="zh-CN" altLang="en-US" dirty="0">
                  <a:solidFill>
                    <a:srgbClr val="E25652"/>
                  </a:solidFill>
                </a:rPr>
                <a:t>个返回值</a:t>
              </a:r>
            </a:p>
          </p:txBody>
        </p:sp>
        <p:sp>
          <p:nvSpPr>
            <p:cNvPr id="10" name="燕尾形箭头 9"/>
            <p:cNvSpPr/>
            <p:nvPr/>
          </p:nvSpPr>
          <p:spPr>
            <a:xfrm>
              <a:off x="3416656" y="2054202"/>
              <a:ext cx="2676020" cy="391885"/>
            </a:xfrm>
            <a:prstGeom prst="notchedRightArrow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590594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47675" y="241300"/>
            <a:ext cx="7134225" cy="720725"/>
          </a:xfrm>
        </p:spPr>
        <p:txBody>
          <a:bodyPr>
            <a:normAutofit fontScale="90000"/>
          </a:bodyPr>
          <a:lstStyle/>
          <a:p>
            <a:r>
              <a:rPr lang="zh-CN" altLang="en-US" sz="3200" dirty="0"/>
              <a:t>判断题：函数必须保存成</a:t>
            </a:r>
            <a:r>
              <a:rPr lang="en-US" altLang="zh-CN" sz="3200" dirty="0"/>
              <a:t>.m</a:t>
            </a:r>
            <a:r>
              <a:rPr lang="zh-CN" altLang="en-US" sz="3200" dirty="0"/>
              <a:t>文件才能使用。</a:t>
            </a:r>
          </a:p>
        </p:txBody>
      </p:sp>
      <p:grpSp>
        <p:nvGrpSpPr>
          <p:cNvPr id="11" name="组合 10"/>
          <p:cNvGrpSpPr/>
          <p:nvPr/>
        </p:nvGrpSpPr>
        <p:grpSpPr>
          <a:xfrm>
            <a:off x="623887" y="1305936"/>
            <a:ext cx="10295657" cy="4342388"/>
            <a:chOff x="623887" y="1305936"/>
            <a:chExt cx="10295657" cy="4342388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3887" y="1890712"/>
              <a:ext cx="6718492" cy="3614738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81900" y="1890711"/>
              <a:ext cx="3337644" cy="3757613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623887" y="1305936"/>
              <a:ext cx="842410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200" b="1" dirty="0"/>
                <a:t>下面的函数应该保存为以下哪个名字的文件？</a:t>
              </a: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10151407" y="3006150"/>
            <a:ext cx="863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7342379" y="131028"/>
            <a:ext cx="863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rgbClr val="FF0000"/>
                </a:solidFill>
              </a:rPr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2035833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8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275" y="1652587"/>
            <a:ext cx="6596382" cy="302418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8432" y="1652587"/>
            <a:ext cx="4610042" cy="302418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90612" y="740566"/>
            <a:ext cx="8920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以下命令中，哪个是下面函数的正确调用？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0010775" y="1652587"/>
            <a:ext cx="863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rgbClr val="FF0000"/>
                </a:solidFill>
              </a:rPr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3265943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" y="376237"/>
            <a:ext cx="5811066" cy="197643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278" y="376237"/>
            <a:ext cx="2547476" cy="3681413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983158" y="2768381"/>
            <a:ext cx="4873450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/>
              <a:t>&gt;&gt; [a,b] = foo(3) </a:t>
            </a:r>
            <a:endParaRPr lang="en-US" altLang="zh-CN" sz="2800" b="1" dirty="0"/>
          </a:p>
          <a:p>
            <a:r>
              <a:rPr lang="zh-CN" altLang="en-US" sz="2800" b="1" dirty="0"/>
              <a:t>以上命令的运行结果是什么？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8636676" y="3245434"/>
            <a:ext cx="863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rgbClr val="FF0000"/>
                </a:solidFill>
              </a:rPr>
              <a:t>✔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3278" y="4400550"/>
            <a:ext cx="49149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478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49" y="376236"/>
            <a:ext cx="6343163" cy="2157413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983158" y="2768381"/>
            <a:ext cx="4873450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/>
              <a:t>&gt;&gt; a = foo(3，</a:t>
            </a:r>
            <a:r>
              <a:rPr lang="en-US" altLang="zh-CN" sz="2800" b="1" dirty="0"/>
              <a:t>4</a:t>
            </a:r>
            <a:r>
              <a:rPr lang="zh-CN" altLang="en-US" sz="2800" b="1" dirty="0"/>
              <a:t>) </a:t>
            </a:r>
            <a:endParaRPr lang="en-US" altLang="zh-CN" sz="2800" b="1" dirty="0"/>
          </a:p>
          <a:p>
            <a:r>
              <a:rPr lang="zh-CN" altLang="en-US" sz="2800" b="1" dirty="0"/>
              <a:t>以上命令的运行结果是什么？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2358" y="1604962"/>
            <a:ext cx="3725542" cy="3657392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8789076" y="3018159"/>
            <a:ext cx="863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rgbClr val="FF0000"/>
                </a:solidFill>
              </a:rPr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3593037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4394200" cy="930275"/>
          </a:xfrm>
        </p:spPr>
        <p:txBody>
          <a:bodyPr/>
          <a:lstStyle/>
          <a:p>
            <a:r>
              <a:rPr lang="zh-CN" altLang="en-US" b="1" dirty="0"/>
              <a:t>函数的类型：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2800" y="1444625"/>
            <a:ext cx="10515600" cy="4351338"/>
          </a:xfrm>
        </p:spPr>
        <p:txBody>
          <a:bodyPr>
            <a:normAutofit lnSpcReduction="10000"/>
          </a:bodyPr>
          <a:lstStyle/>
          <a:p>
            <a:pPr marL="914400" indent="-914400">
              <a:buFont typeface="+mj-lt"/>
              <a:buAutoNum type="arabicPeriod"/>
            </a:pPr>
            <a:r>
              <a:rPr lang="en-US" altLang="zh-CN" sz="4800" b="1" dirty="0"/>
              <a:t>Anonymous Functions</a:t>
            </a:r>
            <a:r>
              <a:rPr lang="zh-CN" altLang="en-US" sz="4800" b="1" dirty="0"/>
              <a:t>（匿名函数）</a:t>
            </a:r>
            <a:endParaRPr lang="en-US" altLang="zh-CN" sz="4800" b="1" dirty="0"/>
          </a:p>
          <a:p>
            <a:pPr marL="914400" indent="-914400">
              <a:buFont typeface="+mj-lt"/>
              <a:buAutoNum type="arabicPeriod"/>
            </a:pPr>
            <a:r>
              <a:rPr lang="en-US" altLang="zh-CN" sz="4800" b="1" dirty="0"/>
              <a:t>Primary Functions</a:t>
            </a:r>
            <a:r>
              <a:rPr lang="zh-CN" altLang="en-US" sz="4800" b="1" dirty="0"/>
              <a:t>（主函数）</a:t>
            </a:r>
            <a:endParaRPr lang="en-US" altLang="zh-CN" sz="4800" b="1" dirty="0"/>
          </a:p>
          <a:p>
            <a:pPr marL="914400" indent="-914400">
              <a:buFont typeface="+mj-lt"/>
              <a:buAutoNum type="arabicPeriod"/>
            </a:pPr>
            <a:r>
              <a:rPr lang="en-US" altLang="zh-CN" sz="4800" b="1" dirty="0" err="1"/>
              <a:t>Subfunctions</a:t>
            </a:r>
            <a:r>
              <a:rPr lang="zh-CN" altLang="en-US" sz="4800" b="1" dirty="0"/>
              <a:t>（子函数）</a:t>
            </a:r>
            <a:endParaRPr lang="en-US" altLang="zh-CN" sz="4800" b="1" dirty="0"/>
          </a:p>
          <a:p>
            <a:pPr marL="914400" indent="-914400">
              <a:buFont typeface="+mj-lt"/>
              <a:buAutoNum type="arabicPeriod"/>
            </a:pPr>
            <a:r>
              <a:rPr lang="en-US" altLang="zh-CN" sz="4800" b="1" dirty="0"/>
              <a:t>Private Functions</a:t>
            </a:r>
            <a:r>
              <a:rPr lang="zh-CN" altLang="en-US" sz="4800" b="1" dirty="0"/>
              <a:t>（私有函数）</a:t>
            </a:r>
            <a:endParaRPr lang="en-US" altLang="zh-CN" sz="4800" b="1" dirty="0"/>
          </a:p>
          <a:p>
            <a:pPr marL="914400" indent="-914400">
              <a:buFont typeface="+mj-lt"/>
              <a:buAutoNum type="arabicPeriod"/>
            </a:pPr>
            <a:r>
              <a:rPr lang="en-US" altLang="zh-CN" sz="4800" b="1" dirty="0"/>
              <a:t>Nested Functions</a:t>
            </a:r>
            <a:r>
              <a:rPr lang="zh-CN" altLang="en-US" sz="4800" b="1" dirty="0"/>
              <a:t>（嵌套函数）</a:t>
            </a:r>
            <a:endParaRPr lang="en-US" altLang="zh-CN" sz="4800" b="1" dirty="0"/>
          </a:p>
          <a:p>
            <a:pPr marL="914400" indent="-914400">
              <a:buFont typeface="+mj-lt"/>
              <a:buAutoNum type="arabicPeriod"/>
            </a:pPr>
            <a:r>
              <a:rPr lang="en-US" altLang="zh-CN" sz="4800" b="1" dirty="0"/>
              <a:t>Overloaded Functions</a:t>
            </a:r>
            <a:r>
              <a:rPr lang="zh-CN" altLang="en-US" sz="4800" b="1" dirty="0"/>
              <a:t>（重载函数）</a:t>
            </a:r>
          </a:p>
        </p:txBody>
      </p:sp>
    </p:spTree>
    <p:extLst>
      <p:ext uri="{BB962C8B-B14F-4D97-AF65-F5344CB8AC3E}">
        <p14:creationId xmlns:p14="http://schemas.microsoft.com/office/powerpoint/2010/main" val="13226897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匿名函数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47800"/>
            <a:ext cx="10515600" cy="2279469"/>
          </a:xfrm>
        </p:spPr>
        <p:txBody>
          <a:bodyPr>
            <a:normAutofit/>
          </a:bodyPr>
          <a:lstStyle/>
          <a:p>
            <a:r>
              <a:rPr lang="zh-CN" altLang="en-US" sz="3200" dirty="0"/>
              <a:t>语法：</a:t>
            </a:r>
            <a:r>
              <a:rPr lang="en-US" altLang="zh-CN" sz="3200" dirty="0"/>
              <a:t> </a:t>
            </a:r>
            <a:r>
              <a:rPr lang="en-US" altLang="zh-CN" sz="3200" dirty="0" err="1"/>
              <a:t>fhandle</a:t>
            </a:r>
            <a:r>
              <a:rPr lang="en-US" altLang="zh-CN" sz="3200" dirty="0"/>
              <a:t> = </a:t>
            </a:r>
            <a:r>
              <a:rPr lang="en-US" altLang="zh-CN" sz="3200" b="1" dirty="0">
                <a:solidFill>
                  <a:srgbClr val="FF0000"/>
                </a:solidFill>
              </a:rPr>
              <a:t>@</a:t>
            </a:r>
            <a:r>
              <a:rPr lang="en-US" altLang="zh-CN" sz="3200" dirty="0"/>
              <a:t>(</a:t>
            </a:r>
            <a:r>
              <a:rPr lang="en-US" altLang="zh-CN" sz="3200" dirty="0" err="1"/>
              <a:t>arglist</a:t>
            </a:r>
            <a:r>
              <a:rPr lang="en-US" altLang="zh-CN" sz="3200" dirty="0"/>
              <a:t>) </a:t>
            </a:r>
            <a:r>
              <a:rPr lang="en-US" altLang="zh-CN" sz="3200" dirty="0" err="1"/>
              <a:t>expr</a:t>
            </a:r>
            <a:endParaRPr lang="en-US" altLang="zh-CN" sz="3200" dirty="0"/>
          </a:p>
          <a:p>
            <a:r>
              <a:rPr lang="en-US" altLang="zh-CN" sz="3200" b="1" dirty="0">
                <a:solidFill>
                  <a:srgbClr val="FF0000"/>
                </a:solidFill>
              </a:rPr>
              <a:t>@</a:t>
            </a:r>
            <a:r>
              <a:rPr lang="zh-CN" altLang="en-US" sz="3200" b="1" dirty="0">
                <a:solidFill>
                  <a:srgbClr val="FF0000"/>
                </a:solidFill>
              </a:rPr>
              <a:t>：</a:t>
            </a:r>
            <a:r>
              <a:rPr lang="en-US" altLang="zh-CN" sz="3200" b="1" dirty="0">
                <a:solidFill>
                  <a:srgbClr val="FF0000"/>
                </a:solidFill>
              </a:rPr>
              <a:t>MATLAB operator that constructs a </a:t>
            </a:r>
            <a:r>
              <a:rPr lang="en-US" altLang="zh-CN" sz="3200" b="1" u="sng" dirty="0">
                <a:solidFill>
                  <a:srgbClr val="FF0000"/>
                </a:solidFill>
              </a:rPr>
              <a:t>function handle</a:t>
            </a:r>
            <a:r>
              <a:rPr lang="en-US" altLang="zh-CN" sz="3200" b="1" dirty="0">
                <a:solidFill>
                  <a:srgbClr val="FF0000"/>
                </a:solidFill>
              </a:rPr>
              <a:t>.</a:t>
            </a:r>
            <a:br>
              <a:rPr lang="en-US" altLang="zh-CN" sz="3200" b="1" dirty="0">
                <a:solidFill>
                  <a:srgbClr val="FF0000"/>
                </a:solidFill>
              </a:rPr>
            </a:br>
            <a:r>
              <a:rPr lang="en-US" altLang="zh-CN" sz="3200" b="1" dirty="0">
                <a:solidFill>
                  <a:srgbClr val="FF0000"/>
                </a:solidFill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</a:rPr>
              <a:t>创建函数句柄</a:t>
            </a:r>
            <a:endParaRPr lang="en-US" altLang="zh-CN" sz="3200" dirty="0"/>
          </a:p>
          <a:p>
            <a:r>
              <a:rPr lang="zh-CN" altLang="en-US" sz="3200" dirty="0"/>
              <a:t>可以在命令行、脚本文件、函数文件中创建及调用</a:t>
            </a:r>
            <a:endParaRPr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743516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910409" y="341450"/>
            <a:ext cx="109093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800" dirty="0"/>
              <a:t>&gt;&gt; </a:t>
            </a:r>
            <a:r>
              <a:rPr lang="en-US" altLang="zh-CN" sz="4800" dirty="0" err="1"/>
              <a:t>min_and_max</a:t>
            </a:r>
            <a:r>
              <a:rPr lang="en-US" altLang="zh-CN" sz="4800" dirty="0"/>
              <a:t> = @(x) [min(x),max(x)];</a:t>
            </a:r>
            <a:endParaRPr lang="zh-CN" altLang="en-US" sz="4800" dirty="0"/>
          </a:p>
        </p:txBody>
      </p:sp>
      <p:sp>
        <p:nvSpPr>
          <p:cNvPr id="2" name="矩形 1"/>
          <p:cNvSpPr/>
          <p:nvPr/>
        </p:nvSpPr>
        <p:spPr>
          <a:xfrm>
            <a:off x="910409" y="1326988"/>
            <a:ext cx="935699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800" dirty="0"/>
              <a:t>&gt;&gt; class(min_and_max)</a:t>
            </a:r>
          </a:p>
          <a:p>
            <a:r>
              <a:rPr lang="zh-CN" altLang="en-US" sz="4800" dirty="0"/>
              <a:t>ans =</a:t>
            </a:r>
          </a:p>
          <a:p>
            <a:r>
              <a:rPr lang="zh-CN" altLang="en-US" sz="4800" dirty="0">
                <a:solidFill>
                  <a:srgbClr val="E25652"/>
                </a:solidFill>
              </a:rPr>
              <a:t>function_handle</a:t>
            </a:r>
          </a:p>
        </p:txBody>
      </p:sp>
      <p:sp>
        <p:nvSpPr>
          <p:cNvPr id="3" name="矩形 2"/>
          <p:cNvSpPr/>
          <p:nvPr/>
        </p:nvSpPr>
        <p:spPr>
          <a:xfrm>
            <a:off x="910409" y="3789853"/>
            <a:ext cx="913529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zh-CN" sz="4800" dirty="0"/>
              <a:t>&gt;&gt; min_and_max([3 4 1 6 2])</a:t>
            </a:r>
          </a:p>
          <a:p>
            <a:r>
              <a:rPr lang="fr-FR" altLang="zh-CN" sz="4800" dirty="0"/>
              <a:t>ans =</a:t>
            </a:r>
          </a:p>
          <a:p>
            <a:r>
              <a:rPr lang="fr-FR" altLang="zh-CN" sz="4800" dirty="0"/>
              <a:t>     1     6</a:t>
            </a:r>
            <a:endParaRPr lang="zh-CN" altLang="en-US" sz="4800" dirty="0"/>
          </a:p>
        </p:txBody>
      </p:sp>
    </p:spTree>
    <p:extLst>
      <p:ext uri="{BB962C8B-B14F-4D97-AF65-F5344CB8AC3E}">
        <p14:creationId xmlns:p14="http://schemas.microsoft.com/office/powerpoint/2010/main" val="3563549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36600" y="582136"/>
            <a:ext cx="109093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4800" dirty="0"/>
              <a:t>[</a:t>
            </a:r>
            <a:r>
              <a:rPr lang="en-US" altLang="zh-CN" sz="4800" dirty="0" err="1"/>
              <a:t>extrema</a:t>
            </a:r>
            <a:r>
              <a:rPr lang="en-US" altLang="zh-CN" sz="4800" dirty="0"/>
              <a:t>, indices] = …</a:t>
            </a:r>
          </a:p>
          <a:p>
            <a:r>
              <a:rPr lang="en-US" altLang="zh-CN" sz="4800" dirty="0" err="1">
                <a:solidFill>
                  <a:srgbClr val="E25652"/>
                </a:solidFill>
              </a:rPr>
              <a:t>cellfun</a:t>
            </a:r>
            <a:r>
              <a:rPr lang="en-US" altLang="zh-CN" sz="4800" dirty="0"/>
              <a:t>( </a:t>
            </a:r>
            <a:r>
              <a:rPr lang="en-US" altLang="zh-CN" sz="4800" dirty="0">
                <a:solidFill>
                  <a:srgbClr val="00B050"/>
                </a:solidFill>
              </a:rPr>
              <a:t>@(f) f([3 4 1 6 2])</a:t>
            </a:r>
            <a:r>
              <a:rPr lang="en-US" altLang="zh-CN" sz="4800" dirty="0"/>
              <a:t>, </a:t>
            </a:r>
            <a:r>
              <a:rPr lang="en-US" altLang="zh-CN" sz="4800" dirty="0">
                <a:solidFill>
                  <a:srgbClr val="FF0000"/>
                </a:solidFill>
              </a:rPr>
              <a:t>{</a:t>
            </a:r>
            <a:r>
              <a:rPr lang="en-US" altLang="zh-CN" sz="4800" dirty="0">
                <a:solidFill>
                  <a:srgbClr val="00B050"/>
                </a:solidFill>
              </a:rPr>
              <a:t>@min</a:t>
            </a:r>
            <a:r>
              <a:rPr lang="en-US" altLang="zh-CN" sz="4800" dirty="0"/>
              <a:t>, </a:t>
            </a:r>
            <a:r>
              <a:rPr lang="en-US" altLang="zh-CN" sz="4800" dirty="0">
                <a:solidFill>
                  <a:srgbClr val="00B050"/>
                </a:solidFill>
              </a:rPr>
              <a:t>@max</a:t>
            </a:r>
            <a:r>
              <a:rPr lang="en-US" altLang="zh-CN" sz="4800" dirty="0">
                <a:solidFill>
                  <a:srgbClr val="FF0000"/>
                </a:solidFill>
              </a:rPr>
              <a:t>}</a:t>
            </a:r>
            <a:r>
              <a:rPr lang="en-US" altLang="zh-CN" sz="4800" dirty="0"/>
              <a:t>)</a:t>
            </a:r>
            <a:br>
              <a:rPr lang="en-US" altLang="zh-CN" sz="4800" dirty="0"/>
            </a:br>
            <a:r>
              <a:rPr lang="en-US" altLang="zh-CN" sz="4800" dirty="0"/>
              <a:t>extrema =</a:t>
            </a:r>
            <a:br>
              <a:rPr lang="en-US" altLang="zh-CN" sz="4800" dirty="0"/>
            </a:br>
            <a:r>
              <a:rPr lang="en-US" altLang="zh-CN" sz="4800" dirty="0"/>
              <a:t>   1    6</a:t>
            </a:r>
            <a:br>
              <a:rPr lang="en-US" altLang="zh-CN" sz="4800" dirty="0"/>
            </a:br>
            <a:r>
              <a:rPr lang="en-US" altLang="zh-CN" sz="4800" dirty="0"/>
              <a:t>indices =</a:t>
            </a:r>
            <a:br>
              <a:rPr lang="en-US" altLang="zh-CN" sz="4800" dirty="0"/>
            </a:br>
            <a:r>
              <a:rPr lang="en-US" altLang="zh-CN" sz="4800" dirty="0"/>
              <a:t>   3    4</a:t>
            </a:r>
            <a:endParaRPr lang="zh-CN" altLang="en-US" sz="4800" dirty="0"/>
          </a:p>
        </p:txBody>
      </p:sp>
    </p:spTree>
    <p:extLst>
      <p:ext uri="{BB962C8B-B14F-4D97-AF65-F5344CB8AC3E}">
        <p14:creationId xmlns:p14="http://schemas.microsoft.com/office/powerpoint/2010/main" val="22297784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主函数（</a:t>
            </a:r>
            <a:r>
              <a:rPr lang="en-US" altLang="zh-CN" dirty="0"/>
              <a:t>Primary function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84821"/>
          </a:xfrm>
        </p:spPr>
        <p:txBody>
          <a:bodyPr>
            <a:normAutofit/>
          </a:bodyPr>
          <a:lstStyle/>
          <a:p>
            <a:r>
              <a:rPr lang="en-US" altLang="zh-CN" sz="3600" dirty="0"/>
              <a:t>M</a:t>
            </a:r>
            <a:r>
              <a:rPr lang="zh-CN" altLang="en-US" sz="3600" dirty="0"/>
              <a:t>函数文件中的第一个函数（一个</a:t>
            </a:r>
            <a:r>
              <a:rPr lang="en-US" altLang="zh-CN" sz="3600" dirty="0"/>
              <a:t>M</a:t>
            </a:r>
            <a:r>
              <a:rPr lang="zh-CN" altLang="en-US" sz="3600" dirty="0"/>
              <a:t>函数文件中只有一个主函数）</a:t>
            </a:r>
            <a:endParaRPr lang="en-US" altLang="zh-CN" sz="3600" dirty="0"/>
          </a:p>
          <a:p>
            <a:r>
              <a:rPr lang="zh-CN" altLang="en-US" sz="3600" dirty="0"/>
              <a:t>按</a:t>
            </a:r>
            <a:r>
              <a:rPr lang="en-US" altLang="zh-CN" sz="3600" dirty="0"/>
              <a:t>MATLAB</a:t>
            </a:r>
            <a:r>
              <a:rPr lang="zh-CN" altLang="en-US" sz="3600" dirty="0"/>
              <a:t>的习惯，函数名和文件名要相同；</a:t>
            </a:r>
            <a:endParaRPr lang="en-US" altLang="zh-CN" sz="3600" dirty="0"/>
          </a:p>
          <a:p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0672263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子函数（</a:t>
            </a:r>
            <a:r>
              <a:rPr lang="en-US" altLang="zh-CN" dirty="0" err="1"/>
              <a:t>subfunction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974975"/>
          </a:xfrm>
        </p:spPr>
        <p:txBody>
          <a:bodyPr/>
          <a:lstStyle/>
          <a:p>
            <a:r>
              <a:rPr lang="en-US" altLang="zh-CN" dirty="0"/>
              <a:t>M</a:t>
            </a:r>
            <a:r>
              <a:rPr lang="zh-CN" altLang="en-US" dirty="0"/>
              <a:t>文件中可以定义多个函数；</a:t>
            </a:r>
            <a:endParaRPr lang="en-US" altLang="zh-CN" dirty="0"/>
          </a:p>
          <a:p>
            <a:r>
              <a:rPr lang="zh-CN" altLang="en-US" dirty="0"/>
              <a:t>第一个函数是主函数；</a:t>
            </a:r>
            <a:endParaRPr lang="en-US" altLang="zh-CN" dirty="0"/>
          </a:p>
          <a:p>
            <a:r>
              <a:rPr lang="zh-CN" altLang="en-US" dirty="0"/>
              <a:t>其他函数是子函数；</a:t>
            </a:r>
            <a:endParaRPr lang="en-US" altLang="zh-CN" dirty="0"/>
          </a:p>
          <a:p>
            <a:r>
              <a:rPr lang="zh-CN" altLang="en-US" dirty="0"/>
              <a:t>子函数只能在该</a:t>
            </a:r>
            <a:r>
              <a:rPr lang="en-US" altLang="zh-CN" dirty="0"/>
              <a:t>M</a:t>
            </a:r>
            <a:r>
              <a:rPr lang="zh-CN" altLang="en-US" dirty="0"/>
              <a:t>文件中可见（被该</a:t>
            </a:r>
            <a:r>
              <a:rPr lang="en-US" altLang="zh-CN" dirty="0"/>
              <a:t>M</a:t>
            </a:r>
            <a:r>
              <a:rPr lang="zh-CN" altLang="en-US" dirty="0"/>
              <a:t>文件中的函数调用）</a:t>
            </a:r>
            <a:endParaRPr lang="en-US" altLang="zh-CN" dirty="0"/>
          </a:p>
          <a:p>
            <a:r>
              <a:rPr lang="zh-CN" altLang="en-US" dirty="0"/>
              <a:t>多个子函数在同一个</a:t>
            </a:r>
            <a:r>
              <a:rPr lang="en-US" altLang="zh-CN" dirty="0"/>
              <a:t>M</a:t>
            </a:r>
            <a:r>
              <a:rPr lang="zh-CN" altLang="en-US" dirty="0"/>
              <a:t>文件中的定义顺序无任何限制</a:t>
            </a:r>
          </a:p>
        </p:txBody>
      </p:sp>
    </p:spTree>
    <p:extLst>
      <p:ext uri="{BB962C8B-B14F-4D97-AF65-F5344CB8AC3E}">
        <p14:creationId xmlns:p14="http://schemas.microsoft.com/office/powerpoint/2010/main" val="27470550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私有函数（</a:t>
            </a:r>
            <a:r>
              <a:rPr lang="en-US" altLang="zh-CN" dirty="0"/>
              <a:t>private function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/>
              <a:t>所在的</a:t>
            </a:r>
            <a:r>
              <a:rPr lang="en-US" altLang="zh-CN" b="1" dirty="0"/>
              <a:t>M</a:t>
            </a:r>
            <a:r>
              <a:rPr lang="zh-CN" altLang="en-US" b="1" dirty="0"/>
              <a:t>函数文件存放的目录名字为</a:t>
            </a:r>
            <a:r>
              <a:rPr lang="en-US" altLang="zh-CN" b="1" dirty="0"/>
              <a:t>private</a:t>
            </a:r>
          </a:p>
          <a:p>
            <a:pPr>
              <a:lnSpc>
                <a:spcPct val="120000"/>
              </a:lnSpc>
            </a:pPr>
            <a:r>
              <a:rPr lang="zh-CN" altLang="en-US" b="1" u="sng" dirty="0"/>
              <a:t>只能被</a:t>
            </a:r>
            <a:r>
              <a:rPr lang="zh-CN" altLang="en-US" b="1" u="sng" dirty="0">
                <a:solidFill>
                  <a:srgbClr val="FF0000"/>
                </a:solidFill>
              </a:rPr>
              <a:t>其父目录中的</a:t>
            </a:r>
            <a:r>
              <a:rPr lang="en-US" altLang="zh-CN" b="1" u="sng" dirty="0"/>
              <a:t>M</a:t>
            </a:r>
            <a:r>
              <a:rPr lang="zh-CN" altLang="en-US" b="1" u="sng" dirty="0"/>
              <a:t>函数文件所调用</a:t>
            </a:r>
            <a:endParaRPr lang="en-US" altLang="zh-CN" b="1" u="sng" dirty="0"/>
          </a:p>
          <a:p>
            <a:pPr>
              <a:lnSpc>
                <a:spcPct val="120000"/>
              </a:lnSpc>
            </a:pPr>
            <a:r>
              <a:rPr lang="zh-CN" altLang="en-US" b="1" dirty="0"/>
              <a:t>不能被其它目录的函数调用，对其它目录的文件私有函数是不可见的，私有函数可以和其它目录下的函数重名；</a:t>
            </a:r>
          </a:p>
          <a:p>
            <a:pPr>
              <a:lnSpc>
                <a:spcPct val="120000"/>
              </a:lnSpc>
            </a:pPr>
            <a:r>
              <a:rPr lang="zh-CN" altLang="en-US" b="1" dirty="0"/>
              <a:t>私有函数</a:t>
            </a:r>
            <a:r>
              <a:rPr lang="zh-CN" altLang="en-US" b="1" u="sng" dirty="0"/>
              <a:t>父目录的</a:t>
            </a:r>
            <a:r>
              <a:rPr lang="en-US" altLang="zh-CN" b="1" u="sng" dirty="0"/>
              <a:t>M</a:t>
            </a:r>
            <a:r>
              <a:rPr lang="zh-CN" altLang="en-US" b="1" u="sng" dirty="0"/>
              <a:t>脚本文件不可调用</a:t>
            </a:r>
            <a:r>
              <a:rPr lang="zh-CN" altLang="en-US" b="1" dirty="0"/>
              <a:t>私有函数；</a:t>
            </a:r>
          </a:p>
          <a:p>
            <a:pPr>
              <a:lnSpc>
                <a:spcPct val="120000"/>
              </a:lnSpc>
            </a:pPr>
            <a:r>
              <a:rPr lang="zh-CN" altLang="en-US" b="1" dirty="0"/>
              <a:t>在函数调用搜索时，私有函数</a:t>
            </a:r>
            <a:r>
              <a:rPr lang="zh-CN" altLang="en-US" b="1" u="sng" dirty="0"/>
              <a:t>优先于其它</a:t>
            </a:r>
            <a:r>
              <a:rPr lang="en-US" altLang="zh-CN" b="1" u="sng" dirty="0"/>
              <a:t>MATLAB</a:t>
            </a:r>
            <a:r>
              <a:rPr lang="zh-CN" altLang="en-US" b="1" u="sng" dirty="0"/>
              <a:t>路径上的函数</a:t>
            </a:r>
            <a:r>
              <a:rPr lang="zh-CN" altLang="en-US" b="1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926558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dirty="0"/>
              <a:t>在</a:t>
            </a:r>
            <a:r>
              <a:rPr lang="en-US" altLang="zh-CN" b="1" dirty="0"/>
              <a:t>MATLAB</a:t>
            </a:r>
            <a:r>
              <a:rPr lang="zh-CN" altLang="en-US" b="1" dirty="0"/>
              <a:t>中调用一个函数的搜索顺序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32175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3600" b="1" dirty="0"/>
              <a:t>查找是否是子函数；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3600" b="1" dirty="0"/>
              <a:t>查找是否是私有函数；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3600" b="1" dirty="0"/>
              <a:t>从当前路径中搜索此函数；</a:t>
            </a:r>
          </a:p>
          <a:p>
            <a:pPr marL="514350" indent="-514350">
              <a:lnSpc>
                <a:spcPct val="120000"/>
              </a:lnSpc>
              <a:buFont typeface="+mj-lt"/>
              <a:buAutoNum type="arabicPeriod"/>
            </a:pPr>
            <a:r>
              <a:rPr lang="zh-CN" altLang="en-US" sz="3600" b="1" dirty="0"/>
              <a:t>从搜索路径中搜索此函数。</a:t>
            </a:r>
            <a:endParaRPr lang="zh-CN" altLang="en-US" sz="3600" dirty="0"/>
          </a:p>
          <a:p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3210021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嵌套函数（</a:t>
            </a:r>
            <a:r>
              <a:rPr lang="en-US" altLang="zh-CN" dirty="0"/>
              <a:t>nested function</a:t>
            </a:r>
            <a:r>
              <a:rPr lang="zh-CN" altLang="en-US" dirty="0"/>
              <a:t>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108075"/>
          </a:xfrm>
        </p:spPr>
        <p:txBody>
          <a:bodyPr/>
          <a:lstStyle/>
          <a:p>
            <a:r>
              <a:rPr lang="zh-CN" altLang="en-US" dirty="0"/>
              <a:t>在一个函数内可以定义别的函数</a:t>
            </a:r>
            <a:endParaRPr lang="en-US" altLang="zh-CN" dirty="0"/>
          </a:p>
          <a:p>
            <a:r>
              <a:rPr lang="zh-CN" altLang="en-US" dirty="0"/>
              <a:t>可以多层嵌套定义</a:t>
            </a:r>
          </a:p>
        </p:txBody>
      </p:sp>
    </p:spTree>
    <p:extLst>
      <p:ext uri="{BB962C8B-B14F-4D97-AF65-F5344CB8AC3E}">
        <p14:creationId xmlns:p14="http://schemas.microsoft.com/office/powerpoint/2010/main" val="185117433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9813" y="263525"/>
            <a:ext cx="5667375" cy="615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/>
          <p:cNvSpPr/>
          <p:nvPr/>
        </p:nvSpPr>
        <p:spPr>
          <a:xfrm>
            <a:off x="266700" y="228600"/>
            <a:ext cx="3822700" cy="6235700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155700" y="1384300"/>
            <a:ext cx="2311400" cy="246380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1143000" y="4064000"/>
            <a:ext cx="2311400" cy="2133600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739900" y="4876800"/>
            <a:ext cx="1587500" cy="952500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739900" y="2552700"/>
            <a:ext cx="1587500" cy="952500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6959600" y="1511300"/>
            <a:ext cx="4851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问题：</a:t>
            </a:r>
            <a:endParaRPr lang="en-US" altLang="zh-CN" sz="3600" b="1" dirty="0"/>
          </a:p>
          <a:p>
            <a:r>
              <a:rPr lang="en-US" altLang="zh-CN" sz="3600" b="1" dirty="0"/>
              <a:t>C</a:t>
            </a:r>
            <a:r>
              <a:rPr lang="zh-CN" altLang="en-US" sz="3600" b="1" dirty="0"/>
              <a:t>语言里可以定义嵌套函数吗？</a:t>
            </a:r>
            <a:endParaRPr lang="en-US" altLang="zh-CN" sz="3600" b="1" dirty="0"/>
          </a:p>
          <a:p>
            <a:r>
              <a:rPr lang="en-US" altLang="zh-CN" sz="3600" b="1" dirty="0"/>
              <a:t>C++</a:t>
            </a:r>
            <a:r>
              <a:rPr lang="zh-CN" altLang="en-US" sz="3600" b="1" dirty="0"/>
              <a:t>里呢？</a:t>
            </a:r>
          </a:p>
        </p:txBody>
      </p:sp>
    </p:spTree>
    <p:extLst>
      <p:ext uri="{BB962C8B-B14F-4D97-AF65-F5344CB8AC3E}">
        <p14:creationId xmlns:p14="http://schemas.microsoft.com/office/powerpoint/2010/main" val="3285040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重载函数（</a:t>
            </a:r>
            <a:r>
              <a:rPr lang="en-US" altLang="zh-CN" dirty="0"/>
              <a:t>overloaded function</a:t>
            </a:r>
            <a:r>
              <a:rPr lang="zh-CN" altLang="en-US" dirty="0"/>
              <a:t>）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65250" y="1563688"/>
            <a:ext cx="3702050" cy="3819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5549900" y="1955800"/>
            <a:ext cx="57404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同一个函数名字，不同的输入参数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38800" y="3873500"/>
            <a:ext cx="57404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问题：</a:t>
            </a:r>
            <a:endParaRPr lang="en-US" altLang="zh-CN" sz="3200" dirty="0"/>
          </a:p>
          <a:p>
            <a:r>
              <a:rPr lang="en-US" altLang="zh-CN" sz="3200" dirty="0"/>
              <a:t>C++</a:t>
            </a:r>
            <a:r>
              <a:rPr lang="zh-CN" altLang="en-US" sz="3200" dirty="0"/>
              <a:t>中也有重载函数的概念，</a:t>
            </a:r>
            <a:r>
              <a:rPr lang="en-US" altLang="zh-CN" sz="3200" dirty="0"/>
              <a:t>C</a:t>
            </a:r>
            <a:r>
              <a:rPr lang="zh-CN" altLang="en-US" sz="3200" dirty="0"/>
              <a:t>语言中有重载函数的概念吗？</a:t>
            </a:r>
          </a:p>
        </p:txBody>
      </p:sp>
    </p:spTree>
    <p:extLst>
      <p:ext uri="{BB962C8B-B14F-4D97-AF65-F5344CB8AC3E}">
        <p14:creationId xmlns:p14="http://schemas.microsoft.com/office/powerpoint/2010/main" val="2939669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7962</TotalTime>
  <Words>1708</Words>
  <Application>Microsoft Office PowerPoint</Application>
  <PresentationFormat>宽屏</PresentationFormat>
  <Paragraphs>316</Paragraphs>
  <Slides>46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2" baseType="lpstr">
      <vt:lpstr>Arial</vt:lpstr>
      <vt:lpstr>Calibri</vt:lpstr>
      <vt:lpstr>Calibri Light</vt:lpstr>
      <vt:lpstr>Consolas</vt:lpstr>
      <vt:lpstr>Wingdings</vt:lpstr>
      <vt:lpstr>Office 主题</vt:lpstr>
      <vt:lpstr>MATLAB程序设计 控制流和M文件</vt:lpstr>
      <vt:lpstr>大纲</vt:lpstr>
      <vt:lpstr>一、程序控制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switch条件控制语句</vt:lpstr>
      <vt:lpstr>PowerPoint 演示文稿</vt:lpstr>
      <vt:lpstr>PowerPoint 演示文稿</vt:lpstr>
      <vt:lpstr>PowerPoint 演示文稿</vt:lpstr>
      <vt:lpstr>循环（Loops）：for、while</vt:lpstr>
      <vt:lpstr>PowerPoint 演示文稿</vt:lpstr>
      <vt:lpstr>PowerPoint 演示文稿</vt:lpstr>
      <vt:lpstr>PowerPoint 演示文稿</vt:lpstr>
      <vt:lpstr>MATLAB M-Files（M文件）</vt:lpstr>
      <vt:lpstr>二、 脚本M文件</vt:lpstr>
      <vt:lpstr>PowerPoint 演示文稿</vt:lpstr>
      <vt:lpstr>三、 函数（Functions）</vt:lpstr>
      <vt:lpstr>PowerPoint 演示文稿</vt:lpstr>
      <vt:lpstr>PowerPoint 演示文稿</vt:lpstr>
      <vt:lpstr>函数语法</vt:lpstr>
      <vt:lpstr>PowerPoint 演示文稿</vt:lpstr>
      <vt:lpstr>PowerPoint 演示文稿</vt:lpstr>
      <vt:lpstr>Creating Functions</vt:lpstr>
      <vt:lpstr>PowerPoint 演示文稿</vt:lpstr>
      <vt:lpstr>PowerPoint 演示文稿</vt:lpstr>
      <vt:lpstr>PowerPoint 演示文稿</vt:lpstr>
      <vt:lpstr>判断题：函数必须保存成.m文件才能使用。</vt:lpstr>
      <vt:lpstr>PowerPoint 演示文稿</vt:lpstr>
      <vt:lpstr>PowerPoint 演示文稿</vt:lpstr>
      <vt:lpstr>PowerPoint 演示文稿</vt:lpstr>
      <vt:lpstr>函数的类型：</vt:lpstr>
      <vt:lpstr>匿名函数</vt:lpstr>
      <vt:lpstr>PowerPoint 演示文稿</vt:lpstr>
      <vt:lpstr>PowerPoint 演示文稿</vt:lpstr>
      <vt:lpstr>主函数（Primary function）</vt:lpstr>
      <vt:lpstr>子函数（subfunction）</vt:lpstr>
      <vt:lpstr>私有函数（private function）</vt:lpstr>
      <vt:lpstr>在MATLAB中调用一个函数的搜索顺序</vt:lpstr>
      <vt:lpstr>嵌套函数（nested function）</vt:lpstr>
      <vt:lpstr>PowerPoint 演示文稿</vt:lpstr>
      <vt:lpstr>重载函数（overloaded function）</vt:lpstr>
    </vt:vector>
  </TitlesOfParts>
  <Company>cugb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Matlab矩阵及其操作</dc:title>
  <dc:creator>HP</dc:creator>
  <cp:lastModifiedBy>妮唛 朴</cp:lastModifiedBy>
  <cp:revision>357</cp:revision>
  <dcterms:created xsi:type="dcterms:W3CDTF">2016-02-24T15:05:55Z</dcterms:created>
  <dcterms:modified xsi:type="dcterms:W3CDTF">2021-01-24T13:34:41Z</dcterms:modified>
</cp:coreProperties>
</file>