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6" r:id="rId2"/>
    <p:sldId id="348" r:id="rId3"/>
    <p:sldId id="265" r:id="rId4"/>
    <p:sldId id="337" r:id="rId5"/>
    <p:sldId id="338" r:id="rId6"/>
    <p:sldId id="266" r:id="rId7"/>
    <p:sldId id="271" r:id="rId8"/>
    <p:sldId id="367" r:id="rId9"/>
    <p:sldId id="368" r:id="rId10"/>
    <p:sldId id="274" r:id="rId11"/>
    <p:sldId id="369" r:id="rId12"/>
    <p:sldId id="275" r:id="rId13"/>
    <p:sldId id="37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2016/10/21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29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2016/10/21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57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2016/10/21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61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2016/10/21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595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2016/10/21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46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2016/10/21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63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2016/10/21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479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2016/10/21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8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2016/10/21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88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2016/10/21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87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2016/10/21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17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826B-2291-4BE7-A135-C2FBC33E218C}" type="datetimeFigureOut">
              <a:rPr lang="zh-CN" altLang="en-US" smtClean="0"/>
              <a:t>2016/10/21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40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67" y="452573"/>
            <a:ext cx="2276475" cy="36195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487680" y="1297577"/>
            <a:ext cx="3431177" cy="5059680"/>
            <a:chOff x="487680" y="1297577"/>
            <a:chExt cx="3431177" cy="5059680"/>
          </a:xfrm>
        </p:grpSpPr>
        <p:sp>
          <p:nvSpPr>
            <p:cNvPr id="4" name="矩形 3"/>
            <p:cNvSpPr/>
            <p:nvPr/>
          </p:nvSpPr>
          <p:spPr>
            <a:xfrm>
              <a:off x="487680" y="1297577"/>
              <a:ext cx="3431177" cy="505968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515292" y="2347229"/>
              <a:ext cx="1045028" cy="200297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 11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12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13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14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15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853439" y="1528895"/>
              <a:ext cx="2612571" cy="6183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10  </a:t>
              </a:r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11  12  13  14  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15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801187" y="4506683"/>
              <a:ext cx="2612571" cy="6183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10  </a:t>
              </a:r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 15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569720" y="5222963"/>
              <a:ext cx="936172" cy="8816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15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370" y="452573"/>
            <a:ext cx="2809875" cy="381000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4441370" y="1297577"/>
            <a:ext cx="3431177" cy="5059680"/>
            <a:chOff x="5455920" y="1297577"/>
            <a:chExt cx="3431177" cy="5059680"/>
          </a:xfrm>
        </p:grpSpPr>
        <p:sp>
          <p:nvSpPr>
            <p:cNvPr id="13" name="矩形 12"/>
            <p:cNvSpPr/>
            <p:nvPr/>
          </p:nvSpPr>
          <p:spPr>
            <a:xfrm>
              <a:off x="5455920" y="1297577"/>
              <a:ext cx="3431177" cy="505968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6483532" y="2347229"/>
              <a:ext cx="1045028" cy="200297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-2.5  </a:t>
              </a:r>
              <a:endParaRPr lang="en-US" altLang="zh-CN" sz="2000" b="1" dirty="0" smtClean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-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1.5  </a:t>
              </a:r>
              <a:endParaRPr lang="en-US" altLang="zh-CN" sz="2000" b="1" dirty="0" smtClean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-0.5 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0.5  </a:t>
              </a:r>
              <a:endParaRPr lang="en-US" altLang="zh-CN" sz="2000" b="1" dirty="0" smtClean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1.5  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2.5 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5614170" y="1516373"/>
              <a:ext cx="3137944" cy="6183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-2.5  -1.5  -0.5  0.5  1.5  2.5 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5769427" y="4506683"/>
              <a:ext cx="2612571" cy="6183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-2.5  0  2.5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6537960" y="5222963"/>
              <a:ext cx="936172" cy="8816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-2.5</a:t>
              </a:r>
              <a:endParaRPr lang="en-US" altLang="zh-CN" sz="2000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2.5</a:t>
              </a: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69" y="452573"/>
            <a:ext cx="2847975" cy="40005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8299267" y="1258386"/>
            <a:ext cx="3431177" cy="5059680"/>
            <a:chOff x="5455920" y="1297577"/>
            <a:chExt cx="3431177" cy="5059680"/>
          </a:xfrm>
        </p:grpSpPr>
        <p:sp>
          <p:nvSpPr>
            <p:cNvPr id="23" name="矩形 22"/>
            <p:cNvSpPr/>
            <p:nvPr/>
          </p:nvSpPr>
          <p:spPr>
            <a:xfrm>
              <a:off x="5455920" y="1297577"/>
              <a:ext cx="3431177" cy="505968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6553198" y="3207213"/>
              <a:ext cx="1045028" cy="200297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1  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2  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3 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4  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5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6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5614170" y="1516373"/>
              <a:ext cx="3137944" cy="6183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1  2  3  4  5  </a:t>
              </a:r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6.3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5747522" y="2332135"/>
              <a:ext cx="2612571" cy="6183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1  2  3  4  5  6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5769427" y="5451566"/>
              <a:ext cx="2612571" cy="6530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accent1">
                      <a:lumMod val="75000"/>
                    </a:schemeClr>
                  </a:solidFill>
                </a:rPr>
                <a:t>1  6.3</a:t>
              </a: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3098840" y="151637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173702" y="174154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0741217" y="2248155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63347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3309255" y="1184365"/>
            <a:ext cx="4362996" cy="4432664"/>
            <a:chOff x="3309255" y="1184365"/>
            <a:chExt cx="4362996" cy="4432664"/>
          </a:xfrm>
        </p:grpSpPr>
        <p:sp>
          <p:nvSpPr>
            <p:cNvPr id="6" name="矩形 5"/>
            <p:cNvSpPr/>
            <p:nvPr/>
          </p:nvSpPr>
          <p:spPr>
            <a:xfrm>
              <a:off x="3309255" y="1184365"/>
              <a:ext cx="4362996" cy="443266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44411" y="2400048"/>
              <a:ext cx="1328831" cy="69155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 smtClean="0">
                  <a:solidFill>
                    <a:schemeClr val="accent1">
                      <a:lumMod val="75000"/>
                    </a:schemeClr>
                  </a:solidFill>
                </a:rPr>
                <a:t>5 1</a:t>
              </a:r>
              <a:endParaRPr lang="zh-CN" altLang="en-US" sz="2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3467505" y="1403160"/>
              <a:ext cx="3990128" cy="7987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 smtClean="0">
                  <a:solidFill>
                    <a:schemeClr val="accent1">
                      <a:lumMod val="75000"/>
                    </a:schemeClr>
                  </a:solidFill>
                </a:rPr>
                <a:t>1  2  3  4  5</a:t>
              </a:r>
              <a:endParaRPr lang="zh-CN" altLang="en-US" sz="2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3596638" y="3211421"/>
              <a:ext cx="3322078" cy="7987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 smtClean="0">
                  <a:solidFill>
                    <a:schemeClr val="accent1">
                      <a:lumMod val="75000"/>
                    </a:schemeClr>
                  </a:solidFill>
                </a:rPr>
                <a:t>5  4  3  2  1</a:t>
              </a:r>
              <a:endParaRPr lang="zh-CN" altLang="en-US" sz="2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4015737" y="4296050"/>
              <a:ext cx="2344831" cy="7727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 smtClean="0">
                  <a:solidFill>
                    <a:schemeClr val="accent1">
                      <a:lumMod val="75000"/>
                    </a:schemeClr>
                  </a:solidFill>
                </a:rPr>
                <a:t>Empty matrix</a:t>
              </a: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155" y="626464"/>
            <a:ext cx="1857375" cy="3238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221089" y="4311796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235914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746" y="99944"/>
            <a:ext cx="4176571" cy="223034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240" y="2853628"/>
            <a:ext cx="7508025" cy="35123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33748" y="302649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32867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97" y="796698"/>
            <a:ext cx="1774644" cy="42917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1" y="1032398"/>
            <a:ext cx="8058026" cy="380956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510992" y="224476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304690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2194150"/>
            <a:ext cx="3469792" cy="344135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244" y="839017"/>
            <a:ext cx="8641801" cy="9810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96983" y="430230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607" y="2194151"/>
            <a:ext cx="3384233" cy="344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2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" y="146004"/>
            <a:ext cx="6383398" cy="89031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47" y="1036320"/>
            <a:ext cx="2625770" cy="466803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079982" y="496258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✔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312" y="3116368"/>
            <a:ext cx="5705366" cy="169817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5312" y="1350236"/>
            <a:ext cx="581977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651782" y="661044"/>
            <a:ext cx="3189514" cy="742950"/>
            <a:chOff x="7254240" y="3958471"/>
            <a:chExt cx="3189514" cy="742950"/>
          </a:xfrm>
        </p:grpSpPr>
        <p:sp>
          <p:nvSpPr>
            <p:cNvPr id="2" name="文本框 1"/>
            <p:cNvSpPr txBox="1"/>
            <p:nvPr/>
          </p:nvSpPr>
          <p:spPr>
            <a:xfrm>
              <a:off x="7254240" y="4099113"/>
              <a:ext cx="22108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/>
                <a:t>1</a:t>
              </a:r>
              <a:r>
                <a:rPr lang="zh-CN" altLang="en-US" sz="2400" b="1" dirty="0" smtClean="0"/>
                <a:t>、创建</a:t>
              </a:r>
              <a:r>
                <a:rPr lang="en-US" altLang="zh-CN" sz="2400" b="1" dirty="0" smtClean="0"/>
                <a:t>A</a:t>
              </a:r>
              <a:r>
                <a:rPr lang="zh-CN" altLang="en-US" sz="2400" b="1" dirty="0" smtClean="0"/>
                <a:t>矩阵</a:t>
              </a:r>
              <a:r>
                <a:rPr lang="en-US" altLang="zh-CN" sz="2400" b="1" dirty="0" smtClean="0"/>
                <a:t>=</a:t>
              </a:r>
              <a:endParaRPr lang="zh-CN" altLang="en-US" sz="2400" b="1" dirty="0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76954" y="3958471"/>
              <a:ext cx="1066800" cy="742950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/>
        </p:nvGrpSpPr>
        <p:grpSpPr>
          <a:xfrm>
            <a:off x="599776" y="1728822"/>
            <a:ext cx="3456214" cy="676275"/>
            <a:chOff x="7254240" y="4900341"/>
            <a:chExt cx="3456214" cy="676275"/>
          </a:xfrm>
        </p:grpSpPr>
        <p:sp>
          <p:nvSpPr>
            <p:cNvPr id="13" name="文本框 12"/>
            <p:cNvSpPr txBox="1"/>
            <p:nvPr/>
          </p:nvSpPr>
          <p:spPr>
            <a:xfrm>
              <a:off x="7254240" y="4990963"/>
              <a:ext cx="22108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2</a:t>
              </a:r>
              <a:r>
                <a:rPr lang="zh-CN" altLang="en-US" sz="2400" b="1" dirty="0" smtClean="0"/>
                <a:t>、创建</a:t>
              </a:r>
              <a:r>
                <a:rPr lang="en-US" altLang="zh-CN" sz="2400" b="1" dirty="0" smtClean="0"/>
                <a:t>B</a:t>
              </a:r>
              <a:r>
                <a:rPr lang="zh-CN" altLang="en-US" sz="2400" b="1" dirty="0" smtClean="0"/>
                <a:t>矩阵</a:t>
              </a:r>
              <a:r>
                <a:rPr lang="en-US" altLang="zh-CN" sz="2400" b="1" dirty="0" smtClean="0"/>
                <a:t>=</a:t>
              </a:r>
              <a:endParaRPr lang="zh-CN" altLang="en-US" sz="2400" b="1" dirty="0"/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6954" y="4900341"/>
              <a:ext cx="1333500" cy="676275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/>
        </p:nvSpPr>
        <p:spPr>
          <a:xfrm>
            <a:off x="598252" y="2811882"/>
            <a:ext cx="4200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3</a:t>
            </a:r>
            <a:r>
              <a:rPr lang="zh-CN" altLang="en-US" sz="2400" b="1" dirty="0" smtClean="0"/>
              <a:t>、创建</a:t>
            </a:r>
            <a:r>
              <a:rPr lang="en-US" altLang="zh-CN" sz="2400" b="1" dirty="0" smtClean="0"/>
              <a:t>5×2</a:t>
            </a:r>
            <a:r>
              <a:rPr lang="zh-CN" altLang="en-US" sz="2400" b="1" dirty="0" smtClean="0"/>
              <a:t>的</a:t>
            </a:r>
            <a:r>
              <a:rPr lang="zh-CN" altLang="en-US" sz="2400" b="1" dirty="0"/>
              <a:t>均匀</a:t>
            </a:r>
            <a:r>
              <a:rPr lang="zh-CN" altLang="en-US" sz="2400" b="1" dirty="0" smtClean="0"/>
              <a:t>随机矩阵</a:t>
            </a:r>
            <a:r>
              <a:rPr lang="en-US" altLang="zh-CN" sz="2400" b="1" dirty="0" smtClean="0"/>
              <a:t>C</a:t>
            </a:r>
            <a:endParaRPr lang="zh-CN" altLang="en-US" sz="2400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651782" y="3634515"/>
            <a:ext cx="3320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4</a:t>
            </a:r>
            <a:r>
              <a:rPr lang="zh-CN" altLang="en-US" sz="2400" b="1" dirty="0" smtClean="0"/>
              <a:t>、创建</a:t>
            </a:r>
            <a:r>
              <a:rPr lang="en-US" altLang="zh-CN" sz="2400" b="1" dirty="0" smtClean="0"/>
              <a:t>4×4</a:t>
            </a:r>
            <a:r>
              <a:rPr lang="zh-CN" altLang="en-US" sz="2400" b="1" dirty="0" smtClean="0"/>
              <a:t>的零矩阵</a:t>
            </a:r>
            <a:r>
              <a:rPr lang="en-US" altLang="zh-CN" sz="2400" b="1" dirty="0" smtClean="0"/>
              <a:t>D</a:t>
            </a:r>
            <a:endParaRPr lang="zh-CN" altLang="en-US" sz="2400" b="1" dirty="0"/>
          </a:p>
        </p:txBody>
      </p:sp>
      <p:sp>
        <p:nvSpPr>
          <p:cNvPr id="25" name="文本框 24"/>
          <p:cNvSpPr txBox="1"/>
          <p:nvPr/>
        </p:nvSpPr>
        <p:spPr>
          <a:xfrm>
            <a:off x="966783" y="112799"/>
            <a:ext cx="1731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现场练习：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438393" y="842018"/>
            <a:ext cx="4009753" cy="381000"/>
            <a:chOff x="4537166" y="1403994"/>
            <a:chExt cx="4009753" cy="381000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13219" y="1403994"/>
              <a:ext cx="2933700" cy="381000"/>
            </a:xfrm>
            <a:prstGeom prst="rect">
              <a:avLst/>
            </a:prstGeom>
          </p:spPr>
        </p:pic>
        <p:sp>
          <p:nvSpPr>
            <p:cNvPr id="26" name="右箭头 25"/>
            <p:cNvSpPr/>
            <p:nvPr/>
          </p:nvSpPr>
          <p:spPr>
            <a:xfrm>
              <a:off x="4537166" y="1524000"/>
              <a:ext cx="836023" cy="18288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438393" y="1734895"/>
            <a:ext cx="4290468" cy="390525"/>
            <a:chOff x="4537166" y="2340020"/>
            <a:chExt cx="4290468" cy="390525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41509" y="2340020"/>
              <a:ext cx="3286125" cy="390525"/>
            </a:xfrm>
            <a:prstGeom prst="rect">
              <a:avLst/>
            </a:prstGeom>
          </p:spPr>
        </p:pic>
        <p:sp>
          <p:nvSpPr>
            <p:cNvPr id="27" name="右箭头 26"/>
            <p:cNvSpPr/>
            <p:nvPr/>
          </p:nvSpPr>
          <p:spPr>
            <a:xfrm>
              <a:off x="4537166" y="2478594"/>
              <a:ext cx="836023" cy="18288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798441" y="2784914"/>
            <a:ext cx="3714478" cy="438150"/>
            <a:chOff x="4537166" y="3530835"/>
            <a:chExt cx="3714478" cy="438150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13219" y="3530835"/>
              <a:ext cx="2638425" cy="438150"/>
            </a:xfrm>
            <a:prstGeom prst="rect">
              <a:avLst/>
            </a:prstGeom>
          </p:spPr>
        </p:pic>
        <p:sp>
          <p:nvSpPr>
            <p:cNvPr id="28" name="右箭头 27"/>
            <p:cNvSpPr/>
            <p:nvPr/>
          </p:nvSpPr>
          <p:spPr>
            <a:xfrm>
              <a:off x="4537166" y="3711129"/>
              <a:ext cx="836023" cy="18288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562218" y="3529725"/>
            <a:ext cx="3762104" cy="831997"/>
            <a:chOff x="4537165" y="4547041"/>
            <a:chExt cx="3762104" cy="831997"/>
          </a:xfrm>
        </p:grpSpPr>
        <p:grpSp>
          <p:nvGrpSpPr>
            <p:cNvPr id="24" name="组合 23"/>
            <p:cNvGrpSpPr/>
            <p:nvPr/>
          </p:nvGrpSpPr>
          <p:grpSpPr>
            <a:xfrm>
              <a:off x="5613219" y="4547041"/>
              <a:ext cx="2686050" cy="831997"/>
              <a:chOff x="5613219" y="4076779"/>
              <a:chExt cx="2686050" cy="831997"/>
            </a:xfrm>
          </p:grpSpPr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13219" y="4076779"/>
                <a:ext cx="2390775" cy="41910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13219" y="4575401"/>
                <a:ext cx="2686050" cy="333375"/>
              </a:xfrm>
              <a:prstGeom prst="rect">
                <a:avLst/>
              </a:prstGeom>
            </p:spPr>
          </p:pic>
        </p:grpSp>
        <p:sp>
          <p:nvSpPr>
            <p:cNvPr id="29" name="右箭头 28"/>
            <p:cNvSpPr/>
            <p:nvPr/>
          </p:nvSpPr>
          <p:spPr>
            <a:xfrm>
              <a:off x="4537165" y="4814830"/>
              <a:ext cx="836023" cy="18288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598252" y="4522264"/>
            <a:ext cx="3785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5</a:t>
            </a:r>
            <a:r>
              <a:rPr lang="zh-CN" altLang="en-US" sz="2400" b="1" dirty="0" smtClean="0"/>
              <a:t>、创建</a:t>
            </a:r>
            <a:r>
              <a:rPr lang="en-US" altLang="zh-CN" sz="2400" b="1" dirty="0" smtClean="0"/>
              <a:t>3×2</a:t>
            </a:r>
            <a:r>
              <a:rPr lang="zh-CN" altLang="en-US" sz="2400" b="1" dirty="0" smtClean="0"/>
              <a:t>的</a:t>
            </a:r>
            <a:r>
              <a:rPr lang="en-US" altLang="zh-CN" sz="2400" b="1" dirty="0" smtClean="0"/>
              <a:t>[-5,5]</a:t>
            </a:r>
            <a:r>
              <a:rPr lang="zh-CN" altLang="en-US" sz="2400" b="1" dirty="0" smtClean="0"/>
              <a:t>之间的</a:t>
            </a:r>
            <a:endParaRPr lang="en-US" altLang="zh-CN" sz="2400" b="1" dirty="0" smtClean="0"/>
          </a:p>
          <a:p>
            <a:r>
              <a:rPr lang="en-US" altLang="zh-CN" sz="2400" b="1" dirty="0"/>
              <a:t> </a:t>
            </a:r>
            <a:r>
              <a:rPr lang="en-US" altLang="zh-CN" sz="2400" b="1" dirty="0" smtClean="0"/>
              <a:t>      </a:t>
            </a:r>
            <a:r>
              <a:rPr lang="zh-CN" altLang="en-US" sz="2400" b="1" dirty="0" smtClean="0"/>
              <a:t>随机整数矩阵</a:t>
            </a:r>
            <a:r>
              <a:rPr lang="en-US" altLang="zh-CN" sz="2400" b="1" dirty="0" smtClean="0"/>
              <a:t>E</a:t>
            </a:r>
            <a:endParaRPr lang="zh-CN" altLang="en-US" sz="2400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651782" y="5445061"/>
            <a:ext cx="4682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6</a:t>
            </a:r>
            <a:r>
              <a:rPr lang="zh-CN" altLang="en-US" sz="2400" b="1" dirty="0" smtClean="0"/>
              <a:t>、创建</a:t>
            </a:r>
            <a:r>
              <a:rPr lang="en-US" altLang="zh-CN" sz="2400" b="1" dirty="0" smtClean="0"/>
              <a:t> [1,15]</a:t>
            </a:r>
            <a:r>
              <a:rPr lang="zh-CN" altLang="en-US" sz="2400" b="1" dirty="0" smtClean="0"/>
              <a:t>之间的</a:t>
            </a:r>
            <a:r>
              <a:rPr lang="en-US" altLang="zh-CN" sz="2400" b="1" dirty="0"/>
              <a:t>8</a:t>
            </a:r>
            <a:r>
              <a:rPr lang="zh-CN" altLang="en-US" sz="2400" b="1" dirty="0" smtClean="0"/>
              <a:t>个不重复的</a:t>
            </a:r>
            <a:endParaRPr lang="en-US" altLang="zh-CN" sz="2400" b="1" dirty="0" smtClean="0"/>
          </a:p>
          <a:p>
            <a:r>
              <a:rPr lang="en-US" altLang="zh-CN" sz="2400" b="1" dirty="0"/>
              <a:t> </a:t>
            </a:r>
            <a:r>
              <a:rPr lang="en-US" altLang="zh-CN" sz="2400" b="1" dirty="0" smtClean="0"/>
              <a:t>      </a:t>
            </a:r>
            <a:r>
              <a:rPr lang="zh-CN" altLang="en-US" sz="2400" b="1" dirty="0" smtClean="0"/>
              <a:t>随机排列行向量</a:t>
            </a:r>
            <a:r>
              <a:rPr lang="en-US" altLang="zh-CN" sz="2400" b="1" dirty="0" smtClean="0"/>
              <a:t>F</a:t>
            </a:r>
            <a:endParaRPr lang="zh-CN" altLang="en-US" sz="2400" b="1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398241" y="5676983"/>
            <a:ext cx="4474029" cy="361950"/>
            <a:chOff x="5398241" y="5676983"/>
            <a:chExt cx="4474029" cy="36195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43270" y="5676983"/>
              <a:ext cx="3429000" cy="361950"/>
            </a:xfrm>
            <a:prstGeom prst="rect">
              <a:avLst/>
            </a:prstGeom>
          </p:spPr>
        </p:pic>
        <p:sp>
          <p:nvSpPr>
            <p:cNvPr id="37" name="右箭头 36"/>
            <p:cNvSpPr/>
            <p:nvPr/>
          </p:nvSpPr>
          <p:spPr>
            <a:xfrm>
              <a:off x="5398241" y="5751493"/>
              <a:ext cx="836023" cy="18288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216452" y="4579339"/>
            <a:ext cx="5361212" cy="822454"/>
            <a:chOff x="5216452" y="4579339"/>
            <a:chExt cx="5361212" cy="822454"/>
          </a:xfrm>
        </p:grpSpPr>
        <p:sp>
          <p:nvSpPr>
            <p:cNvPr id="39" name="右箭头 38"/>
            <p:cNvSpPr/>
            <p:nvPr/>
          </p:nvSpPr>
          <p:spPr>
            <a:xfrm>
              <a:off x="5216452" y="4844925"/>
              <a:ext cx="836023" cy="182880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234264" y="4579339"/>
              <a:ext cx="4343400" cy="400050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67209" y="4992218"/>
              <a:ext cx="4000500" cy="409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868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405731"/>
            <a:ext cx="2786372" cy="105171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0360" y="2552700"/>
            <a:ext cx="189346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+mj-lt"/>
              <a:buAutoNum type="alphaUcPeriod"/>
            </a:pPr>
            <a:r>
              <a:rPr lang="en-US" altLang="zh-CN" sz="4000" dirty="0" smtClean="0"/>
              <a:t> 1</a:t>
            </a:r>
          </a:p>
          <a:p>
            <a:pPr marL="342900" indent="-342900">
              <a:buClr>
                <a:srgbClr val="FF0000"/>
              </a:buClr>
              <a:buFont typeface="+mj-lt"/>
              <a:buAutoNum type="alphaUcPeriod"/>
            </a:pPr>
            <a:r>
              <a:rPr lang="en-US" altLang="zh-CN" sz="4000" dirty="0" smtClean="0"/>
              <a:t> 2</a:t>
            </a:r>
          </a:p>
          <a:p>
            <a:pPr marL="342900" indent="-342900">
              <a:buClr>
                <a:srgbClr val="FF0000"/>
              </a:buClr>
              <a:buFont typeface="+mj-lt"/>
              <a:buAutoNum type="alphaUcPeriod"/>
            </a:pPr>
            <a:r>
              <a:rPr lang="en-US" altLang="zh-CN" sz="4000" dirty="0" smtClean="0"/>
              <a:t> 3</a:t>
            </a:r>
          </a:p>
          <a:p>
            <a:pPr marL="342900" indent="-342900">
              <a:buClr>
                <a:srgbClr val="FF0000"/>
              </a:buClr>
              <a:buFont typeface="+mj-lt"/>
              <a:buAutoNum type="alphaUcPeriod"/>
            </a:pPr>
            <a:r>
              <a:rPr lang="en-US" altLang="zh-CN" sz="4000" dirty="0" smtClean="0"/>
              <a:t> 1 ×1</a:t>
            </a:r>
            <a:endParaRPr lang="zh-CN" altLang="en-US" sz="4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4510087" y="1405731"/>
            <a:ext cx="2518898" cy="3701514"/>
            <a:chOff x="4510087" y="1405731"/>
            <a:chExt cx="2518898" cy="370151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0087" y="1405731"/>
              <a:ext cx="2518898" cy="985044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510087" y="2552700"/>
              <a:ext cx="1893467" cy="2554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1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2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3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1 ×1</a:t>
              </a:r>
              <a:endParaRPr lang="zh-CN" altLang="en-US" sz="4000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015287" y="1405731"/>
            <a:ext cx="3421031" cy="3701514"/>
            <a:chOff x="8015287" y="1405731"/>
            <a:chExt cx="3421031" cy="370151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15287" y="1405731"/>
              <a:ext cx="3421031" cy="985044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8196262" y="2552700"/>
              <a:ext cx="1778051" cy="2554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6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2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3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2×3</a:t>
              </a:r>
              <a:endParaRPr lang="zh-CN" altLang="en-US" sz="4000" dirty="0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917093" y="3122086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403554" y="439935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159108" y="255270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4477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649679" y="1148556"/>
            <a:ext cx="3168114" cy="3701514"/>
            <a:chOff x="640154" y="558006"/>
            <a:chExt cx="3168114" cy="370151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0154" y="558006"/>
              <a:ext cx="3168114" cy="985044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801289" y="1704975"/>
              <a:ext cx="1893467" cy="2554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3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2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3 ×2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2 ×3</a:t>
              </a:r>
              <a:endParaRPr lang="zh-CN" altLang="en-US" sz="40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471987" y="1148556"/>
            <a:ext cx="3111529" cy="3701513"/>
            <a:chOff x="4462462" y="558006"/>
            <a:chExt cx="3111529" cy="370151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2462" y="558006"/>
              <a:ext cx="3111529" cy="107076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4582714" y="1704974"/>
              <a:ext cx="1893467" cy="2554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1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2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3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2 ×3</a:t>
              </a:r>
              <a:endParaRPr lang="zh-CN" altLang="en-US" sz="4000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237710" y="1150540"/>
            <a:ext cx="2960745" cy="3699529"/>
            <a:chOff x="8228185" y="559990"/>
            <a:chExt cx="2960745" cy="369952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8185" y="559990"/>
              <a:ext cx="2960745" cy="983060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8364139" y="1704974"/>
              <a:ext cx="1893467" cy="2554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6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2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3</a:t>
              </a:r>
            </a:p>
            <a:p>
              <a:pPr marL="342900" indent="-342900">
                <a:buClr>
                  <a:srgbClr val="FF0000"/>
                </a:buClr>
                <a:buFont typeface="+mj-lt"/>
                <a:buAutoNum type="alphaUcPeriod"/>
              </a:pPr>
              <a:r>
                <a:rPr lang="en-US" altLang="zh-CN" sz="4000" dirty="0" smtClean="0"/>
                <a:t> 2 ×3</a:t>
              </a:r>
              <a:endParaRPr lang="zh-CN" altLang="en-US" sz="4000" dirty="0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884922" y="2295524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38972" y="286491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313454" y="344036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60101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968" y="598305"/>
            <a:ext cx="3741557" cy="512469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838" y="1084201"/>
            <a:ext cx="3364988" cy="42402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70" y="3451043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61263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707" y="619669"/>
            <a:ext cx="9022864" cy="125675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502" y="2019252"/>
            <a:ext cx="2217082" cy="38750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15009" y="319103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419254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397" y="349559"/>
            <a:ext cx="2145778" cy="44247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345" y="666455"/>
            <a:ext cx="3507664" cy="39436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987635" y="3780665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55821" y="4848225"/>
            <a:ext cx="63453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提示：</a:t>
            </a:r>
            <a:endParaRPr lang="en-US" altLang="zh-CN" sz="2400" b="1" dirty="0" smtClean="0"/>
          </a:p>
          <a:p>
            <a:r>
              <a:rPr lang="zh-CN" altLang="en-US" sz="2400" dirty="0" smtClean="0"/>
              <a:t>行列的索引：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除了可以用具体数值表示；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还可以用关键字</a:t>
            </a:r>
            <a:r>
              <a:rPr lang="en-US" altLang="zh-CN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zh-CN" altLang="en-US" sz="2400" dirty="0" smtClean="0"/>
              <a:t>表示最后的行或者列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0710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9295"/>
          <a:stretch/>
        </p:blipFill>
        <p:spPr>
          <a:xfrm>
            <a:off x="254181" y="958487"/>
            <a:ext cx="7220359" cy="47946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811" y="1653811"/>
            <a:ext cx="3734446" cy="340396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009443" y="179314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255558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5073</TotalTime>
  <Words>241</Words>
  <Application>Microsoft Office PowerPoint</Application>
  <PresentationFormat>宽屏</PresentationFormat>
  <Paragraphs>88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cugb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Matlab矩阵及其操作</dc:title>
  <dc:creator>HP</dc:creator>
  <cp:lastModifiedBy>HP</cp:lastModifiedBy>
  <cp:revision>263</cp:revision>
  <dcterms:created xsi:type="dcterms:W3CDTF">2016-02-24T15:05:55Z</dcterms:created>
  <dcterms:modified xsi:type="dcterms:W3CDTF">2016-10-21T10:42:29Z</dcterms:modified>
</cp:coreProperties>
</file>