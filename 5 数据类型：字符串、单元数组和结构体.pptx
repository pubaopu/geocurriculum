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11" r:id="rId4"/>
    <p:sldId id="312" r:id="rId5"/>
    <p:sldId id="314" r:id="rId6"/>
    <p:sldId id="313" r:id="rId7"/>
    <p:sldId id="315" r:id="rId8"/>
    <p:sldId id="316" r:id="rId9"/>
    <p:sldId id="318" r:id="rId10"/>
    <p:sldId id="317" r:id="rId11"/>
    <p:sldId id="319" r:id="rId12"/>
    <p:sldId id="320" r:id="rId13"/>
    <p:sldId id="349" r:id="rId14"/>
    <p:sldId id="299" r:id="rId15"/>
    <p:sldId id="300" r:id="rId16"/>
    <p:sldId id="304" r:id="rId17"/>
    <p:sldId id="305" r:id="rId18"/>
    <p:sldId id="301" r:id="rId19"/>
    <p:sldId id="306" r:id="rId20"/>
    <p:sldId id="307" r:id="rId21"/>
    <p:sldId id="308" r:id="rId22"/>
    <p:sldId id="309" r:id="rId23"/>
    <p:sldId id="302" r:id="rId24"/>
    <p:sldId id="303" r:id="rId25"/>
    <p:sldId id="310" r:id="rId26"/>
    <p:sldId id="326" r:id="rId27"/>
    <p:sldId id="321" r:id="rId28"/>
    <p:sldId id="322" r:id="rId29"/>
    <p:sldId id="327" r:id="rId30"/>
    <p:sldId id="323" r:id="rId31"/>
    <p:sldId id="350" r:id="rId32"/>
    <p:sldId id="324" r:id="rId33"/>
    <p:sldId id="325" r:id="rId34"/>
    <p:sldId id="328" r:id="rId35"/>
    <p:sldId id="329" r:id="rId36"/>
    <p:sldId id="330" r:id="rId37"/>
    <p:sldId id="331" r:id="rId38"/>
    <p:sldId id="351" r:id="rId39"/>
    <p:sldId id="352" r:id="rId40"/>
    <p:sldId id="353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54" r:id="rId50"/>
    <p:sldId id="341" r:id="rId51"/>
    <p:sldId id="342" r:id="rId52"/>
    <p:sldId id="343" r:id="rId53"/>
    <p:sldId id="355" r:id="rId54"/>
    <p:sldId id="344" r:id="rId55"/>
    <p:sldId id="345" r:id="rId56"/>
    <p:sldId id="346" r:id="rId57"/>
    <p:sldId id="347" r:id="rId58"/>
    <p:sldId id="348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5652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2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57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61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59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6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3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47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8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87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7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0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D:\Program%20Files\MATLAB\R2015b\help\matlab\ref\intmax.html" TargetMode="External"/><Relationship Id="rId2" Type="http://schemas.openxmlformats.org/officeDocument/2006/relationships/hyperlink" Target="file:///D:\Program%20Files\MATLAB\R2015b\help\matlab\ref\ep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D:\Program%20Files\MATLAB\R2015b\help\matlab\ref\realmin.html" TargetMode="External"/><Relationship Id="rId5" Type="http://schemas.openxmlformats.org/officeDocument/2006/relationships/hyperlink" Target="file:///D:\Program%20Files\MATLAB\R2015b\help\matlab\ref\realmax.html" TargetMode="External"/><Relationship Id="rId4" Type="http://schemas.openxmlformats.org/officeDocument/2006/relationships/hyperlink" Target="file:///D:\Program%20Files\MATLAB\R2015b\help\matlab\ref\intmin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file:///D:\Program%20Files\MATLAB\R2015b\help\matlab\ref\isnan.html" TargetMode="External"/><Relationship Id="rId3" Type="http://schemas.openxmlformats.org/officeDocument/2006/relationships/hyperlink" Target="file:///D:\Program%20Files\MATLAB\R2015b\help\matlab\ref\isfloat.html" TargetMode="External"/><Relationship Id="rId7" Type="http://schemas.openxmlformats.org/officeDocument/2006/relationships/hyperlink" Target="file:///D:\Program%20Files\MATLAB\R2015b\help\matlab\ref\isinf.html" TargetMode="External"/><Relationship Id="rId2" Type="http://schemas.openxmlformats.org/officeDocument/2006/relationships/hyperlink" Target="file:///D:\Program%20Files\MATLAB\R2015b\help\matlab\ref\isintege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D:\Program%20Files\MATLAB\R2015b\help\matlab\ref\isfinite.html" TargetMode="External"/><Relationship Id="rId5" Type="http://schemas.openxmlformats.org/officeDocument/2006/relationships/hyperlink" Target="file:///D:\Program%20Files\MATLAB\R2015b\help\matlab\ref\isreal.html" TargetMode="External"/><Relationship Id="rId4" Type="http://schemas.openxmlformats.org/officeDocument/2006/relationships/hyperlink" Target="file:///D:\Program%20Files\MATLAB\R2015b\help\matlab\ref\isnumeric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altLang="zh-CN" b="1" dirty="0"/>
              <a:t>MATLAB</a:t>
            </a:r>
            <a:r>
              <a:rPr lang="zh-CN" altLang="en-US" b="1" dirty="0"/>
              <a:t>数据类型</a:t>
            </a:r>
            <a:br>
              <a:rPr lang="en-US" altLang="zh-CN" b="1" dirty="0"/>
            </a:br>
            <a:r>
              <a:rPr lang="zh-CN" altLang="en-US" b="1" dirty="0"/>
              <a:t>（</a:t>
            </a:r>
            <a:r>
              <a:rPr lang="en-US" altLang="zh-CN" b="1" dirty="0"/>
              <a:t>Data Type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3521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3068" y="182246"/>
            <a:ext cx="1661161" cy="557984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3067" y="998310"/>
            <a:ext cx="8567059" cy="362594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3600" dirty="0"/>
              <a:t>MATLAB Data Type</a:t>
            </a:r>
            <a:r>
              <a:rPr lang="zh-CN" altLang="en-US" sz="3600" dirty="0"/>
              <a:t>（</a:t>
            </a:r>
            <a:r>
              <a:rPr lang="en-US" altLang="zh-CN" sz="3600" dirty="0"/>
              <a:t>Class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600" dirty="0"/>
              <a:t>字符串</a:t>
            </a: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600" dirty="0"/>
              <a:t>单元数组</a:t>
            </a:r>
            <a:r>
              <a:rPr lang="en-US" altLang="zh-CN" sz="3600" dirty="0"/>
              <a:t>/</a:t>
            </a:r>
            <a:r>
              <a:rPr lang="zh-CN" altLang="en-US" sz="3600" dirty="0"/>
              <a:t>元胞数组（</a:t>
            </a:r>
            <a:r>
              <a:rPr lang="en-US" altLang="zh-CN" sz="3600" dirty="0"/>
              <a:t>Cell Array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600" dirty="0"/>
              <a:t>结构体（</a:t>
            </a:r>
            <a:r>
              <a:rPr lang="en-US" altLang="zh-CN" sz="3600" dirty="0"/>
              <a:t>Struct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0767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MATLAB </a:t>
            </a:r>
            <a:r>
              <a:rPr lang="zh-CN" altLang="en-US" dirty="0"/>
              <a:t>数据类型（</a:t>
            </a:r>
            <a:r>
              <a:rPr lang="en-US" altLang="zh-CN" dirty="0" err="1"/>
              <a:t>DataType</a:t>
            </a:r>
            <a:r>
              <a:rPr lang="en-US" altLang="zh-CN" dirty="0"/>
              <a:t>/Class)</a:t>
            </a:r>
            <a:endParaRPr lang="zh-CN" altLang="en-US" dirty="0"/>
          </a:p>
        </p:txBody>
      </p:sp>
      <p:pic>
        <p:nvPicPr>
          <p:cNvPr id="5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485"/>
          <a:stretch/>
        </p:blipFill>
        <p:spPr bwMode="auto">
          <a:xfrm>
            <a:off x="5586821" y="1512117"/>
            <a:ext cx="3870325" cy="93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764930" y="2933858"/>
            <a:ext cx="74855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MATLAB</a:t>
            </a:r>
            <a:r>
              <a:rPr lang="zh-CN" altLang="en-US" sz="2800" dirty="0"/>
              <a:t>中</a:t>
            </a:r>
            <a:r>
              <a:rPr lang="en-US" altLang="zh-CN" sz="2800" dirty="0"/>
              <a:t>class</a:t>
            </a:r>
            <a:r>
              <a:rPr lang="zh-CN" altLang="en-US" sz="2800" dirty="0"/>
              <a:t>是是</a:t>
            </a:r>
            <a:r>
              <a:rPr lang="en-US" altLang="zh-CN" sz="2800" dirty="0"/>
              <a:t>Data Type</a:t>
            </a:r>
            <a:r>
              <a:rPr lang="zh-CN" altLang="en-US" sz="2800" dirty="0"/>
              <a:t>，数据类型的意思</a:t>
            </a:r>
          </a:p>
        </p:txBody>
      </p:sp>
      <p:sp>
        <p:nvSpPr>
          <p:cNvPr id="7" name="矩形 6"/>
          <p:cNvSpPr/>
          <p:nvPr/>
        </p:nvSpPr>
        <p:spPr>
          <a:xfrm>
            <a:off x="2538821" y="3943827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&gt;&gt; A=randn(3);whos A</a:t>
            </a:r>
          </a:p>
          <a:p>
            <a:r>
              <a:rPr lang="zh-CN" altLang="en-US" sz="2800" dirty="0"/>
              <a:t>  Name      Size            Bytes  </a:t>
            </a:r>
            <a:r>
              <a:rPr lang="zh-CN" altLang="en-US" sz="2800" dirty="0">
                <a:solidFill>
                  <a:srgbClr val="FF0000"/>
                </a:solidFill>
              </a:rPr>
              <a:t>Class</a:t>
            </a:r>
          </a:p>
          <a:p>
            <a:r>
              <a:rPr lang="zh-CN" altLang="en-US" sz="2800" dirty="0"/>
              <a:t>       A         3x3                72    double </a:t>
            </a:r>
          </a:p>
        </p:txBody>
      </p:sp>
    </p:spTree>
    <p:extLst>
      <p:ext uri="{BB962C8B-B14F-4D97-AF65-F5344CB8AC3E}">
        <p14:creationId xmlns:p14="http://schemas.microsoft.com/office/powerpoint/2010/main" val="128400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598351"/>
            <a:ext cx="10291762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950720" y="5120515"/>
            <a:ext cx="2464526" cy="1637336"/>
            <a:chOff x="1950720" y="4762500"/>
            <a:chExt cx="2464526" cy="1636667"/>
          </a:xfrm>
        </p:grpSpPr>
        <p:sp>
          <p:nvSpPr>
            <p:cNvPr id="6" name="圆角矩形 5"/>
            <p:cNvSpPr/>
            <p:nvPr/>
          </p:nvSpPr>
          <p:spPr>
            <a:xfrm>
              <a:off x="2425700" y="4762500"/>
              <a:ext cx="1485900" cy="914026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" name="TextBox 3"/>
            <p:cNvSpPr txBox="1">
              <a:spLocks noChangeArrowheads="1"/>
            </p:cNvSpPr>
            <p:nvPr/>
          </p:nvSpPr>
          <p:spPr bwMode="auto">
            <a:xfrm>
              <a:off x="1950720" y="5753100"/>
              <a:ext cx="2464526" cy="646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</a:rPr>
                <a:t>MATLAB</a:t>
              </a:r>
              <a:r>
                <a:rPr lang="zh-CN" altLang="en-US" sz="1800" b="1" dirty="0">
                  <a:solidFill>
                    <a:srgbClr val="FF0000"/>
                  </a:solidFill>
                </a:rPr>
                <a:t>创建的变量，默认是</a:t>
              </a:r>
              <a:r>
                <a:rPr lang="en-US" altLang="zh-CN" sz="1800" b="1" dirty="0">
                  <a:solidFill>
                    <a:srgbClr val="FF0000"/>
                  </a:solidFill>
                </a:rPr>
                <a:t>double</a:t>
              </a:r>
              <a:r>
                <a:rPr lang="zh-CN" altLang="en-US" sz="1800" b="1" dirty="0">
                  <a:solidFill>
                    <a:srgbClr val="FF0000"/>
                  </a:solidFill>
                </a:rPr>
                <a:t>类型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4606792" y="136686"/>
            <a:ext cx="31133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MATLAB</a:t>
            </a:r>
            <a:r>
              <a:rPr lang="zh-CN" altLang="en-US" sz="2400" b="1" dirty="0"/>
              <a:t>数据类型概览</a:t>
            </a:r>
          </a:p>
        </p:txBody>
      </p:sp>
    </p:spTree>
    <p:extLst>
      <p:ext uri="{BB962C8B-B14F-4D97-AF65-F5344CB8AC3E}">
        <p14:creationId xmlns:p14="http://schemas.microsoft.com/office/powerpoint/2010/main" val="140208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1404619" y="1260339"/>
            <a:ext cx="8785769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/>
              <a:t>&gt;&gt; </a:t>
            </a:r>
            <a:r>
              <a:rPr lang="zh-CN" altLang="en-US" sz="3600" dirty="0"/>
              <a:t>A=zeros(2,3);</a:t>
            </a:r>
            <a:endParaRPr lang="en-US" altLang="zh-CN" sz="3600" dirty="0"/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/>
              <a:t>&gt;&gt; </a:t>
            </a:r>
            <a:r>
              <a:rPr lang="zh-CN" altLang="en-US" sz="3600" dirty="0"/>
              <a:t>B=zeros(2,3,</a:t>
            </a:r>
            <a:r>
              <a:rPr lang="zh-CN" altLang="en-US" sz="3600" dirty="0">
                <a:solidFill>
                  <a:srgbClr val="FF0000"/>
                </a:solidFill>
              </a:rPr>
              <a:t>'int8'</a:t>
            </a:r>
            <a:r>
              <a:rPr lang="zh-CN" altLang="en-US" sz="3600" dirty="0"/>
              <a:t>);</a:t>
            </a:r>
            <a:endParaRPr lang="en-US" altLang="zh-CN" sz="36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/>
              <a:t>&gt;&gt; </a:t>
            </a:r>
            <a:r>
              <a:rPr lang="zh-CN" altLang="en-US" sz="3600" dirty="0"/>
              <a:t>whos A B;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dirty="0"/>
              <a:t>  Name Size            Bytes  </a:t>
            </a:r>
            <a:r>
              <a:rPr lang="zh-CN" altLang="en-US" sz="3600" dirty="0">
                <a:solidFill>
                  <a:srgbClr val="FF0000"/>
                </a:solidFill>
              </a:rPr>
              <a:t>Class</a:t>
            </a:r>
            <a:endParaRPr lang="zh-CN" altLang="en-US" sz="36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dirty="0"/>
              <a:t>  A         2x3                48    </a:t>
            </a:r>
            <a:r>
              <a:rPr lang="zh-CN" altLang="en-US" sz="3600" dirty="0">
                <a:solidFill>
                  <a:srgbClr val="FF0000"/>
                </a:solidFill>
              </a:rPr>
              <a:t>double</a:t>
            </a:r>
            <a:r>
              <a:rPr lang="zh-CN" altLang="en-US" sz="3600" dirty="0"/>
              <a:t>       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dirty="0"/>
              <a:t>  B         2x3                 6      </a:t>
            </a:r>
            <a:r>
              <a:rPr lang="zh-CN" altLang="en-US" sz="3600" dirty="0">
                <a:solidFill>
                  <a:srgbClr val="FF0000"/>
                </a:solidFill>
              </a:rPr>
              <a:t>int8 </a:t>
            </a:r>
          </a:p>
        </p:txBody>
      </p:sp>
      <p:grpSp>
        <p:nvGrpSpPr>
          <p:cNvPr id="5" name="组合 5"/>
          <p:cNvGrpSpPr>
            <a:grpSpLocks/>
          </p:cNvGrpSpPr>
          <p:nvPr/>
        </p:nvGrpSpPr>
        <p:grpSpPr bwMode="auto">
          <a:xfrm>
            <a:off x="5181600" y="1047493"/>
            <a:ext cx="3592286" cy="859121"/>
            <a:chOff x="10171702" y="1561598"/>
            <a:chExt cx="3592286" cy="859195"/>
          </a:xfrm>
        </p:grpSpPr>
        <p:sp>
          <p:nvSpPr>
            <p:cNvPr id="6" name="TextBox 2"/>
            <p:cNvSpPr txBox="1">
              <a:spLocks noChangeArrowheads="1"/>
            </p:cNvSpPr>
            <p:nvPr/>
          </p:nvSpPr>
          <p:spPr bwMode="auto">
            <a:xfrm>
              <a:off x="10703288" y="1561598"/>
              <a:ext cx="3060700" cy="707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</a:rPr>
                <a:t>语法：单引号表示字符串，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</a:rPr>
                <a:t>作用：指定数据类型</a:t>
              </a:r>
            </a:p>
          </p:txBody>
        </p:sp>
        <p:cxnSp>
          <p:nvCxnSpPr>
            <p:cNvPr id="7" name="直接箭头连接符 6"/>
            <p:cNvCxnSpPr>
              <a:stCxn id="6" idx="1"/>
            </p:cNvCxnSpPr>
            <p:nvPr/>
          </p:nvCxnSpPr>
          <p:spPr>
            <a:xfrm flipH="1">
              <a:off x="10171702" y="1915571"/>
              <a:ext cx="531586" cy="50522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510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85326" y="521425"/>
            <a:ext cx="6525668" cy="86677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600" dirty="0"/>
              <a:t>相应的</a:t>
            </a:r>
            <a:r>
              <a:rPr lang="en-US" altLang="zh-CN" sz="3600" dirty="0"/>
              <a:t>convert</a:t>
            </a:r>
            <a:r>
              <a:rPr lang="zh-CN" altLang="en-US" sz="3600" dirty="0"/>
              <a:t>函数（类型转换）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263059" y="1613534"/>
            <a:ext cx="3744369" cy="411670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3200" dirty="0"/>
              <a:t>double</a:t>
            </a:r>
            <a:r>
              <a:rPr lang="zh-CN" altLang="en-US" sz="3200" dirty="0"/>
              <a:t>、</a:t>
            </a:r>
            <a:r>
              <a:rPr lang="en-US" altLang="zh-CN" sz="3200" dirty="0"/>
              <a:t>single</a:t>
            </a:r>
          </a:p>
          <a:p>
            <a:pPr eaLnBrk="1" hangingPunct="1"/>
            <a:r>
              <a:rPr lang="zh-CN" altLang="zh-CN" sz="3200" dirty="0">
                <a:latin typeface="Arial Unicode MS" panose="020B0604020202020204" pitchFamily="34" charset="-122"/>
              </a:rPr>
              <a:t>i</a:t>
            </a:r>
            <a:r>
              <a:rPr lang="en-US" altLang="zh-CN" sz="3200" dirty="0">
                <a:latin typeface="Arial Unicode MS" panose="020B0604020202020204" pitchFamily="34" charset="-122"/>
              </a:rPr>
              <a:t>nt8</a:t>
            </a:r>
            <a:r>
              <a:rPr lang="zh-CN" altLang="zh-CN" sz="3200" dirty="0">
                <a:latin typeface="Arial Unicode MS" panose="020B0604020202020204" pitchFamily="34" charset="-122"/>
              </a:rPr>
              <a:t>, uint8, </a:t>
            </a:r>
            <a:br>
              <a:rPr lang="zh-CN" altLang="zh-CN" sz="3200" dirty="0">
                <a:latin typeface="Arial Unicode MS" panose="020B0604020202020204" pitchFamily="34" charset="-122"/>
              </a:rPr>
            </a:br>
            <a:r>
              <a:rPr lang="zh-CN" altLang="zh-CN" sz="3200" dirty="0">
                <a:latin typeface="Arial Unicode MS" panose="020B0604020202020204" pitchFamily="34" charset="-122"/>
              </a:rPr>
              <a:t>int16, uint16,</a:t>
            </a:r>
            <a:br>
              <a:rPr lang="zh-CN" altLang="zh-CN" sz="3200" dirty="0">
                <a:latin typeface="Arial Unicode MS" panose="020B0604020202020204" pitchFamily="34" charset="-122"/>
              </a:rPr>
            </a:br>
            <a:r>
              <a:rPr lang="zh-CN" altLang="zh-CN" sz="3200" dirty="0">
                <a:latin typeface="Arial Unicode MS" panose="020B0604020202020204" pitchFamily="34" charset="-122"/>
              </a:rPr>
              <a:t>int32, uint32,</a:t>
            </a:r>
            <a:br>
              <a:rPr lang="zh-CN" altLang="zh-CN" sz="3200" dirty="0">
                <a:latin typeface="Arial Unicode MS" panose="020B0604020202020204" pitchFamily="34" charset="-122"/>
              </a:rPr>
            </a:br>
            <a:r>
              <a:rPr lang="zh-CN" altLang="zh-CN" sz="3200" dirty="0">
                <a:latin typeface="Arial Unicode MS" panose="020B0604020202020204" pitchFamily="34" charset="-122"/>
              </a:rPr>
              <a:t>int64, uint64</a:t>
            </a:r>
            <a:endParaRPr lang="en-US" altLang="zh-CN" sz="3200" dirty="0">
              <a:latin typeface="Arial Unicode MS" panose="020B0604020202020204" pitchFamily="34" charset="-122"/>
            </a:endParaRPr>
          </a:p>
          <a:p>
            <a:pPr eaLnBrk="1" hangingPunct="1"/>
            <a:r>
              <a:rPr lang="en-US" altLang="zh-CN" dirty="0">
                <a:latin typeface="Arial Unicode MS" panose="020B0604020202020204" pitchFamily="34" charset="-122"/>
              </a:rPr>
              <a:t>char</a:t>
            </a:r>
          </a:p>
          <a:p>
            <a:pPr eaLnBrk="1" hangingPunct="1"/>
            <a:r>
              <a:rPr lang="en-US" altLang="zh-CN" dirty="0">
                <a:latin typeface="Arial Unicode MS" panose="020B0604020202020204" pitchFamily="34" charset="-122"/>
              </a:rPr>
              <a:t>logical</a:t>
            </a:r>
          </a:p>
          <a:p>
            <a:pPr eaLnBrk="1" hangingPunct="1"/>
            <a:r>
              <a:rPr lang="en-US" altLang="zh-CN" dirty="0">
                <a:latin typeface="Arial Unicode MS" panose="020B0604020202020204" pitchFamily="34" charset="-122"/>
              </a:rPr>
              <a:t>cast</a:t>
            </a:r>
            <a:endParaRPr lang="en-US" altLang="zh-CN" sz="3200" dirty="0"/>
          </a:p>
          <a:p>
            <a:pPr eaLnBrk="1" hangingPunct="1"/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7765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2586037" y="4417197"/>
            <a:ext cx="57531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&gt;&gt; </a:t>
            </a:r>
            <a:r>
              <a:rPr lang="en-US" altLang="zh-CN" dirty="0" err="1"/>
              <a:t>whos</a:t>
            </a:r>
            <a:r>
              <a:rPr lang="en-US" altLang="zh-CN" dirty="0"/>
              <a:t> a1 a2 a3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Name      Size            Bytes  Class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 a1        1x7                56     </a:t>
            </a:r>
            <a:r>
              <a:rPr lang="en-US" altLang="zh-CN" dirty="0">
                <a:solidFill>
                  <a:srgbClr val="FF0000"/>
                </a:solidFill>
              </a:rPr>
              <a:t>double</a:t>
            </a:r>
            <a:r>
              <a:rPr lang="en-US" altLang="zh-CN" dirty="0"/>
              <a:t>       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 a2        1x7                 7      </a:t>
            </a:r>
            <a:r>
              <a:rPr lang="en-US" altLang="zh-CN" dirty="0">
                <a:solidFill>
                  <a:srgbClr val="FF0000"/>
                </a:solidFill>
              </a:rPr>
              <a:t>uint8</a:t>
            </a:r>
            <a:r>
              <a:rPr lang="en-US" altLang="zh-CN" dirty="0"/>
              <a:t>        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 a3        1x7                 7      </a:t>
            </a:r>
            <a:r>
              <a:rPr lang="en-US" altLang="zh-CN" dirty="0">
                <a:solidFill>
                  <a:srgbClr val="FF0000"/>
                </a:solidFill>
              </a:rPr>
              <a:t>uint8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995735" y="185141"/>
            <a:ext cx="434340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a1=1:7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a1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 1     2     3     4     5     6     7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class(a1)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err="1"/>
              <a:t>ans</a:t>
            </a:r>
            <a:r>
              <a:rPr lang="en-US" altLang="zh-CN" sz="2800" dirty="0"/>
              <a:t> = </a:t>
            </a:r>
            <a:r>
              <a:rPr lang="en-US" altLang="zh-CN" sz="2800" b="1" dirty="0">
                <a:solidFill>
                  <a:srgbClr val="FF0000"/>
                </a:solidFill>
              </a:rPr>
              <a:t>double</a:t>
            </a:r>
          </a:p>
        </p:txBody>
      </p:sp>
      <p:sp>
        <p:nvSpPr>
          <p:cNvPr id="6" name="矩形 5"/>
          <p:cNvSpPr/>
          <p:nvPr/>
        </p:nvSpPr>
        <p:spPr>
          <a:xfrm>
            <a:off x="381000" y="2343061"/>
            <a:ext cx="465772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</a:t>
            </a:r>
            <a:r>
              <a:rPr lang="en-US" altLang="zh-CN" sz="2800" b="1" dirty="0">
                <a:solidFill>
                  <a:srgbClr val="0070C0"/>
                </a:solidFill>
              </a:rPr>
              <a:t>a2=</a:t>
            </a:r>
            <a:r>
              <a:rPr lang="en-US" altLang="zh-CN" sz="2800" b="1" dirty="0">
                <a:solidFill>
                  <a:srgbClr val="FF0000"/>
                </a:solidFill>
              </a:rPr>
              <a:t>uint8</a:t>
            </a:r>
            <a:r>
              <a:rPr lang="en-US" altLang="zh-CN" sz="2800" b="1" dirty="0">
                <a:solidFill>
                  <a:srgbClr val="0070C0"/>
                </a:solidFill>
              </a:rPr>
              <a:t>(a1)  % </a:t>
            </a:r>
            <a:r>
              <a:rPr lang="zh-CN" altLang="en-US" sz="2800" b="1" dirty="0">
                <a:solidFill>
                  <a:srgbClr val="0070C0"/>
                </a:solidFill>
              </a:rPr>
              <a:t>类型转换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a2 =     1    2    3    4    5    6    7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class(a2)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err="1"/>
              <a:t>ans</a:t>
            </a:r>
            <a:r>
              <a:rPr lang="en-US" altLang="zh-CN" sz="2800" dirty="0"/>
              <a:t> = </a:t>
            </a:r>
            <a:r>
              <a:rPr lang="en-US" altLang="zh-CN" sz="2800" b="1" dirty="0">
                <a:solidFill>
                  <a:srgbClr val="FF0000"/>
                </a:solidFill>
              </a:rPr>
              <a:t>uint8</a:t>
            </a:r>
          </a:p>
        </p:txBody>
      </p:sp>
      <p:sp>
        <p:nvSpPr>
          <p:cNvPr id="7" name="矩形 6"/>
          <p:cNvSpPr/>
          <p:nvPr/>
        </p:nvSpPr>
        <p:spPr>
          <a:xfrm>
            <a:off x="5591174" y="2409681"/>
            <a:ext cx="54959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</a:t>
            </a:r>
            <a:r>
              <a:rPr lang="en-US" altLang="zh-CN" sz="2800" b="1" dirty="0">
                <a:solidFill>
                  <a:srgbClr val="0070C0"/>
                </a:solidFill>
              </a:rPr>
              <a:t>a3=</a:t>
            </a:r>
            <a:r>
              <a:rPr lang="en-US" altLang="zh-CN" sz="2800" b="1" dirty="0">
                <a:solidFill>
                  <a:srgbClr val="FF0000"/>
                </a:solidFill>
              </a:rPr>
              <a:t>cast</a:t>
            </a:r>
            <a:r>
              <a:rPr lang="en-US" altLang="zh-CN" sz="2800" b="1" dirty="0">
                <a:solidFill>
                  <a:srgbClr val="0070C0"/>
                </a:solidFill>
              </a:rPr>
              <a:t>(a1,</a:t>
            </a:r>
            <a:r>
              <a:rPr lang="en-US" altLang="zh-CN" sz="2800" b="1" dirty="0">
                <a:solidFill>
                  <a:srgbClr val="FF0000"/>
                </a:solidFill>
              </a:rPr>
              <a:t>'uint8'</a:t>
            </a:r>
            <a:r>
              <a:rPr lang="en-US" altLang="zh-CN" sz="2800" b="1" dirty="0">
                <a:solidFill>
                  <a:srgbClr val="0070C0"/>
                </a:solidFill>
              </a:rPr>
              <a:t>)  % </a:t>
            </a:r>
            <a:r>
              <a:rPr lang="zh-CN" altLang="en-US" sz="2800" b="1" dirty="0">
                <a:solidFill>
                  <a:srgbClr val="0070C0"/>
                </a:solidFill>
              </a:rPr>
              <a:t>类型转换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a3 =    1    2    3    4    5    6    7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class(a3)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err="1"/>
              <a:t>ans</a:t>
            </a:r>
            <a:r>
              <a:rPr lang="en-US" altLang="zh-CN" sz="2800" dirty="0"/>
              <a:t> = </a:t>
            </a:r>
            <a:r>
              <a:rPr lang="en-US" altLang="zh-CN" sz="2800" b="1" dirty="0">
                <a:solidFill>
                  <a:srgbClr val="FF0000"/>
                </a:solidFill>
              </a:rPr>
              <a:t>uint8</a:t>
            </a:r>
          </a:p>
        </p:txBody>
      </p:sp>
    </p:spTree>
    <p:extLst>
      <p:ext uri="{BB962C8B-B14F-4D97-AF65-F5344CB8AC3E}">
        <p14:creationId xmlns:p14="http://schemas.microsoft.com/office/powerpoint/2010/main" val="417232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6900" y="1123166"/>
            <a:ext cx="66325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/>
              <a:t>&gt;&gt; a=ones(3,'int8')</a:t>
            </a:r>
            <a:r>
              <a:rPr lang="en-US" altLang="zh-CN" sz="3600" dirty="0"/>
              <a:t>; </a:t>
            </a:r>
            <a:r>
              <a:rPr lang="zh-CN" altLang="en-US" sz="3600" dirty="0"/>
              <a:t>whos a</a:t>
            </a:r>
          </a:p>
          <a:p>
            <a:r>
              <a:rPr lang="zh-CN" altLang="en-US" sz="3600" dirty="0"/>
              <a:t>  Name      Size            Bytes  Class</a:t>
            </a:r>
          </a:p>
          <a:p>
            <a:r>
              <a:rPr lang="zh-CN" altLang="en-US" sz="3600" dirty="0"/>
              <a:t>     a         </a:t>
            </a:r>
            <a:r>
              <a:rPr lang="zh-CN" altLang="en-US" sz="3600" dirty="0">
                <a:solidFill>
                  <a:srgbClr val="FF0000"/>
                </a:solidFill>
              </a:rPr>
              <a:t>3x3</a:t>
            </a:r>
            <a:r>
              <a:rPr lang="zh-CN" altLang="en-US" sz="3600" dirty="0"/>
              <a:t>                 9        </a:t>
            </a:r>
            <a:r>
              <a:rPr lang="zh-CN" altLang="en-US" sz="3600" dirty="0">
                <a:solidFill>
                  <a:srgbClr val="FF0000"/>
                </a:solidFill>
              </a:rPr>
              <a:t>int8           </a:t>
            </a:r>
            <a:r>
              <a:rPr lang="zh-CN" altLang="en-US" sz="3600" dirty="0"/>
              <a:t>  </a:t>
            </a:r>
            <a:r>
              <a:rPr lang="zh-CN" altLang="en-US" sz="36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21897" y="3076560"/>
            <a:ext cx="3925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变量重新赋值后，</a:t>
            </a:r>
            <a:r>
              <a:rPr lang="zh-CN" altLang="en-US" sz="3200" dirty="0">
                <a:solidFill>
                  <a:srgbClr val="FF0000"/>
                </a:solidFill>
              </a:rPr>
              <a:t>数据类型</a:t>
            </a:r>
            <a:r>
              <a:rPr lang="zh-CN" altLang="en-US" sz="3200" dirty="0"/>
              <a:t>和</a:t>
            </a:r>
            <a:r>
              <a:rPr lang="zh-CN" altLang="en-US" sz="3200" dirty="0">
                <a:solidFill>
                  <a:srgbClr val="FF0000"/>
                </a:solidFill>
              </a:rPr>
              <a:t>内存空间</a:t>
            </a:r>
            <a:r>
              <a:rPr lang="zh-CN" altLang="en-US" sz="3200" dirty="0"/>
              <a:t>可能会同时发生变化</a:t>
            </a:r>
          </a:p>
        </p:txBody>
      </p:sp>
      <p:sp>
        <p:nvSpPr>
          <p:cNvPr id="6" name="矩形 5"/>
          <p:cNvSpPr/>
          <p:nvPr/>
        </p:nvSpPr>
        <p:spPr>
          <a:xfrm>
            <a:off x="596900" y="2984227"/>
            <a:ext cx="73345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/>
              <a:t>&gt;&gt; </a:t>
            </a:r>
            <a:r>
              <a:rPr lang="zh-CN" altLang="en-US" sz="3600" dirty="0">
                <a:solidFill>
                  <a:srgbClr val="FF0000"/>
                </a:solidFill>
              </a:rPr>
              <a:t>a=3</a:t>
            </a:r>
            <a:r>
              <a:rPr lang="en-US" altLang="zh-CN" sz="3600" dirty="0"/>
              <a:t>;</a:t>
            </a:r>
            <a:r>
              <a:rPr lang="zh-CN" altLang="en-US" sz="3600" dirty="0"/>
              <a:t>whos a</a:t>
            </a:r>
            <a:endParaRPr lang="en-US" altLang="zh-CN" sz="3600" dirty="0"/>
          </a:p>
          <a:p>
            <a:r>
              <a:rPr lang="zh-CN" altLang="en-US" sz="3600" dirty="0"/>
              <a:t>Name      Size            Bytes  Class</a:t>
            </a:r>
          </a:p>
          <a:p>
            <a:r>
              <a:rPr lang="zh-CN" altLang="en-US" sz="3600" dirty="0"/>
              <a:t>    a         </a:t>
            </a:r>
            <a:r>
              <a:rPr lang="zh-CN" altLang="en-US" sz="3600" dirty="0">
                <a:solidFill>
                  <a:srgbClr val="FF0000"/>
                </a:solidFill>
              </a:rPr>
              <a:t>1x1</a:t>
            </a:r>
            <a:r>
              <a:rPr lang="zh-CN" altLang="en-US" sz="3600" dirty="0"/>
              <a:t>                 8       </a:t>
            </a:r>
            <a:r>
              <a:rPr lang="zh-CN" altLang="en-US" sz="3600" dirty="0">
                <a:solidFill>
                  <a:srgbClr val="FF0000"/>
                </a:solidFill>
              </a:rPr>
              <a:t> double</a:t>
            </a:r>
            <a:endParaRPr lang="zh-CN" altLang="en-US" sz="3600" dirty="0"/>
          </a:p>
        </p:txBody>
      </p:sp>
      <p:sp>
        <p:nvSpPr>
          <p:cNvPr id="8" name="云形标注 7"/>
          <p:cNvSpPr/>
          <p:nvPr/>
        </p:nvSpPr>
        <p:spPr>
          <a:xfrm>
            <a:off x="7229475" y="790654"/>
            <a:ext cx="3571875" cy="1209675"/>
          </a:xfrm>
          <a:prstGeom prst="cloudCallout">
            <a:avLst>
              <a:gd name="adj1" fmla="val -30966"/>
              <a:gd name="adj2" fmla="val 9950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</a:rPr>
              <a:t>观察并思考？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你的观察结论是什么？</a:t>
            </a:r>
          </a:p>
        </p:txBody>
      </p:sp>
    </p:spTree>
    <p:extLst>
      <p:ext uri="{BB962C8B-B14F-4D97-AF65-F5344CB8AC3E}">
        <p14:creationId xmlns:p14="http://schemas.microsoft.com/office/powerpoint/2010/main" val="33057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5514975" cy="996950"/>
          </a:xfrm>
        </p:spPr>
        <p:txBody>
          <a:bodyPr/>
          <a:lstStyle/>
          <a:p>
            <a:r>
              <a:rPr lang="zh-CN" altLang="en-US" dirty="0"/>
              <a:t>数据类型的数值范围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9928240"/>
              </p:ext>
            </p:extLst>
          </p:nvPr>
        </p:nvGraphicFramePr>
        <p:xfrm>
          <a:off x="1001053" y="1560989"/>
          <a:ext cx="8743022" cy="2114550"/>
        </p:xfrm>
        <a:graphic>
          <a:graphicData uri="http://schemas.openxmlformats.org/drawingml/2006/table">
            <a:tbl>
              <a:tblPr/>
              <a:tblGrid>
                <a:gridCol w="1882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0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u="none" strike="noStrike" dirty="0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2" action="ppaction://hlinkfile"/>
                        </a:rPr>
                        <a:t>eps</a:t>
                      </a:r>
                      <a:endParaRPr lang="en-US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Floating-point relative accuracy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u="none" strike="noStrike" dirty="0" err="1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3" action="ppaction://hlinkfile"/>
                        </a:rPr>
                        <a:t>intmax</a:t>
                      </a:r>
                      <a:endParaRPr lang="en-US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effectLst/>
                        </a:rPr>
                        <a:t>Largest value of specified integer type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4" action="ppaction://hlinkfile"/>
                        </a:rPr>
                        <a:t>intmin</a:t>
                      </a:r>
                      <a:endParaRPr lang="en-US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Smallest value of specified integer type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u="none" strike="noStrike" dirty="0" err="1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5" action="ppaction://hlinkfile"/>
                        </a:rPr>
                        <a:t>realmax</a:t>
                      </a:r>
                      <a:endParaRPr lang="en-US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Largest positive floating-point number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6" action="ppaction://hlinkfile"/>
                        </a:rPr>
                        <a:t>realmin</a:t>
                      </a:r>
                      <a:endParaRPr lang="en-US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effectLst/>
                        </a:rPr>
                        <a:t>Smallest positive normalized floating-point number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013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42900" y="773113"/>
            <a:ext cx="11496675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 err="1"/>
              <a:t>intmin</a:t>
            </a:r>
            <a:r>
              <a:rPr lang="en-US" altLang="zh-CN" sz="4400" dirty="0"/>
              <a:t>('uint8') = 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 err="1"/>
              <a:t>intmax</a:t>
            </a:r>
            <a:r>
              <a:rPr lang="en-US" altLang="zh-CN" sz="4400" dirty="0"/>
              <a:t>('uint64')= </a:t>
            </a:r>
            <a:r>
              <a:rPr lang="en-US" altLang="zh-CN" sz="3200" dirty="0"/>
              <a:t>uint64(2^64)= 18446744073709551615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44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 err="1"/>
              <a:t>realmin</a:t>
            </a:r>
            <a:r>
              <a:rPr lang="en-US" altLang="zh-CN" sz="4400" dirty="0"/>
              <a:t>('single')= 1.1754944e-38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 err="1"/>
              <a:t>realmax</a:t>
            </a:r>
            <a:r>
              <a:rPr lang="en-US" altLang="zh-CN" sz="4400" dirty="0"/>
              <a:t>('single')= 3.4028235e+38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44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/>
              <a:t>eps('single')= 1.1920929e-07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/>
              <a:t>eps('double')= 2.220446049250313e-16</a:t>
            </a:r>
          </a:p>
        </p:txBody>
      </p:sp>
    </p:spTree>
    <p:extLst>
      <p:ext uri="{BB962C8B-B14F-4D97-AF65-F5344CB8AC3E}">
        <p14:creationId xmlns:p14="http://schemas.microsoft.com/office/powerpoint/2010/main" val="863304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64334" y="261161"/>
            <a:ext cx="4711700" cy="663575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关于数据类型的</a:t>
            </a:r>
            <a:r>
              <a:rPr lang="en-US" altLang="zh-CN" sz="3600" dirty="0"/>
              <a:t>is</a:t>
            </a:r>
            <a:r>
              <a:rPr lang="zh-CN" altLang="en-US" sz="3600" dirty="0"/>
              <a:t>函数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892593"/>
              </p:ext>
            </p:extLst>
          </p:nvPr>
        </p:nvGraphicFramePr>
        <p:xfrm>
          <a:off x="1058203" y="1498124"/>
          <a:ext cx="9637443" cy="3387090"/>
        </p:xfrm>
        <a:graphic>
          <a:graphicData uri="http://schemas.openxmlformats.org/drawingml/2006/table">
            <a:tbl>
              <a:tblPr/>
              <a:tblGrid>
                <a:gridCol w="3183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3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2800" u="sng" dirty="0" err="1">
                          <a:solidFill>
                            <a:srgbClr val="007DD9"/>
                          </a:solidFill>
                          <a:effectLst/>
                          <a:latin typeface="Courier New" panose="02070309020205020404" pitchFamily="49" charset="0"/>
                          <a:hlinkClick r:id="rId2" action="ppaction://hlinkfile"/>
                        </a:rPr>
                        <a:t>isinteger</a:t>
                      </a:r>
                      <a:endParaRPr lang="en-US" sz="28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>
                          <a:effectLst/>
                        </a:rPr>
                        <a:t>Determine if input is integer array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2800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3" action="ppaction://hlinkfile"/>
                        </a:rPr>
                        <a:t>isfloat</a:t>
                      </a:r>
                      <a:endParaRPr lang="en-US" sz="28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>
                          <a:effectLst/>
                        </a:rPr>
                        <a:t>Determine if input is floating-point array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2800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4" action="ppaction://hlinkfile"/>
                        </a:rPr>
                        <a:t>isnumeric</a:t>
                      </a:r>
                      <a:endParaRPr lang="en-US" sz="28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>
                          <a:effectLst/>
                        </a:rPr>
                        <a:t>Determine if input is numeric array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2800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5" action="ppaction://hlinkfile"/>
                        </a:rPr>
                        <a:t>isreal</a:t>
                      </a:r>
                      <a:endParaRPr lang="en-US" sz="28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800" dirty="0">
                          <a:effectLst/>
                        </a:rPr>
                        <a:t>判断是不是实数（相对于复数）</a:t>
                      </a:r>
                      <a:endParaRPr lang="en-US" sz="2800" dirty="0">
                        <a:effectLst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2800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6" action="ppaction://hlinkfile"/>
                        </a:rPr>
                        <a:t>isfinite</a:t>
                      </a:r>
                      <a:endParaRPr lang="en-US" sz="28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>
                          <a:effectLst/>
                        </a:rPr>
                        <a:t>Array elements that are finite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2800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7" action="ppaction://hlinkfile"/>
                        </a:rPr>
                        <a:t>isinf</a:t>
                      </a:r>
                      <a:endParaRPr lang="en-US" sz="28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dirty="0">
                          <a:effectLst/>
                        </a:rPr>
                        <a:t>Array elements that are infinite</a:t>
                      </a: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2800" u="none" strike="noStrike">
                          <a:solidFill>
                            <a:srgbClr val="005695"/>
                          </a:solidFill>
                          <a:effectLst/>
                          <a:latin typeface="Courier New" panose="02070309020205020404" pitchFamily="49" charset="0"/>
                          <a:hlinkClick r:id="rId8" action="ppaction://hlinkfile"/>
                        </a:rPr>
                        <a:t>isnan</a:t>
                      </a:r>
                      <a:endParaRPr lang="en-US" sz="28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dirty="0">
                          <a:effectLst/>
                        </a:rPr>
                        <a:t>Array elements that are </a:t>
                      </a:r>
                      <a:r>
                        <a:rPr lang="en-US" sz="2800" dirty="0" err="1">
                          <a:effectLst/>
                        </a:rPr>
                        <a:t>NaN</a:t>
                      </a:r>
                      <a:endParaRPr lang="en-US" sz="2800" dirty="0">
                        <a:effectLst/>
                      </a:endParaRPr>
                    </a:p>
                  </a:txBody>
                  <a:tcPr marL="47625" marR="47625" marT="28575" marB="2857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38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47650" y="2232710"/>
            <a:ext cx="31115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 err="1"/>
              <a:t>i</a:t>
            </a:r>
            <a:r>
              <a:rPr lang="en-US" altLang="zh-CN" sz="4000" dirty="0"/>
              <a:t>=1;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j=single(</a:t>
            </a:r>
            <a:r>
              <a:rPr lang="en-US" altLang="zh-CN" sz="4000" dirty="0" err="1"/>
              <a:t>i</a:t>
            </a:r>
            <a:r>
              <a:rPr lang="en-US" altLang="zh-CN" sz="4000" dirty="0"/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k=uint16(1);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607987"/>
              </p:ext>
            </p:extLst>
          </p:nvPr>
        </p:nvGraphicFramePr>
        <p:xfrm>
          <a:off x="3553753" y="1001931"/>
          <a:ext cx="5637871" cy="5448300"/>
        </p:xfrm>
        <a:graphic>
          <a:graphicData uri="http://schemas.openxmlformats.org/drawingml/2006/table">
            <a:tbl>
              <a:tblPr/>
              <a:tblGrid>
                <a:gridCol w="297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altLang="zh-CN" sz="3200" dirty="0" err="1"/>
                        <a:t>isinteger</a:t>
                      </a:r>
                      <a:r>
                        <a:rPr lang="en-US" altLang="zh-CN" sz="3200" dirty="0"/>
                        <a:t>(</a:t>
                      </a:r>
                      <a:r>
                        <a:rPr lang="en-US" altLang="zh-CN" sz="3200" dirty="0" err="1"/>
                        <a:t>i</a:t>
                      </a:r>
                      <a:r>
                        <a:rPr lang="en-US" altLang="zh-CN" sz="3200" dirty="0"/>
                        <a:t>)</a:t>
                      </a:r>
                      <a:endParaRPr lang="en-US" sz="32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altLang="zh-CN" sz="3200" dirty="0" err="1"/>
                        <a:t>isinteger</a:t>
                      </a:r>
                      <a:r>
                        <a:rPr lang="en-US" altLang="zh-CN" sz="3200" dirty="0"/>
                        <a:t>(j)</a:t>
                      </a:r>
                      <a:endParaRPr lang="en-US" sz="32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altLang="zh-CN" sz="3200" dirty="0" err="1"/>
                        <a:t>isinteger</a:t>
                      </a:r>
                      <a:r>
                        <a:rPr lang="en-US" altLang="zh-CN" sz="3200" dirty="0"/>
                        <a:t>(k)</a:t>
                      </a:r>
                      <a:endParaRPr lang="en-US" sz="32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 err="1"/>
                        <a:t>isfloat</a:t>
                      </a:r>
                      <a:r>
                        <a:rPr lang="en-US" altLang="zh-CN" sz="3200" dirty="0"/>
                        <a:t>(</a:t>
                      </a:r>
                      <a:r>
                        <a:rPr lang="en-US" altLang="zh-CN" sz="3200" dirty="0" err="1"/>
                        <a:t>i</a:t>
                      </a:r>
                      <a:r>
                        <a:rPr lang="en-US" altLang="zh-CN" sz="3200" dirty="0"/>
                        <a:t>)</a:t>
                      </a: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 err="1"/>
                        <a:t>isfloat</a:t>
                      </a:r>
                      <a:r>
                        <a:rPr lang="en-US" altLang="zh-CN" sz="3200" dirty="0"/>
                        <a:t>(j)</a:t>
                      </a: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 err="1"/>
                        <a:t>isfloat</a:t>
                      </a:r>
                      <a:r>
                        <a:rPr lang="en-US" altLang="zh-CN" sz="3200" dirty="0"/>
                        <a:t>(k)</a:t>
                      </a:r>
                      <a:endParaRPr lang="en-US" sz="32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altLang="zh-CN" sz="3200" dirty="0" err="1"/>
                        <a:t>isnumeric</a:t>
                      </a:r>
                      <a:r>
                        <a:rPr lang="en-US" altLang="zh-CN" sz="3200" dirty="0"/>
                        <a:t>(</a:t>
                      </a:r>
                      <a:r>
                        <a:rPr lang="en-US" altLang="zh-CN" sz="3200" dirty="0" err="1"/>
                        <a:t>i</a:t>
                      </a:r>
                      <a:r>
                        <a:rPr lang="en-US" altLang="zh-CN" sz="3200" dirty="0"/>
                        <a:t>)</a:t>
                      </a:r>
                      <a:endParaRPr lang="en-US" sz="32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altLang="zh-CN" sz="3200" dirty="0" err="1"/>
                        <a:t>isnumeric</a:t>
                      </a:r>
                      <a:r>
                        <a:rPr lang="en-US" altLang="zh-CN" sz="3200" dirty="0"/>
                        <a:t>(j)</a:t>
                      </a:r>
                      <a:endParaRPr lang="en-US" sz="32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altLang="zh-CN" sz="3200" dirty="0" err="1"/>
                        <a:t>isnumeric</a:t>
                      </a:r>
                      <a:r>
                        <a:rPr lang="en-US" altLang="zh-CN" sz="3200" dirty="0"/>
                        <a:t>(k)</a:t>
                      </a:r>
                      <a:endParaRPr lang="en-US" sz="32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 err="1"/>
                        <a:t>isreal</a:t>
                      </a:r>
                      <a:r>
                        <a:rPr lang="en-US" altLang="zh-CN" sz="3200" dirty="0"/>
                        <a:t>(</a:t>
                      </a:r>
                      <a:r>
                        <a:rPr lang="en-US" altLang="zh-CN" sz="3200" dirty="0" err="1"/>
                        <a:t>i</a:t>
                      </a:r>
                      <a:r>
                        <a:rPr lang="en-US" altLang="zh-CN" sz="3200" dirty="0"/>
                        <a:t>)</a:t>
                      </a:r>
                    </a:p>
                  </a:txBody>
                  <a:tcPr marL="47625" marR="47625" marT="28575" marB="28575" anchor="ctr" anchorCtr="1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3200" dirty="0">
                        <a:effectLst/>
                      </a:endParaRPr>
                    </a:p>
                  </a:txBody>
                  <a:tcPr marL="47625" marR="47625" marT="28575" marB="28575" anchor="ctr" anchorCtr="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553325" y="158670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0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7553325" y="207825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553325" y="100193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0</a:t>
            </a:r>
            <a:endParaRPr lang="zh-CN" altLang="en-US" sz="3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553325" y="257366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7553325" y="320220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7553325" y="372608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0</a:t>
            </a:r>
            <a:endParaRPr lang="zh-CN" altLang="en-US" sz="3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7553325" y="424223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553325" y="482109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553325" y="53432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7553325" y="5916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2207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40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总结：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0528"/>
            <a:ext cx="4743994" cy="223256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MATLAB</a:t>
            </a:r>
            <a:r>
              <a:rPr lang="zh-CN" altLang="en-US" dirty="0"/>
              <a:t>数据类型概览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数据类型的转换函数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数据类型的数值范围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数据类型的</a:t>
            </a:r>
            <a:r>
              <a:rPr lang="en-US" altLang="zh-CN" dirty="0"/>
              <a:t>is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520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09" y="1502908"/>
            <a:ext cx="1743075" cy="638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992" y="1179058"/>
            <a:ext cx="2552700" cy="647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371" y="4911089"/>
            <a:ext cx="5942239" cy="108040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372" y="2302735"/>
            <a:ext cx="2419350" cy="19335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867" y="1988411"/>
            <a:ext cx="3790950" cy="2828925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672738" y="165348"/>
            <a:ext cx="10515600" cy="919958"/>
          </a:xfrm>
        </p:spPr>
        <p:txBody>
          <a:bodyPr/>
          <a:lstStyle/>
          <a:p>
            <a:r>
              <a:rPr lang="zh-CN" altLang="en-US" dirty="0"/>
              <a:t>二、字符与字符串（</a:t>
            </a:r>
            <a:r>
              <a:rPr lang="en-US" altLang="zh-CN" dirty="0"/>
              <a:t>Characters &amp; Strings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87869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294412"/>
            <a:ext cx="1443446" cy="862784"/>
          </a:xfrm>
        </p:spPr>
        <p:txBody>
          <a:bodyPr/>
          <a:lstStyle/>
          <a:p>
            <a:r>
              <a:rPr lang="zh-CN" altLang="en-US" dirty="0"/>
              <a:t>语法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3601849"/>
            <a:ext cx="7629932" cy="2395332"/>
          </a:xfrm>
        </p:spPr>
        <p:txBody>
          <a:bodyPr>
            <a:normAutofit/>
          </a:bodyPr>
          <a:lstStyle/>
          <a:p>
            <a:r>
              <a:rPr lang="en-US" altLang="zh-CN" dirty="0"/>
              <a:t>‘ ’ (single quotation mark)</a:t>
            </a:r>
          </a:p>
          <a:p>
            <a:r>
              <a:rPr lang="zh-CN" altLang="en-US" dirty="0"/>
              <a:t>用</a:t>
            </a:r>
            <a:r>
              <a:rPr lang="zh-CN" altLang="en-US" dirty="0">
                <a:solidFill>
                  <a:srgbClr val="FF0000"/>
                </a:solidFill>
              </a:rPr>
              <a:t>单引号</a:t>
            </a:r>
            <a:r>
              <a:rPr lang="zh-CN" altLang="en-US" dirty="0"/>
              <a:t>将多个字符括起来，就形成了字符串</a:t>
            </a:r>
            <a:endParaRPr lang="en-US" altLang="zh-CN" dirty="0"/>
          </a:p>
          <a:p>
            <a:r>
              <a:rPr lang="zh-CN" altLang="en-US" dirty="0"/>
              <a:t>字符串在内存存储上就是</a:t>
            </a:r>
            <a:r>
              <a:rPr lang="zh-CN" altLang="en-US" dirty="0">
                <a:solidFill>
                  <a:srgbClr val="FF0000"/>
                </a:solidFill>
              </a:rPr>
              <a:t>字符数组</a:t>
            </a:r>
            <a:r>
              <a:rPr lang="zh-CN" altLang="en-US" dirty="0"/>
              <a:t>（</a:t>
            </a:r>
            <a:r>
              <a:rPr lang="en-US" altLang="zh-CN" dirty="0"/>
              <a:t>character </a:t>
            </a:r>
            <a:r>
              <a:rPr lang="en-US" altLang="zh-CN" dirty="0">
                <a:solidFill>
                  <a:srgbClr val="FF0000"/>
                </a:solidFill>
              </a:rPr>
              <a:t>array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两个单引号表示一个单引号字符（不是双引号）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8779745" y="2715240"/>
            <a:ext cx="2364378" cy="3018804"/>
            <a:chOff x="8390708" y="1779542"/>
            <a:chExt cx="2364378" cy="301880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0708" y="1779542"/>
              <a:ext cx="2364378" cy="301880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7900" y="3064919"/>
              <a:ext cx="1704975" cy="771525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838199" y="1096872"/>
            <a:ext cx="86097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&gt;&gt; description = </a:t>
            </a:r>
            <a:r>
              <a:rPr lang="zh-CN" altLang="en-US" sz="3200" b="1" dirty="0">
                <a:solidFill>
                  <a:srgbClr val="FF0000"/>
                </a:solidFill>
              </a:rPr>
              <a:t>'</a:t>
            </a:r>
            <a:r>
              <a:rPr lang="zh-CN" altLang="en-US" sz="2800" dirty="0">
                <a:solidFill>
                  <a:srgbClr val="7030A0"/>
                </a:solidFill>
              </a:rPr>
              <a:t>Annual Gasline Prices, ($US per gallon)</a:t>
            </a:r>
            <a:r>
              <a:rPr lang="zh-CN" altLang="en-US" sz="2800" b="1" dirty="0">
                <a:solidFill>
                  <a:srgbClr val="FF0000"/>
                </a:solidFill>
              </a:rPr>
              <a:t> '</a:t>
            </a:r>
            <a:r>
              <a:rPr lang="zh-CN" altLang="en-US" sz="2800" dirty="0"/>
              <a:t>;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838199" y="1717676"/>
            <a:ext cx="8799324" cy="1446550"/>
            <a:chOff x="1102322" y="4889467"/>
            <a:chExt cx="8799324" cy="1446550"/>
          </a:xfrm>
        </p:grpSpPr>
        <p:sp>
          <p:nvSpPr>
            <p:cNvPr id="9" name="矩形 8"/>
            <p:cNvSpPr/>
            <p:nvPr/>
          </p:nvSpPr>
          <p:spPr>
            <a:xfrm>
              <a:off x="1102322" y="4889467"/>
              <a:ext cx="8799324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&gt;&gt; s = </a:t>
              </a:r>
              <a:r>
                <a:rPr lang="zh-CN" altLang="en-US" sz="3200" dirty="0">
                  <a:solidFill>
                    <a:srgbClr val="FF0000"/>
                  </a:solidFill>
                </a:rPr>
                <a:t>'</a:t>
              </a:r>
              <a:r>
                <a:rPr lang="zh-CN" altLang="en-US" sz="2800" dirty="0">
                  <a:solidFill>
                    <a:srgbClr val="7030A0"/>
                  </a:solidFill>
                </a:rPr>
                <a:t>my name is </a:t>
              </a:r>
              <a:r>
                <a:rPr lang="zh-CN" altLang="en-US" sz="2800" dirty="0">
                  <a:solidFill>
                    <a:srgbClr val="FF0000"/>
                  </a:solidFill>
                </a:rPr>
                <a:t>''</a:t>
              </a:r>
              <a:r>
                <a:rPr lang="zh-CN" altLang="en-US" sz="2800" dirty="0">
                  <a:solidFill>
                    <a:srgbClr val="7030A0"/>
                  </a:solidFill>
                </a:rPr>
                <a:t>Tom</a:t>
              </a:r>
              <a:r>
                <a:rPr lang="zh-CN" altLang="en-US" sz="2800" dirty="0">
                  <a:solidFill>
                    <a:srgbClr val="FF0000"/>
                  </a:solidFill>
                </a:rPr>
                <a:t>''</a:t>
              </a:r>
              <a:r>
                <a:rPr lang="zh-CN" altLang="en-US" sz="2800" dirty="0">
                  <a:solidFill>
                    <a:srgbClr val="7030A0"/>
                  </a:solidFill>
                </a:rPr>
                <a:t>. What</a:t>
              </a:r>
              <a:r>
                <a:rPr lang="zh-CN" altLang="en-US" sz="2800" dirty="0">
                  <a:solidFill>
                    <a:srgbClr val="FF0000"/>
                  </a:solidFill>
                </a:rPr>
                <a:t>''</a:t>
              </a:r>
              <a:r>
                <a:rPr lang="zh-CN" altLang="en-US" sz="2800" dirty="0">
                  <a:solidFill>
                    <a:srgbClr val="7030A0"/>
                  </a:solidFill>
                </a:rPr>
                <a:t>s your name?</a:t>
              </a:r>
              <a:r>
                <a:rPr lang="zh-CN" altLang="en-US" sz="3200" dirty="0">
                  <a:solidFill>
                    <a:srgbClr val="FF0000"/>
                  </a:solidFill>
                </a:rPr>
                <a:t>'</a:t>
              </a:r>
              <a:endParaRPr lang="zh-CN" altLang="en-US" sz="2800" dirty="0">
                <a:solidFill>
                  <a:srgbClr val="FF0000"/>
                </a:solidFill>
              </a:endParaRPr>
            </a:p>
            <a:p>
              <a:r>
                <a:rPr lang="zh-CN" altLang="en-US" sz="2800" dirty="0"/>
                <a:t>     s =</a:t>
              </a:r>
            </a:p>
            <a:p>
              <a:r>
                <a:rPr lang="zh-CN" altLang="en-US" sz="2800" dirty="0"/>
                <a:t>           my name is </a:t>
              </a:r>
              <a:r>
                <a:rPr lang="zh-CN" altLang="en-US" sz="2800" dirty="0">
                  <a:solidFill>
                    <a:srgbClr val="FF0000"/>
                  </a:solidFill>
                </a:rPr>
                <a:t>'</a:t>
              </a:r>
              <a:r>
                <a:rPr lang="zh-CN" altLang="en-US" sz="2800" dirty="0"/>
                <a:t>Tom</a:t>
              </a:r>
              <a:r>
                <a:rPr lang="zh-CN" altLang="en-US" sz="2800" dirty="0">
                  <a:solidFill>
                    <a:srgbClr val="FF0000"/>
                  </a:solidFill>
                </a:rPr>
                <a:t>'</a:t>
              </a:r>
              <a:r>
                <a:rPr lang="zh-CN" altLang="en-US" sz="2800" dirty="0"/>
                <a:t>. What</a:t>
              </a:r>
              <a:r>
                <a:rPr lang="zh-CN" altLang="en-US" sz="2800" dirty="0">
                  <a:solidFill>
                    <a:srgbClr val="FF0000"/>
                  </a:solidFill>
                </a:rPr>
                <a:t>'</a:t>
              </a:r>
              <a:r>
                <a:rPr lang="zh-CN" altLang="en-US" sz="2800" dirty="0"/>
                <a:t>s your name?</a:t>
              </a: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800698" y="5228192"/>
              <a:ext cx="2063733" cy="678112"/>
              <a:chOff x="3800698" y="5228192"/>
              <a:chExt cx="2063733" cy="678112"/>
            </a:xfrm>
          </p:grpSpPr>
          <p:sp>
            <p:nvSpPr>
              <p:cNvPr id="10" name="燕尾形箭头 9"/>
              <p:cNvSpPr/>
              <p:nvPr/>
            </p:nvSpPr>
            <p:spPr>
              <a:xfrm rot="6062983">
                <a:off x="3624221" y="5405350"/>
                <a:ext cx="622919" cy="269966"/>
              </a:xfrm>
              <a:prstGeom prst="notchedRigh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燕尾形箭头 10"/>
              <p:cNvSpPr/>
              <p:nvPr/>
            </p:nvSpPr>
            <p:spPr>
              <a:xfrm rot="6655550">
                <a:off x="4341704" y="5412920"/>
                <a:ext cx="622919" cy="269966"/>
              </a:xfrm>
              <a:prstGeom prst="notchedRigh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燕尾形箭头 11"/>
              <p:cNvSpPr/>
              <p:nvPr/>
            </p:nvSpPr>
            <p:spPr>
              <a:xfrm rot="6655550">
                <a:off x="5390392" y="5432265"/>
                <a:ext cx="678112" cy="269966"/>
              </a:xfrm>
              <a:prstGeom prst="notchedRigh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124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600" y="95794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字符串在内存中的存储</a:t>
            </a: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91606" y="742126"/>
            <a:ext cx="6022703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&gt;&gt; t=</a:t>
            </a:r>
            <a:r>
              <a:rPr lang="en-US" altLang="zh-CN" sz="3200" b="1" dirty="0">
                <a:solidFill>
                  <a:srgbClr val="FF0000"/>
                </a:solidFill>
              </a:rPr>
              <a:t>'</a:t>
            </a:r>
            <a:r>
              <a:rPr lang="en-US" altLang="zh-CN" sz="3200" b="1" dirty="0"/>
              <a:t>hello</a:t>
            </a:r>
            <a:r>
              <a:rPr lang="en-US" altLang="zh-CN" sz="3200" b="1" dirty="0">
                <a:solidFill>
                  <a:srgbClr val="FF0000"/>
                </a:solidFill>
              </a:rPr>
              <a:t>'</a:t>
            </a:r>
            <a:r>
              <a:rPr lang="en-US" altLang="zh-CN" sz="3200" b="1" dirty="0"/>
              <a:t>,</a:t>
            </a:r>
            <a:r>
              <a:rPr lang="en-US" altLang="zh-CN" sz="3200" b="1" dirty="0" err="1"/>
              <a:t>whos</a:t>
            </a:r>
            <a:r>
              <a:rPr lang="en-US" altLang="zh-CN" sz="3200" b="1" dirty="0"/>
              <a:t> t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t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hello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  Name      Size            Bytes  Class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      t         </a:t>
            </a:r>
            <a:r>
              <a:rPr lang="en-US" altLang="zh-CN" sz="3200" b="1" dirty="0">
                <a:solidFill>
                  <a:srgbClr val="FF0000"/>
                </a:solidFill>
              </a:rPr>
              <a:t>1x5</a:t>
            </a:r>
            <a:r>
              <a:rPr lang="en-US" altLang="zh-CN" sz="3200" b="1" dirty="0"/>
              <a:t>                </a:t>
            </a:r>
            <a:r>
              <a:rPr lang="en-US" altLang="zh-CN" sz="3200" b="1" dirty="0">
                <a:solidFill>
                  <a:srgbClr val="FF0000"/>
                </a:solidFill>
              </a:rPr>
              <a:t>10</a:t>
            </a:r>
            <a:r>
              <a:rPr lang="en-US" altLang="zh-CN" sz="3200" b="1" dirty="0"/>
              <a:t>       </a:t>
            </a:r>
            <a:r>
              <a:rPr lang="en-US" altLang="zh-CN" sz="3200" b="1" dirty="0">
                <a:solidFill>
                  <a:srgbClr val="FF0000"/>
                </a:solidFill>
              </a:rPr>
              <a:t>char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94874" y="3470842"/>
            <a:ext cx="615115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/>
              <a:t>&gt;&gt; t=</a:t>
            </a:r>
            <a:r>
              <a:rPr lang="en-US" altLang="zh-CN" sz="3200" b="1" dirty="0">
                <a:solidFill>
                  <a:srgbClr val="FF0000"/>
                </a:solidFill>
              </a:rPr>
              <a:t>'</a:t>
            </a:r>
            <a:r>
              <a:rPr lang="zh-CN" altLang="en-US" sz="3200" b="1" dirty="0"/>
              <a:t>我</a:t>
            </a:r>
            <a:r>
              <a:rPr lang="en-US" altLang="zh-CN" sz="3200" b="1" dirty="0">
                <a:solidFill>
                  <a:srgbClr val="FF0000"/>
                </a:solidFill>
              </a:rPr>
              <a:t>'</a:t>
            </a:r>
            <a:r>
              <a:rPr lang="zh-CN" altLang="en-US" sz="3200" b="1" dirty="0"/>
              <a:t>;   s=</a:t>
            </a:r>
            <a:r>
              <a:rPr lang="en-US" altLang="zh-CN" sz="3200" b="1" dirty="0">
                <a:solidFill>
                  <a:srgbClr val="FF0000"/>
                </a:solidFill>
              </a:rPr>
              <a:t>'</a:t>
            </a:r>
            <a:r>
              <a:rPr lang="zh-CN" altLang="en-US" sz="3200" b="1" dirty="0"/>
              <a:t>i</a:t>
            </a:r>
            <a:r>
              <a:rPr lang="en-US" altLang="zh-CN" sz="3200" b="1" dirty="0">
                <a:solidFill>
                  <a:srgbClr val="FF0000"/>
                </a:solidFill>
              </a:rPr>
              <a:t>'</a:t>
            </a:r>
            <a:r>
              <a:rPr lang="zh-CN" altLang="en-US" sz="3200" b="1" dirty="0"/>
              <a:t>;  whos s t;</a:t>
            </a:r>
          </a:p>
          <a:p>
            <a:r>
              <a:rPr lang="zh-CN" altLang="en-US" sz="3200" b="1" dirty="0"/>
              <a:t>  Name      Size            Bytes  Class</a:t>
            </a:r>
          </a:p>
          <a:p>
            <a:r>
              <a:rPr lang="zh-CN" altLang="en-US" sz="3200" b="1" dirty="0"/>
              <a:t>      s         1x1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2</a:t>
            </a:r>
            <a:r>
              <a:rPr lang="zh-CN" altLang="en-US" sz="3200" b="1" dirty="0"/>
              <a:t>         char               </a:t>
            </a:r>
          </a:p>
          <a:p>
            <a:r>
              <a:rPr lang="zh-CN" altLang="en-US" sz="3200" b="1" dirty="0"/>
              <a:t>      t         1x1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 2          </a:t>
            </a:r>
            <a:r>
              <a:rPr lang="zh-CN" altLang="en-US" sz="3200" b="1" dirty="0"/>
              <a:t>char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538151" y="5882686"/>
            <a:ext cx="8864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MATLAB</a:t>
            </a:r>
            <a:r>
              <a:rPr lang="zh-CN" altLang="en-US" sz="3200" b="1" dirty="0">
                <a:solidFill>
                  <a:srgbClr val="FF0000"/>
                </a:solidFill>
              </a:rPr>
              <a:t>中一个字符（不管中英文）占</a:t>
            </a:r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</a:rPr>
              <a:t>个字节</a:t>
            </a:r>
          </a:p>
        </p:txBody>
      </p:sp>
    </p:spTree>
    <p:extLst>
      <p:ext uri="{BB962C8B-B14F-4D97-AF65-F5344CB8AC3E}">
        <p14:creationId xmlns:p14="http://schemas.microsoft.com/office/powerpoint/2010/main" val="924752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864"/>
          </a:xfrm>
        </p:spPr>
        <p:txBody>
          <a:bodyPr/>
          <a:lstStyle/>
          <a:p>
            <a:r>
              <a:rPr lang="zh-CN" altLang="en-US" dirty="0"/>
              <a:t>字符数组的字符数值（</a:t>
            </a:r>
            <a:r>
              <a:rPr lang="en-US" altLang="zh-CN" dirty="0"/>
              <a:t>ASCII</a:t>
            </a:r>
            <a:r>
              <a:rPr lang="zh-CN" altLang="en-US" dirty="0"/>
              <a:t>码值）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72482"/>
            <a:ext cx="10515600" cy="734695"/>
          </a:xfrm>
        </p:spPr>
        <p:txBody>
          <a:bodyPr/>
          <a:lstStyle/>
          <a:p>
            <a:r>
              <a:rPr lang="zh-CN" altLang="en-US" dirty="0"/>
              <a:t>与其他数据类型之间的转换</a:t>
            </a:r>
          </a:p>
        </p:txBody>
      </p:sp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1205412" y="1539829"/>
            <a:ext cx="839470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4000" b="1" dirty="0"/>
              <a:t>&gt;&gt; t=</a:t>
            </a:r>
            <a:r>
              <a:rPr lang="en-US" altLang="zh-CN" sz="4000" b="1" dirty="0">
                <a:solidFill>
                  <a:srgbClr val="FF0000"/>
                </a:solidFill>
              </a:rPr>
              <a:t>‘</a:t>
            </a:r>
            <a:r>
              <a:rPr lang="en-US" altLang="zh-CN" sz="4000" b="1" dirty="0"/>
              <a:t>hello</a:t>
            </a:r>
            <a:r>
              <a:rPr lang="en-US" altLang="zh-CN" sz="4000" b="1" dirty="0">
                <a:solidFill>
                  <a:srgbClr val="FF0000"/>
                </a:solidFill>
              </a:rPr>
              <a:t>’</a:t>
            </a:r>
            <a:r>
              <a:rPr lang="en-US" altLang="zh-CN" sz="4000" b="1" dirty="0"/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4000" b="1" dirty="0"/>
              <a:t>&gt;&gt; </a:t>
            </a:r>
            <a:r>
              <a:rPr lang="en-US" altLang="zh-CN" sz="4000" b="1" dirty="0">
                <a:solidFill>
                  <a:srgbClr val="00B0F0"/>
                </a:solidFill>
              </a:rPr>
              <a:t>abs(t)  %</a:t>
            </a:r>
            <a:r>
              <a:rPr lang="zh-CN" altLang="en-US" sz="4000" b="1" dirty="0">
                <a:solidFill>
                  <a:srgbClr val="00B0F0"/>
                </a:solidFill>
              </a:rPr>
              <a:t>字符的</a:t>
            </a:r>
            <a:r>
              <a:rPr lang="en-US" altLang="zh-CN" sz="4000" b="1" dirty="0">
                <a:solidFill>
                  <a:srgbClr val="00B0F0"/>
                </a:solidFill>
              </a:rPr>
              <a:t>ASCII</a:t>
            </a:r>
            <a:r>
              <a:rPr lang="zh-CN" altLang="en-US" sz="4000" b="1" dirty="0">
                <a:solidFill>
                  <a:srgbClr val="00B0F0"/>
                </a:solidFill>
              </a:rPr>
              <a:t>码值</a:t>
            </a:r>
            <a:endParaRPr lang="en-US" altLang="zh-CN" sz="4000" b="1" dirty="0">
              <a:solidFill>
                <a:srgbClr val="00B0F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fr-FR" altLang="zh-CN" sz="4000" b="1" dirty="0"/>
              <a:t>ans =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fr-FR" altLang="zh-CN" sz="4000" b="1" dirty="0"/>
              <a:t>   104   101   108   108   111</a:t>
            </a:r>
            <a:endParaRPr lang="en-US" altLang="zh-CN" sz="4000" b="1" dirty="0"/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4000" b="1" dirty="0"/>
              <a:t>&gt;&gt; </a:t>
            </a:r>
            <a:r>
              <a:rPr lang="fr-FR" altLang="zh-CN" sz="4000" b="1" dirty="0"/>
              <a:t>u=</a:t>
            </a:r>
            <a:r>
              <a:rPr lang="fr-FR" altLang="zh-CN" sz="4000" b="1" dirty="0">
                <a:solidFill>
                  <a:srgbClr val="FF0000"/>
                </a:solidFill>
              </a:rPr>
              <a:t>double(t)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4000" b="1" dirty="0"/>
              <a:t>u =   104   101   108   108   111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4000" b="1" dirty="0"/>
              <a:t>&gt;&gt; </a:t>
            </a:r>
            <a:r>
              <a:rPr lang="fr-FR" altLang="zh-CN" sz="4000" b="1" dirty="0">
                <a:solidFill>
                  <a:srgbClr val="FF0000"/>
                </a:solidFill>
              </a:rPr>
              <a:t>char(u)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4000" b="1" dirty="0"/>
              <a:t>ans = hello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33150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54677" y="879294"/>
            <a:ext cx="9395812" cy="1654900"/>
            <a:chOff x="803365" y="618037"/>
            <a:chExt cx="9395812" cy="16549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3365" y="618037"/>
              <a:ext cx="9395812" cy="70566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365" y="1655036"/>
              <a:ext cx="9373690" cy="617901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954677" y="266330"/>
            <a:ext cx="9161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字符串是字符数组，数组的所有操作都可以用在字符串上</a:t>
            </a:r>
          </a:p>
        </p:txBody>
      </p:sp>
      <p:sp>
        <p:nvSpPr>
          <p:cNvPr id="9" name="矩形 7"/>
          <p:cNvSpPr>
            <a:spLocks noChangeArrowheads="1"/>
          </p:cNvSpPr>
          <p:nvPr/>
        </p:nvSpPr>
        <p:spPr bwMode="auto">
          <a:xfrm>
            <a:off x="1033054" y="4265088"/>
            <a:ext cx="10668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&gt;&gt; S='my name is: '; T=</a:t>
            </a:r>
            <a:r>
              <a:rPr lang="en-US" altLang="zh-CN" sz="3200" b="1" dirty="0">
                <a:solidFill>
                  <a:srgbClr val="FF0000"/>
                </a:solidFill>
              </a:rPr>
              <a:t>'''</a:t>
            </a:r>
            <a:r>
              <a:rPr lang="en-US" altLang="zh-CN" sz="3200" b="1" dirty="0"/>
              <a:t>Tom</a:t>
            </a:r>
            <a:r>
              <a:rPr lang="en-US" altLang="zh-CN" sz="3200" b="1" dirty="0">
                <a:solidFill>
                  <a:srgbClr val="FF0000"/>
                </a:solidFill>
              </a:rPr>
              <a:t>'''</a:t>
            </a:r>
            <a:r>
              <a:rPr lang="en-US" altLang="zh-CN" sz="3200" b="1" dirty="0"/>
              <a:t>; </a:t>
            </a:r>
            <a:r>
              <a:rPr lang="en-US" altLang="zh-CN" sz="3200" b="1" dirty="0">
                <a:solidFill>
                  <a:srgbClr val="FF0000"/>
                </a:solidFill>
              </a:rPr>
              <a:t>W=[S T]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W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my name is: 'Tom'</a:t>
            </a:r>
            <a:endParaRPr lang="zh-CN" altLang="en-US" sz="3200" b="1" dirty="0"/>
          </a:p>
        </p:txBody>
      </p:sp>
      <p:sp>
        <p:nvSpPr>
          <p:cNvPr id="10" name="矩形 9"/>
          <p:cNvSpPr/>
          <p:nvPr/>
        </p:nvSpPr>
        <p:spPr>
          <a:xfrm>
            <a:off x="1033054" y="2614811"/>
            <a:ext cx="947492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latin typeface="Calibri" panose="020F0502020204030204" pitchFamily="34" charset="0"/>
                <a:ea typeface="宋体" panose="02010600030101010101" pitchFamily="2" charset="-122"/>
              </a:rPr>
              <a:t>&gt;&gt; priceCurrency = </a:t>
            </a:r>
            <a:r>
              <a:rPr lang="zh-CN" alt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description(26:39)</a:t>
            </a:r>
          </a:p>
          <a:p>
            <a:pPr>
              <a:spcBef>
                <a:spcPct val="0"/>
              </a:spcBef>
            </a:pPr>
            <a:r>
              <a:rPr lang="zh-CN" altLang="en-US" sz="3200" b="1" dirty="0">
                <a:latin typeface="Calibri" panose="020F0502020204030204" pitchFamily="34" charset="0"/>
                <a:ea typeface="宋体" panose="02010600030101010101" pitchFamily="2" charset="-122"/>
              </a:rPr>
              <a:t>priceCurrency =</a:t>
            </a:r>
          </a:p>
          <a:p>
            <a:pPr>
              <a:spcBef>
                <a:spcPct val="0"/>
              </a:spcBef>
            </a:pPr>
            <a:r>
              <a:rPr lang="zh-CN" altLang="en-US" sz="3200" b="1" dirty="0">
                <a:latin typeface="Calibri" panose="020F0502020204030204" pitchFamily="34" charset="0"/>
                <a:ea typeface="宋体" panose="02010600030101010101" pitchFamily="2" charset="-122"/>
              </a:rPr>
              <a:t>$US per gallon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7454540" y="2769325"/>
            <a:ext cx="1918000" cy="369332"/>
            <a:chOff x="7454540" y="2769325"/>
            <a:chExt cx="1918000" cy="369332"/>
          </a:xfrm>
        </p:grpSpPr>
        <p:sp>
          <p:nvSpPr>
            <p:cNvPr id="11" name="文本框 10"/>
            <p:cNvSpPr txBox="1"/>
            <p:nvPr/>
          </p:nvSpPr>
          <p:spPr>
            <a:xfrm>
              <a:off x="7802880" y="2769325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批量索引提取</a:t>
              </a:r>
            </a:p>
          </p:txBody>
        </p:sp>
        <p:sp>
          <p:nvSpPr>
            <p:cNvPr id="13" name="左箭头 12"/>
            <p:cNvSpPr/>
            <p:nvPr/>
          </p:nvSpPr>
          <p:spPr>
            <a:xfrm>
              <a:off x="7454540" y="2865527"/>
              <a:ext cx="391886" cy="222660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02880" y="4366896"/>
            <a:ext cx="3048248" cy="369332"/>
            <a:chOff x="7802880" y="4366896"/>
            <a:chExt cx="3048248" cy="369332"/>
          </a:xfrm>
        </p:grpSpPr>
        <p:sp>
          <p:nvSpPr>
            <p:cNvPr id="12" name="文本框 11"/>
            <p:cNvSpPr txBox="1"/>
            <p:nvPr/>
          </p:nvSpPr>
          <p:spPr>
            <a:xfrm>
              <a:off x="8127305" y="4366896"/>
              <a:ext cx="2723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数组合并实现字符串拼接</a:t>
              </a:r>
            </a:p>
          </p:txBody>
        </p:sp>
        <p:sp>
          <p:nvSpPr>
            <p:cNvPr id="14" name="左箭头 13"/>
            <p:cNvSpPr/>
            <p:nvPr/>
          </p:nvSpPr>
          <p:spPr>
            <a:xfrm>
              <a:off x="7802880" y="4440232"/>
              <a:ext cx="391886" cy="222660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580928" y="4265088"/>
            <a:ext cx="2637260" cy="1988831"/>
            <a:chOff x="4580928" y="4265088"/>
            <a:chExt cx="2637260" cy="1988831"/>
          </a:xfrm>
        </p:grpSpPr>
        <p:sp>
          <p:nvSpPr>
            <p:cNvPr id="15" name="圆角矩形 14"/>
            <p:cNvSpPr/>
            <p:nvPr/>
          </p:nvSpPr>
          <p:spPr>
            <a:xfrm>
              <a:off x="4894217" y="4265088"/>
              <a:ext cx="409303" cy="39780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580928" y="5546033"/>
              <a:ext cx="263726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为什么是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3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个单引号？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5" idx="2"/>
              <a:endCxn id="16" idx="0"/>
            </p:cNvCxnSpPr>
            <p:nvPr/>
          </p:nvCxnSpPr>
          <p:spPr>
            <a:xfrm>
              <a:off x="5098869" y="4662892"/>
              <a:ext cx="800689" cy="88314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955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02314" y="289840"/>
            <a:ext cx="34275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/>
              <a:t>字符串相关函数</a:t>
            </a:r>
            <a:endParaRPr lang="zh-CN" altLang="en-US" sz="3600" dirty="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702314" y="1448862"/>
            <a:ext cx="9869891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b="1" dirty="0"/>
              <a:t>int2str</a:t>
            </a:r>
            <a:r>
              <a:rPr lang="zh-CN" altLang="en-US" sz="4800" b="1" dirty="0"/>
              <a:t>：</a:t>
            </a:r>
            <a:r>
              <a:rPr lang="zh-CN" altLang="en-US" sz="3600" dirty="0"/>
              <a:t>将整数转换成字符串</a:t>
            </a:r>
            <a:endParaRPr lang="en-US" altLang="zh-CN" sz="48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b="1" dirty="0"/>
              <a:t>num2str</a:t>
            </a:r>
            <a:r>
              <a:rPr lang="zh-CN" altLang="en-US" sz="6600" b="1" dirty="0"/>
              <a:t> </a:t>
            </a:r>
            <a:r>
              <a:rPr lang="zh-CN" altLang="en-US" sz="4800" b="1" dirty="0"/>
              <a:t>：</a:t>
            </a:r>
            <a:r>
              <a:rPr lang="zh-CN" altLang="en-US" sz="4800" dirty="0"/>
              <a:t>将数值转换成字符串</a:t>
            </a:r>
            <a:endParaRPr lang="en-US" altLang="zh-CN" sz="4800" b="1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b="1" dirty="0" err="1"/>
              <a:t>sprintf</a:t>
            </a:r>
            <a:r>
              <a:rPr lang="zh-CN" altLang="en-US" sz="4800" b="1" dirty="0"/>
              <a:t>：</a:t>
            </a:r>
            <a:r>
              <a:rPr lang="zh-CN" altLang="en-US" sz="4800" dirty="0"/>
              <a:t>格式化字符串</a:t>
            </a:r>
            <a:endParaRPr lang="en-US" altLang="zh-CN" sz="48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b="1" dirty="0" err="1"/>
              <a:t>fprintf</a:t>
            </a:r>
            <a:r>
              <a:rPr lang="zh-CN" altLang="en-US" sz="4800" b="1" dirty="0"/>
              <a:t>：</a:t>
            </a:r>
            <a:r>
              <a:rPr lang="zh-CN" altLang="en-US" sz="4800" dirty="0"/>
              <a:t>格式化输出字符串到文件</a:t>
            </a:r>
            <a:endParaRPr lang="en-US" altLang="zh-CN" sz="4800" dirty="0"/>
          </a:p>
        </p:txBody>
      </p:sp>
    </p:spTree>
    <p:extLst>
      <p:ext uri="{BB962C8B-B14F-4D97-AF65-F5344CB8AC3E}">
        <p14:creationId xmlns:p14="http://schemas.microsoft.com/office/powerpoint/2010/main" val="3421769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260600" y="864662"/>
            <a:ext cx="77978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/>
              <a:t>&gt;&gt; </a:t>
            </a:r>
            <a:r>
              <a:rPr lang="en-US" altLang="zh-CN" sz="4000" b="1" dirty="0" err="1"/>
              <a:t>str</a:t>
            </a:r>
            <a:r>
              <a:rPr lang="en-US" altLang="zh-CN" sz="4000" b="1" dirty="0"/>
              <a:t> = </a:t>
            </a:r>
            <a:r>
              <a:rPr lang="en-US" altLang="zh-CN" sz="4000" b="1" dirty="0">
                <a:solidFill>
                  <a:srgbClr val="FF0000"/>
                </a:solidFill>
              </a:rPr>
              <a:t>int2str</a:t>
            </a:r>
            <a:r>
              <a:rPr lang="en-US" altLang="zh-CN" sz="4000" b="1" dirty="0"/>
              <a:t>(eye(3)), </a:t>
            </a:r>
            <a:r>
              <a:rPr lang="en-US" altLang="zh-CN" sz="4000" b="1" dirty="0" err="1"/>
              <a:t>whos</a:t>
            </a:r>
            <a:r>
              <a:rPr lang="en-US" altLang="zh-CN" sz="4000" b="1" dirty="0"/>
              <a:t> </a:t>
            </a:r>
            <a:r>
              <a:rPr lang="en-US" altLang="zh-CN" sz="4000" b="1" dirty="0" err="1"/>
              <a:t>str</a:t>
            </a:r>
            <a:endParaRPr lang="en-US" altLang="zh-CN" sz="4000" b="1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 err="1"/>
              <a:t>str</a:t>
            </a:r>
            <a:r>
              <a:rPr lang="en-US" altLang="zh-CN" sz="4000" b="1" dirty="0"/>
              <a:t>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/>
              <a:t>1  0  0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/>
              <a:t>0  1  0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/>
              <a:t>0  0  1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/>
              <a:t>  Name      Size            Bytes    Class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/>
              <a:t>    </a:t>
            </a:r>
            <a:r>
              <a:rPr lang="en-US" altLang="zh-CN" sz="4000" b="1" dirty="0" err="1"/>
              <a:t>str</a:t>
            </a:r>
            <a:r>
              <a:rPr lang="en-US" altLang="zh-CN" sz="4000" b="1" dirty="0"/>
              <a:t>           3x7                42      char 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5893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319349" y="1780676"/>
            <a:ext cx="80645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&gt;&gt; str2=num2str(</a:t>
            </a:r>
            <a:r>
              <a:rPr lang="en-US" altLang="zh-CN" sz="4000" dirty="0" err="1"/>
              <a:t>randn</a:t>
            </a:r>
            <a:r>
              <a:rPr lang="en-US" altLang="zh-CN" sz="4000" dirty="0"/>
              <a:t>(2,2),</a:t>
            </a:r>
            <a:r>
              <a:rPr lang="en-US" altLang="zh-CN" sz="4000" dirty="0">
                <a:solidFill>
                  <a:srgbClr val="FF0000"/>
                </a:solidFill>
              </a:rPr>
              <a:t>3</a:t>
            </a:r>
            <a:r>
              <a:rPr lang="en-US" altLang="zh-CN" sz="4000" dirty="0"/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str2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0.</a:t>
            </a:r>
            <a:r>
              <a:rPr lang="en-US" altLang="zh-CN" sz="4000" dirty="0">
                <a:solidFill>
                  <a:srgbClr val="FF0000"/>
                </a:solidFill>
              </a:rPr>
              <a:t>319</a:t>
            </a:r>
            <a:r>
              <a:rPr lang="en-US" altLang="zh-CN" sz="4000" dirty="0"/>
              <a:t>    -0.</a:t>
            </a:r>
            <a:r>
              <a:rPr lang="en-US" altLang="zh-CN" sz="4000" dirty="0">
                <a:solidFill>
                  <a:srgbClr val="FF0000"/>
                </a:solidFill>
              </a:rPr>
              <a:t>434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-</a:t>
            </a:r>
            <a:r>
              <a:rPr lang="en-US" altLang="zh-CN" sz="4000" dirty="0">
                <a:solidFill>
                  <a:srgbClr val="FF0000"/>
                </a:solidFill>
              </a:rPr>
              <a:t>1.31</a:t>
            </a:r>
            <a:r>
              <a:rPr lang="en-US" altLang="zh-CN" sz="4000" dirty="0"/>
              <a:t>     0.</a:t>
            </a:r>
            <a:r>
              <a:rPr lang="en-US" altLang="zh-CN" sz="4000" dirty="0">
                <a:solidFill>
                  <a:srgbClr val="FF0000"/>
                </a:solidFill>
              </a:rPr>
              <a:t>343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&gt;&gt; </a:t>
            </a:r>
            <a:r>
              <a:rPr lang="en-US" altLang="zh-CN" sz="4000" dirty="0" err="1"/>
              <a:t>whos</a:t>
            </a:r>
            <a:r>
              <a:rPr lang="en-US" altLang="zh-CN" sz="4000" dirty="0"/>
              <a:t> str2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  Name      Size            Bytes  Class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dirty="0"/>
              <a:t>    str2      2x15               60  char </a:t>
            </a:r>
            <a:endParaRPr lang="zh-CN" altLang="en-US" sz="4000" dirty="0"/>
          </a:p>
        </p:txBody>
      </p:sp>
      <p:grpSp>
        <p:nvGrpSpPr>
          <p:cNvPr id="5" name="组合 4"/>
          <p:cNvGrpSpPr/>
          <p:nvPr/>
        </p:nvGrpSpPr>
        <p:grpSpPr>
          <a:xfrm>
            <a:off x="1904410" y="358050"/>
            <a:ext cx="8523937" cy="1231106"/>
            <a:chOff x="7199221" y="993776"/>
            <a:chExt cx="8523937" cy="1231106"/>
          </a:xfrm>
        </p:grpSpPr>
        <p:sp>
          <p:nvSpPr>
            <p:cNvPr id="6" name="矩形 5"/>
            <p:cNvSpPr/>
            <p:nvPr/>
          </p:nvSpPr>
          <p:spPr>
            <a:xfrm>
              <a:off x="8090107" y="993776"/>
              <a:ext cx="353135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b="1" dirty="0"/>
                <a:t>T = num2str(X,</a:t>
              </a:r>
              <a:r>
                <a:rPr lang="zh-CN" altLang="en-US" sz="3600" b="1" dirty="0">
                  <a:solidFill>
                    <a:srgbClr val="FF0000"/>
                  </a:solidFill>
                </a:rPr>
                <a:t>N</a:t>
              </a:r>
              <a:r>
                <a:rPr lang="zh-CN" altLang="en-US" sz="3600" b="1" dirty="0"/>
                <a:t>) 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7199221" y="1640107"/>
              <a:ext cx="852393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dirty="0"/>
                <a:t>maximum </a:t>
              </a:r>
              <a:r>
                <a:rPr lang="zh-CN" altLang="en-US" sz="3200" dirty="0">
                  <a:solidFill>
                    <a:srgbClr val="FF0000"/>
                  </a:solidFill>
                </a:rPr>
                <a:t>N</a:t>
              </a:r>
              <a:r>
                <a:rPr lang="zh-CN" altLang="en-US" sz="3200" dirty="0"/>
                <a:t> digits of precision（有效数字位数）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588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70262" y="258944"/>
            <a:ext cx="1199932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 err="1"/>
              <a:t>sprintf</a:t>
            </a:r>
            <a:r>
              <a:rPr lang="en-US" altLang="zh-CN" sz="3600" dirty="0"/>
              <a:t>('%0.5g',</a:t>
            </a:r>
            <a:r>
              <a:rPr lang="en-US" altLang="zh-CN" sz="3600" dirty="0">
                <a:solidFill>
                  <a:srgbClr val="FF0000"/>
                </a:solidFill>
              </a:rPr>
              <a:t>(1+sqrt(5))/2</a:t>
            </a:r>
            <a:r>
              <a:rPr lang="en-US" altLang="zh-CN" sz="3600" dirty="0"/>
              <a:t>)  % 1.618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 err="1"/>
              <a:t>sprintf</a:t>
            </a:r>
            <a:r>
              <a:rPr lang="en-US" altLang="zh-CN" sz="3600" dirty="0"/>
              <a:t>('%0.5g',1/eps)               % 4.5036e+15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 err="1"/>
              <a:t>sprintf</a:t>
            </a:r>
            <a:r>
              <a:rPr lang="en-US" altLang="zh-CN" sz="3600" dirty="0"/>
              <a:t>('%15.5f',1/eps)              % 4503599627370496.00000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 err="1"/>
              <a:t>sprintf</a:t>
            </a:r>
            <a:r>
              <a:rPr lang="en-US" altLang="zh-CN" sz="3600" dirty="0"/>
              <a:t>('%</a:t>
            </a:r>
            <a:r>
              <a:rPr lang="en-US" altLang="zh-CN" sz="3600" dirty="0" err="1"/>
              <a:t>d',round</a:t>
            </a:r>
            <a:r>
              <a:rPr lang="en-US" altLang="zh-CN" sz="3600" dirty="0"/>
              <a:t>(pi))              % 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 err="1"/>
              <a:t>sprintf</a:t>
            </a:r>
            <a:r>
              <a:rPr lang="en-US" altLang="zh-CN" sz="3600" dirty="0"/>
              <a:t>('%</a:t>
            </a:r>
            <a:r>
              <a:rPr lang="en-US" altLang="zh-CN" sz="3600" dirty="0" err="1"/>
              <a:t>s','hello</a:t>
            </a:r>
            <a:r>
              <a:rPr lang="en-US" altLang="zh-CN" sz="3600" dirty="0"/>
              <a:t>')                    % hello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 err="1"/>
              <a:t>sprintf</a:t>
            </a:r>
            <a:r>
              <a:rPr lang="en-US" altLang="zh-CN" sz="3600" dirty="0"/>
              <a:t>('The array is %dx%d.',2,3)   % The array is 2x3.</a:t>
            </a:r>
            <a:endParaRPr lang="zh-CN" altLang="en-US" sz="36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40806" y="3914535"/>
            <a:ext cx="9347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b="1" dirty="0"/>
              <a:t>&gt;&gt; a=1:0.5:5;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b="1" dirty="0"/>
              <a:t>&gt;&gt; </a:t>
            </a:r>
            <a:r>
              <a:rPr lang="en-US" altLang="zh-CN" sz="3600" b="1" dirty="0" err="1"/>
              <a:t>str</a:t>
            </a:r>
            <a:r>
              <a:rPr lang="en-US" altLang="zh-CN" sz="3600" b="1" dirty="0"/>
              <a:t>=</a:t>
            </a:r>
            <a:r>
              <a:rPr lang="en-US" altLang="zh-CN" sz="3600" b="1" dirty="0" err="1"/>
              <a:t>sprintf</a:t>
            </a:r>
            <a:r>
              <a:rPr lang="en-US" altLang="zh-CN" sz="3600" b="1" dirty="0"/>
              <a:t>(‘%2.1f ’, </a:t>
            </a:r>
            <a:r>
              <a:rPr lang="en-US" altLang="zh-CN" sz="3600" b="1" dirty="0">
                <a:solidFill>
                  <a:srgbClr val="FF0000"/>
                </a:solidFill>
              </a:rPr>
              <a:t>a</a:t>
            </a:r>
            <a:r>
              <a:rPr lang="en-US" altLang="zh-CN" sz="3600" b="1" dirty="0"/>
              <a:t>)</a:t>
            </a:r>
            <a:endParaRPr lang="zh-CN" altLang="en-US" sz="3600" b="1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04123" y="5197382"/>
            <a:ext cx="601889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l-PL" altLang="zh-CN" b="1" dirty="0">
                <a:solidFill>
                  <a:srgbClr val="FF0000"/>
                </a:solidFill>
              </a:rPr>
              <a:t>str =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l-PL" altLang="zh-CN" b="1" dirty="0">
                <a:solidFill>
                  <a:srgbClr val="FF0000"/>
                </a:solidFill>
              </a:rPr>
              <a:t>1.0 1.5 2.0 2.5 3.0 3.5 4.0 4.5 5.0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21828" y="4619542"/>
            <a:ext cx="6491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批量化处理（</a:t>
            </a:r>
            <a:r>
              <a:rPr lang="en-US" altLang="zh-CN" sz="2800" b="1" dirty="0">
                <a:solidFill>
                  <a:srgbClr val="FF0000"/>
                </a:solidFill>
              </a:rPr>
              <a:t>MATLAB</a:t>
            </a:r>
            <a:r>
              <a:rPr lang="zh-CN" altLang="en-US" sz="2800" b="1" dirty="0">
                <a:solidFill>
                  <a:srgbClr val="FF0000"/>
                </a:solidFill>
              </a:rPr>
              <a:t>的核心就是批量处理</a:t>
            </a:r>
            <a:r>
              <a:rPr lang="zh-CN" altLang="en-US" sz="20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8" name="左箭头 7"/>
          <p:cNvSpPr/>
          <p:nvPr/>
        </p:nvSpPr>
        <p:spPr>
          <a:xfrm>
            <a:off x="5486400" y="4682856"/>
            <a:ext cx="435428" cy="273481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43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88" y="1835490"/>
            <a:ext cx="5867400" cy="21526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70788" y="482150"/>
            <a:ext cx="6614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MATLAB</a:t>
            </a:r>
            <a:r>
              <a:rPr lang="zh-CN" altLang="en-US" sz="2400" dirty="0"/>
              <a:t>中</a:t>
            </a:r>
            <a:r>
              <a:rPr lang="zh-CN" altLang="en-US" sz="2400" dirty="0">
                <a:solidFill>
                  <a:srgbClr val="FF0000"/>
                </a:solidFill>
              </a:rPr>
              <a:t>参数为字符串</a:t>
            </a:r>
            <a:r>
              <a:rPr lang="zh-CN" altLang="en-US" sz="2400" dirty="0"/>
              <a:t>的函数的</a:t>
            </a:r>
            <a:r>
              <a:rPr lang="en-US" altLang="zh-CN" sz="2400" dirty="0"/>
              <a:t>2</a:t>
            </a:r>
            <a:r>
              <a:rPr lang="zh-CN" altLang="en-US" sz="2400" dirty="0"/>
              <a:t>种调用方式：</a:t>
            </a: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函数调用方式</a:t>
            </a: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命令方式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870788" y="4056424"/>
            <a:ext cx="10418787" cy="1514475"/>
            <a:chOff x="870788" y="4056424"/>
            <a:chExt cx="10418787" cy="151447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0788" y="4294161"/>
              <a:ext cx="5949881" cy="891368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5775" y="4056424"/>
              <a:ext cx="3733800" cy="1514475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668473" y="5185529"/>
              <a:ext cx="1816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等价的</a:t>
              </a:r>
              <a:r>
                <a:rPr lang="en-US" altLang="zh-CN" dirty="0"/>
                <a:t>2</a:t>
              </a:r>
              <a:r>
                <a:rPr lang="zh-CN" altLang="en-US" dirty="0"/>
                <a:t>种方式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815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11" y="1005915"/>
            <a:ext cx="5328455" cy="1580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10" y="3023936"/>
            <a:ext cx="6813955" cy="746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10" y="4835810"/>
            <a:ext cx="4718340" cy="447539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7911165" y="2352423"/>
            <a:ext cx="3403311" cy="1343025"/>
            <a:chOff x="7911165" y="2352423"/>
            <a:chExt cx="3403311" cy="134302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23651" y="2352423"/>
              <a:ext cx="2790825" cy="1343025"/>
            </a:xfrm>
            <a:prstGeom prst="rect">
              <a:avLst/>
            </a:prstGeom>
          </p:spPr>
        </p:pic>
        <p:sp>
          <p:nvSpPr>
            <p:cNvPr id="11" name="右箭头 10"/>
            <p:cNvSpPr/>
            <p:nvPr/>
          </p:nvSpPr>
          <p:spPr>
            <a:xfrm>
              <a:off x="7911165" y="3101281"/>
              <a:ext cx="736446" cy="29609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938673" y="4208092"/>
            <a:ext cx="3334567" cy="1381125"/>
            <a:chOff x="5938673" y="4208092"/>
            <a:chExt cx="3334567" cy="138112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9090" y="4208092"/>
              <a:ext cx="2724150" cy="1381125"/>
            </a:xfrm>
            <a:prstGeom prst="rect">
              <a:avLst/>
            </a:prstGeom>
          </p:spPr>
        </p:pic>
        <p:sp>
          <p:nvSpPr>
            <p:cNvPr id="12" name="右箭头 11"/>
            <p:cNvSpPr/>
            <p:nvPr/>
          </p:nvSpPr>
          <p:spPr>
            <a:xfrm>
              <a:off x="5938673" y="4917101"/>
              <a:ext cx="736446" cy="29609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9154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706029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字符串处理函数</a:t>
            </a:r>
          </a:p>
        </p:txBody>
      </p:sp>
      <p:graphicFrame>
        <p:nvGraphicFramePr>
          <p:cNvPr id="5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103411"/>
              </p:ext>
            </p:extLst>
          </p:nvPr>
        </p:nvGraphicFramePr>
        <p:xfrm>
          <a:off x="1407023" y="1210491"/>
          <a:ext cx="7867605" cy="435864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0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函数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含义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blanks(n)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返回一个</a:t>
                      </a:r>
                      <a:r>
                        <a:rPr kumimoji="0" lang="en-US" altLang="zh-CN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n</a:t>
                      </a: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个零或空格的字符串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 dirty="0" err="1">
                          <a:ln>
                            <a:noFill/>
                          </a:ln>
                          <a:effectLst/>
                        </a:rPr>
                        <a:t>deblank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去掉字符串头尾的空格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findstr</a:t>
                      </a:r>
                      <a:endParaRPr kumimoji="0" lang="en-US" altLang="zh-CN" sz="2000" b="0" i="0" u="none" strike="noStrike" kern="1200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从一个字符串内找出字符串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isletter</a:t>
                      </a:r>
                      <a:endParaRPr kumimoji="0" lang="en-US" altLang="zh-CN" sz="2000" b="0" i="0" u="none" strike="noStrike" kern="1200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字母存在时返回真值（返回值为矩阵）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isspace</a:t>
                      </a:r>
                      <a:endParaRPr kumimoji="0" lang="en-US" altLang="zh-CN" sz="2000" b="0" i="0" u="none" strike="noStrike" kern="1200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空格字符存在时返回真值（返回矩阵）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isstr</a:t>
                      </a:r>
                      <a:endParaRPr kumimoji="0" lang="en-US" altLang="zh-CN" sz="2000" b="0" i="0" u="none" strike="noStrike" kern="1200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是一个字符串，返回真值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lasterr</a:t>
                      </a:r>
                      <a:endParaRPr kumimoji="0" lang="en-US" altLang="zh-CN" sz="2000" b="0" i="0" u="none" strike="noStrike" kern="1200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返回上一个所产生</a:t>
                      </a:r>
                      <a:r>
                        <a:rPr kumimoji="0" lang="en-US" altLang="zh-CN" sz="2000" u="none" strike="noStrike" kern="1200" cap="none" normalizeH="0" baseline="0" dirty="0" err="1">
                          <a:ln>
                            <a:noFill/>
                          </a:ln>
                          <a:effectLst/>
                        </a:rPr>
                        <a:t>Matlab</a:t>
                      </a: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错误的字符串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strcmp</a:t>
                      </a:r>
                      <a:endParaRPr kumimoji="0" lang="en-US" altLang="zh-CN" sz="2000" b="0" i="0" u="none" strike="noStrike" kern="1200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两个字符串相同，则返回真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strrep</a:t>
                      </a:r>
                      <a:endParaRPr kumimoji="0" lang="en-US" altLang="zh-CN" sz="2000" b="0" i="0" u="none" strike="noStrike" kern="1200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用一个字符串代替另一个字符串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strtok</a:t>
                      </a:r>
                      <a:endParaRPr kumimoji="0" lang="en-US" altLang="zh-CN" sz="2000" b="0" i="0" u="none" strike="noStrike" kern="1200" cap="none" normalizeH="0" baseline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找出字符串中的第一部分</a:t>
                      </a:r>
                      <a:endParaRPr kumimoji="0" lang="zh-CN" alt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224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</p:spPr>
        <p:txBody>
          <a:bodyPr/>
          <a:lstStyle/>
          <a:p>
            <a:r>
              <a:rPr lang="zh-CN" altLang="en-US" dirty="0"/>
              <a:t>字符串转换函数</a:t>
            </a:r>
          </a:p>
        </p:txBody>
      </p:sp>
      <p:graphicFrame>
        <p:nvGraphicFramePr>
          <p:cNvPr id="4" name="Group 8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2637074"/>
              </p:ext>
            </p:extLst>
          </p:nvPr>
        </p:nvGraphicFramePr>
        <p:xfrm>
          <a:off x="1037953" y="1435690"/>
          <a:ext cx="8353425" cy="4167824"/>
        </p:xfrm>
        <a:graphic>
          <a:graphicData uri="http://schemas.openxmlformats.org/drawingml/2006/table">
            <a:tbl>
              <a:tblPr/>
              <a:tblGrid>
                <a:gridCol w="1223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函数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函数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abs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把串译成</a:t>
                      </a: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ASCⅡ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base2dec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base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bin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hex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与</a:t>
                      </a: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dec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之间的转换。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base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：任意进制串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bin: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二进制串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hex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：十六进制串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dec</a:t>
                      </a: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：十进制整数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char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任何类型转换成串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bin2dec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double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任意类型转换成双精度数值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hex2dec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fprintf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格式化数据写到文件或屏幕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dec2base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sprintf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以控制格式把数值转换为串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dec2bin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sscanf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在格式控制下把串转换成数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dec2hex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setstr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把</a:t>
                      </a:r>
                      <a:r>
                        <a:rPr kumimoji="0" lang="en-US" altLang="zh-CN" sz="2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ASCⅡ</a:t>
                      </a: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码转译成串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int2str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整数转换成串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str2num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串转换成数值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mat2str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数值矩阵转换成串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hex2num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十六进制数转换成浮点数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num2str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数值转换成串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90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en-US" altLang="zh-CN" dirty="0"/>
              <a:t>Cell Array</a:t>
            </a:r>
            <a:r>
              <a:rPr lang="zh-CN" altLang="en-US" dirty="0"/>
              <a:t>（单元数组、元胞数组）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0650" y="1843088"/>
            <a:ext cx="5915025" cy="32416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Cell Array </a:t>
            </a:r>
            <a:r>
              <a:rPr lang="zh-CN" altLang="en-US" dirty="0"/>
              <a:t>例子：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 </a:t>
            </a:r>
            <a:r>
              <a:rPr lang="en-US" altLang="zh-CN" dirty="0" err="1"/>
              <a:t>myCell</a:t>
            </a:r>
            <a:r>
              <a:rPr lang="en-US" altLang="zh-CN" dirty="0"/>
              <a:t> = {1, 2, 3;</a:t>
            </a:r>
          </a:p>
          <a:p>
            <a:pPr marL="0" indent="0">
              <a:buNone/>
            </a:pPr>
            <a:r>
              <a:rPr lang="en-US" altLang="zh-CN" dirty="0"/>
              <a:t>          'text', rand(5,10,2), {11; 22; 33}}</a:t>
            </a:r>
          </a:p>
          <a:p>
            <a:pPr marL="0" indent="0">
              <a:buNone/>
            </a:pPr>
            <a:r>
              <a:rPr lang="en-US" altLang="zh-CN" dirty="0" err="1"/>
              <a:t>myCell</a:t>
            </a:r>
            <a:r>
              <a:rPr lang="en-US" altLang="zh-CN" dirty="0"/>
              <a:t> = </a:t>
            </a:r>
          </a:p>
          <a:p>
            <a:pPr marL="0" indent="0">
              <a:buNone/>
            </a:pPr>
            <a:r>
              <a:rPr lang="en-US" altLang="zh-CN" dirty="0"/>
              <a:t>    [   1]     [            2]                [       3]</a:t>
            </a:r>
          </a:p>
          <a:p>
            <a:pPr marL="0" indent="0">
              <a:buNone/>
            </a:pPr>
            <a:r>
              <a:rPr lang="en-US" altLang="zh-CN" dirty="0"/>
              <a:t>    'text'    [5x10x2 double]    {3x1 cell}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9960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/>
              <a:t>Array</a:t>
            </a:r>
            <a:r>
              <a:rPr lang="zh-CN" altLang="en-US" dirty="0"/>
              <a:t>的概念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74766" y="1825625"/>
            <a:ext cx="11347268" cy="2232667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/>
              <a:t>数组：是相同数据类型的数据的集合</a:t>
            </a:r>
            <a:endParaRPr lang="en-US" altLang="zh-CN" sz="3200" dirty="0"/>
          </a:p>
          <a:p>
            <a:r>
              <a:rPr lang="en-US" altLang="zh-CN" sz="3200" dirty="0"/>
              <a:t>Cell</a:t>
            </a:r>
            <a:r>
              <a:rPr lang="zh-CN" altLang="en-US" sz="3200" dirty="0"/>
              <a:t>数组：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800" dirty="0"/>
              <a:t>每个元素的</a:t>
            </a:r>
            <a:r>
              <a:rPr lang="zh-CN" altLang="en-US" sz="2800" dirty="0">
                <a:solidFill>
                  <a:srgbClr val="FF0000"/>
                </a:solidFill>
              </a:rPr>
              <a:t>数据类型</a:t>
            </a:r>
            <a:r>
              <a:rPr lang="zh-CN" altLang="en-US" sz="2800" dirty="0"/>
              <a:t>可以不相同</a:t>
            </a:r>
            <a:endParaRPr lang="en-US" altLang="zh-CN" sz="2800" dirty="0"/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800" dirty="0"/>
              <a:t>每个元素的</a:t>
            </a:r>
            <a:r>
              <a:rPr lang="zh-CN" altLang="en-US" sz="2800" dirty="0">
                <a:solidFill>
                  <a:srgbClr val="FF0000"/>
                </a:solidFill>
              </a:rPr>
              <a:t>大小</a:t>
            </a:r>
            <a:r>
              <a:rPr lang="zh-CN" altLang="en-US" sz="2800" dirty="0"/>
              <a:t>可以不相同</a:t>
            </a:r>
            <a:endParaRPr lang="en-US" altLang="zh-CN" sz="2800" dirty="0"/>
          </a:p>
          <a:p>
            <a:pPr eaLnBrk="1" hangingPunct="1"/>
            <a:endParaRPr lang="en-US" altLang="zh-CN" sz="3200" dirty="0"/>
          </a:p>
          <a:p>
            <a:pPr eaLnBrk="1" hangingPunct="1"/>
            <a:endParaRPr lang="zh-CN" altLang="en-US" sz="3200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838200" y="4754744"/>
            <a:ext cx="8455631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/>
            </a:pPr>
            <a:r>
              <a:rPr lang="zh-CN" altLang="en-US" sz="2800" dirty="0">
                <a:latin typeface="+mn-lt"/>
                <a:ea typeface="+mn-ea"/>
              </a:rPr>
              <a:t>如何创建？</a:t>
            </a:r>
            <a:r>
              <a:rPr lang="en-US" altLang="zh-CN" sz="2800" dirty="0">
                <a:latin typeface="+mn-lt"/>
                <a:ea typeface="+mn-ea"/>
              </a:rPr>
              <a:t>How to 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Create</a:t>
            </a:r>
            <a:r>
              <a:rPr lang="en-US" altLang="zh-CN" sz="2800" dirty="0">
                <a:latin typeface="+mn-lt"/>
                <a:ea typeface="+mn-ea"/>
              </a:rPr>
              <a:t> a Cell Array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/>
            </a:pPr>
            <a:r>
              <a:rPr lang="zh-CN" altLang="en-US" sz="2800" dirty="0">
                <a:latin typeface="+mn-lt"/>
                <a:ea typeface="+mn-ea"/>
              </a:rPr>
              <a:t>如何访问？</a:t>
            </a:r>
            <a:r>
              <a:rPr lang="en-US" altLang="zh-CN" sz="2800" dirty="0">
                <a:latin typeface="+mn-lt"/>
                <a:ea typeface="+mn-ea"/>
              </a:rPr>
              <a:t>How to 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Access</a:t>
            </a:r>
            <a:r>
              <a:rPr lang="en-US" altLang="zh-CN" sz="2800" dirty="0">
                <a:latin typeface="+mn-lt"/>
                <a:ea typeface="+mn-ea"/>
              </a:rPr>
              <a:t> Data in a Cell Array</a:t>
            </a:r>
            <a:endParaRPr lang="zh-CN" altLang="en-US" sz="2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602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91046" y="2107338"/>
            <a:ext cx="8455631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如何创建？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How to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Create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 a Cell Array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/>
            </a:pP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t>如何访问？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t>How to Access Data in a Cell Array</a:t>
            </a:r>
            <a:endParaRPr lang="zh-CN" altLang="en-US" sz="28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470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04064" y="306994"/>
            <a:ext cx="10636251" cy="887786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Cell Array</a:t>
            </a:r>
            <a:r>
              <a:rPr lang="zh-CN" altLang="en-US" sz="3200" dirty="0"/>
              <a:t>创建方法</a:t>
            </a:r>
            <a:r>
              <a:rPr lang="en-US" altLang="zh-CN" sz="3200" dirty="0"/>
              <a:t>1</a:t>
            </a:r>
            <a:r>
              <a:rPr lang="zh-CN" altLang="en-US" sz="3200" dirty="0"/>
              <a:t>：静态初始化创建</a:t>
            </a:r>
            <a:br>
              <a:rPr lang="en-US" altLang="zh-CN" sz="3200" dirty="0"/>
            </a:br>
            <a:r>
              <a:rPr lang="zh-CN" altLang="en-US" sz="3200" dirty="0"/>
              <a:t>直接使用</a:t>
            </a:r>
            <a:r>
              <a:rPr lang="zh-CN" altLang="en-US" sz="3200" dirty="0">
                <a:solidFill>
                  <a:srgbClr val="FF0000"/>
                </a:solidFill>
              </a:rPr>
              <a:t>大括号</a:t>
            </a:r>
            <a:r>
              <a:rPr lang="en-US" altLang="zh-CN" sz="3200" dirty="0">
                <a:solidFill>
                  <a:srgbClr val="FF0000"/>
                </a:solidFill>
              </a:rPr>
              <a:t>{ }</a:t>
            </a:r>
            <a:r>
              <a:rPr lang="zh-CN" altLang="en-US" sz="3200" dirty="0"/>
              <a:t>创建（</a:t>
            </a:r>
            <a:r>
              <a:rPr lang="en-US" altLang="zh-CN" sz="3200" dirty="0"/>
              <a:t>curly braces</a:t>
            </a:r>
            <a:r>
              <a:rPr lang="zh-CN" altLang="en-US" sz="3200" dirty="0"/>
              <a:t>）</a:t>
            </a: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982663" y="1553557"/>
            <a:ext cx="934085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/>
              <a:t>&gt;&gt; </a:t>
            </a:r>
            <a:r>
              <a:rPr lang="en-US" altLang="zh-CN" sz="3200" dirty="0"/>
              <a:t>my</a:t>
            </a:r>
            <a:r>
              <a:rPr lang="zh-CN" altLang="en-US" sz="3200" dirty="0"/>
              <a:t>Cell = </a:t>
            </a:r>
            <a:r>
              <a:rPr lang="zh-CN" altLang="en-US" sz="3200" dirty="0">
                <a:solidFill>
                  <a:srgbClr val="FF0000"/>
                </a:solidFill>
              </a:rPr>
              <a:t>{</a:t>
            </a:r>
            <a:r>
              <a:rPr lang="zh-CN" altLang="en-US" sz="3200" dirty="0"/>
              <a:t> [1 2 3;4 5 6;7 8 9], 2+3i; 12:-2:0, 'string'; </a:t>
            </a:r>
            <a:r>
              <a:rPr lang="zh-CN" altLang="en-US" sz="3200" dirty="0">
                <a:solidFill>
                  <a:srgbClr val="FF0000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my</a:t>
            </a:r>
            <a:r>
              <a:rPr lang="zh-CN" altLang="en-US" sz="3200" dirty="0"/>
              <a:t>Cell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/>
              <a:t>    [3x3 double]    [2.0000 + 3.0000i]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/>
              <a:t>    [1x7 double]    'string'   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/>
              <a:t>&gt;&gt; whos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/>
              <a:t>  Name      Size            Bytes  Class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/>
              <a:t>  </a:t>
            </a:r>
            <a:r>
              <a:rPr lang="en-US" altLang="zh-CN" sz="3200" dirty="0"/>
              <a:t>my</a:t>
            </a:r>
            <a:r>
              <a:rPr lang="zh-CN" altLang="en-US" sz="3200" dirty="0"/>
              <a:t>Cell      2x2               396  </a:t>
            </a:r>
            <a:r>
              <a:rPr lang="zh-CN" altLang="en-US" sz="3200" dirty="0">
                <a:solidFill>
                  <a:srgbClr val="FF0000"/>
                </a:solidFill>
              </a:rPr>
              <a:t>cell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02538" y="2848669"/>
            <a:ext cx="321468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&gt;&gt; </a:t>
            </a:r>
            <a:r>
              <a:rPr lang="en-US" altLang="zh-CN" sz="3200" dirty="0">
                <a:solidFill>
                  <a:srgbClr val="0070C0"/>
                </a:solidFill>
              </a:rPr>
              <a:t>size</a:t>
            </a:r>
            <a:r>
              <a:rPr lang="en-US" altLang="zh-CN" sz="3200" dirty="0">
                <a:solidFill>
                  <a:srgbClr val="FF0000"/>
                </a:solidFill>
              </a:rPr>
              <a:t>(</a:t>
            </a:r>
            <a:r>
              <a:rPr lang="en-US" altLang="zh-CN" sz="3200" dirty="0" err="1">
                <a:solidFill>
                  <a:srgbClr val="FF0000"/>
                </a:solidFill>
              </a:rPr>
              <a:t>myCell</a:t>
            </a:r>
            <a:r>
              <a:rPr lang="en-US" altLang="zh-CN" sz="32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zh-CN" sz="3200" dirty="0" err="1">
                <a:solidFill>
                  <a:srgbClr val="FF0000"/>
                </a:solidFill>
              </a:rPr>
              <a:t>ans</a:t>
            </a:r>
            <a:r>
              <a:rPr lang="en-US" altLang="zh-CN" sz="3200" dirty="0">
                <a:solidFill>
                  <a:srgbClr val="FF0000"/>
                </a:solidFill>
              </a:rPr>
              <a:t> =     2     2</a:t>
            </a:r>
          </a:p>
          <a:p>
            <a:r>
              <a:rPr lang="en-US" altLang="zh-CN" sz="3200" dirty="0">
                <a:solidFill>
                  <a:srgbClr val="FF0000"/>
                </a:solidFill>
              </a:rPr>
              <a:t>&gt;&gt; </a:t>
            </a:r>
            <a:r>
              <a:rPr lang="en-US" altLang="zh-CN" sz="3200" dirty="0" err="1">
                <a:solidFill>
                  <a:srgbClr val="0070C0"/>
                </a:solidFill>
              </a:rPr>
              <a:t>ndims</a:t>
            </a:r>
            <a:r>
              <a:rPr lang="en-US" altLang="zh-CN" sz="3200" dirty="0">
                <a:solidFill>
                  <a:srgbClr val="FF0000"/>
                </a:solidFill>
              </a:rPr>
              <a:t>(</a:t>
            </a:r>
            <a:r>
              <a:rPr lang="en-US" altLang="zh-CN" sz="3200" dirty="0" err="1">
                <a:solidFill>
                  <a:srgbClr val="FF0000"/>
                </a:solidFill>
              </a:rPr>
              <a:t>myCell</a:t>
            </a:r>
            <a:r>
              <a:rPr lang="en-US" altLang="zh-CN" sz="32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zh-CN" sz="3200" dirty="0" err="1">
                <a:solidFill>
                  <a:srgbClr val="FF0000"/>
                </a:solidFill>
              </a:rPr>
              <a:t>ans</a:t>
            </a:r>
            <a:r>
              <a:rPr lang="en-US" altLang="zh-CN" sz="3200" dirty="0">
                <a:solidFill>
                  <a:srgbClr val="FF0000"/>
                </a:solidFill>
              </a:rPr>
              <a:t> =     2</a:t>
            </a:r>
          </a:p>
          <a:p>
            <a:r>
              <a:rPr lang="en-US" altLang="zh-CN" sz="3200" dirty="0">
                <a:solidFill>
                  <a:srgbClr val="FF0000"/>
                </a:solidFill>
              </a:rPr>
              <a:t>&gt;&gt; </a:t>
            </a:r>
            <a:r>
              <a:rPr lang="en-US" altLang="zh-CN" sz="3200" dirty="0" err="1">
                <a:solidFill>
                  <a:srgbClr val="0070C0"/>
                </a:solidFill>
              </a:rPr>
              <a:t>numel</a:t>
            </a:r>
            <a:r>
              <a:rPr lang="en-US" altLang="zh-CN" sz="3200" dirty="0">
                <a:solidFill>
                  <a:srgbClr val="FF0000"/>
                </a:solidFill>
              </a:rPr>
              <a:t>(</a:t>
            </a:r>
            <a:r>
              <a:rPr lang="en-US" altLang="zh-CN" sz="3200" dirty="0" err="1">
                <a:solidFill>
                  <a:srgbClr val="FF0000"/>
                </a:solidFill>
              </a:rPr>
              <a:t>myCell</a:t>
            </a:r>
            <a:r>
              <a:rPr lang="en-US" altLang="zh-CN" sz="32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zh-CN" sz="3200" dirty="0" err="1">
                <a:solidFill>
                  <a:srgbClr val="FF0000"/>
                </a:solidFill>
              </a:rPr>
              <a:t>ans</a:t>
            </a:r>
            <a:r>
              <a:rPr lang="en-US" altLang="zh-CN" sz="3200" dirty="0">
                <a:solidFill>
                  <a:srgbClr val="FF0000"/>
                </a:solidFill>
              </a:rPr>
              <a:t> =     4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51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831080" cy="1771015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有</a:t>
            </a:r>
            <a:r>
              <a:rPr lang="en-US" altLang="zh-CN" sz="3600" dirty="0"/>
              <a:t>2</a:t>
            </a:r>
            <a:r>
              <a:rPr lang="zh-CN" altLang="en-US" sz="3600" dirty="0"/>
              <a:t>种动态创建方式：</a:t>
            </a:r>
            <a:endParaRPr lang="en-US" altLang="zh-CN" sz="3600" dirty="0"/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en-US" altLang="zh-CN" sz="3600" dirty="0"/>
              <a:t>A</a:t>
            </a:r>
            <a:r>
              <a:rPr lang="en-US" altLang="zh-CN" sz="3600" b="1" dirty="0">
                <a:solidFill>
                  <a:srgbClr val="FF0000"/>
                </a:solidFill>
              </a:rPr>
              <a:t>(</a:t>
            </a:r>
            <a:r>
              <a:rPr lang="en-US" altLang="zh-CN" sz="3600" dirty="0" err="1"/>
              <a:t>i</a:t>
            </a:r>
            <a:r>
              <a:rPr lang="en-US" altLang="zh-CN" sz="3600" dirty="0"/>
              <a:t>, j</a:t>
            </a:r>
            <a:r>
              <a:rPr lang="en-US" altLang="zh-CN" sz="3600" b="1" dirty="0">
                <a:solidFill>
                  <a:srgbClr val="FF0000"/>
                </a:solidFill>
              </a:rPr>
              <a:t>) </a:t>
            </a:r>
            <a:r>
              <a:rPr lang="en-US" altLang="zh-CN" sz="3600" dirty="0"/>
              <a:t>= </a:t>
            </a:r>
            <a:r>
              <a:rPr lang="en-US" altLang="zh-CN" sz="3600" b="1" dirty="0">
                <a:solidFill>
                  <a:srgbClr val="FF0000"/>
                </a:solidFill>
              </a:rPr>
              <a:t>{</a:t>
            </a:r>
            <a:r>
              <a:rPr lang="en-US" altLang="zh-CN" sz="3600" dirty="0"/>
              <a:t> xxx </a:t>
            </a:r>
            <a:r>
              <a:rPr lang="en-US" altLang="zh-CN" sz="3600" b="1" dirty="0">
                <a:solidFill>
                  <a:srgbClr val="FF0000"/>
                </a:solidFill>
              </a:rPr>
              <a:t>}</a:t>
            </a:r>
            <a:endParaRPr lang="zh-CN" altLang="en-US" sz="3600" b="1" dirty="0">
              <a:solidFill>
                <a:srgbClr val="FF0000"/>
              </a:solidFill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en-US" altLang="zh-CN" sz="3600" dirty="0"/>
              <a:t>A</a:t>
            </a:r>
            <a:r>
              <a:rPr lang="en-US" altLang="zh-CN" sz="3600" b="1" dirty="0">
                <a:solidFill>
                  <a:srgbClr val="FF0000"/>
                </a:solidFill>
              </a:rPr>
              <a:t>{</a:t>
            </a:r>
            <a:r>
              <a:rPr lang="en-US" altLang="zh-CN" sz="3600" dirty="0" err="1"/>
              <a:t>i</a:t>
            </a:r>
            <a:r>
              <a:rPr lang="en-US" altLang="zh-CN" sz="3600" dirty="0"/>
              <a:t>, j</a:t>
            </a:r>
            <a:r>
              <a:rPr lang="en-US" altLang="zh-CN" sz="3600" b="1" dirty="0">
                <a:solidFill>
                  <a:srgbClr val="FF0000"/>
                </a:solidFill>
              </a:rPr>
              <a:t>}</a:t>
            </a:r>
            <a:r>
              <a:rPr lang="en-US" altLang="zh-CN" sz="3600" dirty="0"/>
              <a:t> = xxx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Cell Array</a:t>
            </a:r>
            <a:r>
              <a:rPr lang="zh-CN" altLang="en-US" sz="3600" dirty="0"/>
              <a:t>创建方法</a:t>
            </a:r>
            <a:r>
              <a:rPr lang="en-US" altLang="zh-CN" sz="3600" dirty="0"/>
              <a:t>2</a:t>
            </a:r>
            <a:r>
              <a:rPr lang="zh-CN" altLang="en-US" sz="3600" dirty="0"/>
              <a:t>：</a:t>
            </a:r>
            <a:r>
              <a:rPr lang="zh-CN" altLang="en-US" sz="3600" dirty="0">
                <a:solidFill>
                  <a:srgbClr val="FF0000"/>
                </a:solidFill>
              </a:rPr>
              <a:t>动态</a:t>
            </a:r>
            <a:r>
              <a:rPr lang="zh-CN" altLang="en-US" sz="3600" dirty="0"/>
              <a:t>创建</a:t>
            </a:r>
          </a:p>
        </p:txBody>
      </p:sp>
    </p:spTree>
    <p:extLst>
      <p:ext uri="{BB962C8B-B14F-4D97-AF65-F5344CB8AC3E}">
        <p14:creationId xmlns:p14="http://schemas.microsoft.com/office/powerpoint/2010/main" val="2979364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20587" y="1036059"/>
            <a:ext cx="498910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/>
              <a:t>&gt;&gt; A</a:t>
            </a:r>
            <a:r>
              <a:rPr lang="en-US" altLang="zh-CN" sz="2400" b="1">
                <a:solidFill>
                  <a:srgbClr val="FF0000"/>
                </a:solidFill>
              </a:rPr>
              <a:t>(</a:t>
            </a:r>
            <a:r>
              <a:rPr lang="en-US" altLang="zh-CN" sz="2400" b="1"/>
              <a:t>1,1</a:t>
            </a:r>
            <a:r>
              <a:rPr lang="en-US" altLang="zh-CN" sz="2400" b="1">
                <a:solidFill>
                  <a:srgbClr val="FF0000"/>
                </a:solidFill>
              </a:rPr>
              <a:t>)</a:t>
            </a:r>
            <a:r>
              <a:rPr lang="en-US" altLang="zh-CN" sz="2400" b="1"/>
              <a:t>=</a:t>
            </a:r>
            <a:r>
              <a:rPr lang="en-US" altLang="zh-CN" sz="2400" b="1">
                <a:solidFill>
                  <a:srgbClr val="FF0000"/>
                </a:solidFill>
              </a:rPr>
              <a:t>{</a:t>
            </a:r>
            <a:r>
              <a:rPr lang="en-US" altLang="zh-CN" sz="2400" b="1"/>
              <a:t>[1 2 3; 4 5 6; 7 8 9]</a:t>
            </a:r>
            <a:r>
              <a:rPr lang="en-US" altLang="zh-CN" sz="2400" b="1">
                <a:solidFill>
                  <a:srgbClr val="FF0000"/>
                </a:solidFill>
              </a:rPr>
              <a:t>}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/>
              <a:t>A =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/>
              <a:t>    [3x3 double]</a:t>
            </a:r>
          </a:p>
        </p:txBody>
      </p:sp>
      <p:sp>
        <p:nvSpPr>
          <p:cNvPr id="8" name="矩形 7"/>
          <p:cNvSpPr/>
          <p:nvPr/>
        </p:nvSpPr>
        <p:spPr>
          <a:xfrm>
            <a:off x="6374293" y="1013833"/>
            <a:ext cx="50894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&gt;&gt; A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/>
              <a:t>2,1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en-US" altLang="zh-CN" sz="2400" b="1" dirty="0"/>
              <a:t>=</a:t>
            </a:r>
            <a:r>
              <a:rPr lang="en-US" altLang="zh-CN" sz="2400" b="1" dirty="0">
                <a:solidFill>
                  <a:srgbClr val="FF0000"/>
                </a:solidFill>
              </a:rPr>
              <a:t>{</a:t>
            </a:r>
            <a:r>
              <a:rPr lang="en-US" altLang="zh-CN" sz="2400" b="1" dirty="0"/>
              <a:t>single(12:-2:0)</a:t>
            </a:r>
            <a:r>
              <a:rPr lang="en-US" altLang="zh-CN" sz="2400" b="1" dirty="0">
                <a:solidFill>
                  <a:srgbClr val="FF0000"/>
                </a:solidFill>
              </a:rPr>
              <a:t>}</a:t>
            </a:r>
          </a:p>
          <a:p>
            <a:pPr lvl="1"/>
            <a:r>
              <a:rPr lang="en-US" altLang="zh-CN" sz="2400" b="1" dirty="0"/>
              <a:t>A = </a:t>
            </a:r>
          </a:p>
          <a:p>
            <a:pPr lvl="1"/>
            <a:r>
              <a:rPr lang="en-US" altLang="zh-CN" sz="2400" b="1" dirty="0"/>
              <a:t>    [3x3 double]    [     2]</a:t>
            </a:r>
          </a:p>
          <a:p>
            <a:pPr lvl="1"/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FF0000"/>
                </a:solidFill>
              </a:rPr>
              <a:t>[1x7 double]    </a:t>
            </a:r>
            <a:r>
              <a:rPr lang="en-US" altLang="zh-CN" sz="2400" b="1" dirty="0"/>
              <a:t>'string'</a:t>
            </a:r>
          </a:p>
          <a:p>
            <a:r>
              <a:rPr lang="en-US" altLang="zh-CN" sz="2400" b="1" dirty="0"/>
              <a:t>&gt;&gt; A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/>
              <a:t>1,2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en-US" altLang="zh-CN" sz="2400" b="1" dirty="0"/>
              <a:t>=</a:t>
            </a:r>
            <a:r>
              <a:rPr lang="en-US" altLang="zh-CN" sz="2400" b="1" dirty="0">
                <a:solidFill>
                  <a:srgbClr val="FF0000"/>
                </a:solidFill>
              </a:rPr>
              <a:t>{</a:t>
            </a:r>
            <a:r>
              <a:rPr lang="en-US" altLang="zh-CN" sz="2400" b="1" dirty="0"/>
              <a:t>2+3i</a:t>
            </a:r>
            <a:r>
              <a:rPr lang="en-US" altLang="zh-CN" sz="2400" b="1" dirty="0">
                <a:solidFill>
                  <a:srgbClr val="FF0000"/>
                </a:solidFill>
              </a:rPr>
              <a:t>}</a:t>
            </a:r>
          </a:p>
          <a:p>
            <a:pPr lvl="1"/>
            <a:r>
              <a:rPr lang="en-US" altLang="zh-CN" sz="2400" b="1" dirty="0"/>
              <a:t>A = </a:t>
            </a:r>
          </a:p>
          <a:p>
            <a:pPr lvl="1"/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FF0000"/>
                </a:solidFill>
              </a:rPr>
              <a:t>[3x3 double]    </a:t>
            </a:r>
            <a:r>
              <a:rPr lang="en-US" altLang="zh-CN" sz="2400" b="1" dirty="0">
                <a:solidFill>
                  <a:srgbClr val="00B050"/>
                </a:solidFill>
              </a:rPr>
              <a:t>[2.0000 + 3.0000i]</a:t>
            </a:r>
          </a:p>
          <a:p>
            <a:pPr lvl="1"/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00B0F0"/>
                </a:solidFill>
              </a:rPr>
              <a:t>[1x7 single  ]    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'string'          </a:t>
            </a:r>
          </a:p>
          <a:p>
            <a:r>
              <a:rPr lang="en-US" altLang="zh-CN" sz="2400" b="1" dirty="0"/>
              <a:t>&gt;&gt; class(A)</a:t>
            </a:r>
          </a:p>
          <a:p>
            <a:pPr lvl="1"/>
            <a:r>
              <a:rPr lang="en-US" altLang="zh-CN" sz="2400" b="1" dirty="0" err="1"/>
              <a:t>ans</a:t>
            </a:r>
            <a:r>
              <a:rPr lang="en-US" altLang="zh-CN" sz="2400" b="1" dirty="0"/>
              <a:t> = </a:t>
            </a:r>
            <a:r>
              <a:rPr lang="en-US" altLang="zh-CN" sz="2400" b="1" dirty="0">
                <a:solidFill>
                  <a:srgbClr val="FF0000"/>
                </a:solidFill>
              </a:rPr>
              <a:t>cell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0587" y="2121829"/>
            <a:ext cx="37356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&gt;&gt; A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/>
              <a:t>2,2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en-US" altLang="zh-CN" sz="2400" b="1" dirty="0"/>
              <a:t>=</a:t>
            </a:r>
            <a:r>
              <a:rPr lang="en-US" altLang="zh-CN" sz="2400" b="1" dirty="0">
                <a:solidFill>
                  <a:srgbClr val="FF0000"/>
                </a:solidFill>
              </a:rPr>
              <a:t>{</a:t>
            </a:r>
            <a:r>
              <a:rPr lang="en-US" altLang="zh-CN" sz="2400" b="1" dirty="0"/>
              <a:t>'string'</a:t>
            </a:r>
            <a:r>
              <a:rPr lang="en-US" altLang="zh-CN" sz="2400" b="1" dirty="0">
                <a:solidFill>
                  <a:srgbClr val="FF0000"/>
                </a:solidFill>
              </a:rPr>
              <a:t>}</a:t>
            </a:r>
          </a:p>
          <a:p>
            <a:pPr lvl="1"/>
            <a:r>
              <a:rPr lang="en-US" altLang="zh-CN" sz="2400" b="1" dirty="0"/>
              <a:t>A = </a:t>
            </a:r>
          </a:p>
          <a:p>
            <a:pPr lvl="1"/>
            <a:r>
              <a:rPr lang="en-US" altLang="zh-CN" sz="2400" b="1" dirty="0"/>
              <a:t>    [3x3 double]          []</a:t>
            </a:r>
          </a:p>
          <a:p>
            <a:pPr lvl="1"/>
            <a:r>
              <a:rPr lang="en-US" altLang="zh-CN" sz="2400" b="1" dirty="0"/>
              <a:t>    []                       </a:t>
            </a:r>
            <a:r>
              <a:rPr lang="en-US" altLang="zh-CN" sz="2400" b="1" dirty="0">
                <a:solidFill>
                  <a:srgbClr val="FF0000"/>
                </a:solidFill>
              </a:rPr>
              <a:t>'string'</a:t>
            </a:r>
          </a:p>
        </p:txBody>
      </p:sp>
      <p:sp>
        <p:nvSpPr>
          <p:cNvPr id="10" name="矩形 9"/>
          <p:cNvSpPr/>
          <p:nvPr/>
        </p:nvSpPr>
        <p:spPr>
          <a:xfrm>
            <a:off x="610313" y="4676640"/>
            <a:ext cx="52833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&gt;&gt; A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/>
              <a:t>1,2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en-US" altLang="zh-CN" sz="2400" b="1" dirty="0"/>
              <a:t>=</a:t>
            </a:r>
            <a:r>
              <a:rPr lang="en-US" altLang="zh-CN" sz="2400" b="1" dirty="0">
                <a:solidFill>
                  <a:srgbClr val="FF0000"/>
                </a:solidFill>
              </a:rPr>
              <a:t>{</a:t>
            </a:r>
            <a:r>
              <a:rPr lang="en-US" altLang="zh-CN" sz="2400" b="1" dirty="0"/>
              <a:t>2</a:t>
            </a:r>
            <a:r>
              <a:rPr lang="en-US" altLang="zh-CN" sz="2400" b="1" dirty="0">
                <a:solidFill>
                  <a:srgbClr val="FF0000"/>
                </a:solidFill>
              </a:rPr>
              <a:t>}</a:t>
            </a:r>
          </a:p>
          <a:p>
            <a:pPr lvl="1"/>
            <a:r>
              <a:rPr lang="en-US" altLang="zh-CN" sz="2400" b="1" dirty="0"/>
              <a:t>A = </a:t>
            </a:r>
          </a:p>
          <a:p>
            <a:pPr lvl="1"/>
            <a:r>
              <a:rPr lang="en-US" altLang="zh-CN" sz="2400" b="1" dirty="0"/>
              <a:t>    [3x3 double]    </a:t>
            </a:r>
            <a:r>
              <a:rPr lang="en-US" altLang="zh-CN" sz="2400" b="1" dirty="0">
                <a:solidFill>
                  <a:srgbClr val="FF0000"/>
                </a:solidFill>
              </a:rPr>
              <a:t>[     2]</a:t>
            </a:r>
          </a:p>
          <a:p>
            <a:pPr lvl="1"/>
            <a:r>
              <a:rPr lang="en-US" altLang="zh-CN" sz="2400" b="1" dirty="0"/>
              <a:t>     []                       'string'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620587" y="3748018"/>
            <a:ext cx="6096000" cy="830997"/>
            <a:chOff x="620587" y="3667457"/>
            <a:chExt cx="6096000" cy="830997"/>
          </a:xfrm>
        </p:grpSpPr>
        <p:sp>
          <p:nvSpPr>
            <p:cNvPr id="12" name="矩形 11"/>
            <p:cNvSpPr/>
            <p:nvPr/>
          </p:nvSpPr>
          <p:spPr>
            <a:xfrm>
              <a:off x="620587" y="3667457"/>
              <a:ext cx="6096000" cy="83099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en-US" sz="2400"/>
                <a:t>&gt;&gt; A(2,2)='string'</a:t>
              </a:r>
            </a:p>
            <a:p>
              <a:r>
                <a:rPr lang="zh-CN" altLang="en-US" sz="2400">
                  <a:solidFill>
                    <a:srgbClr val="FF0000"/>
                  </a:solidFill>
                </a:rPr>
                <a:t>Conversion to cell from char is not possible.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3341" y="3775265"/>
              <a:ext cx="243593" cy="237183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/>
        </p:nvSpPr>
        <p:spPr>
          <a:xfrm>
            <a:off x="4756849" y="5333333"/>
            <a:ext cx="69728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/>
              <a:t>Cell </a:t>
            </a:r>
            <a:r>
              <a:rPr lang="zh-CN" altLang="en-US" sz="2400"/>
              <a:t>Arrays can contain data of </a:t>
            </a:r>
            <a:r>
              <a:rPr lang="zh-CN" altLang="en-US" sz="2400">
                <a:solidFill>
                  <a:srgbClr val="FF0000"/>
                </a:solidFill>
              </a:rPr>
              <a:t>varying types and sizes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591270" y="378905"/>
            <a:ext cx="61546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Cell Array</a:t>
            </a:r>
            <a:r>
              <a:rPr lang="zh-CN" altLang="en-US" sz="2800" dirty="0"/>
              <a:t>动态创建方式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en-US" altLang="zh-CN" sz="2800" dirty="0"/>
              <a:t>A(</a:t>
            </a:r>
            <a:r>
              <a:rPr lang="en-US" altLang="zh-CN" sz="2800" dirty="0" err="1"/>
              <a:t>i,j</a:t>
            </a:r>
            <a:r>
              <a:rPr lang="en-US" altLang="zh-CN" sz="2800" dirty="0"/>
              <a:t>) = { xxx }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9233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/>
      <p:bldP spid="9" grpId="0"/>
      <p:bldP spid="10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69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动态创建方式</a:t>
            </a:r>
            <a:r>
              <a:rPr lang="en-US" altLang="zh-CN" sz="3600" dirty="0"/>
              <a:t>2</a:t>
            </a:r>
            <a:r>
              <a:rPr lang="zh-CN" altLang="en-US" sz="3600" dirty="0"/>
              <a:t>：</a:t>
            </a:r>
            <a:r>
              <a:rPr lang="en-US" altLang="zh-CN" sz="3600" dirty="0"/>
              <a:t>A{</a:t>
            </a:r>
            <a:r>
              <a:rPr lang="en-US" altLang="zh-CN" sz="3600" dirty="0" err="1"/>
              <a:t>i,j</a:t>
            </a:r>
            <a:r>
              <a:rPr lang="en-US" altLang="zh-CN" sz="3600" dirty="0"/>
              <a:t>} = xxx</a:t>
            </a:r>
            <a:endParaRPr lang="zh-CN" altLang="en-US" sz="3600" dirty="0"/>
          </a:p>
        </p:txBody>
      </p:sp>
      <p:sp>
        <p:nvSpPr>
          <p:cNvPr id="4" name="内容占位符 3"/>
          <p:cNvSpPr>
            <a:spLocks noGrp="1" noChangeArrowheads="1"/>
          </p:cNvSpPr>
          <p:nvPr>
            <p:ph idx="1"/>
          </p:nvPr>
        </p:nvSpPr>
        <p:spPr bwMode="auto">
          <a:xfrm>
            <a:off x="1822269" y="1140824"/>
            <a:ext cx="6895011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&gt;&gt; A</a:t>
            </a:r>
            <a:r>
              <a:rPr lang="en-US" altLang="zh-CN" sz="3200" b="1" dirty="0">
                <a:solidFill>
                  <a:srgbClr val="FF0000"/>
                </a:solidFill>
              </a:rPr>
              <a:t>{</a:t>
            </a:r>
            <a:r>
              <a:rPr lang="en-US" altLang="zh-CN" sz="3200" b="1" dirty="0"/>
              <a:t>1,1</a:t>
            </a:r>
            <a:r>
              <a:rPr lang="en-US" altLang="zh-CN" sz="3200" b="1" dirty="0">
                <a:solidFill>
                  <a:srgbClr val="FF0000"/>
                </a:solidFill>
              </a:rPr>
              <a:t>} </a:t>
            </a:r>
            <a:r>
              <a:rPr lang="en-US" altLang="zh-CN" sz="3200" b="1" dirty="0"/>
              <a:t>= [1 2 3;4 5 6;7 8 9];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&gt;&gt; A</a:t>
            </a:r>
            <a:r>
              <a:rPr lang="en-US" altLang="zh-CN" sz="3200" b="1" dirty="0">
                <a:solidFill>
                  <a:srgbClr val="FF0000"/>
                </a:solidFill>
              </a:rPr>
              <a:t>{</a:t>
            </a:r>
            <a:r>
              <a:rPr lang="en-US" altLang="zh-CN" sz="3200" b="1" dirty="0"/>
              <a:t>1,2</a:t>
            </a:r>
            <a:r>
              <a:rPr lang="en-US" altLang="zh-CN" sz="3200" b="1" dirty="0">
                <a:solidFill>
                  <a:srgbClr val="FF0000"/>
                </a:solidFill>
              </a:rPr>
              <a:t>} </a:t>
            </a:r>
            <a:r>
              <a:rPr lang="en-US" altLang="zh-CN" sz="3200" b="1" dirty="0"/>
              <a:t>= 2+3i;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&gt;&gt; A</a:t>
            </a:r>
            <a:r>
              <a:rPr lang="en-US" altLang="zh-CN" sz="3200" b="1" dirty="0">
                <a:solidFill>
                  <a:srgbClr val="FF0000"/>
                </a:solidFill>
              </a:rPr>
              <a:t>{</a:t>
            </a:r>
            <a:r>
              <a:rPr lang="en-US" altLang="zh-CN" sz="3200" b="1" dirty="0"/>
              <a:t>2,1</a:t>
            </a:r>
            <a:r>
              <a:rPr lang="en-US" altLang="zh-CN" sz="3200" b="1" dirty="0">
                <a:solidFill>
                  <a:srgbClr val="FF0000"/>
                </a:solidFill>
              </a:rPr>
              <a:t>} </a:t>
            </a:r>
            <a:r>
              <a:rPr lang="en-US" altLang="zh-CN" sz="3200" b="1" dirty="0"/>
              <a:t>= single(12:-2:0);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&gt;&gt; A</a:t>
            </a:r>
            <a:r>
              <a:rPr lang="en-US" altLang="zh-CN" sz="3200" b="1" dirty="0">
                <a:solidFill>
                  <a:srgbClr val="FF0000"/>
                </a:solidFill>
              </a:rPr>
              <a:t>{</a:t>
            </a:r>
            <a:r>
              <a:rPr lang="en-US" altLang="zh-CN" sz="3200" b="1" dirty="0"/>
              <a:t>2,2</a:t>
            </a:r>
            <a:r>
              <a:rPr lang="en-US" altLang="zh-CN" sz="3200" b="1" dirty="0">
                <a:solidFill>
                  <a:srgbClr val="FF0000"/>
                </a:solidFill>
              </a:rPr>
              <a:t>} </a:t>
            </a:r>
            <a:r>
              <a:rPr lang="en-US" altLang="zh-CN" sz="3200" b="1" dirty="0"/>
              <a:t>= 'string';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&gt;&gt; 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A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    [3x3 double]    [2.0000 + 3.0000i]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    [1x7 single ]    'string'   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&gt;&gt; class(A)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 err="1"/>
              <a:t>ans</a:t>
            </a:r>
            <a:r>
              <a:rPr lang="en-US" altLang="zh-CN" sz="3200" b="1" dirty="0"/>
              <a:t>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/>
              <a:t>cell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35454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91046" y="2107338"/>
            <a:ext cx="8455631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/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如何创建？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How to Create a Cell Array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如何访问？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in a Cell Array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474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7320"/>
          </a:xfrm>
        </p:spPr>
        <p:txBody>
          <a:bodyPr/>
          <a:lstStyle/>
          <a:p>
            <a:r>
              <a:rPr lang="en-US" altLang="zh-CN" dirty="0"/>
              <a:t>Cell Array</a:t>
            </a:r>
            <a:r>
              <a:rPr lang="zh-CN" altLang="en-US" dirty="0"/>
              <a:t>的访问</a:t>
            </a:r>
            <a:r>
              <a:rPr lang="zh-CN" altLang="en-US" sz="3200" dirty="0"/>
              <a:t>（</a:t>
            </a:r>
            <a:r>
              <a:rPr lang="en-US" altLang="zh-CN" sz="3200" dirty="0"/>
              <a:t>Access Data in a Cell Array</a:t>
            </a:r>
            <a:r>
              <a:rPr lang="zh-CN" altLang="en-US" sz="3200" dirty="0"/>
              <a:t>）</a:t>
            </a:r>
            <a:endParaRPr lang="zh-CN" altLang="en-US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79581" y="1428310"/>
            <a:ext cx="9073831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There are two ways to refer to the elements of a cell array.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zh-CN" b="1" dirty="0"/>
              <a:t>1.</a:t>
            </a:r>
            <a:r>
              <a:rPr lang="en-US" altLang="zh-CN" b="1" dirty="0">
                <a:solidFill>
                  <a:srgbClr val="FF0000"/>
                </a:solidFill>
              </a:rPr>
              <a:t>Cell Indexing(</a:t>
            </a:r>
            <a:r>
              <a:rPr lang="zh-CN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单元索引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en-US" altLang="zh-CN" b="1" dirty="0"/>
              <a:t>with Smooth </a:t>
            </a:r>
            <a:r>
              <a:rPr lang="en-US" altLang="zh-CN" b="1" dirty="0">
                <a:solidFill>
                  <a:srgbClr val="FF0000"/>
                </a:solidFill>
              </a:rPr>
              <a:t>Parentheses, ()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Cell array indices in smooth parentheses refer to </a:t>
            </a:r>
            <a:r>
              <a:rPr lang="en-US" altLang="zh-CN" dirty="0">
                <a:solidFill>
                  <a:srgbClr val="FF0000"/>
                </a:solidFill>
              </a:rPr>
              <a:t>sets</a:t>
            </a:r>
            <a:r>
              <a:rPr lang="en-US" altLang="zh-CN" dirty="0"/>
              <a:t> of cells.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zh-CN" b="1" dirty="0"/>
              <a:t>2.</a:t>
            </a:r>
            <a:r>
              <a:rPr lang="en-US" altLang="zh-CN" b="1" dirty="0">
                <a:solidFill>
                  <a:srgbClr val="FF0000"/>
                </a:solidFill>
              </a:rPr>
              <a:t>Content Indexing(</a:t>
            </a:r>
            <a:r>
              <a:rPr lang="zh-CN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内容索引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en-US" altLang="zh-CN" b="1" dirty="0"/>
              <a:t>with Curly </a:t>
            </a:r>
            <a:r>
              <a:rPr lang="en-US" altLang="zh-CN" b="1" dirty="0">
                <a:solidFill>
                  <a:srgbClr val="FF0000"/>
                </a:solidFill>
              </a:rPr>
              <a:t>Braces, {}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Access the </a:t>
            </a:r>
            <a:r>
              <a:rPr lang="en-US" altLang="zh-CN" dirty="0">
                <a:solidFill>
                  <a:srgbClr val="FF0000"/>
                </a:solidFill>
              </a:rPr>
              <a:t>contents</a:t>
            </a:r>
            <a:r>
              <a:rPr lang="en-US" altLang="zh-CN" dirty="0"/>
              <a:t> of cells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the numbers, text, or other data within the cells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859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164829"/>
            <a:ext cx="5267325" cy="549274"/>
          </a:xfrm>
        </p:spPr>
        <p:txBody>
          <a:bodyPr>
            <a:noAutofit/>
          </a:bodyPr>
          <a:lstStyle/>
          <a:p>
            <a:r>
              <a:rPr lang="en-US" altLang="zh-CN" sz="3200" b="1" dirty="0"/>
              <a:t>Cell Array</a:t>
            </a:r>
            <a:r>
              <a:rPr lang="zh-CN" altLang="en-US" sz="3200" b="1" dirty="0"/>
              <a:t>的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种访问索引：</a:t>
            </a:r>
          </a:p>
        </p:txBody>
      </p:sp>
      <p:sp>
        <p:nvSpPr>
          <p:cNvPr id="4" name="内容占位符 3"/>
          <p:cNvSpPr>
            <a:spLocks noGrp="1" noChangeArrowheads="1"/>
          </p:cNvSpPr>
          <p:nvPr>
            <p:ph idx="1"/>
          </p:nvPr>
        </p:nvSpPr>
        <p:spPr bwMode="auto">
          <a:xfrm>
            <a:off x="559527" y="809898"/>
            <a:ext cx="49530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1,1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=[</a:t>
            </a:r>
            <a:r>
              <a:rPr lang="en-US" altLang="zh-CN" b="1" dirty="0">
                <a:solidFill>
                  <a:srgbClr val="7030A0"/>
                </a:solidFill>
              </a:rPr>
              <a:t>1 2 3;4 5 6;7 8 9</a:t>
            </a:r>
            <a:r>
              <a:rPr lang="en-US" altLang="zh-CN" b="1" dirty="0"/>
              <a:t>];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1,2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=2+3i;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2,1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=single(12:-2:0);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2,2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='string';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B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00B0F0"/>
                </a:solidFill>
              </a:rPr>
              <a:t>[3x3 double]</a:t>
            </a:r>
            <a:r>
              <a:rPr lang="en-US" altLang="zh-CN" b="1" dirty="0"/>
              <a:t>    [2.0 + 3.0i]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[1x7 single ]    'string</a:t>
            </a:r>
            <a:endParaRPr lang="zh-CN" altLang="en-US" b="1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329647" y="1327872"/>
            <a:ext cx="246452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单元索引：</a:t>
            </a:r>
            <a:endParaRPr lang="fr-FR" altLang="zh-CN" b="1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b="1" dirty="0"/>
              <a:t>&gt;&gt; </a:t>
            </a:r>
            <a:r>
              <a:rPr lang="en-US" altLang="zh-CN" b="1" dirty="0"/>
              <a:t>x=</a:t>
            </a:r>
            <a:r>
              <a:rPr lang="fr-FR" altLang="zh-CN" b="1" dirty="0"/>
              <a:t>B</a:t>
            </a:r>
            <a:r>
              <a:rPr lang="fr-FR" altLang="zh-CN" b="1" dirty="0">
                <a:solidFill>
                  <a:srgbClr val="FF0000"/>
                </a:solidFill>
              </a:rPr>
              <a:t>(</a:t>
            </a:r>
            <a:r>
              <a:rPr lang="fr-FR" altLang="zh-CN" b="1" dirty="0"/>
              <a:t>1,1</a:t>
            </a:r>
            <a:r>
              <a:rPr lang="fr-FR" altLang="zh-CN" b="1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b="1" dirty="0"/>
              <a:t>x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b="1" dirty="0"/>
              <a:t>    </a:t>
            </a:r>
            <a:r>
              <a:rPr lang="fr-FR" altLang="zh-CN" b="1" dirty="0">
                <a:solidFill>
                  <a:srgbClr val="00B0F0"/>
                </a:solidFill>
              </a:rPr>
              <a:t>[3x3 double]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b="1" dirty="0"/>
              <a:t>&gt;&gt; class(</a:t>
            </a:r>
            <a:r>
              <a:rPr lang="en-US" altLang="zh-CN" b="1" dirty="0"/>
              <a:t>x</a:t>
            </a:r>
            <a:r>
              <a:rPr lang="fr-FR" altLang="zh-CN" b="1" dirty="0"/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b="1" dirty="0"/>
              <a:t>ans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b="1" dirty="0">
                <a:solidFill>
                  <a:srgbClr val="FF0000"/>
                </a:solidFill>
              </a:rPr>
              <a:t>cell</a:t>
            </a:r>
          </a:p>
        </p:txBody>
      </p:sp>
      <p:sp>
        <p:nvSpPr>
          <p:cNvPr id="6" name="矩形 5"/>
          <p:cNvSpPr/>
          <p:nvPr/>
        </p:nvSpPr>
        <p:spPr>
          <a:xfrm>
            <a:off x="8112034" y="1327872"/>
            <a:ext cx="2264229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内容索引：</a:t>
            </a:r>
            <a:endParaRPr lang="fr-FR" altLang="zh-CN" sz="28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fr-FR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&gt;&gt; y=B</a:t>
            </a:r>
            <a:r>
              <a:rPr lang="fr-FR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{</a:t>
            </a:r>
            <a:r>
              <a:rPr lang="fr-FR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1,1</a:t>
            </a:r>
            <a:r>
              <a:rPr lang="fr-FR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}</a:t>
            </a:r>
          </a:p>
          <a:p>
            <a:pPr>
              <a:spcBef>
                <a:spcPct val="0"/>
              </a:spcBef>
            </a:pPr>
            <a:r>
              <a:rPr lang="fr-FR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y =</a:t>
            </a:r>
          </a:p>
          <a:p>
            <a:pPr>
              <a:spcBef>
                <a:spcPct val="0"/>
              </a:spcBef>
            </a:pPr>
            <a:r>
              <a:rPr lang="fr-FR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    </a:t>
            </a:r>
            <a:r>
              <a:rPr lang="fr-FR" altLang="zh-CN" sz="2800" b="1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1     2     3</a:t>
            </a:r>
          </a:p>
          <a:p>
            <a:pPr>
              <a:spcBef>
                <a:spcPct val="0"/>
              </a:spcBef>
            </a:pPr>
            <a:r>
              <a:rPr lang="fr-FR" altLang="zh-CN" sz="2800" b="1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4     5     6</a:t>
            </a:r>
          </a:p>
          <a:p>
            <a:pPr>
              <a:spcBef>
                <a:spcPct val="0"/>
              </a:spcBef>
            </a:pPr>
            <a:r>
              <a:rPr lang="fr-FR" altLang="zh-CN" sz="2800" b="1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7     8     9</a:t>
            </a:r>
          </a:p>
          <a:p>
            <a:pPr>
              <a:spcBef>
                <a:spcPct val="0"/>
              </a:spcBef>
            </a:pPr>
            <a:r>
              <a:rPr lang="en-US" altLang="zh-CN" sz="2800" b="1" dirty="0">
                <a:latin typeface="Calibri" panose="020F0502020204030204" pitchFamily="34" charset="0"/>
              </a:rPr>
              <a:t>&gt;&gt; class(y)</a:t>
            </a:r>
          </a:p>
          <a:p>
            <a:pPr>
              <a:spcBef>
                <a:spcPct val="0"/>
              </a:spcBef>
            </a:pPr>
            <a:r>
              <a:rPr lang="en-US" altLang="zh-CN" sz="2800" b="1" dirty="0" err="1">
                <a:latin typeface="Calibri" panose="020F0502020204030204" pitchFamily="34" charset="0"/>
              </a:rPr>
              <a:t>ans</a:t>
            </a:r>
            <a:r>
              <a:rPr lang="en-US" altLang="zh-CN" sz="2800" b="1" dirty="0">
                <a:latin typeface="Calibri" panose="020F0502020204030204" pitchFamily="34" charset="0"/>
              </a:rPr>
              <a:t> =</a:t>
            </a:r>
          </a:p>
          <a:p>
            <a:pPr>
              <a:spcBef>
                <a:spcPct val="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double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35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743891" y="2699255"/>
            <a:ext cx="533971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&gt;&gt; B(1,1)(6)  %</a:t>
            </a:r>
            <a:r>
              <a:rPr lang="zh-CN" altLang="en-US" sz="3200" dirty="0"/>
              <a:t>错误</a:t>
            </a:r>
            <a:endParaRPr lang="en-US" altLang="zh-CN" sz="32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Error: ()-indexing must appear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last in an index expression. 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743891" y="671796"/>
            <a:ext cx="5148209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B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[3x3 double]    [2.0 + 3.0i]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[1x7 double]    'string' 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743891" y="4438193"/>
            <a:ext cx="396022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3200" dirty="0">
                <a:latin typeface="Calibri" panose="020F0502020204030204" pitchFamily="34" charset="0"/>
                <a:ea typeface="宋体" panose="02010600030101010101" pitchFamily="2" charset="-122"/>
              </a:rPr>
              <a:t>&gt;&gt; B{1,1}(6)  %</a:t>
            </a:r>
            <a:r>
              <a:rPr lang="zh-CN" altLang="en-US" sz="3200" dirty="0">
                <a:latin typeface="Calibri" panose="020F0502020204030204" pitchFamily="34" charset="0"/>
                <a:ea typeface="宋体" panose="02010600030101010101" pitchFamily="2" charset="-122"/>
              </a:rPr>
              <a:t>正确</a:t>
            </a:r>
            <a:endParaRPr lang="en-US" altLang="zh-CN" sz="32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3200" dirty="0" err="1">
                <a:latin typeface="Calibri" panose="020F0502020204030204" pitchFamily="34" charset="0"/>
                <a:ea typeface="宋体" panose="02010600030101010101" pitchFamily="2" charset="-122"/>
              </a:rPr>
              <a:t>ans</a:t>
            </a:r>
            <a:r>
              <a:rPr lang="en-US" altLang="zh-CN" sz="3200" dirty="0">
                <a:latin typeface="Calibri" panose="020F0502020204030204" pitchFamily="34" charset="0"/>
                <a:ea typeface="宋体" panose="02010600030101010101" pitchFamily="2" charset="-122"/>
              </a:rPr>
              <a:t> =</a:t>
            </a:r>
          </a:p>
          <a:p>
            <a:pPr>
              <a:spcBef>
                <a:spcPct val="0"/>
              </a:spcBef>
            </a:pPr>
            <a:r>
              <a:rPr lang="en-US" altLang="zh-CN" sz="3200" dirty="0">
                <a:latin typeface="Calibri" panose="020F0502020204030204" pitchFamily="34" charset="0"/>
                <a:ea typeface="宋体" panose="02010600030101010101" pitchFamily="2" charset="-122"/>
              </a:rPr>
              <a:t>     8</a:t>
            </a:r>
            <a:endParaRPr lang="zh-CN" altLang="en-US" sz="3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720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400800" cy="1010345"/>
          </a:xfrm>
        </p:spPr>
        <p:txBody>
          <a:bodyPr/>
          <a:lstStyle/>
          <a:p>
            <a:r>
              <a:rPr lang="en-US" altLang="zh-CN" dirty="0"/>
              <a:t>Cell Array</a:t>
            </a:r>
            <a:r>
              <a:rPr lang="zh-CN" altLang="en-US" dirty="0"/>
              <a:t>的单元赋值问题</a:t>
            </a:r>
          </a:p>
        </p:txBody>
      </p:sp>
      <p:sp>
        <p:nvSpPr>
          <p:cNvPr id="4" name="内容占位符 3"/>
          <p:cNvSpPr>
            <a:spLocks noGrp="1" noChangeArrowheads="1"/>
          </p:cNvSpPr>
          <p:nvPr>
            <p:ph idx="1"/>
          </p:nvPr>
        </p:nvSpPr>
        <p:spPr bwMode="auto">
          <a:xfrm>
            <a:off x="314325" y="1375470"/>
            <a:ext cx="479107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1,1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=[1 2 3;4 5 6;7 8 9];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1,2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=2+3i;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2,1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=single(12:-2:0);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2,2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='string';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B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[3x3 double]    [2.0 + 3.0i]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[1x7 single  ]    'string'</a:t>
            </a:r>
            <a:endParaRPr lang="zh-CN" altLang="en-US" b="1" dirty="0"/>
          </a:p>
        </p:txBody>
      </p:sp>
      <p:grpSp>
        <p:nvGrpSpPr>
          <p:cNvPr id="9" name="组合 8"/>
          <p:cNvGrpSpPr/>
          <p:nvPr/>
        </p:nvGrpSpPr>
        <p:grpSpPr>
          <a:xfrm>
            <a:off x="552450" y="3950395"/>
            <a:ext cx="4010025" cy="2309117"/>
            <a:chOff x="1076325" y="4400550"/>
            <a:chExt cx="4010025" cy="2309117"/>
          </a:xfrm>
        </p:grpSpPr>
        <p:sp>
          <p:nvSpPr>
            <p:cNvPr id="5" name="圆角矩形 4"/>
            <p:cNvSpPr/>
            <p:nvPr/>
          </p:nvSpPr>
          <p:spPr>
            <a:xfrm>
              <a:off x="3400425" y="4400550"/>
              <a:ext cx="1685925" cy="51435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云形标注 7"/>
            <p:cNvSpPr/>
            <p:nvPr/>
          </p:nvSpPr>
          <p:spPr>
            <a:xfrm>
              <a:off x="1076325" y="5499992"/>
              <a:ext cx="3571875" cy="1209675"/>
            </a:xfrm>
            <a:prstGeom prst="cloudCallout">
              <a:avLst>
                <a:gd name="adj1" fmla="val 14367"/>
                <a:gd name="adj2" fmla="val -104429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如何把该单元的内容修改成</a:t>
              </a:r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r>
                <a: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？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4887233" y="1590913"/>
            <a:ext cx="2576346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(1)</a:t>
            </a:r>
            <a:r>
              <a:rPr lang="zh-CN" altLang="en-US" sz="2800" dirty="0"/>
              <a:t>&gt;&gt; B{1,2}=2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(2)</a:t>
            </a:r>
            <a:r>
              <a:rPr lang="en-US" altLang="zh-CN" sz="2800" dirty="0"/>
              <a:t> &gt;&gt; B(1,2)={2}</a:t>
            </a:r>
          </a:p>
          <a:p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(3)</a:t>
            </a:r>
            <a:r>
              <a:rPr lang="en-US" altLang="zh-CN" sz="2800" dirty="0"/>
              <a:t> &gt;&gt; B(1,2)=2</a:t>
            </a:r>
          </a:p>
          <a:p>
            <a:endParaRPr lang="en-US" altLang="zh-CN" sz="2800" dirty="0"/>
          </a:p>
          <a:p>
            <a:endParaRPr lang="en-US" altLang="zh-CN" sz="2800" b="1" dirty="0">
              <a:solidFill>
                <a:srgbClr val="FF0000"/>
              </a:solidFill>
            </a:endParaRPr>
          </a:p>
          <a:p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(4)</a:t>
            </a:r>
            <a:r>
              <a:rPr lang="en-US" altLang="zh-CN" sz="2800" dirty="0"/>
              <a:t> &gt;&gt; B{1,2}={2}</a:t>
            </a:r>
            <a:endParaRPr lang="zh-CN" altLang="en-US" sz="28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7343775" y="4464745"/>
            <a:ext cx="4610100" cy="2308324"/>
            <a:chOff x="7343775" y="4464745"/>
            <a:chExt cx="4610100" cy="2308324"/>
          </a:xfrm>
        </p:grpSpPr>
        <p:sp>
          <p:nvSpPr>
            <p:cNvPr id="11" name="矩形 10"/>
            <p:cNvSpPr/>
            <p:nvPr/>
          </p:nvSpPr>
          <p:spPr>
            <a:xfrm>
              <a:off x="7776113" y="4464745"/>
              <a:ext cx="4177762" cy="23083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B = </a:t>
              </a:r>
            </a:p>
            <a:p>
              <a:r>
                <a:rPr lang="zh-CN" altLang="en-US" sz="2400" dirty="0"/>
                <a:t>    [3x3 double]    {</a:t>
              </a:r>
              <a:r>
                <a:rPr lang="zh-CN" altLang="en-US" sz="2400" dirty="0">
                  <a:solidFill>
                    <a:srgbClr val="FF0000"/>
                  </a:solidFill>
                </a:rPr>
                <a:t>1x1 cell</a:t>
              </a:r>
              <a:r>
                <a:rPr lang="zh-CN" altLang="en-US" sz="2400" dirty="0"/>
                <a:t>}</a:t>
              </a:r>
            </a:p>
            <a:p>
              <a:r>
                <a:rPr lang="zh-CN" altLang="en-US" sz="2400" dirty="0"/>
                <a:t>    [1x7 single]    'string'  </a:t>
              </a:r>
            </a:p>
            <a:p>
              <a:r>
                <a:rPr lang="zh-CN" altLang="en-US" sz="2400" dirty="0"/>
                <a:t>&gt;&gt; B{1,2}     </a:t>
              </a:r>
            </a:p>
            <a:p>
              <a:r>
                <a:rPr lang="zh-CN" altLang="en-US" sz="2400" dirty="0"/>
                <a:t>ans = </a:t>
              </a:r>
            </a:p>
            <a:p>
              <a:r>
                <a:rPr lang="zh-CN" altLang="en-US" sz="2400" dirty="0"/>
                <a:t>    [2]</a:t>
              </a:r>
            </a:p>
          </p:txBody>
        </p:sp>
        <p:sp>
          <p:nvSpPr>
            <p:cNvPr id="14" name="燕尾形箭头 13"/>
            <p:cNvSpPr/>
            <p:nvPr/>
          </p:nvSpPr>
          <p:spPr>
            <a:xfrm>
              <a:off x="7343775" y="5143500"/>
              <a:ext cx="432338" cy="266700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283512" y="3140601"/>
            <a:ext cx="4670363" cy="1200329"/>
            <a:chOff x="7283512" y="3140601"/>
            <a:chExt cx="4670363" cy="1200329"/>
          </a:xfrm>
        </p:grpSpPr>
        <p:sp>
          <p:nvSpPr>
            <p:cNvPr id="12" name="矩形 11"/>
            <p:cNvSpPr/>
            <p:nvPr/>
          </p:nvSpPr>
          <p:spPr>
            <a:xfrm>
              <a:off x="7776113" y="3140601"/>
              <a:ext cx="4177762" cy="12003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错误</a:t>
              </a:r>
              <a:r>
                <a:rPr lang="zh-CN" altLang="en-US" sz="2400" dirty="0"/>
                <a:t>，</a:t>
              </a:r>
              <a:r>
                <a:rPr lang="en-US" altLang="zh-CN" sz="2400" dirty="0" err="1"/>
                <a:t>Matlab</a:t>
              </a:r>
              <a:r>
                <a:rPr lang="zh-CN" altLang="en-US" sz="2400" dirty="0"/>
                <a:t>提示如下：</a:t>
              </a:r>
              <a:endParaRPr lang="en-US" altLang="zh-CN" sz="2400" dirty="0"/>
            </a:p>
            <a:p>
              <a:r>
                <a:rPr lang="zh-CN" altLang="en-US" sz="2400" dirty="0">
                  <a:solidFill>
                    <a:srgbClr val="FF0000"/>
                  </a:solidFill>
                </a:rPr>
                <a:t>Conversion to cell from double</a:t>
              </a:r>
              <a:endParaRPr lang="en-US" altLang="zh-CN" sz="2400" dirty="0">
                <a:solidFill>
                  <a:srgbClr val="FF0000"/>
                </a:solidFill>
              </a:endParaRPr>
            </a:p>
            <a:p>
              <a:r>
                <a:rPr lang="zh-CN" altLang="en-US" sz="2400" dirty="0">
                  <a:solidFill>
                    <a:srgbClr val="FF0000"/>
                  </a:solidFill>
                </a:rPr>
                <a:t> is not possible.</a:t>
              </a:r>
            </a:p>
          </p:txBody>
        </p:sp>
        <p:sp>
          <p:nvSpPr>
            <p:cNvPr id="16" name="燕尾形箭头 15"/>
            <p:cNvSpPr/>
            <p:nvPr/>
          </p:nvSpPr>
          <p:spPr>
            <a:xfrm>
              <a:off x="7283512" y="3442722"/>
              <a:ext cx="432338" cy="266700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085113" y="1287596"/>
            <a:ext cx="4868762" cy="1569660"/>
            <a:chOff x="7085113" y="1287596"/>
            <a:chExt cx="4868762" cy="1569660"/>
          </a:xfrm>
        </p:grpSpPr>
        <p:sp>
          <p:nvSpPr>
            <p:cNvPr id="13" name="矩形 12"/>
            <p:cNvSpPr/>
            <p:nvPr/>
          </p:nvSpPr>
          <p:spPr>
            <a:xfrm>
              <a:off x="7776113" y="1287596"/>
              <a:ext cx="4177762" cy="15696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正确</a:t>
              </a:r>
              <a:endParaRPr lang="en-US" altLang="zh-CN" sz="2400" dirty="0"/>
            </a:p>
            <a:p>
              <a:r>
                <a:rPr lang="zh-CN" altLang="en-US" sz="2400" dirty="0"/>
                <a:t>B = </a:t>
              </a:r>
            </a:p>
            <a:p>
              <a:r>
                <a:rPr lang="zh-CN" altLang="en-US" sz="2400" dirty="0"/>
                <a:t>    [3x3 double]    [     </a:t>
              </a:r>
              <a:r>
                <a:rPr lang="zh-CN" altLang="en-US" sz="2400" dirty="0">
                  <a:solidFill>
                    <a:srgbClr val="FF0000"/>
                  </a:solidFill>
                </a:rPr>
                <a:t>2</a:t>
              </a:r>
              <a:r>
                <a:rPr lang="zh-CN" altLang="en-US" sz="2400" dirty="0"/>
                <a:t>]</a:t>
              </a:r>
            </a:p>
            <a:p>
              <a:r>
                <a:rPr lang="zh-CN" altLang="en-US" sz="2400" dirty="0"/>
                <a:t>    [1x7 single]    'string'</a:t>
              </a:r>
            </a:p>
          </p:txBody>
        </p:sp>
        <p:sp>
          <p:nvSpPr>
            <p:cNvPr id="17" name="燕尾形箭头 16"/>
            <p:cNvSpPr/>
            <p:nvPr/>
          </p:nvSpPr>
          <p:spPr>
            <a:xfrm rot="1334368">
              <a:off x="7085113" y="1902279"/>
              <a:ext cx="710564" cy="266700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燕尾形箭头 17"/>
          <p:cNvSpPr/>
          <p:nvPr/>
        </p:nvSpPr>
        <p:spPr>
          <a:xfrm rot="18839483">
            <a:off x="7292136" y="2369597"/>
            <a:ext cx="571715" cy="266700"/>
          </a:xfrm>
          <a:prstGeom prst="notch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55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52499" y="245630"/>
            <a:ext cx="4019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以下命令是否正确？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570931"/>
              </p:ext>
            </p:extLst>
          </p:nvPr>
        </p:nvGraphicFramePr>
        <p:xfrm>
          <a:off x="561974" y="932410"/>
          <a:ext cx="403860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&gt;&gt; clear all;</a:t>
                      </a:r>
                    </a:p>
                    <a:p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&gt;&gt; B(1,2)=2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/>
                        <a:t>&gt;&gt; clear all</a:t>
                      </a:r>
                    </a:p>
                    <a:p>
                      <a:r>
                        <a:rPr lang="zh-CN" altLang="en-US" sz="3200" b="1" dirty="0"/>
                        <a:t>&gt;&gt; B={2}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/>
                        <a:t>&gt;&gt; clear all</a:t>
                      </a:r>
                    </a:p>
                    <a:p>
                      <a:r>
                        <a:rPr lang="zh-CN" altLang="en-US" sz="3200" b="1" dirty="0"/>
                        <a:t>&gt;&gt; B(1,2)={2}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775232"/>
              </p:ext>
            </p:extLst>
          </p:nvPr>
        </p:nvGraphicFramePr>
        <p:xfrm>
          <a:off x="5133972" y="2071600"/>
          <a:ext cx="4878427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&gt;&gt; clear all;</a:t>
                      </a:r>
                    </a:p>
                    <a:p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&gt;&gt; B{1,1}=2+3i;</a:t>
                      </a:r>
                    </a:p>
                    <a:p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&gt;&gt; B(1,2)=2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/>
                        <a:t>&gt;&gt; clear all</a:t>
                      </a:r>
                    </a:p>
                    <a:p>
                      <a:r>
                        <a:rPr lang="zh-CN" altLang="en-US" sz="3200" b="1" dirty="0"/>
                        <a:t>&gt;&gt; B(1,1)=2</a:t>
                      </a:r>
                    </a:p>
                    <a:p>
                      <a:r>
                        <a:rPr lang="zh-CN" altLang="en-US" sz="3200" b="1" dirty="0"/>
                        <a:t>&gt;&gt; B(1,2)={'string'}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800356" y="113029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800355" y="221605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00355" y="330181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534150" y="2921065"/>
            <a:ext cx="2476619" cy="830997"/>
            <a:chOff x="6534150" y="2921065"/>
            <a:chExt cx="2476619" cy="830997"/>
          </a:xfrm>
        </p:grpSpPr>
        <p:sp>
          <p:nvSpPr>
            <p:cNvPr id="14" name="文本框 13"/>
            <p:cNvSpPr txBox="1"/>
            <p:nvPr/>
          </p:nvSpPr>
          <p:spPr>
            <a:xfrm>
              <a:off x="8210550" y="2921065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800">
                  <a:solidFill>
                    <a:srgbClr val="FF0000"/>
                  </a:solidFill>
                </a:defRPr>
              </a:lvl1pPr>
            </a:lstStyle>
            <a:p>
              <a:r>
                <a:rPr lang="zh-CN" altLang="en-US" dirty="0"/>
                <a:t>✘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6534150" y="3047049"/>
              <a:ext cx="1676400" cy="5790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572249" y="4464115"/>
            <a:ext cx="3402803" cy="830997"/>
            <a:chOff x="6534149" y="2921065"/>
            <a:chExt cx="3402803" cy="830997"/>
          </a:xfrm>
        </p:grpSpPr>
        <p:sp>
          <p:nvSpPr>
            <p:cNvPr id="21" name="文本框 20"/>
            <p:cNvSpPr txBox="1"/>
            <p:nvPr/>
          </p:nvSpPr>
          <p:spPr>
            <a:xfrm>
              <a:off x="9136733" y="2921065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800">
                  <a:solidFill>
                    <a:srgbClr val="FF0000"/>
                  </a:solidFill>
                </a:defRPr>
              </a:lvl1pPr>
            </a:lstStyle>
            <a:p>
              <a:r>
                <a:rPr lang="zh-CN" altLang="en-US" dirty="0"/>
                <a:t>✘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6534149" y="3047049"/>
              <a:ext cx="2714625" cy="5790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015154" y="815870"/>
            <a:ext cx="5991229" cy="2520694"/>
            <a:chOff x="6015154" y="815870"/>
            <a:chExt cx="5991229" cy="2520694"/>
          </a:xfrm>
        </p:grpSpPr>
        <p:sp>
          <p:nvSpPr>
            <p:cNvPr id="24" name="矩形 23"/>
            <p:cNvSpPr/>
            <p:nvPr/>
          </p:nvSpPr>
          <p:spPr>
            <a:xfrm>
              <a:off x="6015154" y="815870"/>
              <a:ext cx="5991229" cy="830997"/>
            </a:xfrm>
            <a:prstGeom prst="rect">
              <a:avLst/>
            </a:prstGeom>
            <a:ln w="28575">
              <a:solidFill>
                <a:srgbClr val="FF0000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Conversion </a:t>
              </a:r>
              <a:r>
                <a:rPr lang="zh-CN" altLang="en-US" sz="2400" dirty="0">
                  <a:solidFill>
                    <a:srgbClr val="0070C0"/>
                  </a:solidFill>
                </a:rPr>
                <a:t>to cell from double </a:t>
              </a:r>
              <a:r>
                <a:rPr lang="zh-CN" altLang="en-US" sz="2400" dirty="0">
                  <a:solidFill>
                    <a:srgbClr val="FF0000"/>
                  </a:solidFill>
                </a:rPr>
                <a:t>is not possible. </a:t>
              </a:r>
            </a:p>
            <a:p>
              <a:r>
                <a:rPr lang="zh-CN" altLang="en-US" sz="2400" dirty="0">
                  <a:solidFill>
                    <a:srgbClr val="0070C0"/>
                  </a:solidFill>
                </a:rPr>
                <a:t>class(B) =  cell</a:t>
              </a:r>
            </a:p>
          </p:txBody>
        </p:sp>
        <p:cxnSp>
          <p:nvCxnSpPr>
            <p:cNvPr id="27" name="直接箭头连接符 26"/>
            <p:cNvCxnSpPr>
              <a:stCxn id="24" idx="2"/>
              <a:endCxn id="14" idx="1"/>
            </p:cNvCxnSpPr>
            <p:nvPr/>
          </p:nvCxnSpPr>
          <p:spPr>
            <a:xfrm flipH="1">
              <a:off x="8210550" y="1646867"/>
              <a:ext cx="800219" cy="168969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5353168" y="5169130"/>
            <a:ext cx="6096000" cy="1402377"/>
            <a:chOff x="5353168" y="5169130"/>
            <a:chExt cx="6096000" cy="1402377"/>
          </a:xfrm>
        </p:grpSpPr>
        <p:sp>
          <p:nvSpPr>
            <p:cNvPr id="25" name="矩形 24"/>
            <p:cNvSpPr/>
            <p:nvPr/>
          </p:nvSpPr>
          <p:spPr>
            <a:xfrm>
              <a:off x="5353168" y="5740510"/>
              <a:ext cx="6096000" cy="830997"/>
            </a:xfrm>
            <a:prstGeom prst="rect">
              <a:avLst/>
            </a:prstGeom>
            <a:ln w="28575">
              <a:solidFill>
                <a:srgbClr val="FF0000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Conversion </a:t>
              </a:r>
              <a:r>
                <a:rPr lang="zh-CN" altLang="en-US" sz="2400" dirty="0">
                  <a:solidFill>
                    <a:srgbClr val="0070C0"/>
                  </a:solidFill>
                </a:rPr>
                <a:t>to double from cell </a:t>
              </a:r>
              <a:r>
                <a:rPr lang="zh-CN" altLang="en-US" sz="2400" dirty="0">
                  <a:solidFill>
                    <a:srgbClr val="FF0000"/>
                  </a:solidFill>
                </a:rPr>
                <a:t>is not possible. </a:t>
              </a:r>
            </a:p>
            <a:p>
              <a:r>
                <a:rPr lang="zh-CN" altLang="en-US" sz="2400" dirty="0">
                  <a:solidFill>
                    <a:srgbClr val="0070C0"/>
                  </a:solidFill>
                </a:rPr>
                <a:t>class(B) = double</a:t>
              </a:r>
            </a:p>
          </p:txBody>
        </p:sp>
        <p:cxnSp>
          <p:nvCxnSpPr>
            <p:cNvPr id="29" name="直接箭头连接符 28"/>
            <p:cNvCxnSpPr>
              <a:stCxn id="25" idx="0"/>
              <a:endCxn id="22" idx="2"/>
            </p:cNvCxnSpPr>
            <p:nvPr/>
          </p:nvCxnSpPr>
          <p:spPr>
            <a:xfrm flipH="1" flipV="1">
              <a:off x="7929562" y="5169130"/>
              <a:ext cx="471606" cy="57138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54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01395"/>
              </p:ext>
            </p:extLst>
          </p:nvPr>
        </p:nvGraphicFramePr>
        <p:xfrm>
          <a:off x="1238249" y="1104900"/>
          <a:ext cx="4038601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576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&gt;&gt; A=ones(3);</a:t>
                      </a:r>
                    </a:p>
                    <a:p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&gt;&gt; A='string';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/>
                        <a:t>&gt;&gt; A=ones(3);</a:t>
                      </a:r>
                    </a:p>
                    <a:p>
                      <a:r>
                        <a:rPr lang="en-US" altLang="zh-CN" sz="3200" b="1" dirty="0"/>
                        <a:t>&gt;&gt; A(1,1)='string'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52499" y="245630"/>
            <a:ext cx="4019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以下命令是否正确？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24281" y="1312128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972049" y="253969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✘</a:t>
            </a:r>
          </a:p>
        </p:txBody>
      </p:sp>
    </p:spTree>
    <p:extLst>
      <p:ext uri="{BB962C8B-B14F-4D97-AF65-F5344CB8AC3E}">
        <p14:creationId xmlns:p14="http://schemas.microsoft.com/office/powerpoint/2010/main" val="194907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3"/>
          <p:cNvSpPr>
            <a:spLocks noChangeArrowheads="1"/>
          </p:cNvSpPr>
          <p:nvPr/>
        </p:nvSpPr>
        <p:spPr bwMode="auto">
          <a:xfrm>
            <a:off x="949645" y="760286"/>
            <a:ext cx="42926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AA=</a:t>
            </a:r>
            <a:r>
              <a:rPr lang="en-US" altLang="zh-CN" b="1" dirty="0">
                <a:solidFill>
                  <a:srgbClr val="FF0000"/>
                </a:solidFill>
              </a:rPr>
              <a:t>cell</a:t>
            </a:r>
            <a:r>
              <a:rPr lang="en-US" altLang="zh-CN" b="1" dirty="0"/>
              <a:t>(2)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AA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[]    []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[]    []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AA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1,1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=2:5;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AA(1,2)=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AA(2,1)=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'string'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AA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2,2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=ones(3)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AA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[1x4 double]    [         2]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'string'        [3x3 double]</a:t>
            </a:r>
            <a:endParaRPr lang="zh-CN" altLang="en-US" b="1" dirty="0"/>
          </a:p>
        </p:txBody>
      </p:sp>
      <p:sp>
        <p:nvSpPr>
          <p:cNvPr id="33795" name="矩形 4"/>
          <p:cNvSpPr>
            <a:spLocks noChangeArrowheads="1"/>
          </p:cNvSpPr>
          <p:nvPr/>
        </p:nvSpPr>
        <p:spPr bwMode="auto">
          <a:xfrm>
            <a:off x="5432745" y="760286"/>
            <a:ext cx="60960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BB=</a:t>
            </a:r>
            <a:r>
              <a:rPr lang="en-US" altLang="zh-CN" b="1" dirty="0">
                <a:solidFill>
                  <a:srgbClr val="FF0000"/>
                </a:solidFill>
              </a:rPr>
              <a:t>cell</a:t>
            </a:r>
            <a:r>
              <a:rPr lang="en-US" altLang="zh-CN" b="1" dirty="0"/>
              <a:t>(2)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BB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[]    []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[]    []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1,1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=2:5;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BB(1,2)=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BB(2,1)=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'string'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BB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2,2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  <a:r>
              <a:rPr lang="en-US" altLang="zh-CN" b="1" dirty="0"/>
              <a:t>=</a:t>
            </a:r>
            <a:r>
              <a:rPr lang="en-US" altLang="zh-CN" b="1" dirty="0">
                <a:solidFill>
                  <a:srgbClr val="FF0000"/>
                </a:solidFill>
              </a:rPr>
              <a:t>{</a:t>
            </a:r>
            <a:r>
              <a:rPr lang="en-US" altLang="zh-CN" b="1" dirty="0"/>
              <a:t>ones(3)</a:t>
            </a:r>
            <a:r>
              <a:rPr lang="en-US" altLang="zh-CN" b="1" dirty="0">
                <a:solidFill>
                  <a:srgbClr val="FF0000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BB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[1x4 double]    [       2]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'string'              </a:t>
            </a:r>
            <a:r>
              <a:rPr lang="en-US" altLang="zh-CN" b="1" dirty="0">
                <a:solidFill>
                  <a:srgbClr val="FF0000"/>
                </a:solidFill>
              </a:rPr>
              <a:t>{1x1 cell}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796" name="矩形 1"/>
          <p:cNvSpPr>
            <a:spLocks noChangeArrowheads="1"/>
          </p:cNvSpPr>
          <p:nvPr/>
        </p:nvSpPr>
        <p:spPr bwMode="auto">
          <a:xfrm>
            <a:off x="949645" y="298621"/>
            <a:ext cx="87620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使用</a:t>
            </a:r>
            <a:r>
              <a:rPr lang="en-US" altLang="zh-CN" sz="2400" b="1" dirty="0"/>
              <a:t>cell</a:t>
            </a:r>
            <a:r>
              <a:rPr lang="zh-CN" altLang="en-US" sz="2400" b="1" dirty="0"/>
              <a:t>函数预先分配出内存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Preallocate</a:t>
            </a:r>
            <a:r>
              <a:rPr lang="en-US" altLang="zh-CN" sz="2400" b="1" dirty="0"/>
              <a:t> Memory for a Cell Array)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953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3"/>
          <p:cNvSpPr>
            <a:spLocks noChangeArrowheads="1"/>
          </p:cNvSpPr>
          <p:nvPr/>
        </p:nvSpPr>
        <p:spPr bwMode="auto">
          <a:xfrm>
            <a:off x="2006600" y="1016000"/>
            <a:ext cx="34925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&gt;&gt; </a:t>
            </a:r>
            <a:r>
              <a:rPr lang="en-US" altLang="zh-CN">
                <a:solidFill>
                  <a:srgbClr val="FF0000"/>
                </a:solidFill>
              </a:rPr>
              <a:t>celldisp</a:t>
            </a:r>
            <a:r>
              <a:rPr lang="en-US" altLang="zh-CN"/>
              <a:t>(AA)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AA{1,1}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     2     3     4     5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AA{2,1}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string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AA{1,2}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     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AA{2,2}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     1     1     1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     1     1     1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     1     1     1</a:t>
            </a:r>
          </a:p>
        </p:txBody>
      </p:sp>
      <p:sp>
        <p:nvSpPr>
          <p:cNvPr id="34819" name="矩形 4"/>
          <p:cNvSpPr>
            <a:spLocks noChangeArrowheads="1"/>
          </p:cNvSpPr>
          <p:nvPr/>
        </p:nvSpPr>
        <p:spPr bwMode="auto">
          <a:xfrm>
            <a:off x="5029200" y="1016000"/>
            <a:ext cx="40767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&gt;&gt; </a:t>
            </a:r>
            <a:r>
              <a:rPr lang="en-US" altLang="zh-CN" dirty="0" err="1">
                <a:solidFill>
                  <a:srgbClr val="FF0000"/>
                </a:solidFill>
              </a:rPr>
              <a:t>celldisp</a:t>
            </a:r>
            <a:r>
              <a:rPr lang="en-US" altLang="zh-CN" dirty="0"/>
              <a:t>(BB)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BB{1,1}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 2     3     4     5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BB{2,1}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string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BB{1,2}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 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BB{2,2}{1}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 1     1     1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 1     1     1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 1     1     1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04748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1612900"/>
            <a:ext cx="90963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2565400" y="508000"/>
            <a:ext cx="712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/>
              <a:t>cellplot(AA), figure, cellplot(BB)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33507583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3"/>
          <p:cNvSpPr>
            <a:spLocks noChangeArrowheads="1"/>
          </p:cNvSpPr>
          <p:nvPr/>
        </p:nvSpPr>
        <p:spPr bwMode="auto">
          <a:xfrm>
            <a:off x="2222500" y="267128"/>
            <a:ext cx="7866722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&gt;&gt; c=</a:t>
            </a:r>
            <a:r>
              <a:rPr lang="en-US" altLang="zh-CN" sz="3200">
                <a:solidFill>
                  <a:srgbClr val="FF0000"/>
                </a:solidFill>
              </a:rPr>
              <a:t>{</a:t>
            </a:r>
            <a:r>
              <a:rPr lang="en-US" altLang="zh-CN" sz="3200"/>
              <a:t> [1 2], 'MATLAB'; [1 2; 3 4], 5</a:t>
            </a:r>
            <a:r>
              <a:rPr lang="en-US" altLang="zh-CN" sz="3200">
                <a:solidFill>
                  <a:srgbClr val="FF0000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c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    [1x2 double]    'MATLAB'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    [2x2 double]    [     5]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&gt;&gt; y=c(2,2);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&gt;&gt; </a:t>
            </a:r>
            <a:r>
              <a:rPr lang="en-US" altLang="zh-CN" sz="3200">
                <a:solidFill>
                  <a:srgbClr val="FF0000"/>
                </a:solidFill>
              </a:rPr>
              <a:t>iscel</a:t>
            </a:r>
            <a:r>
              <a:rPr lang="en-US" altLang="zh-CN" sz="3200"/>
              <a:t>l(y),  isa(y, 'cell' ),   isa(y,'double')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ans =     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ans =     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ans =     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&gt;&gt; </a:t>
            </a:r>
            <a:r>
              <a:rPr lang="en-US" altLang="zh-CN" sz="3200">
                <a:solidFill>
                  <a:srgbClr val="FF0000"/>
                </a:solidFill>
              </a:rPr>
              <a:t>cellfun</a:t>
            </a:r>
            <a:r>
              <a:rPr lang="en-US" altLang="zh-CN" sz="3200"/>
              <a:t>('isreal',c)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ans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     1     1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/>
              <a:t>     1     1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448515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cell array</a:t>
            </a:r>
            <a:r>
              <a:rPr lang="zh-CN" altLang="en-US"/>
              <a:t>总结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49475"/>
          </a:xfrm>
        </p:spPr>
        <p:txBody>
          <a:bodyPr/>
          <a:lstStyle/>
          <a:p>
            <a:pPr eaLnBrk="1" hangingPunct="1"/>
            <a:r>
              <a:rPr lang="zh-CN" altLang="en-US" dirty="0"/>
              <a:t>创建方式？</a:t>
            </a:r>
            <a:endParaRPr lang="en-US" altLang="zh-CN" dirty="0"/>
          </a:p>
          <a:p>
            <a:pPr eaLnBrk="1" hangingPunct="1"/>
            <a:r>
              <a:rPr lang="zh-CN" altLang="en-US" dirty="0"/>
              <a:t>访问方式？</a:t>
            </a:r>
            <a:endParaRPr lang="en-US" altLang="zh-CN" dirty="0"/>
          </a:p>
          <a:p>
            <a:pPr eaLnBrk="1" hangingPunct="1"/>
            <a:r>
              <a:rPr lang="zh-CN" altLang="en-US" dirty="0"/>
              <a:t>结构问题</a:t>
            </a:r>
            <a:endParaRPr lang="en-US" altLang="zh-CN" dirty="0"/>
          </a:p>
          <a:p>
            <a:pPr eaLnBrk="1" hangingPunct="1"/>
            <a:r>
              <a:rPr lang="zh-CN" altLang="en-US" dirty="0"/>
              <a:t>相关函数：</a:t>
            </a:r>
            <a:r>
              <a:rPr lang="en-US" altLang="zh-CN" dirty="0"/>
              <a:t>cell, </a:t>
            </a:r>
            <a:r>
              <a:rPr lang="en-US" altLang="zh-CN" dirty="0" err="1"/>
              <a:t>iscell</a:t>
            </a:r>
            <a:r>
              <a:rPr lang="en-US" altLang="zh-CN" dirty="0"/>
              <a:t>, </a:t>
            </a:r>
            <a:r>
              <a:rPr lang="en-US" altLang="zh-CN" dirty="0" err="1"/>
              <a:t>isa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FF0000"/>
                </a:solidFill>
              </a:rPr>
              <a:t>celldisp</a:t>
            </a:r>
            <a:r>
              <a:rPr lang="en-US" altLang="zh-CN" dirty="0"/>
              <a:t>, </a:t>
            </a:r>
            <a:r>
              <a:rPr lang="en-US" altLang="zh-CN" dirty="0" err="1"/>
              <a:t>cellfun</a:t>
            </a:r>
            <a:r>
              <a:rPr lang="en-US" altLang="zh-CN" dirty="0"/>
              <a:t>, </a:t>
            </a:r>
            <a:r>
              <a:rPr lang="en-US" altLang="zh-CN" dirty="0" err="1"/>
              <a:t>cellplot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54837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485775" y="0"/>
            <a:ext cx="10515600" cy="750888"/>
          </a:xfrm>
        </p:spPr>
        <p:txBody>
          <a:bodyPr/>
          <a:lstStyle/>
          <a:p>
            <a:r>
              <a:rPr lang="en-US" altLang="zh-CN"/>
              <a:t>Cell Array</a:t>
            </a:r>
            <a:r>
              <a:rPr lang="zh-CN" altLang="en-US"/>
              <a:t>创建</a:t>
            </a:r>
          </a:p>
        </p:txBody>
      </p:sp>
      <p:sp>
        <p:nvSpPr>
          <p:cNvPr id="5" name="矩形 4"/>
          <p:cNvSpPr/>
          <p:nvPr/>
        </p:nvSpPr>
        <p:spPr>
          <a:xfrm>
            <a:off x="868720" y="750888"/>
            <a:ext cx="790081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/>
              <a:t>1.</a:t>
            </a:r>
            <a:r>
              <a:rPr lang="zh-CN" altLang="en-US" sz="2800" b="1" dirty="0">
                <a:solidFill>
                  <a:srgbClr val="FF0000"/>
                </a:solidFill>
              </a:rPr>
              <a:t>静态初始化创建</a:t>
            </a:r>
            <a:r>
              <a:rPr lang="en-US" altLang="zh-CN" sz="2800" b="1" dirty="0"/>
              <a:t>:</a:t>
            </a:r>
          </a:p>
          <a:p>
            <a:pPr>
              <a:defRPr/>
            </a:pPr>
            <a:r>
              <a:rPr lang="zh-CN" altLang="en-US" sz="2800" b="1" dirty="0"/>
              <a:t>使用</a:t>
            </a:r>
            <a:r>
              <a:rPr lang="en-US" altLang="zh-CN" sz="2800" b="1" dirty="0"/>
              <a:t>cell array constructors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curly braces { }</a:t>
            </a:r>
          </a:p>
          <a:p>
            <a:pPr>
              <a:defRPr/>
            </a:pPr>
            <a:r>
              <a:rPr lang="en-US" altLang="zh-CN" sz="2800" b="1" dirty="0"/>
              <a:t>2.</a:t>
            </a:r>
            <a:r>
              <a:rPr lang="zh-CN" altLang="en-US" sz="2800" b="1" dirty="0">
                <a:solidFill>
                  <a:srgbClr val="FF0000"/>
                </a:solidFill>
              </a:rPr>
              <a:t>动态创建</a:t>
            </a:r>
            <a:r>
              <a:rPr lang="en-US" altLang="zh-CN" sz="2800" b="1" dirty="0"/>
              <a:t>:Creating Cell Arrays One Cell At a Time</a:t>
            </a:r>
            <a:endParaRPr lang="en-US" altLang="zh-CN" sz="2800" dirty="0"/>
          </a:p>
          <a:p>
            <a:pPr marL="971550" lvl="1" indent="-514350">
              <a:buFont typeface="+mj-ea"/>
              <a:buAutoNum type="circleNumDbPlain"/>
              <a:defRPr/>
            </a:pPr>
            <a:r>
              <a:rPr lang="zh-CN" altLang="en-US" sz="2800" b="1" dirty="0"/>
              <a:t>变量名</a:t>
            </a:r>
            <a:r>
              <a:rPr lang="en-US" altLang="zh-CN" sz="2800" b="1" dirty="0"/>
              <a:t>{r,c} = v</a:t>
            </a:r>
          </a:p>
          <a:p>
            <a:pPr marL="971550" lvl="1" indent="-514350">
              <a:buFont typeface="+mj-ea"/>
              <a:buAutoNum type="circleNumDbPlain"/>
              <a:defRPr/>
            </a:pPr>
            <a:r>
              <a:rPr lang="zh-CN" altLang="en-US" sz="2800" b="1" dirty="0"/>
              <a:t>变量名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r,c</a:t>
            </a:r>
            <a:r>
              <a:rPr lang="en-US" altLang="zh-CN" sz="2800" b="1" dirty="0"/>
              <a:t>) = { v}</a:t>
            </a:r>
          </a:p>
          <a:p>
            <a:pPr>
              <a:defRPr/>
            </a:pPr>
            <a:r>
              <a:rPr lang="en-US" altLang="zh-CN" sz="2800" b="1" dirty="0"/>
              <a:t>3.</a:t>
            </a:r>
            <a:r>
              <a:rPr lang="zh-CN" altLang="en-US" sz="2800" b="1" dirty="0"/>
              <a:t>使用</a:t>
            </a:r>
            <a:r>
              <a:rPr lang="en-US" altLang="zh-CN" sz="2800" b="1" dirty="0">
                <a:solidFill>
                  <a:srgbClr val="FF0000"/>
                </a:solidFill>
              </a:rPr>
              <a:t>cell</a:t>
            </a:r>
            <a:r>
              <a:rPr lang="zh-CN" altLang="en-US" sz="2800" b="1" dirty="0">
                <a:solidFill>
                  <a:srgbClr val="FF0000"/>
                </a:solidFill>
              </a:rPr>
              <a:t>函数预先分配</a:t>
            </a:r>
            <a:r>
              <a:rPr lang="zh-CN" altLang="en-US" sz="2800" b="1" dirty="0"/>
              <a:t>出内存后再赋值</a:t>
            </a:r>
            <a:endParaRPr lang="en-US" altLang="zh-CN" sz="2800" b="1" dirty="0"/>
          </a:p>
          <a:p>
            <a:pPr>
              <a:defRPr/>
            </a:pPr>
            <a:r>
              <a:rPr lang="en-US" altLang="zh-CN" sz="2800" b="1" dirty="0"/>
              <a:t>Preallocating Memory for the Array</a:t>
            </a:r>
          </a:p>
        </p:txBody>
      </p:sp>
      <p:sp>
        <p:nvSpPr>
          <p:cNvPr id="38916" name="标题 1"/>
          <p:cNvSpPr txBox="1">
            <a:spLocks/>
          </p:cNvSpPr>
          <p:nvPr/>
        </p:nvSpPr>
        <p:spPr bwMode="auto">
          <a:xfrm>
            <a:off x="485775" y="3928866"/>
            <a:ext cx="4332805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>
                <a:latin typeface="Calibri Light" panose="020F0302020204030204" pitchFamily="34" charset="0"/>
              </a:rPr>
              <a:t>Cell Array</a:t>
            </a:r>
            <a:r>
              <a:rPr lang="zh-CN" altLang="en-US" sz="4400">
                <a:latin typeface="Calibri Light" panose="020F0302020204030204" pitchFamily="34" charset="0"/>
              </a:rPr>
              <a:t>访问</a:t>
            </a:r>
            <a:endParaRPr lang="en-US" altLang="zh-CN" sz="4400">
              <a:latin typeface="Calibri Light" panose="020F0302020204030204" pitchFamily="34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184080" y="4610319"/>
            <a:ext cx="18036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2</a:t>
            </a:r>
            <a:r>
              <a:rPr lang="zh-CN" altLang="en-US" dirty="0"/>
              <a:t>种方式：</a:t>
            </a:r>
            <a:endParaRPr lang="en-US" altLang="zh-CN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184080" y="5133539"/>
            <a:ext cx="477278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cell indexing</a:t>
            </a:r>
            <a:r>
              <a:rPr lang="zh-CN" altLang="en-US" dirty="0"/>
              <a:t>（单元索引）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content indexing</a:t>
            </a:r>
            <a:r>
              <a:rPr lang="zh-CN" altLang="en-US" dirty="0"/>
              <a:t>（内容索引）</a:t>
            </a:r>
          </a:p>
        </p:txBody>
      </p:sp>
    </p:spTree>
    <p:extLst>
      <p:ext uri="{BB962C8B-B14F-4D97-AF65-F5344CB8AC3E}">
        <p14:creationId xmlns:p14="http://schemas.microsoft.com/office/powerpoint/2010/main" val="4414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思考：</a:t>
            </a:r>
            <a:r>
              <a:rPr lang="en-US" altLang="zh-CN"/>
              <a:t>cell array</a:t>
            </a:r>
            <a:r>
              <a:rPr lang="zh-CN" altLang="en-US"/>
              <a:t>既然是</a:t>
            </a:r>
            <a:r>
              <a:rPr lang="en-US" altLang="zh-CN"/>
              <a:t>array</a:t>
            </a:r>
            <a:r>
              <a:rPr lang="zh-CN" altLang="en-US"/>
              <a:t>，</a:t>
            </a:r>
            <a:r>
              <a:rPr lang="en-US" altLang="zh-CN"/>
              <a:t>array</a:t>
            </a:r>
            <a:r>
              <a:rPr lang="zh-CN" altLang="en-US"/>
              <a:t>的相关语法操作都能用在</a:t>
            </a:r>
            <a:r>
              <a:rPr lang="en-US" altLang="zh-CN"/>
              <a:t>cell array</a:t>
            </a:r>
            <a:r>
              <a:rPr lang="zh-CN" altLang="en-US"/>
              <a:t>身上吗？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308566" cy="3982992"/>
          </a:xfrm>
        </p:spPr>
        <p:txBody>
          <a:bodyPr>
            <a:noAutofit/>
          </a:bodyPr>
          <a:lstStyle/>
          <a:p>
            <a:r>
              <a:rPr lang="en-US" altLang="zh-CN" sz="3600" dirty="0" err="1"/>
              <a:t>myCell</a:t>
            </a:r>
            <a:r>
              <a:rPr lang="en-US" altLang="zh-CN" sz="3600" dirty="0"/>
              <a:t>(:)</a:t>
            </a:r>
          </a:p>
          <a:p>
            <a:r>
              <a:rPr lang="en-US" altLang="zh-CN" sz="3600" dirty="0" err="1"/>
              <a:t>myCell</a:t>
            </a:r>
            <a:r>
              <a:rPr lang="en-US" altLang="zh-CN" sz="3600" dirty="0"/>
              <a:t>(:,1)</a:t>
            </a:r>
          </a:p>
          <a:p>
            <a:r>
              <a:rPr lang="en-US" altLang="zh-CN" sz="3600" dirty="0" err="1"/>
              <a:t>myCell</a:t>
            </a:r>
            <a:r>
              <a:rPr lang="en-US" altLang="zh-CN" sz="3600" dirty="0"/>
              <a:t>{:}</a:t>
            </a:r>
          </a:p>
          <a:p>
            <a:r>
              <a:rPr lang="en-US" altLang="zh-CN" sz="3600" dirty="0" err="1"/>
              <a:t>myCell</a:t>
            </a:r>
            <a:r>
              <a:rPr lang="en-US" altLang="zh-CN" sz="3600" dirty="0"/>
              <a:t>{1:end,end}</a:t>
            </a:r>
          </a:p>
          <a:p>
            <a:r>
              <a:rPr lang="en-US" altLang="zh-CN" sz="3600" dirty="0"/>
              <a:t>[a b]=</a:t>
            </a:r>
            <a:r>
              <a:rPr lang="en-US" altLang="zh-CN" sz="3600" dirty="0" err="1"/>
              <a:t>myCell</a:t>
            </a:r>
            <a:r>
              <a:rPr lang="en-US" altLang="zh-CN" sz="3600" dirty="0"/>
              <a:t>{1,:}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390099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3"/>
          <p:cNvSpPr>
            <a:spLocks noChangeArrowheads="1"/>
          </p:cNvSpPr>
          <p:nvPr/>
        </p:nvSpPr>
        <p:spPr bwMode="auto">
          <a:xfrm>
            <a:off x="790933" y="248740"/>
            <a:ext cx="8562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E25652"/>
                </a:solidFill>
              </a:rPr>
              <a:t>&gt;&gt; my</a:t>
            </a:r>
            <a:r>
              <a:rPr lang="zh-CN" altLang="en-US" b="1" dirty="0">
                <a:solidFill>
                  <a:srgbClr val="E25652"/>
                </a:solidFill>
              </a:rPr>
              <a:t>Cell = </a:t>
            </a:r>
            <a:r>
              <a:rPr lang="zh-CN" altLang="en-US" b="1" dirty="0">
                <a:solidFill>
                  <a:srgbClr val="00B050"/>
                </a:solidFill>
              </a:rPr>
              <a:t>{</a:t>
            </a:r>
            <a:r>
              <a:rPr lang="zh-CN" altLang="en-US" b="1" dirty="0">
                <a:solidFill>
                  <a:srgbClr val="E25652"/>
                </a:solidFill>
              </a:rPr>
              <a:t> [1 2 3;4 5 6;7 8 9], 2+3i; 12:-2:0, 'string'; </a:t>
            </a:r>
            <a:r>
              <a:rPr lang="zh-CN" altLang="en-US" b="1" dirty="0">
                <a:solidFill>
                  <a:srgbClr val="00B050"/>
                </a:solidFill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790933" y="2204967"/>
            <a:ext cx="26837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&gt;&gt; myCell(:)</a:t>
            </a:r>
          </a:p>
        </p:txBody>
      </p:sp>
      <p:sp>
        <p:nvSpPr>
          <p:cNvPr id="4" name="矩形 3"/>
          <p:cNvSpPr/>
          <p:nvPr/>
        </p:nvSpPr>
        <p:spPr>
          <a:xfrm>
            <a:off x="7040951" y="2027820"/>
            <a:ext cx="4698203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ans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1     2     3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4     5     6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7     8     9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ans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12    10     8     6     4     2     0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ans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2.0000 + 3.0000i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ans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Calibri" panose="020F0502020204030204" pitchFamily="34" charset="0"/>
                <a:ea typeface="宋体" panose="02010600030101010101" pitchFamily="2" charset="-122"/>
              </a:rPr>
              <a:t>string</a:t>
            </a:r>
          </a:p>
        </p:txBody>
      </p:sp>
      <p:sp>
        <p:nvSpPr>
          <p:cNvPr id="5" name="矩形 4"/>
          <p:cNvSpPr/>
          <p:nvPr/>
        </p:nvSpPr>
        <p:spPr>
          <a:xfrm>
            <a:off x="790933" y="771960"/>
            <a:ext cx="591312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myCell =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[3x3 double]    [2.0000 + 3.0000i]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[1x7 double]    'string'</a:t>
            </a:r>
          </a:p>
        </p:txBody>
      </p:sp>
      <p:sp>
        <p:nvSpPr>
          <p:cNvPr id="6" name="矩形 5"/>
          <p:cNvSpPr/>
          <p:nvPr/>
        </p:nvSpPr>
        <p:spPr>
          <a:xfrm>
            <a:off x="790933" y="2680175"/>
            <a:ext cx="3493684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ans =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[3x3 double]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[1x7 double]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[2.0000 + 3.0000i]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Calibri" panose="020F0502020204030204" pitchFamily="34" charset="0"/>
                <a:ea typeface="宋体" panose="02010600030101010101" pitchFamily="2" charset="-122"/>
              </a:rPr>
              <a:t>'string'</a:t>
            </a:r>
          </a:p>
        </p:txBody>
      </p:sp>
      <p:sp>
        <p:nvSpPr>
          <p:cNvPr id="8" name="矩形 7"/>
          <p:cNvSpPr/>
          <p:nvPr/>
        </p:nvSpPr>
        <p:spPr>
          <a:xfrm>
            <a:off x="7040951" y="1522845"/>
            <a:ext cx="19751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&gt;&gt; myCell{:}</a:t>
            </a:r>
          </a:p>
        </p:txBody>
      </p:sp>
    </p:spTree>
    <p:extLst>
      <p:ext uri="{BB962C8B-B14F-4D97-AF65-F5344CB8AC3E}">
        <p14:creationId xmlns:p14="http://schemas.microsoft.com/office/powerpoint/2010/main" val="340133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5348106" y="1970029"/>
            <a:ext cx="33953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&gt;&gt; myCell{1:end,end}</a:t>
            </a:r>
          </a:p>
        </p:txBody>
      </p:sp>
      <p:sp>
        <p:nvSpPr>
          <p:cNvPr id="5" name="矩形 4"/>
          <p:cNvSpPr/>
          <p:nvPr/>
        </p:nvSpPr>
        <p:spPr>
          <a:xfrm>
            <a:off x="2791145" y="2487138"/>
            <a:ext cx="252333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r-FR" altLang="zh-CN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ans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r-FR" altLang="zh-CN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    1     2     3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r-FR" altLang="zh-CN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    4     5     6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r-FR" altLang="zh-CN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    7     8     9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r-FR" altLang="zh-CN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ans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r-FR" altLang="zh-CN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 12 10 8 6 4 2 0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7381" y="1970029"/>
            <a:ext cx="21118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&gt;&gt; myCell(:,1)</a:t>
            </a:r>
          </a:p>
        </p:txBody>
      </p:sp>
      <p:sp>
        <p:nvSpPr>
          <p:cNvPr id="7" name="矩形 6"/>
          <p:cNvSpPr/>
          <p:nvPr/>
        </p:nvSpPr>
        <p:spPr>
          <a:xfrm>
            <a:off x="790933" y="240737"/>
            <a:ext cx="591312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myCell =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[3x3 double]    [2.0000 + 3.0000i]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[1x7 double]    'string'</a:t>
            </a:r>
          </a:p>
        </p:txBody>
      </p:sp>
      <p:sp>
        <p:nvSpPr>
          <p:cNvPr id="8" name="矩形 7"/>
          <p:cNvSpPr/>
          <p:nvPr/>
        </p:nvSpPr>
        <p:spPr>
          <a:xfrm>
            <a:off x="287381" y="2493249"/>
            <a:ext cx="237744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ans =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[3x3 double]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[1x7 double]</a:t>
            </a:r>
          </a:p>
        </p:txBody>
      </p:sp>
      <p:sp>
        <p:nvSpPr>
          <p:cNvPr id="9" name="矩形 8"/>
          <p:cNvSpPr/>
          <p:nvPr/>
        </p:nvSpPr>
        <p:spPr>
          <a:xfrm>
            <a:off x="2792433" y="1970029"/>
            <a:ext cx="22508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&gt;&gt; myCell</a:t>
            </a:r>
            <a:r>
              <a:rPr lang="en-US" altLang="zh-CN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{</a:t>
            </a:r>
            <a:r>
              <a:rPr lang="zh-CN" altLang="en-US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:,1</a:t>
            </a:r>
            <a:r>
              <a:rPr lang="en-US" altLang="zh-CN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}</a:t>
            </a:r>
            <a:endParaRPr lang="zh-CN" altLang="en-US" sz="2800" b="1" dirty="0">
              <a:solidFill>
                <a:srgbClr val="E25652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36529" y="2487138"/>
            <a:ext cx="1811383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ans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2.0 + 3.0i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ans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string</a:t>
            </a:r>
          </a:p>
        </p:txBody>
      </p:sp>
      <p:sp>
        <p:nvSpPr>
          <p:cNvPr id="11" name="矩形 10"/>
          <p:cNvSpPr/>
          <p:nvPr/>
        </p:nvSpPr>
        <p:spPr>
          <a:xfrm>
            <a:off x="8831666" y="1970029"/>
            <a:ext cx="31164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&gt;&gt; [a b]=myCell{1,:}</a:t>
            </a:r>
          </a:p>
        </p:txBody>
      </p:sp>
      <p:sp>
        <p:nvSpPr>
          <p:cNvPr id="12" name="矩形 11"/>
          <p:cNvSpPr/>
          <p:nvPr/>
        </p:nvSpPr>
        <p:spPr>
          <a:xfrm>
            <a:off x="8865455" y="2487138"/>
            <a:ext cx="235118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1     2     3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4     5     6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7     8     9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 =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2.0 + 3.0i</a:t>
            </a:r>
          </a:p>
        </p:txBody>
      </p:sp>
    </p:spTree>
    <p:extLst>
      <p:ext uri="{BB962C8B-B14F-4D97-AF65-F5344CB8AC3E}">
        <p14:creationId xmlns:p14="http://schemas.microsoft.com/office/powerpoint/2010/main" val="266195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四、结构体（</a:t>
            </a:r>
            <a:r>
              <a:rPr lang="en-US" altLang="zh-CN" dirty="0"/>
              <a:t>Struct</a:t>
            </a:r>
            <a:r>
              <a:rPr lang="zh-CN" altLang="en-US" dirty="0"/>
              <a:t>）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2557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/>
              <a:t>包含多个域</a:t>
            </a:r>
            <a:r>
              <a:rPr lang="en-US" altLang="zh-CN" sz="3200" dirty="0"/>
              <a:t>/</a:t>
            </a:r>
            <a:r>
              <a:rPr lang="zh-CN" altLang="en-US" sz="3200" dirty="0"/>
              <a:t>成员（</a:t>
            </a:r>
            <a:r>
              <a:rPr lang="en-US" altLang="zh-CN" sz="3200" dirty="0"/>
              <a:t>field</a:t>
            </a:r>
            <a:r>
              <a:rPr lang="zh-CN" altLang="en-US" sz="3200" dirty="0"/>
              <a:t>），</a:t>
            </a:r>
            <a:r>
              <a:rPr lang="zh-CN" altLang="en-US" sz="3200" dirty="0">
                <a:solidFill>
                  <a:srgbClr val="E25652"/>
                </a:solidFill>
              </a:rPr>
              <a:t>通过</a:t>
            </a:r>
            <a:r>
              <a:rPr lang="en-US" altLang="zh-CN" sz="3200" dirty="0">
                <a:solidFill>
                  <a:srgbClr val="E25652"/>
                </a:solidFill>
              </a:rPr>
              <a:t>field</a:t>
            </a:r>
            <a:r>
              <a:rPr lang="zh-CN" altLang="en-US" sz="3200" dirty="0">
                <a:solidFill>
                  <a:srgbClr val="E25652"/>
                </a:solidFill>
              </a:rPr>
              <a:t>访问</a:t>
            </a:r>
            <a:endParaRPr lang="en-US" altLang="zh-CN" sz="3200" dirty="0">
              <a:solidFill>
                <a:srgbClr val="E25652"/>
              </a:solidFill>
            </a:endParaRPr>
          </a:p>
          <a:p>
            <a:pPr eaLnBrk="1" hangingPunct="1"/>
            <a:r>
              <a:rPr lang="en-US" altLang="zh-CN" sz="3200" dirty="0"/>
              <a:t>cell array</a:t>
            </a:r>
            <a:r>
              <a:rPr lang="zh-CN" altLang="en-US" sz="3200" dirty="0"/>
              <a:t>没有</a:t>
            </a:r>
            <a:r>
              <a:rPr lang="en-US" altLang="zh-CN" sz="3200" dirty="0"/>
              <a:t>field</a:t>
            </a:r>
            <a:r>
              <a:rPr lang="zh-CN" altLang="en-US" sz="3200" dirty="0"/>
              <a:t>，只能通过索引方式访问</a:t>
            </a:r>
          </a:p>
        </p:txBody>
      </p:sp>
      <p:sp>
        <p:nvSpPr>
          <p:cNvPr id="41988" name="TextBox 3"/>
          <p:cNvSpPr txBox="1">
            <a:spLocks noChangeArrowheads="1"/>
          </p:cNvSpPr>
          <p:nvPr/>
        </p:nvSpPr>
        <p:spPr bwMode="auto">
          <a:xfrm>
            <a:off x="1168400" y="3657600"/>
            <a:ext cx="28448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/>
              <a:t>如何创建？</a:t>
            </a:r>
            <a:endParaRPr lang="en-US" altLang="zh-CN" sz="32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/>
              <a:t>如何访问？</a:t>
            </a:r>
          </a:p>
        </p:txBody>
      </p:sp>
    </p:spTree>
    <p:extLst>
      <p:ext uri="{BB962C8B-B14F-4D97-AF65-F5344CB8AC3E}">
        <p14:creationId xmlns:p14="http://schemas.microsoft.com/office/powerpoint/2010/main" val="39908907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>
            <a:spLocks noChangeArrowheads="1"/>
          </p:cNvSpPr>
          <p:nvPr/>
        </p:nvSpPr>
        <p:spPr bwMode="auto">
          <a:xfrm>
            <a:off x="574766" y="782056"/>
            <a:ext cx="394557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&gt;&gt; </a:t>
            </a:r>
            <a:r>
              <a:rPr lang="en-US" altLang="zh-CN" dirty="0" err="1"/>
              <a:t>stu</a:t>
            </a:r>
            <a:r>
              <a:rPr lang="en-US" altLang="zh-CN" dirty="0" err="1">
                <a:solidFill>
                  <a:srgbClr val="FF0000"/>
                </a:solidFill>
              </a:rPr>
              <a:t>.scores</a:t>
            </a:r>
            <a:r>
              <a:rPr lang="en-US" altLang="zh-CN" dirty="0"/>
              <a:t>=[99 98 100]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 err="1"/>
              <a:t>stu</a:t>
            </a:r>
            <a:r>
              <a:rPr lang="en-US" altLang="zh-CN" dirty="0"/>
              <a:t>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scores: [99 98 100]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042072" y="782056"/>
            <a:ext cx="50546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&gt;&gt; </a:t>
            </a:r>
            <a:r>
              <a:rPr lang="en-US" altLang="zh-CN" dirty="0" err="1"/>
              <a:t>stu</a:t>
            </a:r>
            <a:r>
              <a:rPr lang="en-US" altLang="zh-CN" dirty="0">
                <a:solidFill>
                  <a:srgbClr val="FF0000"/>
                </a:solidFill>
              </a:rPr>
              <a:t>(2)</a:t>
            </a:r>
            <a:r>
              <a:rPr lang="en-US" altLang="zh-CN" dirty="0"/>
              <a:t>.scores=[89 100 88]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 err="1"/>
              <a:t>stu</a:t>
            </a:r>
            <a:r>
              <a:rPr lang="en-US" altLang="zh-CN" dirty="0"/>
              <a:t>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1x2 </a:t>
            </a:r>
            <a:r>
              <a:rPr lang="en-US" altLang="zh-CN" dirty="0" err="1">
                <a:solidFill>
                  <a:srgbClr val="FF0000"/>
                </a:solidFill>
              </a:rPr>
              <a:t>struct</a:t>
            </a:r>
            <a:r>
              <a:rPr lang="en-US" altLang="zh-CN" dirty="0">
                <a:solidFill>
                  <a:srgbClr val="FF0000"/>
                </a:solidFill>
              </a:rPr>
              <a:t> array </a:t>
            </a:r>
            <a:r>
              <a:rPr lang="en-US" altLang="zh-CN" dirty="0"/>
              <a:t>with fields: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scores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name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num</a:t>
            </a:r>
            <a:endParaRPr lang="en-US" altLang="zh-CN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4766" y="168258"/>
            <a:ext cx="322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变量名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zh-CN" altLang="en-US" b="1" dirty="0">
                <a:solidFill>
                  <a:srgbClr val="FF0000"/>
                </a:solidFill>
              </a:rPr>
              <a:t>域名 </a:t>
            </a:r>
            <a:r>
              <a:rPr lang="en-US" altLang="zh-CN" b="1" dirty="0">
                <a:solidFill>
                  <a:srgbClr val="FF0000"/>
                </a:solidFill>
              </a:rPr>
              <a:t>= value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4766" y="4127945"/>
            <a:ext cx="34889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</a:t>
            </a:r>
            <a:r>
              <a:rPr lang="en-US" altLang="zh-CN" sz="2800" dirty="0" err="1"/>
              <a:t>stu</a:t>
            </a:r>
            <a:r>
              <a:rPr lang="en-US" altLang="zh-CN" sz="2800" dirty="0" err="1">
                <a:solidFill>
                  <a:srgbClr val="FF0000"/>
                </a:solidFill>
              </a:rPr>
              <a:t>.num</a:t>
            </a:r>
            <a:r>
              <a:rPr lang="en-US" altLang="zh-CN" sz="2800" dirty="0"/>
              <a:t>=034099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err="1"/>
              <a:t>stu</a:t>
            </a:r>
            <a:r>
              <a:rPr lang="en-US" altLang="zh-CN" sz="2800" dirty="0"/>
              <a:t>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scores: [99 98 100]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  name: '</a:t>
            </a:r>
            <a:r>
              <a:rPr lang="en-US" altLang="zh-CN" sz="2800" dirty="0" err="1"/>
              <a:t>wang</a:t>
            </a:r>
            <a:r>
              <a:rPr lang="en-US" altLang="zh-CN" sz="2800" dirty="0"/>
              <a:t>'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   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: 34099</a:t>
            </a:r>
          </a:p>
        </p:txBody>
      </p:sp>
      <p:sp>
        <p:nvSpPr>
          <p:cNvPr id="3" name="矩形 2"/>
          <p:cNvSpPr/>
          <p:nvPr/>
        </p:nvSpPr>
        <p:spPr>
          <a:xfrm>
            <a:off x="574766" y="2239557"/>
            <a:ext cx="35008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stu</a:t>
            </a:r>
            <a:r>
              <a:rPr lang="en-US" altLang="zh-CN" sz="2800" dirty="0">
                <a:solidFill>
                  <a:srgbClr val="FF0000"/>
                </a:solidFill>
              </a:rPr>
              <a:t>.name</a:t>
            </a:r>
            <a:r>
              <a:rPr lang="en-US" altLang="zh-CN" sz="2800" dirty="0"/>
              <a:t>='</a:t>
            </a:r>
            <a:r>
              <a:rPr lang="en-US" altLang="zh-CN" sz="2800" dirty="0" err="1"/>
              <a:t>wang</a:t>
            </a:r>
            <a:r>
              <a:rPr lang="en-US" altLang="zh-CN" sz="2800" dirty="0"/>
              <a:t>'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err="1"/>
              <a:t>stu</a:t>
            </a:r>
            <a:r>
              <a:rPr lang="en-US" altLang="zh-CN" sz="2800" dirty="0"/>
              <a:t>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scores: [99 98 100]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  name: '</a:t>
            </a:r>
            <a:r>
              <a:rPr lang="en-US" altLang="zh-CN" sz="2800" dirty="0" err="1"/>
              <a:t>wang</a:t>
            </a:r>
            <a:r>
              <a:rPr lang="en-US" altLang="zh-CN" sz="2800" dirty="0"/>
              <a:t>'</a:t>
            </a:r>
          </a:p>
        </p:txBody>
      </p:sp>
      <p:sp>
        <p:nvSpPr>
          <p:cNvPr id="4" name="矩形 3"/>
          <p:cNvSpPr/>
          <p:nvPr/>
        </p:nvSpPr>
        <p:spPr>
          <a:xfrm>
            <a:off x="6042072" y="3478139"/>
            <a:ext cx="427758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&gt;&gt; </a:t>
            </a:r>
            <a:r>
              <a:rPr lang="en-US" altLang="zh-CN" sz="2800" dirty="0" err="1"/>
              <a:t>stu</a:t>
            </a:r>
            <a:r>
              <a:rPr lang="en-US" altLang="zh-CN" sz="2800" dirty="0">
                <a:solidFill>
                  <a:srgbClr val="FF0000"/>
                </a:solidFill>
              </a:rPr>
              <a:t>(2)</a:t>
            </a:r>
            <a:r>
              <a:rPr lang="en-US" altLang="zh-CN" sz="2800" dirty="0"/>
              <a:t>.</a:t>
            </a:r>
            <a:r>
              <a:rPr lang="en-US" altLang="zh-CN" sz="2800" dirty="0" err="1"/>
              <a:t>tel</a:t>
            </a:r>
            <a:r>
              <a:rPr lang="en-US" altLang="zh-CN" sz="2800" dirty="0"/>
              <a:t>='138100000'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err="1"/>
              <a:t>stu</a:t>
            </a:r>
            <a:r>
              <a:rPr lang="en-US" altLang="zh-CN" sz="2800" dirty="0"/>
              <a:t>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1x2 </a:t>
            </a:r>
            <a:r>
              <a:rPr lang="en-US" altLang="zh-CN" sz="2800" dirty="0" err="1"/>
              <a:t>struct</a:t>
            </a:r>
            <a:r>
              <a:rPr lang="en-US" altLang="zh-CN" sz="2800" dirty="0"/>
              <a:t> array with fields: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scores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name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num</a:t>
            </a:r>
            <a:endParaRPr lang="en-US" altLang="zh-CN" sz="28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tel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892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5" grpId="0"/>
      <p:bldP spid="6" grpId="0"/>
      <p:bldP spid="2" grpId="0"/>
      <p:bldP spid="3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矩形 3"/>
          <p:cNvSpPr>
            <a:spLocks noChangeArrowheads="1"/>
          </p:cNvSpPr>
          <p:nvPr/>
        </p:nvSpPr>
        <p:spPr bwMode="auto">
          <a:xfrm>
            <a:off x="709350" y="1413556"/>
            <a:ext cx="10541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teacher=</a:t>
            </a:r>
            <a:r>
              <a:rPr lang="en-US" altLang="zh-CN" b="1" dirty="0" err="1">
                <a:solidFill>
                  <a:srgbClr val="FF0000"/>
                </a:solidFill>
              </a:rPr>
              <a:t>struct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E25652"/>
                </a:solidFill>
              </a:rPr>
              <a:t>'name'</a:t>
            </a:r>
            <a:r>
              <a:rPr lang="en-US" altLang="zh-CN" b="1" dirty="0"/>
              <a:t>, 'li </a:t>
            </a:r>
            <a:r>
              <a:rPr lang="en-US" altLang="zh-CN" b="1" dirty="0" err="1"/>
              <a:t>ming</a:t>
            </a:r>
            <a:r>
              <a:rPr lang="en-US" altLang="zh-CN" b="1" dirty="0"/>
              <a:t>', </a:t>
            </a:r>
            <a:r>
              <a:rPr lang="en-US" altLang="zh-CN" b="1" dirty="0">
                <a:solidFill>
                  <a:srgbClr val="E25652"/>
                </a:solidFill>
              </a:rPr>
              <a:t>'id'</a:t>
            </a:r>
            <a:r>
              <a:rPr lang="en-US" altLang="zh-CN" b="1" dirty="0"/>
              <a:t>, 20110012, </a:t>
            </a:r>
            <a:r>
              <a:rPr lang="en-US" altLang="zh-CN" b="1" dirty="0">
                <a:solidFill>
                  <a:srgbClr val="E25652"/>
                </a:solidFill>
              </a:rPr>
              <a:t>'height'</a:t>
            </a:r>
            <a:r>
              <a:rPr lang="en-US" altLang="zh-CN" b="1" dirty="0"/>
              <a:t>, 1.78)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teacher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  name: 'li </a:t>
            </a:r>
            <a:r>
              <a:rPr lang="en-US" altLang="zh-CN" b="1" dirty="0" err="1"/>
              <a:t>ming</a:t>
            </a:r>
            <a:r>
              <a:rPr lang="en-US" altLang="zh-CN" b="1" dirty="0"/>
              <a:t>'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    id: 20110012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height: 1.7800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709350" y="3813742"/>
            <a:ext cx="735039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&gt;&gt; stu=</a:t>
            </a:r>
            <a:r>
              <a:rPr lang="zh-CN" altLang="en-US" sz="2800" b="1" dirty="0">
                <a:solidFill>
                  <a:srgbClr val="FF0000"/>
                </a:solidFill>
              </a:rPr>
              <a:t>struct</a:t>
            </a:r>
            <a:r>
              <a:rPr lang="zh-CN" altLang="en-US" sz="2800" b="1" dirty="0"/>
              <a:t>(</a:t>
            </a:r>
            <a:r>
              <a:rPr lang="zh-CN" altLang="en-US" sz="2800" b="1" dirty="0">
                <a:solidFill>
                  <a:srgbClr val="E25652"/>
                </a:solidFill>
              </a:rPr>
              <a:t>'scores'</a:t>
            </a:r>
            <a:r>
              <a:rPr lang="zh-CN" altLang="en-US" sz="2800" b="1" dirty="0"/>
              <a:t>, [], </a:t>
            </a:r>
            <a:r>
              <a:rPr lang="zh-CN" altLang="en-US" sz="2800" b="1" dirty="0">
                <a:solidFill>
                  <a:srgbClr val="E25652"/>
                </a:solidFill>
              </a:rPr>
              <a:t>'name'</a:t>
            </a:r>
            <a:r>
              <a:rPr lang="zh-CN" altLang="en-US" sz="2800" b="1" dirty="0"/>
              <a:t>, [], </a:t>
            </a:r>
            <a:r>
              <a:rPr lang="zh-CN" altLang="en-US" sz="2800" b="1" dirty="0">
                <a:solidFill>
                  <a:srgbClr val="E25652"/>
                </a:solidFill>
              </a:rPr>
              <a:t>'num'</a:t>
            </a:r>
            <a:r>
              <a:rPr lang="zh-CN" altLang="en-US" sz="2800" b="1" dirty="0"/>
              <a:t>, [])</a:t>
            </a:r>
          </a:p>
          <a:p>
            <a:r>
              <a:rPr lang="zh-CN" altLang="en-US" sz="2800" b="1" dirty="0"/>
              <a:t>stu = </a:t>
            </a:r>
          </a:p>
          <a:p>
            <a:r>
              <a:rPr lang="zh-CN" altLang="en-US" sz="2800" b="1" dirty="0"/>
              <a:t>    scores: []</a:t>
            </a:r>
          </a:p>
          <a:p>
            <a:r>
              <a:rPr lang="zh-CN" altLang="en-US" sz="2800" b="1" dirty="0"/>
              <a:t>    name: []</a:t>
            </a:r>
          </a:p>
          <a:p>
            <a:r>
              <a:rPr lang="zh-CN" altLang="en-US" sz="2800" b="1" dirty="0"/>
              <a:t>    num: []</a:t>
            </a:r>
          </a:p>
        </p:txBody>
      </p:sp>
      <p:sp>
        <p:nvSpPr>
          <p:cNvPr id="8" name="矩形 7"/>
          <p:cNvSpPr/>
          <p:nvPr/>
        </p:nvSpPr>
        <p:spPr>
          <a:xfrm>
            <a:off x="709350" y="598712"/>
            <a:ext cx="90765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404040"/>
                </a:solidFill>
                <a:latin typeface="Menlo"/>
              </a:rPr>
              <a:t>s = </a:t>
            </a:r>
            <a:r>
              <a:rPr lang="en-US" altLang="zh-CN" sz="3200" b="1" dirty="0" err="1">
                <a:solidFill>
                  <a:srgbClr val="404040"/>
                </a:solidFill>
                <a:latin typeface="Menlo"/>
              </a:rPr>
              <a:t>struct</a:t>
            </a:r>
            <a:r>
              <a:rPr lang="en-US" altLang="zh-CN" sz="3200" b="1" dirty="0">
                <a:solidFill>
                  <a:srgbClr val="404040"/>
                </a:solidFill>
                <a:latin typeface="Menlo"/>
              </a:rPr>
              <a:t>(</a:t>
            </a:r>
            <a:r>
              <a:rPr lang="en-US" altLang="zh-CN" sz="3200" b="1" dirty="0">
                <a:solidFill>
                  <a:srgbClr val="E25652"/>
                </a:solidFill>
                <a:latin typeface="Menlo"/>
              </a:rPr>
              <a:t>field1,value1</a:t>
            </a:r>
            <a:r>
              <a:rPr lang="en-US" altLang="zh-CN" sz="3200" b="1" dirty="0">
                <a:solidFill>
                  <a:srgbClr val="404040"/>
                </a:solidFill>
                <a:latin typeface="Menlo"/>
              </a:rPr>
              <a:t>,...,</a:t>
            </a:r>
            <a:r>
              <a:rPr lang="en-US" altLang="zh-CN" sz="3200" b="1" dirty="0" err="1">
                <a:solidFill>
                  <a:srgbClr val="E25652"/>
                </a:solidFill>
                <a:latin typeface="Menlo"/>
              </a:rPr>
              <a:t>fieldN,valueN</a:t>
            </a:r>
            <a:r>
              <a:rPr lang="en-US" altLang="zh-CN" sz="3200" b="1" dirty="0">
                <a:solidFill>
                  <a:srgbClr val="404040"/>
                </a:solidFill>
                <a:latin typeface="Menlo"/>
              </a:rPr>
              <a:t>)</a:t>
            </a:r>
            <a:endParaRPr lang="zh-CN" altLang="en-US" sz="3200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3156859" y="27334"/>
            <a:ext cx="2495004" cy="663152"/>
            <a:chOff x="3156859" y="17502"/>
            <a:chExt cx="2495004" cy="663152"/>
          </a:xfrm>
        </p:grpSpPr>
        <p:sp>
          <p:nvSpPr>
            <p:cNvPr id="7" name="右大括号 6"/>
            <p:cNvSpPr/>
            <p:nvPr/>
          </p:nvSpPr>
          <p:spPr>
            <a:xfrm rot="16200000">
              <a:off x="4207385" y="-763824"/>
              <a:ext cx="393952" cy="2495004"/>
            </a:xfrm>
            <a:prstGeom prst="rightBrace">
              <a:avLst>
                <a:gd name="adj1" fmla="val 3229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400862" y="17502"/>
              <a:ext cx="22510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pairs</a:t>
              </a:r>
              <a:r>
                <a:rPr lang="zh-CN" altLang="en-US" sz="2000" b="1" dirty="0"/>
                <a:t>（结对出现）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014651" y="1878802"/>
            <a:ext cx="4615543" cy="1048914"/>
            <a:chOff x="4014651" y="1878802"/>
            <a:chExt cx="4615543" cy="1048914"/>
          </a:xfrm>
        </p:grpSpPr>
        <p:sp>
          <p:nvSpPr>
            <p:cNvPr id="11" name="文本框 10"/>
            <p:cNvSpPr txBox="1"/>
            <p:nvPr/>
          </p:nvSpPr>
          <p:spPr>
            <a:xfrm>
              <a:off x="4526362" y="2466051"/>
              <a:ext cx="25827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E25652"/>
                  </a:solidFill>
                </a:rPr>
                <a:t>field</a:t>
              </a:r>
              <a:r>
                <a:rPr lang="zh-CN" altLang="en-US" sz="2400" dirty="0">
                  <a:solidFill>
                    <a:srgbClr val="E25652"/>
                  </a:solidFill>
                </a:rPr>
                <a:t>必须是字符串</a:t>
              </a:r>
            </a:p>
          </p:txBody>
        </p:sp>
        <p:cxnSp>
          <p:nvCxnSpPr>
            <p:cNvPr id="13" name="直接箭头连接符 12"/>
            <p:cNvCxnSpPr>
              <a:stCxn id="11" idx="1"/>
            </p:cNvCxnSpPr>
            <p:nvPr/>
          </p:nvCxnSpPr>
          <p:spPr>
            <a:xfrm flipH="1" flipV="1">
              <a:off x="4014651" y="1878802"/>
              <a:ext cx="511711" cy="818082"/>
            </a:xfrm>
            <a:prstGeom prst="straightConnector1">
              <a:avLst/>
            </a:prstGeom>
            <a:ln w="38100">
              <a:solidFill>
                <a:srgbClr val="E256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11" idx="0"/>
            </p:cNvCxnSpPr>
            <p:nvPr/>
          </p:nvCxnSpPr>
          <p:spPr>
            <a:xfrm flipV="1">
              <a:off x="5817741" y="1878802"/>
              <a:ext cx="427136" cy="587249"/>
            </a:xfrm>
            <a:prstGeom prst="straightConnector1">
              <a:avLst/>
            </a:prstGeom>
            <a:ln w="38100">
              <a:solidFill>
                <a:srgbClr val="E256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1" idx="3"/>
            </p:cNvCxnSpPr>
            <p:nvPr/>
          </p:nvCxnSpPr>
          <p:spPr>
            <a:xfrm flipV="1">
              <a:off x="7109120" y="1878802"/>
              <a:ext cx="1521074" cy="818082"/>
            </a:xfrm>
            <a:prstGeom prst="straightConnector1">
              <a:avLst/>
            </a:prstGeom>
            <a:ln w="38100">
              <a:solidFill>
                <a:srgbClr val="E256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504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188131" cy="827949"/>
          </a:xfrm>
        </p:spPr>
        <p:txBody>
          <a:bodyPr/>
          <a:lstStyle/>
          <a:p>
            <a:r>
              <a:rPr lang="en-US" altLang="zh-CN" dirty="0" err="1"/>
              <a:t>struct</a:t>
            </a:r>
            <a:r>
              <a:rPr lang="zh-CN" altLang="en-US" dirty="0"/>
              <a:t>创建总结：</a:t>
            </a:r>
          </a:p>
        </p:txBody>
      </p:sp>
      <p:sp>
        <p:nvSpPr>
          <p:cNvPr id="4" name="TextBox 4"/>
          <p:cNvSpPr txBox="1">
            <a:spLocks noGrp="1" noChangeArrowheads="1"/>
          </p:cNvSpPr>
          <p:nvPr>
            <p:ph idx="1"/>
          </p:nvPr>
        </p:nvSpPr>
        <p:spPr bwMode="auto">
          <a:xfrm>
            <a:off x="838200" y="1546950"/>
            <a:ext cx="6389914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dirty="0"/>
              <a:t>两种创建方式：</a:t>
            </a:r>
            <a:endParaRPr lang="en-US" altLang="zh-CN" sz="36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/>
              <a:t>1</a:t>
            </a:r>
            <a:r>
              <a:rPr lang="zh-CN" altLang="en-US" sz="3600" dirty="0"/>
              <a:t>、直接赋值，动态添加</a:t>
            </a:r>
            <a:r>
              <a:rPr lang="en-US" altLang="zh-CN" sz="3600" dirty="0"/>
              <a:t>field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/>
              <a:t>2</a:t>
            </a:r>
            <a:r>
              <a:rPr lang="zh-CN" altLang="en-US" sz="3600" dirty="0"/>
              <a:t>、通过</a:t>
            </a:r>
            <a:r>
              <a:rPr lang="en-US" altLang="zh-CN" sz="3600" dirty="0" err="1"/>
              <a:t>struct</a:t>
            </a:r>
            <a:r>
              <a:rPr lang="zh-CN" altLang="en-US" sz="3600" dirty="0"/>
              <a:t>函数创建</a:t>
            </a:r>
          </a:p>
        </p:txBody>
      </p:sp>
    </p:spTree>
    <p:extLst>
      <p:ext uri="{BB962C8B-B14F-4D97-AF65-F5344CB8AC3E}">
        <p14:creationId xmlns:p14="http://schemas.microsoft.com/office/powerpoint/2010/main" val="39871323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844040" cy="1325563"/>
          </a:xfrm>
        </p:spPr>
        <p:txBody>
          <a:bodyPr/>
          <a:lstStyle/>
          <a:p>
            <a:pPr eaLnBrk="1" hangingPunct="1"/>
            <a:r>
              <a:rPr lang="zh-CN" altLang="en-US" dirty="0"/>
              <a:t>访问</a:t>
            </a:r>
          </a:p>
        </p:txBody>
      </p:sp>
      <p:sp>
        <p:nvSpPr>
          <p:cNvPr id="45059" name="矩形 3"/>
          <p:cNvSpPr>
            <a:spLocks noChangeArrowheads="1"/>
          </p:cNvSpPr>
          <p:nvPr/>
        </p:nvSpPr>
        <p:spPr bwMode="auto">
          <a:xfrm>
            <a:off x="4203357" y="365125"/>
            <a:ext cx="4496799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&gt;&gt; </a:t>
            </a:r>
            <a:r>
              <a:rPr lang="fr-FR" altLang="zh-CN" sz="3200" dirty="0">
                <a:solidFill>
                  <a:srgbClr val="FF0000"/>
                </a:solidFill>
              </a:rPr>
              <a:t>stu(1).scores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ans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    99    98   100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&gt;&gt; </a:t>
            </a:r>
            <a:r>
              <a:rPr lang="fr-FR" altLang="zh-CN" sz="3200" dirty="0">
                <a:solidFill>
                  <a:srgbClr val="FF0000"/>
                </a:solidFill>
              </a:rPr>
              <a:t>stu(2).scores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ans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    89   100    88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&gt;&gt; </a:t>
            </a:r>
            <a:r>
              <a:rPr lang="fr-FR" altLang="zh-CN" sz="3200" dirty="0">
                <a:solidFill>
                  <a:srgbClr val="FF0000"/>
                </a:solidFill>
              </a:rPr>
              <a:t>stu.scores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ans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    99    98   100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ans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3200" dirty="0"/>
              <a:t>    89   100    88</a:t>
            </a:r>
            <a:endParaRPr lang="zh-CN" altLang="en-US" sz="3200" dirty="0"/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539931" y="1509378"/>
            <a:ext cx="322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变量名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zh-CN" altLang="en-US" b="1" dirty="0">
                <a:solidFill>
                  <a:srgbClr val="FF0000"/>
                </a:solidFill>
              </a:rPr>
              <a:t>域名</a:t>
            </a:r>
          </a:p>
        </p:txBody>
      </p:sp>
    </p:spTree>
    <p:extLst>
      <p:ext uri="{BB962C8B-B14F-4D97-AF65-F5344CB8AC3E}">
        <p14:creationId xmlns:p14="http://schemas.microsoft.com/office/powerpoint/2010/main" val="42393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/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1089060" y="92468"/>
            <a:ext cx="6226139" cy="1325563"/>
          </a:xfrm>
        </p:spPr>
        <p:txBody>
          <a:bodyPr/>
          <a:lstStyle/>
          <a:p>
            <a:pPr eaLnBrk="1" hangingPunct="1"/>
            <a:r>
              <a:rPr lang="en-US" altLang="zh-CN" dirty="0"/>
              <a:t>Struct array</a:t>
            </a:r>
            <a:r>
              <a:rPr lang="zh-CN" altLang="en-US" dirty="0"/>
              <a:t>相关函数</a:t>
            </a:r>
          </a:p>
        </p:txBody>
      </p:sp>
      <p:sp>
        <p:nvSpPr>
          <p:cNvPr id="46083" name="矩形 3"/>
          <p:cNvSpPr>
            <a:spLocks noChangeArrowheads="1"/>
          </p:cNvSpPr>
          <p:nvPr/>
        </p:nvSpPr>
        <p:spPr bwMode="auto">
          <a:xfrm>
            <a:off x="736315" y="1325563"/>
            <a:ext cx="509940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&gt;&gt; </a:t>
            </a:r>
            <a:r>
              <a:rPr lang="en-US" altLang="zh-CN" sz="3200" dirty="0" err="1">
                <a:solidFill>
                  <a:srgbClr val="FF0000"/>
                </a:solidFill>
              </a:rPr>
              <a:t>isfield</a:t>
            </a:r>
            <a:r>
              <a:rPr lang="en-US" altLang="zh-CN" sz="3200" dirty="0"/>
              <a:t>(</a:t>
            </a:r>
            <a:r>
              <a:rPr lang="en-US" altLang="zh-CN" sz="3200" dirty="0" err="1"/>
              <a:t>stu</a:t>
            </a:r>
            <a:r>
              <a:rPr lang="en-US" altLang="zh-CN" sz="3200" dirty="0"/>
              <a:t>,'name')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 err="1"/>
              <a:t>ans</a:t>
            </a:r>
            <a:r>
              <a:rPr lang="en-US" altLang="zh-CN" sz="3200" dirty="0"/>
              <a:t> =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     1</a:t>
            </a:r>
          </a:p>
        </p:txBody>
      </p:sp>
      <p:sp>
        <p:nvSpPr>
          <p:cNvPr id="2" name="矩形 1"/>
          <p:cNvSpPr/>
          <p:nvPr/>
        </p:nvSpPr>
        <p:spPr>
          <a:xfrm>
            <a:off x="5849810" y="1325563"/>
            <a:ext cx="36130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&gt;&gt; </a:t>
            </a:r>
            <a:r>
              <a:rPr lang="en-US" altLang="zh-CN" sz="3200" dirty="0" err="1">
                <a:solidFill>
                  <a:srgbClr val="FF0000"/>
                </a:solidFill>
              </a:rPr>
              <a:t>isfield</a:t>
            </a:r>
            <a:r>
              <a:rPr lang="en-US" altLang="zh-CN" sz="3200" dirty="0"/>
              <a:t>(</a:t>
            </a:r>
            <a:r>
              <a:rPr lang="en-US" altLang="zh-CN" sz="3200" dirty="0" err="1"/>
              <a:t>st</a:t>
            </a:r>
            <a:r>
              <a:rPr lang="en-US" altLang="zh-CN" sz="3200" dirty="0"/>
              <a:t>,'name')</a:t>
            </a:r>
          </a:p>
          <a:p>
            <a:r>
              <a:rPr lang="en-US" altLang="zh-CN" sz="3200" dirty="0" err="1"/>
              <a:t>ans</a:t>
            </a:r>
            <a:r>
              <a:rPr lang="en-US" altLang="zh-CN" sz="3200" dirty="0"/>
              <a:t> =</a:t>
            </a:r>
          </a:p>
          <a:p>
            <a:r>
              <a:rPr lang="en-US" altLang="zh-CN" sz="3200" dirty="0"/>
              <a:t>     0</a:t>
            </a:r>
          </a:p>
        </p:txBody>
      </p:sp>
      <p:sp>
        <p:nvSpPr>
          <p:cNvPr id="3" name="矩形 2"/>
          <p:cNvSpPr/>
          <p:nvPr/>
        </p:nvSpPr>
        <p:spPr>
          <a:xfrm>
            <a:off x="736315" y="2987691"/>
            <a:ext cx="480713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&gt;&gt; s=</a:t>
            </a:r>
            <a:r>
              <a:rPr lang="en-US" altLang="zh-CN" sz="3200" dirty="0" err="1">
                <a:solidFill>
                  <a:srgbClr val="FF0000"/>
                </a:solidFill>
              </a:rPr>
              <a:t>rmfield</a:t>
            </a:r>
            <a:r>
              <a:rPr lang="en-US" altLang="zh-CN" sz="3200" dirty="0"/>
              <a:t>(</a:t>
            </a:r>
            <a:r>
              <a:rPr lang="en-US" altLang="zh-CN" sz="3200" dirty="0" err="1"/>
              <a:t>stu</a:t>
            </a:r>
            <a:r>
              <a:rPr lang="en-US" altLang="zh-CN" sz="3200" dirty="0"/>
              <a:t>,‘name‘)</a:t>
            </a:r>
            <a:r>
              <a:rPr lang="zh-CN" altLang="en-US" sz="3200" dirty="0"/>
              <a:t>（</a:t>
            </a:r>
            <a:r>
              <a:rPr lang="en-US" altLang="zh-CN" sz="3200" dirty="0" err="1">
                <a:solidFill>
                  <a:srgbClr val="FF0000"/>
                </a:solidFill>
              </a:rPr>
              <a:t>rm</a:t>
            </a:r>
            <a:r>
              <a:rPr lang="en-US" altLang="zh-CN" sz="3200" dirty="0">
                <a:solidFill>
                  <a:srgbClr val="FF0000"/>
                </a:solidFill>
              </a:rPr>
              <a:t>=remove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s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1x2 </a:t>
            </a:r>
            <a:r>
              <a:rPr lang="en-US" altLang="zh-CN" sz="3200" dirty="0" err="1"/>
              <a:t>struct</a:t>
            </a:r>
            <a:r>
              <a:rPr lang="en-US" altLang="zh-CN" sz="3200" dirty="0"/>
              <a:t> array with fields: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    scores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    </a:t>
            </a:r>
            <a:r>
              <a:rPr lang="en-US" altLang="zh-CN" sz="3200" dirty="0" err="1"/>
              <a:t>num</a:t>
            </a:r>
            <a:endParaRPr lang="en-US" altLang="zh-CN" sz="32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/>
              <a:t>    </a:t>
            </a:r>
            <a:r>
              <a:rPr lang="en-US" altLang="zh-CN" sz="3200" dirty="0" err="1"/>
              <a:t>tel</a:t>
            </a:r>
            <a:endParaRPr lang="en-US" altLang="zh-CN" sz="3200" dirty="0"/>
          </a:p>
        </p:txBody>
      </p:sp>
      <p:sp>
        <p:nvSpPr>
          <p:cNvPr id="4" name="矩形 3"/>
          <p:cNvSpPr/>
          <p:nvPr/>
        </p:nvSpPr>
        <p:spPr>
          <a:xfrm>
            <a:off x="5835721" y="3080159"/>
            <a:ext cx="424009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&gt;&gt; names=</a:t>
            </a:r>
            <a:r>
              <a:rPr lang="en-US" altLang="zh-CN" sz="3200" dirty="0">
                <a:solidFill>
                  <a:srgbClr val="FF0000"/>
                </a:solidFill>
              </a:rPr>
              <a:t>fieldnames</a:t>
            </a:r>
            <a:r>
              <a:rPr lang="en-US" altLang="zh-CN" sz="3200" dirty="0"/>
              <a:t>(s)</a:t>
            </a:r>
          </a:p>
          <a:p>
            <a:r>
              <a:rPr lang="en-US" altLang="zh-CN" sz="3200" dirty="0"/>
              <a:t>names = </a:t>
            </a:r>
          </a:p>
          <a:p>
            <a:r>
              <a:rPr lang="en-US" altLang="zh-CN" sz="3200" dirty="0"/>
              <a:t>    'scores'</a:t>
            </a:r>
          </a:p>
          <a:p>
            <a:r>
              <a:rPr lang="en-US" altLang="zh-CN" sz="3200" dirty="0"/>
              <a:t>    '</a:t>
            </a:r>
            <a:r>
              <a:rPr lang="en-US" altLang="zh-CN" sz="3200" dirty="0" err="1"/>
              <a:t>num</a:t>
            </a:r>
            <a:r>
              <a:rPr lang="en-US" altLang="zh-CN" sz="3200" dirty="0"/>
              <a:t>'</a:t>
            </a:r>
          </a:p>
          <a:p>
            <a:r>
              <a:rPr lang="en-US" altLang="zh-CN" sz="3200" dirty="0"/>
              <a:t>    '</a:t>
            </a:r>
            <a:r>
              <a:rPr lang="en-US" altLang="zh-CN" sz="3200" dirty="0" err="1"/>
              <a:t>tel</a:t>
            </a:r>
            <a:r>
              <a:rPr lang="en-US" altLang="zh-CN" sz="3200" dirty="0"/>
              <a:t>'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7670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2" grpId="0"/>
      <p:bldP spid="3" grpId="0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矩形 3"/>
          <p:cNvSpPr>
            <a:spLocks noChangeArrowheads="1"/>
          </p:cNvSpPr>
          <p:nvPr/>
        </p:nvSpPr>
        <p:spPr bwMode="auto">
          <a:xfrm>
            <a:off x="980611" y="1344844"/>
            <a:ext cx="42164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A(1,1)={'</a:t>
            </a:r>
            <a:r>
              <a:rPr lang="en-US" altLang="zh-CN" b="1" dirty="0" err="1"/>
              <a:t>xiaoming</a:t>
            </a:r>
            <a:r>
              <a:rPr lang="en-US" altLang="zh-CN" b="1" dirty="0"/>
              <a:t>'};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A(1,2)={[89 100 99]};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A{1,3}=30110;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b="1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b="1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B.name='</a:t>
            </a:r>
            <a:r>
              <a:rPr lang="en-US" altLang="zh-CN" b="1" dirty="0" err="1"/>
              <a:t>xiaoming</a:t>
            </a:r>
            <a:r>
              <a:rPr lang="en-US" altLang="zh-CN" b="1" dirty="0"/>
              <a:t>';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</a:t>
            </a:r>
            <a:r>
              <a:rPr lang="en-US" altLang="zh-CN" b="1" dirty="0" err="1"/>
              <a:t>B.scores</a:t>
            </a:r>
            <a:r>
              <a:rPr lang="en-US" altLang="zh-CN" b="1" dirty="0"/>
              <a:t>=[89 100 99];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</a:t>
            </a:r>
            <a:r>
              <a:rPr lang="en-US" altLang="zh-CN" b="1" dirty="0" err="1"/>
              <a:t>B.num</a:t>
            </a:r>
            <a:r>
              <a:rPr lang="en-US" altLang="zh-CN" b="1" dirty="0"/>
              <a:t>=30110;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034212" y="1176686"/>
            <a:ext cx="3501674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</a:t>
            </a:r>
            <a:r>
              <a:rPr lang="en-US" altLang="zh-CN" b="1" dirty="0" err="1"/>
              <a:t>celldisp</a:t>
            </a:r>
            <a:r>
              <a:rPr lang="en-US" altLang="zh-CN" b="1" dirty="0"/>
              <a:t>(A)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A{1} =    </a:t>
            </a:r>
            <a:r>
              <a:rPr lang="en-US" altLang="zh-CN" b="1" dirty="0" err="1"/>
              <a:t>xiaoming</a:t>
            </a:r>
            <a:endParaRPr lang="en-US" altLang="zh-CN" b="1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A{2} =    89   100    99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A{3} =    30110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b="1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B =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  name: '</a:t>
            </a:r>
            <a:r>
              <a:rPr lang="en-US" altLang="zh-CN" b="1" dirty="0" err="1"/>
              <a:t>xiaoming</a:t>
            </a:r>
            <a:r>
              <a:rPr lang="en-US" altLang="zh-CN" b="1" dirty="0"/>
              <a:t>'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scores: [89 100 99]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       </a:t>
            </a:r>
            <a:r>
              <a:rPr lang="en-US" altLang="zh-CN" b="1" dirty="0" err="1"/>
              <a:t>num</a:t>
            </a:r>
            <a:r>
              <a:rPr lang="en-US" altLang="zh-CN" b="1" dirty="0"/>
              <a:t>: 30110</a:t>
            </a:r>
          </a:p>
        </p:txBody>
      </p:sp>
      <p:sp>
        <p:nvSpPr>
          <p:cNvPr id="2" name="矩形 1"/>
          <p:cNvSpPr/>
          <p:nvPr/>
        </p:nvSpPr>
        <p:spPr>
          <a:xfrm>
            <a:off x="3088811" y="345555"/>
            <a:ext cx="50073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E25652"/>
                </a:solidFill>
              </a:rPr>
              <a:t>Cell Array</a:t>
            </a:r>
            <a:r>
              <a:rPr lang="zh-CN" altLang="en-US" sz="3200" b="1" dirty="0">
                <a:solidFill>
                  <a:srgbClr val="E25652"/>
                </a:solidFill>
              </a:rPr>
              <a:t>和</a:t>
            </a:r>
            <a:r>
              <a:rPr lang="en-US" altLang="zh-CN" sz="3200" b="1" dirty="0" err="1">
                <a:solidFill>
                  <a:srgbClr val="E25652"/>
                </a:solidFill>
              </a:rPr>
              <a:t>struct</a:t>
            </a:r>
            <a:r>
              <a:rPr lang="en-US" altLang="zh-CN" sz="3200" b="1" dirty="0">
                <a:solidFill>
                  <a:srgbClr val="E25652"/>
                </a:solidFill>
              </a:rPr>
              <a:t> array</a:t>
            </a:r>
            <a:r>
              <a:rPr lang="zh-CN" altLang="en-US" sz="3200" b="1" dirty="0">
                <a:solidFill>
                  <a:srgbClr val="E25652"/>
                </a:solidFill>
              </a:rPr>
              <a:t>对比</a:t>
            </a:r>
            <a:endParaRPr lang="zh-CN" altLang="en-US" sz="3200" dirty="0">
              <a:solidFill>
                <a:srgbClr val="E256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17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88811" y="345555"/>
            <a:ext cx="50073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E25652"/>
                </a:solidFill>
              </a:rPr>
              <a:t>Cell Array</a:t>
            </a:r>
            <a:r>
              <a:rPr lang="zh-CN" altLang="en-US" sz="3200" b="1" dirty="0">
                <a:solidFill>
                  <a:srgbClr val="E25652"/>
                </a:solidFill>
              </a:rPr>
              <a:t>和</a:t>
            </a:r>
            <a:r>
              <a:rPr lang="en-US" altLang="zh-CN" sz="3200" b="1" dirty="0" err="1">
                <a:solidFill>
                  <a:srgbClr val="E25652"/>
                </a:solidFill>
              </a:rPr>
              <a:t>struct</a:t>
            </a:r>
            <a:r>
              <a:rPr lang="en-US" altLang="zh-CN" sz="3200" b="1" dirty="0">
                <a:solidFill>
                  <a:srgbClr val="E25652"/>
                </a:solidFill>
              </a:rPr>
              <a:t> array</a:t>
            </a:r>
            <a:r>
              <a:rPr lang="zh-CN" altLang="en-US" sz="3200" b="1" dirty="0">
                <a:solidFill>
                  <a:srgbClr val="E25652"/>
                </a:solidFill>
              </a:rPr>
              <a:t>对比</a:t>
            </a:r>
            <a:endParaRPr lang="zh-CN" altLang="en-US" sz="3200" dirty="0">
              <a:solidFill>
                <a:srgbClr val="E2565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0094" y="930330"/>
            <a:ext cx="94248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3600"/>
              <a:t>相同点：Both cell and structure arrays allow you to store data of different types and sizes.</a:t>
            </a:r>
          </a:p>
        </p:txBody>
      </p:sp>
      <p:sp>
        <p:nvSpPr>
          <p:cNvPr id="7" name="矩形 6"/>
          <p:cNvSpPr/>
          <p:nvPr/>
        </p:nvSpPr>
        <p:spPr>
          <a:xfrm>
            <a:off x="880093" y="2621140"/>
            <a:ext cx="94248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3600" dirty="0"/>
              <a:t>区别：</a:t>
            </a:r>
            <a:endParaRPr lang="en-US" altLang="zh-CN" sz="3600" dirty="0"/>
          </a:p>
          <a:p>
            <a:pPr marL="1200150" lvl="1" indent="-742950">
              <a:buFont typeface="+mj-lt"/>
              <a:buAutoNum type="arabicPeriod"/>
            </a:pPr>
            <a:r>
              <a:rPr lang="zh-CN" altLang="en-US" sz="3600" dirty="0"/>
              <a:t>访问方式不同：</a:t>
            </a:r>
            <a:br>
              <a:rPr lang="en-US" altLang="zh-CN" sz="3600" dirty="0"/>
            </a:br>
            <a:r>
              <a:rPr lang="en-US" altLang="zh-CN" sz="3600" dirty="0"/>
              <a:t>Structure array</a:t>
            </a:r>
            <a:r>
              <a:rPr lang="zh-CN" altLang="en-US" sz="3600" dirty="0"/>
              <a:t>：</a:t>
            </a:r>
            <a:r>
              <a:rPr lang="en-US" altLang="zh-CN" sz="3600" dirty="0"/>
              <a:t>access by </a:t>
            </a:r>
            <a:r>
              <a:rPr lang="en-US" altLang="zh-CN" sz="3600" dirty="0">
                <a:solidFill>
                  <a:srgbClr val="FF0000"/>
                </a:solidFill>
              </a:rPr>
              <a:t>field name</a:t>
            </a:r>
            <a:br>
              <a:rPr lang="en-US" altLang="zh-CN" sz="3600" dirty="0">
                <a:solidFill>
                  <a:srgbClr val="FF0000"/>
                </a:solidFill>
              </a:rPr>
            </a:br>
            <a:r>
              <a:rPr lang="en-US" altLang="zh-CN" sz="3600" dirty="0"/>
              <a:t>Cell array</a:t>
            </a:r>
            <a:r>
              <a:rPr lang="zh-CN" altLang="en-US" sz="3600" dirty="0"/>
              <a:t>：</a:t>
            </a:r>
            <a:r>
              <a:rPr lang="en-US" altLang="zh-CN" sz="3600" dirty="0"/>
              <a:t>access by </a:t>
            </a:r>
            <a:r>
              <a:rPr lang="en-US" altLang="zh-CN" sz="3600" dirty="0">
                <a:solidFill>
                  <a:srgbClr val="FF0000"/>
                </a:solidFill>
              </a:rPr>
              <a:t>numeric indexing</a:t>
            </a:r>
          </a:p>
        </p:txBody>
      </p:sp>
    </p:spTree>
    <p:extLst>
      <p:ext uri="{BB962C8B-B14F-4D97-AF65-F5344CB8AC3E}">
        <p14:creationId xmlns:p14="http://schemas.microsoft.com/office/powerpoint/2010/main" val="13248886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矩形 3"/>
          <p:cNvSpPr>
            <a:spLocks noChangeArrowheads="1"/>
          </p:cNvSpPr>
          <p:nvPr/>
        </p:nvSpPr>
        <p:spPr bwMode="auto">
          <a:xfrm>
            <a:off x="536474" y="2015404"/>
            <a:ext cx="42164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A(1,1)={'</a:t>
            </a:r>
            <a:r>
              <a:rPr lang="en-US" altLang="zh-CN" b="1" dirty="0" err="1"/>
              <a:t>xiaoming</a:t>
            </a:r>
            <a:r>
              <a:rPr lang="en-US" altLang="zh-CN" b="1" dirty="0"/>
              <a:t>'};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A(1,2)={[89 100 99]};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A{1,3}=30110;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B.name='</a:t>
            </a:r>
            <a:r>
              <a:rPr lang="en-US" altLang="zh-CN" b="1" dirty="0" err="1"/>
              <a:t>xiaoming</a:t>
            </a:r>
            <a:r>
              <a:rPr lang="en-US" altLang="zh-CN" b="1" dirty="0"/>
              <a:t>';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</a:t>
            </a:r>
            <a:r>
              <a:rPr lang="en-US" altLang="zh-CN" b="1" dirty="0" err="1"/>
              <a:t>B.scores</a:t>
            </a:r>
            <a:r>
              <a:rPr lang="en-US" altLang="zh-CN" b="1" dirty="0"/>
              <a:t>=[89 100 99];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/>
              <a:t>&gt;&gt; </a:t>
            </a:r>
            <a:r>
              <a:rPr lang="en-US" altLang="zh-CN" b="1" dirty="0" err="1"/>
              <a:t>B.num</a:t>
            </a:r>
            <a:r>
              <a:rPr lang="en-US" altLang="zh-CN" b="1" dirty="0"/>
              <a:t>=30110;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752874" y="2015404"/>
            <a:ext cx="591512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&gt;&gt; </a:t>
            </a:r>
            <a:r>
              <a:rPr lang="en-US" altLang="zh-CN" sz="2800" b="1" dirty="0" err="1">
                <a:latin typeface="Calibri" panose="020F0502020204030204" pitchFamily="34" charset="0"/>
                <a:ea typeface="宋体" panose="02010600030101010101" pitchFamily="2" charset="-122"/>
              </a:rPr>
              <a:t>whos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A B</a:t>
            </a:r>
          </a:p>
          <a:p>
            <a:pPr>
              <a:spcBef>
                <a:spcPct val="0"/>
              </a:spcBef>
            </a:pP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 Name      Size            Bytes  Class </a:t>
            </a:r>
          </a:p>
          <a:p>
            <a:pPr>
              <a:spcBef>
                <a:spcPct val="0"/>
              </a:spcBef>
            </a:pP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 A              </a:t>
            </a:r>
            <a:r>
              <a:rPr lang="en-US" altLang="zh-CN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1x3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228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    cell                </a:t>
            </a:r>
          </a:p>
          <a:p>
            <a:pPr>
              <a:spcBef>
                <a:spcPct val="0"/>
              </a:spcBef>
            </a:pP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 B              </a:t>
            </a:r>
            <a:r>
              <a:rPr lang="en-US" altLang="zh-CN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1x1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2800" b="1" dirty="0">
                <a:solidFill>
                  <a:srgbClr val="E25652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420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2800" b="1" dirty="0" err="1">
                <a:latin typeface="Calibri" panose="020F0502020204030204" pitchFamily="34" charset="0"/>
                <a:ea typeface="宋体" panose="02010600030101010101" pitchFamily="2" charset="-122"/>
              </a:rPr>
              <a:t>struct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88811" y="345555"/>
            <a:ext cx="50073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Cell Array</a:t>
            </a:r>
            <a:r>
              <a:rPr lang="zh-CN" altLang="en-US" sz="3200" b="1" dirty="0"/>
              <a:t>和</a:t>
            </a:r>
            <a:r>
              <a:rPr lang="en-US" altLang="zh-CN" sz="3200" b="1" dirty="0" err="1"/>
              <a:t>struct</a:t>
            </a:r>
            <a:r>
              <a:rPr lang="en-US" altLang="zh-CN" sz="3200" b="1" dirty="0"/>
              <a:t> array</a:t>
            </a:r>
            <a:r>
              <a:rPr lang="zh-CN" altLang="en-US" sz="3200" b="1" dirty="0"/>
              <a:t>对比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523272" y="4246784"/>
            <a:ext cx="71465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注：此处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的内存为什么是</a:t>
            </a:r>
            <a:r>
              <a:rPr lang="en-US" altLang="zh-CN" dirty="0"/>
              <a:t>228</a:t>
            </a:r>
            <a:r>
              <a:rPr lang="zh-CN" altLang="en-US" dirty="0"/>
              <a:t>字节和</a:t>
            </a:r>
            <a:r>
              <a:rPr lang="en-US" altLang="zh-CN" dirty="0"/>
              <a:t>420</a:t>
            </a:r>
            <a:r>
              <a:rPr lang="zh-CN" altLang="en-US" dirty="0"/>
              <a:t>字节，不用去深究分析；</a:t>
            </a:r>
            <a:endParaRPr lang="en-US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cell Array</a:t>
            </a:r>
            <a:r>
              <a:rPr lang="zh-CN" altLang="en-US" dirty="0"/>
              <a:t>和</a:t>
            </a:r>
            <a:r>
              <a:rPr lang="en-US" altLang="zh-CN" dirty="0"/>
              <a:t>Struct Array</a:t>
            </a:r>
            <a:r>
              <a:rPr lang="zh-CN" altLang="en-US" dirty="0"/>
              <a:t>的底层内存细节我们不得而知，</a:t>
            </a:r>
            <a:endParaRPr lang="en-US" altLang="zh-CN" dirty="0"/>
          </a:p>
          <a:p>
            <a:r>
              <a:rPr lang="zh-CN" altLang="en-US" dirty="0"/>
              <a:t>这与</a:t>
            </a:r>
            <a:r>
              <a:rPr lang="en-US" altLang="zh-CN" dirty="0" err="1"/>
              <a:t>Matlab</a:t>
            </a:r>
            <a:r>
              <a:rPr lang="zh-CN" altLang="en-US" dirty="0"/>
              <a:t>的底层实现有关系；</a:t>
            </a:r>
            <a:endParaRPr lang="en-US" altLang="zh-CN" dirty="0"/>
          </a:p>
          <a:p>
            <a:r>
              <a:rPr lang="zh-CN" altLang="en-US" dirty="0"/>
              <a:t>但是对于</a:t>
            </a:r>
            <a:r>
              <a:rPr lang="en-US" altLang="zh-CN" dirty="0"/>
              <a:t>double/single/char/logical/*</a:t>
            </a:r>
            <a:r>
              <a:rPr lang="en-US" altLang="zh-CN" dirty="0" err="1"/>
              <a:t>int</a:t>
            </a:r>
            <a:r>
              <a:rPr lang="en-US" altLang="zh-CN" dirty="0"/>
              <a:t>*</a:t>
            </a:r>
            <a:r>
              <a:rPr lang="zh-CN" altLang="en-US" dirty="0"/>
              <a:t>等数据类型的内存，</a:t>
            </a:r>
            <a:endParaRPr lang="en-US" altLang="zh-CN" dirty="0"/>
          </a:p>
          <a:p>
            <a:r>
              <a:rPr lang="zh-CN" altLang="en-US" dirty="0"/>
              <a:t>我们是具体知道的。</a:t>
            </a:r>
          </a:p>
        </p:txBody>
      </p:sp>
      <p:sp>
        <p:nvSpPr>
          <p:cNvPr id="4" name="矩形 3"/>
          <p:cNvSpPr/>
          <p:nvPr/>
        </p:nvSpPr>
        <p:spPr>
          <a:xfrm>
            <a:off x="313051" y="1140127"/>
            <a:ext cx="55515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0150" lvl="1" indent="-742950">
              <a:buFont typeface="+mj-lt"/>
              <a:buAutoNum type="arabicPeriod" startAt="2"/>
            </a:pPr>
            <a:r>
              <a:rPr lang="zh-CN" altLang="en-US" sz="3600" dirty="0"/>
              <a:t>底层内存结构上不同</a:t>
            </a:r>
          </a:p>
        </p:txBody>
      </p:sp>
    </p:spTree>
    <p:extLst>
      <p:ext uri="{BB962C8B-B14F-4D97-AF65-F5344CB8AC3E}">
        <p14:creationId xmlns:p14="http://schemas.microsoft.com/office/powerpoint/2010/main" val="21637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7427</TotalTime>
  <Words>3945</Words>
  <Application>Microsoft Office PowerPoint</Application>
  <PresentationFormat>宽屏</PresentationFormat>
  <Paragraphs>690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7" baseType="lpstr">
      <vt:lpstr>Arial Unicode MS</vt:lpstr>
      <vt:lpstr>Menlo</vt:lpstr>
      <vt:lpstr>黑体</vt:lpstr>
      <vt:lpstr>Arial</vt:lpstr>
      <vt:lpstr>Calibri</vt:lpstr>
      <vt:lpstr>Calibri Light</vt:lpstr>
      <vt:lpstr>Courier New</vt:lpstr>
      <vt:lpstr>Wingdings</vt:lpstr>
      <vt:lpstr>Office 主题</vt:lpstr>
      <vt:lpstr>MATLAB数据类型 （Data Type）</vt:lpstr>
      <vt:lpstr>大纲</vt:lpstr>
      <vt:lpstr>一、MATLAB 数据类型（DataType/Class)</vt:lpstr>
      <vt:lpstr>PowerPoint 演示文稿</vt:lpstr>
      <vt:lpstr>PowerPoint 演示文稿</vt:lpstr>
      <vt:lpstr>相应的convert函数（类型转换）</vt:lpstr>
      <vt:lpstr>PowerPoint 演示文稿</vt:lpstr>
      <vt:lpstr>PowerPoint 演示文稿</vt:lpstr>
      <vt:lpstr>数据类型的数值范围</vt:lpstr>
      <vt:lpstr>PowerPoint 演示文稿</vt:lpstr>
      <vt:lpstr>关于数据类型的is函数</vt:lpstr>
      <vt:lpstr>PowerPoint 演示文稿</vt:lpstr>
      <vt:lpstr>总结：</vt:lpstr>
      <vt:lpstr>二、字符与字符串（Characters &amp; Strings）</vt:lpstr>
      <vt:lpstr>语法</vt:lpstr>
      <vt:lpstr>PowerPoint 演示文稿</vt:lpstr>
      <vt:lpstr>字符数组的字符数值（ASCII码值）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字符串处理函数</vt:lpstr>
      <vt:lpstr>字符串转换函数</vt:lpstr>
      <vt:lpstr>三、Cell Array（单元数组、元胞数组）</vt:lpstr>
      <vt:lpstr>Cell Array的概念</vt:lpstr>
      <vt:lpstr>PowerPoint 演示文稿</vt:lpstr>
      <vt:lpstr>Cell Array创建方法1：静态初始化创建 直接使用大括号{ }创建（curly braces）</vt:lpstr>
      <vt:lpstr>Cell Array创建方法2：动态创建</vt:lpstr>
      <vt:lpstr>PowerPoint 演示文稿</vt:lpstr>
      <vt:lpstr>动态创建方式2：A{i,j} = xxx</vt:lpstr>
      <vt:lpstr>PowerPoint 演示文稿</vt:lpstr>
      <vt:lpstr>Cell Array的访问（Access Data in a Cell Array）</vt:lpstr>
      <vt:lpstr>Cell Array的2种访问索引：</vt:lpstr>
      <vt:lpstr>PowerPoint 演示文稿</vt:lpstr>
      <vt:lpstr>Cell Array的单元赋值问题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cell array总结</vt:lpstr>
      <vt:lpstr>Cell Array创建</vt:lpstr>
      <vt:lpstr>思考：cell array既然是array，array的相关语法操作都能用在cell array身上吗？</vt:lpstr>
      <vt:lpstr>PowerPoint 演示文稿</vt:lpstr>
      <vt:lpstr>PowerPoint 演示文稿</vt:lpstr>
      <vt:lpstr>四、结构体（Struct）</vt:lpstr>
      <vt:lpstr>PowerPoint 演示文稿</vt:lpstr>
      <vt:lpstr>PowerPoint 演示文稿</vt:lpstr>
      <vt:lpstr>struct创建总结：</vt:lpstr>
      <vt:lpstr>访问</vt:lpstr>
      <vt:lpstr>Struct array相关函数</vt:lpstr>
      <vt:lpstr>PowerPoint 演示文稿</vt:lpstr>
      <vt:lpstr>PowerPoint 演示文稿</vt:lpstr>
      <vt:lpstr>PowerPoint 演示文稿</vt:lpstr>
    </vt:vector>
  </TitlesOfParts>
  <Company>cugb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Matlab矩阵及其操作</dc:title>
  <dc:creator>HP</dc:creator>
  <cp:lastModifiedBy>妮唛 朴</cp:lastModifiedBy>
  <cp:revision>328</cp:revision>
  <dcterms:created xsi:type="dcterms:W3CDTF">2016-02-24T15:05:55Z</dcterms:created>
  <dcterms:modified xsi:type="dcterms:W3CDTF">2021-01-24T13:34:21Z</dcterms:modified>
</cp:coreProperties>
</file>